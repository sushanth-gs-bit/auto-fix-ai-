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354" r:id="rId3"/>
    <p:sldId id="355" r:id="rId4"/>
    <p:sldId id="356" r:id="rId5"/>
    <p:sldId id="357" r:id="rId6"/>
    <p:sldId id="358" r:id="rId7"/>
    <p:sldId id="359" r:id="rId8"/>
    <p:sldId id="360" r:id="rId9"/>
    <p:sldId id="361" r:id="rId10"/>
    <p:sldId id="362" r:id="rId11"/>
    <p:sldId id="363" r:id="rId12"/>
    <p:sldId id="364" r:id="rId13"/>
    <p:sldId id="352" r:id="rId14"/>
    <p:sldId id="351" r:id="rId15"/>
    <p:sldId id="257" r:id="rId16"/>
    <p:sldId id="258" r:id="rId17"/>
    <p:sldId id="353" r:id="rId18"/>
    <p:sldId id="348" r:id="rId19"/>
    <p:sldId id="309" r:id="rId20"/>
    <p:sldId id="365" r:id="rId21"/>
    <p:sldId id="267" r:id="rId22"/>
  </p:sldIdLst>
  <p:sldSz cx="18288000" cy="10287000"/>
  <p:notesSz cx="6858000" cy="9144000"/>
  <p:embeddedFontLst>
    <p:embeddedFont>
      <p:font typeface="Antonio Bold" panose="020B0604020202020204" charset="0"/>
      <p:regular r:id="rId24"/>
    </p:embeddedFont>
    <p:embeddedFont>
      <p:font typeface="Arial Black" panose="020B0A04020102020204" pitchFamily="34" charset="0"/>
      <p:bold r:id="rId25"/>
    </p:embeddedFont>
    <p:embeddedFont>
      <p:font typeface="Barlow" panose="00000500000000000000" pitchFamily="2" charset="0"/>
      <p:regular r:id="rId26"/>
      <p:bold r:id="rId27"/>
      <p:italic r:id="rId28"/>
      <p:boldItalic r:id="rId29"/>
    </p:embeddedFont>
    <p:embeddedFont>
      <p:font typeface="Berlin Sans FB" panose="020E0602020502020306" pitchFamily="34" charset="0"/>
      <p:regular r:id="rId30"/>
      <p:bold r:id="rId31"/>
    </p:embeddedFont>
    <p:embeddedFont>
      <p:font typeface="Cooper Black" panose="0208090404030B020404" pitchFamily="18" charset="0"/>
      <p:regular r:id="rId32"/>
    </p:embeddedFont>
    <p:embeddedFont>
      <p:font typeface="Montserrat" panose="00000500000000000000" pitchFamily="2" charset="0"/>
      <p:regular r:id="rId33"/>
      <p:bold r:id="rId34"/>
      <p:italic r:id="rId35"/>
      <p:boldItalic r:id="rId36"/>
    </p:embeddedFont>
    <p:embeddedFont>
      <p:font typeface="Open Sans" panose="020B0606030504020204" pitchFamily="34" charset="0"/>
      <p:regular r:id="rId37"/>
      <p:bold r:id="rId38"/>
      <p:italic r:id="rId39"/>
      <p:boldItalic r:id="rId40"/>
    </p:embeddedFont>
    <p:embeddedFont>
      <p:font typeface="Raleway" pitchFamily="2"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Bolton" initials="CB" lastIdx="1" clrIdx="0">
    <p:extLst>
      <p:ext uri="{19B8F6BF-5375-455C-9EA6-DF929625EA0E}">
        <p15:presenceInfo xmlns:p15="http://schemas.microsoft.com/office/powerpoint/2012/main" userId="42254106b65d6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F21F6D-588D-4E6D-AFB7-4D28534AC40F}" v="132" dt="2026-06-14T07:48:35.321"/>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6" autoAdjust="0"/>
    <p:restoredTop sz="95179" autoAdjust="0"/>
  </p:normalViewPr>
  <p:slideViewPr>
    <p:cSldViewPr>
      <p:cViewPr varScale="1">
        <p:scale>
          <a:sx n="62" d="100"/>
          <a:sy n="62" d="100"/>
        </p:scale>
        <p:origin x="485"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18.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ANTH GS" userId="89aff6f21c65323f" providerId="LiveId" clId="{452E1ABD-B47F-4FB2-9611-2C0FD1D49725}"/>
    <pc:docChg chg="undo redo custSel addSld delSld modSld">
      <pc:chgData name="SUSHANTH GS" userId="89aff6f21c65323f" providerId="LiveId" clId="{452E1ABD-B47F-4FB2-9611-2C0FD1D49725}" dt="2026-06-14T07:48:35.321" v="2362"/>
      <pc:docMkLst>
        <pc:docMk/>
      </pc:docMkLst>
      <pc:sldChg chg="addSp modSp mod modAnim">
        <pc:chgData name="SUSHANTH GS" userId="89aff6f21c65323f" providerId="LiveId" clId="{452E1ABD-B47F-4FB2-9611-2C0FD1D49725}" dt="2026-06-14T07:15:51.980" v="1594"/>
        <pc:sldMkLst>
          <pc:docMk/>
          <pc:sldMk cId="0" sldId="256"/>
        </pc:sldMkLst>
        <pc:spChg chg="mod">
          <ac:chgData name="SUSHANTH GS" userId="89aff6f21c65323f" providerId="LiveId" clId="{452E1ABD-B47F-4FB2-9611-2C0FD1D49725}" dt="2026-06-14T07:13:33.837" v="1592" actId="20577"/>
          <ac:spMkLst>
            <pc:docMk/>
            <pc:sldMk cId="0" sldId="256"/>
            <ac:spMk id="7" creationId="{00000000-0000-0000-0000-000000000000}"/>
          </ac:spMkLst>
        </pc:spChg>
        <pc:picChg chg="mod">
          <ac:chgData name="SUSHANTH GS" userId="89aff6f21c65323f" providerId="LiveId" clId="{452E1ABD-B47F-4FB2-9611-2C0FD1D49725}" dt="2026-06-14T07:13:34.851" v="1593" actId="1076"/>
          <ac:picMkLst>
            <pc:docMk/>
            <pc:sldMk cId="0" sldId="256"/>
            <ac:picMk id="2" creationId="{00000000-0000-0000-0000-000000000000}"/>
          </ac:picMkLst>
        </pc:picChg>
        <pc:picChg chg="add mod">
          <ac:chgData name="SUSHANTH GS" userId="89aff6f21c65323f" providerId="LiveId" clId="{452E1ABD-B47F-4FB2-9611-2C0FD1D49725}" dt="2026-06-14T07:15:51.980" v="1594"/>
          <ac:picMkLst>
            <pc:docMk/>
            <pc:sldMk cId="0" sldId="256"/>
            <ac:picMk id="3" creationId="{255B612C-4ED8-F876-95C9-8A43D7EBEC9F}"/>
          </ac:picMkLst>
        </pc:picChg>
      </pc:sldChg>
      <pc:sldChg chg="addSp modSp add mod modTransition setBg modAnim">
        <pc:chgData name="SUSHANTH GS" userId="89aff6f21c65323f" providerId="LiveId" clId="{452E1ABD-B47F-4FB2-9611-2C0FD1D49725}" dt="2026-06-14T07:44:55.575" v="2347"/>
        <pc:sldMkLst>
          <pc:docMk/>
          <pc:sldMk cId="0" sldId="257"/>
        </pc:sldMkLst>
        <pc:spChg chg="mod">
          <ac:chgData name="SUSHANTH GS" userId="89aff6f21c65323f" providerId="LiveId" clId="{452E1ABD-B47F-4FB2-9611-2C0FD1D49725}" dt="2026-06-13T10:03:17.753" v="921" actId="20577"/>
          <ac:spMkLst>
            <pc:docMk/>
            <pc:sldMk cId="0" sldId="257"/>
            <ac:spMk id="8" creationId="{00000000-0000-0000-0000-000000000000}"/>
          </ac:spMkLst>
        </pc:spChg>
        <pc:spChg chg="mod">
          <ac:chgData name="SUSHANTH GS" userId="89aff6f21c65323f" providerId="LiveId" clId="{452E1ABD-B47F-4FB2-9611-2C0FD1D49725}" dt="2026-06-13T10:03:01.791" v="918" actId="20577"/>
          <ac:spMkLst>
            <pc:docMk/>
            <pc:sldMk cId="0" sldId="257"/>
            <ac:spMk id="10" creationId="{00000000-0000-0000-0000-000000000000}"/>
          </ac:spMkLst>
        </pc:spChg>
        <pc:spChg chg="mod">
          <ac:chgData name="SUSHANTH GS" userId="89aff6f21c65323f" providerId="LiveId" clId="{452E1ABD-B47F-4FB2-9611-2C0FD1D49725}" dt="2026-06-13T10:14:20.624" v="989" actId="20577"/>
          <ac:spMkLst>
            <pc:docMk/>
            <pc:sldMk cId="0" sldId="257"/>
            <ac:spMk id="11" creationId="{00000000-0000-0000-0000-000000000000}"/>
          </ac:spMkLst>
        </pc:spChg>
        <pc:spChg chg="mod">
          <ac:chgData name="SUSHANTH GS" userId="89aff6f21c65323f" providerId="LiveId" clId="{452E1ABD-B47F-4FB2-9611-2C0FD1D49725}" dt="2026-06-13T16:42:30.143" v="995" actId="1076"/>
          <ac:spMkLst>
            <pc:docMk/>
            <pc:sldMk cId="0" sldId="257"/>
            <ac:spMk id="70" creationId="{00000000-0000-0000-0000-000000000000}"/>
          </ac:spMkLst>
        </pc:spChg>
        <pc:picChg chg="add mod">
          <ac:chgData name="SUSHANTH GS" userId="89aff6f21c65323f" providerId="LiveId" clId="{452E1ABD-B47F-4FB2-9611-2C0FD1D49725}" dt="2026-06-14T07:23:40.192" v="1634" actId="14100"/>
          <ac:picMkLst>
            <pc:docMk/>
            <pc:sldMk cId="0" sldId="257"/>
            <ac:picMk id="2" creationId="{CB8B90BE-D06E-F987-E013-4CCC0E3832D0}"/>
          </ac:picMkLst>
        </pc:picChg>
      </pc:sldChg>
      <pc:sldChg chg="addSp modSp add mod modTransition setBg">
        <pc:chgData name="SUSHANTH GS" userId="89aff6f21c65323f" providerId="LiveId" clId="{452E1ABD-B47F-4FB2-9611-2C0FD1D49725}" dt="2026-06-14T07:46:28.873" v="2356"/>
        <pc:sldMkLst>
          <pc:docMk/>
          <pc:sldMk cId="0" sldId="258"/>
        </pc:sldMkLst>
        <pc:spChg chg="mod">
          <ac:chgData name="SUSHANTH GS" userId="89aff6f21c65323f" providerId="LiveId" clId="{452E1ABD-B47F-4FB2-9611-2C0FD1D49725}" dt="2026-06-14T07:45:50.766" v="2348" actId="1076"/>
          <ac:spMkLst>
            <pc:docMk/>
            <pc:sldMk cId="0" sldId="258"/>
            <ac:spMk id="8" creationId="{00000000-0000-0000-0000-000000000000}"/>
          </ac:spMkLst>
        </pc:spChg>
        <pc:picChg chg="add mod">
          <ac:chgData name="SUSHANTH GS" userId="89aff6f21c65323f" providerId="LiveId" clId="{452E1ABD-B47F-4FB2-9611-2C0FD1D49725}" dt="2026-06-14T07:23:29.333" v="1631" actId="14100"/>
          <ac:picMkLst>
            <pc:docMk/>
            <pc:sldMk cId="0" sldId="258"/>
            <ac:picMk id="559" creationId="{49EB9164-E89B-8D6C-6110-F6DA8D46A4B3}"/>
          </ac:picMkLst>
        </pc:picChg>
      </pc:sldChg>
      <pc:sldChg chg="del">
        <pc:chgData name="SUSHANTH GS" userId="89aff6f21c65323f" providerId="LiveId" clId="{452E1ABD-B47F-4FB2-9611-2C0FD1D49725}" dt="2026-06-14T07:22:38.896" v="1620" actId="2696"/>
        <pc:sldMkLst>
          <pc:docMk/>
          <pc:sldMk cId="3057889821" sldId="268"/>
        </pc:sldMkLst>
      </pc:sldChg>
      <pc:sldChg chg="del">
        <pc:chgData name="SUSHANTH GS" userId="89aff6f21c65323f" providerId="LiveId" clId="{452E1ABD-B47F-4FB2-9611-2C0FD1D49725}" dt="2026-06-14T07:18:19.269" v="1600" actId="2696"/>
        <pc:sldMkLst>
          <pc:docMk/>
          <pc:sldMk cId="3992274648" sldId="271"/>
        </pc:sldMkLst>
      </pc:sldChg>
      <pc:sldChg chg="del">
        <pc:chgData name="SUSHANTH GS" userId="89aff6f21c65323f" providerId="LiveId" clId="{452E1ABD-B47F-4FB2-9611-2C0FD1D49725}" dt="2026-06-14T07:19:40.382" v="1606" actId="2696"/>
        <pc:sldMkLst>
          <pc:docMk/>
          <pc:sldMk cId="3640215001" sldId="273"/>
        </pc:sldMkLst>
      </pc:sldChg>
      <pc:sldChg chg="del">
        <pc:chgData name="SUSHANTH GS" userId="89aff6f21c65323f" providerId="LiveId" clId="{452E1ABD-B47F-4FB2-9611-2C0FD1D49725}" dt="2026-06-14T07:19:59.692" v="1608" actId="2696"/>
        <pc:sldMkLst>
          <pc:docMk/>
          <pc:sldMk cId="2644944316" sldId="293"/>
        </pc:sldMkLst>
      </pc:sldChg>
      <pc:sldChg chg="del">
        <pc:chgData name="SUSHANTH GS" userId="89aff6f21c65323f" providerId="LiveId" clId="{452E1ABD-B47F-4FB2-9611-2C0FD1D49725}" dt="2026-06-14T07:20:23.802" v="1610" actId="2696"/>
        <pc:sldMkLst>
          <pc:docMk/>
          <pc:sldMk cId="2946946224" sldId="294"/>
        </pc:sldMkLst>
      </pc:sldChg>
      <pc:sldChg chg="del">
        <pc:chgData name="SUSHANTH GS" userId="89aff6f21c65323f" providerId="LiveId" clId="{452E1ABD-B47F-4FB2-9611-2C0FD1D49725}" dt="2026-06-14T07:21:40.701" v="1617" actId="2696"/>
        <pc:sldMkLst>
          <pc:docMk/>
          <pc:sldMk cId="1612461190" sldId="299"/>
        </pc:sldMkLst>
      </pc:sldChg>
      <pc:sldChg chg="addSp modSp mod modTransition modAnim">
        <pc:chgData name="SUSHANTH GS" userId="89aff6f21c65323f" providerId="LiveId" clId="{452E1ABD-B47F-4FB2-9611-2C0FD1D49725}" dt="2026-06-14T07:48:35.321" v="2362"/>
        <pc:sldMkLst>
          <pc:docMk/>
          <pc:sldMk cId="3115354249" sldId="309"/>
        </pc:sldMkLst>
        <pc:spChg chg="mod">
          <ac:chgData name="SUSHANTH GS" userId="89aff6f21c65323f" providerId="LiveId" clId="{452E1ABD-B47F-4FB2-9611-2C0FD1D49725}" dt="2026-06-14T07:08:02.705" v="1558" actId="1076"/>
          <ac:spMkLst>
            <pc:docMk/>
            <pc:sldMk cId="3115354249" sldId="309"/>
            <ac:spMk id="8" creationId="{98D3BFB5-F3EC-4B74-9DA7-84AA6BA58C5E}"/>
          </ac:spMkLst>
        </pc:spChg>
        <pc:spChg chg="mod">
          <ac:chgData name="SUSHANTH GS" userId="89aff6f21c65323f" providerId="LiveId" clId="{452E1ABD-B47F-4FB2-9611-2C0FD1D49725}" dt="2026-06-14T07:08:01.302" v="1557" actId="20577"/>
          <ac:spMkLst>
            <pc:docMk/>
            <pc:sldMk cId="3115354249" sldId="309"/>
            <ac:spMk id="9" creationId="{00000000-0000-0000-0000-000000000000}"/>
          </ac:spMkLst>
        </pc:spChg>
        <pc:spChg chg="mod">
          <ac:chgData name="SUSHANTH GS" userId="89aff6f21c65323f" providerId="LiveId" clId="{452E1ABD-B47F-4FB2-9611-2C0FD1D49725}" dt="2026-06-14T07:07:53.209" v="1553" actId="20577"/>
          <ac:spMkLst>
            <pc:docMk/>
            <pc:sldMk cId="3115354249" sldId="309"/>
            <ac:spMk id="11" creationId="{00000000-0000-0000-0000-000000000000}"/>
          </ac:spMkLst>
        </pc:spChg>
        <pc:picChg chg="add mod">
          <ac:chgData name="SUSHANTH GS" userId="89aff6f21c65323f" providerId="LiveId" clId="{452E1ABD-B47F-4FB2-9611-2C0FD1D49725}" dt="2026-06-14T07:22:50.739" v="1622" actId="1076"/>
          <ac:picMkLst>
            <pc:docMk/>
            <pc:sldMk cId="3115354249" sldId="309"/>
            <ac:picMk id="2" creationId="{3125D60B-B59B-0236-EB7A-EEF1D58F71E2}"/>
          </ac:picMkLst>
        </pc:picChg>
        <pc:cxnChg chg="add">
          <ac:chgData name="SUSHANTH GS" userId="89aff6f21c65323f" providerId="LiveId" clId="{452E1ABD-B47F-4FB2-9611-2C0FD1D49725}" dt="2026-06-14T07:07:05.461" v="1546" actId="11529"/>
          <ac:cxnSpMkLst>
            <pc:docMk/>
            <pc:sldMk cId="3115354249" sldId="309"/>
            <ac:cxnSpMk id="3" creationId="{8BD427C8-9212-8EB5-9F16-E8ABECE2F2C2}"/>
          </ac:cxnSpMkLst>
        </pc:cxnChg>
        <pc:cxnChg chg="add">
          <ac:chgData name="SUSHANTH GS" userId="89aff6f21c65323f" providerId="LiveId" clId="{452E1ABD-B47F-4FB2-9611-2C0FD1D49725}" dt="2026-06-14T07:07:24.267" v="1547" actId="11529"/>
          <ac:cxnSpMkLst>
            <pc:docMk/>
            <pc:sldMk cId="3115354249" sldId="309"/>
            <ac:cxnSpMk id="5" creationId="{6FEDE8CC-9D08-12A7-3A1E-EBF64FB68F19}"/>
          </ac:cxnSpMkLst>
        </pc:cxnChg>
      </pc:sldChg>
      <pc:sldChg chg="del">
        <pc:chgData name="SUSHANTH GS" userId="89aff6f21c65323f" providerId="LiveId" clId="{452E1ABD-B47F-4FB2-9611-2C0FD1D49725}" dt="2026-06-14T07:17:46.816" v="1598" actId="2696"/>
        <pc:sldMkLst>
          <pc:docMk/>
          <pc:sldMk cId="2803195237" sldId="310"/>
        </pc:sldMkLst>
      </pc:sldChg>
      <pc:sldChg chg="del">
        <pc:chgData name="SUSHANTH GS" userId="89aff6f21c65323f" providerId="LiveId" clId="{452E1ABD-B47F-4FB2-9611-2C0FD1D49725}" dt="2026-06-14T07:18:52.154" v="1602" actId="2696"/>
        <pc:sldMkLst>
          <pc:docMk/>
          <pc:sldMk cId="1189678091" sldId="313"/>
        </pc:sldMkLst>
      </pc:sldChg>
      <pc:sldChg chg="del">
        <pc:chgData name="SUSHANTH GS" userId="89aff6f21c65323f" providerId="LiveId" clId="{452E1ABD-B47F-4FB2-9611-2C0FD1D49725}" dt="2026-06-14T07:19:17.862" v="1604" actId="2696"/>
        <pc:sldMkLst>
          <pc:docMk/>
          <pc:sldMk cId="3605066693" sldId="315"/>
        </pc:sldMkLst>
      </pc:sldChg>
      <pc:sldChg chg="addSp modSp del mod">
        <pc:chgData name="SUSHANTH GS" userId="89aff6f21c65323f" providerId="LiveId" clId="{452E1ABD-B47F-4FB2-9611-2C0FD1D49725}" dt="2026-06-14T07:20:44.006" v="1613" actId="2696"/>
        <pc:sldMkLst>
          <pc:docMk/>
          <pc:sldMk cId="3281390926" sldId="336"/>
        </pc:sldMkLst>
        <pc:graphicFrameChg chg="add modGraphic">
          <ac:chgData name="SUSHANTH GS" userId="89aff6f21c65323f" providerId="LiveId" clId="{452E1ABD-B47F-4FB2-9611-2C0FD1D49725}" dt="2026-06-14T07:20:35.357" v="1611" actId="27309"/>
          <ac:graphicFrameMkLst>
            <pc:docMk/>
            <pc:sldMk cId="3281390926" sldId="336"/>
            <ac:graphicFrameMk id="5" creationId="{94EA2A6D-CF4B-FB57-2A60-2348BCF946D6}"/>
          </ac:graphicFrameMkLst>
        </pc:graphicFrameChg>
      </pc:sldChg>
      <pc:sldChg chg="del">
        <pc:chgData name="SUSHANTH GS" userId="89aff6f21c65323f" providerId="LiveId" clId="{452E1ABD-B47F-4FB2-9611-2C0FD1D49725}" dt="2026-06-13T10:12:35.192" v="926" actId="2696"/>
        <pc:sldMkLst>
          <pc:docMk/>
          <pc:sldMk cId="1425317223" sldId="339"/>
        </pc:sldMkLst>
      </pc:sldChg>
      <pc:sldChg chg="del">
        <pc:chgData name="SUSHANTH GS" userId="89aff6f21c65323f" providerId="LiveId" clId="{452E1ABD-B47F-4FB2-9611-2C0FD1D49725}" dt="2026-06-14T07:17:25.824" v="1596" actId="2696"/>
        <pc:sldMkLst>
          <pc:docMk/>
          <pc:sldMk cId="485278245" sldId="341"/>
        </pc:sldMkLst>
      </pc:sldChg>
      <pc:sldChg chg="del">
        <pc:chgData name="SUSHANTH GS" userId="89aff6f21c65323f" providerId="LiveId" clId="{452E1ABD-B47F-4FB2-9611-2C0FD1D49725}" dt="2026-06-14T07:21:19.418" v="1615" actId="2696"/>
        <pc:sldMkLst>
          <pc:docMk/>
          <pc:sldMk cId="3232031619" sldId="342"/>
        </pc:sldMkLst>
      </pc:sldChg>
      <pc:sldChg chg="modSp del mod">
        <pc:chgData name="SUSHANTH GS" userId="89aff6f21c65323f" providerId="LiveId" clId="{452E1ABD-B47F-4FB2-9611-2C0FD1D49725}" dt="2026-06-14T07:22:09.945" v="1618" actId="2696"/>
        <pc:sldMkLst>
          <pc:docMk/>
          <pc:sldMk cId="1594776082" sldId="345"/>
        </pc:sldMkLst>
        <pc:picChg chg="mod">
          <ac:chgData name="SUSHANTH GS" userId="89aff6f21c65323f" providerId="LiveId" clId="{452E1ABD-B47F-4FB2-9611-2C0FD1D49725}" dt="2026-06-13T16:23:28.998" v="993" actId="1076"/>
          <ac:picMkLst>
            <pc:docMk/>
            <pc:sldMk cId="1594776082" sldId="345"/>
            <ac:picMk id="6" creationId="{00000000-0000-0000-0000-000000000000}"/>
          </ac:picMkLst>
        </pc:picChg>
      </pc:sldChg>
      <pc:sldChg chg="modSp del mod">
        <pc:chgData name="SUSHANTH GS" userId="89aff6f21c65323f" providerId="LiveId" clId="{452E1ABD-B47F-4FB2-9611-2C0FD1D49725}" dt="2026-06-14T06:45:51.782" v="1003" actId="2696"/>
        <pc:sldMkLst>
          <pc:docMk/>
          <pc:sldMk cId="2274577964" sldId="346"/>
        </pc:sldMkLst>
        <pc:picChg chg="mod">
          <ac:chgData name="SUSHANTH GS" userId="89aff6f21c65323f" providerId="LiveId" clId="{452E1ABD-B47F-4FB2-9611-2C0FD1D49725}" dt="2026-06-14T06:10:56.518" v="1001" actId="1076"/>
          <ac:picMkLst>
            <pc:docMk/>
            <pc:sldMk cId="2274577964" sldId="346"/>
            <ac:picMk id="5" creationId="{00000000-0000-0000-0000-000000000000}"/>
          </ac:picMkLst>
        </pc:picChg>
      </pc:sldChg>
      <pc:sldChg chg="addSp delSp modSp mod modTransition">
        <pc:chgData name="SUSHANTH GS" userId="89aff6f21c65323f" providerId="LiveId" clId="{452E1ABD-B47F-4FB2-9611-2C0FD1D49725}" dt="2026-06-14T07:46:50.526" v="2359"/>
        <pc:sldMkLst>
          <pc:docMk/>
          <pc:sldMk cId="1232098345" sldId="348"/>
        </pc:sldMkLst>
        <pc:spChg chg="del mod">
          <ac:chgData name="SUSHANTH GS" userId="89aff6f21c65323f" providerId="LiveId" clId="{452E1ABD-B47F-4FB2-9611-2C0FD1D49725}" dt="2026-06-14T06:53:40.434" v="1166"/>
          <ac:spMkLst>
            <pc:docMk/>
            <pc:sldMk cId="1232098345" sldId="348"/>
            <ac:spMk id="9" creationId="{00000000-0000-0000-0000-000000000000}"/>
          </ac:spMkLst>
        </pc:spChg>
        <pc:graphicFrameChg chg="mod modGraphic">
          <ac:chgData name="SUSHANTH GS" userId="89aff6f21c65323f" providerId="LiveId" clId="{452E1ABD-B47F-4FB2-9611-2C0FD1D49725}" dt="2026-06-14T06:52:33.442" v="1130" actId="20577"/>
          <ac:graphicFrameMkLst>
            <pc:docMk/>
            <pc:sldMk cId="1232098345" sldId="348"/>
            <ac:graphicFrameMk id="4" creationId="{00000000-0000-0000-0000-000000000000}"/>
          </ac:graphicFrameMkLst>
        </pc:graphicFrameChg>
        <pc:graphicFrameChg chg="modGraphic">
          <ac:chgData name="SUSHANTH GS" userId="89aff6f21c65323f" providerId="LiveId" clId="{452E1ABD-B47F-4FB2-9611-2C0FD1D49725}" dt="2026-06-14T06:53:14.960" v="1149" actId="20577"/>
          <ac:graphicFrameMkLst>
            <pc:docMk/>
            <pc:sldMk cId="1232098345" sldId="348"/>
            <ac:graphicFrameMk id="7" creationId="{00000000-0000-0000-0000-000000000000}"/>
          </ac:graphicFrameMkLst>
        </pc:graphicFrameChg>
        <pc:graphicFrameChg chg="mod modGraphic">
          <ac:chgData name="SUSHANTH GS" userId="89aff6f21c65323f" providerId="LiveId" clId="{452E1ABD-B47F-4FB2-9611-2C0FD1D49725}" dt="2026-06-14T06:56:01.842" v="1219" actId="20577"/>
          <ac:graphicFrameMkLst>
            <pc:docMk/>
            <pc:sldMk cId="1232098345" sldId="348"/>
            <ac:graphicFrameMk id="12" creationId="{00000000-0000-0000-0000-000000000000}"/>
          </ac:graphicFrameMkLst>
        </pc:graphicFrameChg>
        <pc:picChg chg="add mod">
          <ac:chgData name="SUSHANTH GS" userId="89aff6f21c65323f" providerId="LiveId" clId="{452E1ABD-B47F-4FB2-9611-2C0FD1D49725}" dt="2026-06-14T07:23:05.785" v="1623"/>
          <ac:picMkLst>
            <pc:docMk/>
            <pc:sldMk cId="1232098345" sldId="348"/>
            <ac:picMk id="3" creationId="{CE38577B-42D7-E50D-EA1D-3DE3F944E431}"/>
          </ac:picMkLst>
        </pc:picChg>
      </pc:sldChg>
      <pc:sldChg chg="addSp delSp modSp del mod">
        <pc:chgData name="SUSHANTH GS" userId="89aff6f21c65323f" providerId="LiveId" clId="{452E1ABD-B47F-4FB2-9611-2C0FD1D49725}" dt="2026-06-13T09:42:56.727" v="649" actId="2696"/>
        <pc:sldMkLst>
          <pc:docMk/>
          <pc:sldMk cId="3641551670" sldId="350"/>
        </pc:sldMkLst>
        <pc:spChg chg="add del mod">
          <ac:chgData name="SUSHANTH GS" userId="89aff6f21c65323f" providerId="LiveId" clId="{452E1ABD-B47F-4FB2-9611-2C0FD1D49725}" dt="2026-06-13T09:28:03.608" v="310" actId="1076"/>
          <ac:spMkLst>
            <pc:docMk/>
            <pc:sldMk cId="3641551670" sldId="350"/>
            <ac:spMk id="4" creationId="{4FB1B88C-1502-2082-4CD0-75C2F7079577}"/>
          </ac:spMkLst>
        </pc:spChg>
        <pc:spChg chg="add mod">
          <ac:chgData name="SUSHANTH GS" userId="89aff6f21c65323f" providerId="LiveId" clId="{452E1ABD-B47F-4FB2-9611-2C0FD1D49725}" dt="2026-06-13T09:26:16" v="302"/>
          <ac:spMkLst>
            <pc:docMk/>
            <pc:sldMk cId="3641551670" sldId="350"/>
            <ac:spMk id="5" creationId="{53AC54B5-88EE-4F69-614E-6783AB318332}"/>
          </ac:spMkLst>
        </pc:spChg>
        <pc:spChg chg="add mod">
          <ac:chgData name="SUSHANTH GS" userId="89aff6f21c65323f" providerId="LiveId" clId="{452E1ABD-B47F-4FB2-9611-2C0FD1D49725}" dt="2026-06-13T09:28:02.574" v="308" actId="1076"/>
          <ac:spMkLst>
            <pc:docMk/>
            <pc:sldMk cId="3641551670" sldId="350"/>
            <ac:spMk id="7" creationId="{AC18862A-694A-2CD1-0879-B5AE71E2C196}"/>
          </ac:spMkLst>
        </pc:spChg>
        <pc:spChg chg="add mod">
          <ac:chgData name="SUSHANTH GS" userId="89aff6f21c65323f" providerId="LiveId" clId="{452E1ABD-B47F-4FB2-9611-2C0FD1D49725}" dt="2026-06-13T09:28:01.674" v="307" actId="1076"/>
          <ac:spMkLst>
            <pc:docMk/>
            <pc:sldMk cId="3641551670" sldId="350"/>
            <ac:spMk id="12" creationId="{8F1C8644-C7ED-8792-0B7C-29B777578C0E}"/>
          </ac:spMkLst>
        </pc:spChg>
        <pc:graphicFrameChg chg="mod modGraphic">
          <ac:chgData name="SUSHANTH GS" userId="89aff6f21c65323f" providerId="LiveId" clId="{452E1ABD-B47F-4FB2-9611-2C0FD1D49725}" dt="2026-06-13T09:34:51.308" v="427" actId="20577"/>
          <ac:graphicFrameMkLst>
            <pc:docMk/>
            <pc:sldMk cId="3641551670" sldId="350"/>
            <ac:graphicFrameMk id="8" creationId="{09669046-E64D-4AF8-AD3D-185A4A11FFD5}"/>
          </ac:graphicFrameMkLst>
        </pc:graphicFrameChg>
        <pc:graphicFrameChg chg="mod modGraphic">
          <ac:chgData name="SUSHANTH GS" userId="89aff6f21c65323f" providerId="LiveId" clId="{452E1ABD-B47F-4FB2-9611-2C0FD1D49725}" dt="2026-06-13T09:34:58.048" v="433" actId="20577"/>
          <ac:graphicFrameMkLst>
            <pc:docMk/>
            <pc:sldMk cId="3641551670" sldId="350"/>
            <ac:graphicFrameMk id="17" creationId="{00000000-0000-0000-0000-000000000000}"/>
          </ac:graphicFrameMkLst>
        </pc:graphicFrameChg>
        <pc:picChg chg="add del mod">
          <ac:chgData name="SUSHANTH GS" userId="89aff6f21c65323f" providerId="LiveId" clId="{452E1ABD-B47F-4FB2-9611-2C0FD1D49725}" dt="2026-06-13T09:28:05.419" v="318" actId="22"/>
          <ac:picMkLst>
            <pc:docMk/>
            <pc:sldMk cId="3641551670" sldId="350"/>
            <ac:picMk id="3" creationId="{71374AA4-D60B-CB02-4B05-19FA6E8D2452}"/>
          </ac:picMkLst>
        </pc:picChg>
      </pc:sldChg>
      <pc:sldChg chg="addSp modSp mod modTransition">
        <pc:chgData name="SUSHANTH GS" userId="89aff6f21c65323f" providerId="LiveId" clId="{452E1ABD-B47F-4FB2-9611-2C0FD1D49725}" dt="2026-06-14T07:43:31.202" v="2325"/>
        <pc:sldMkLst>
          <pc:docMk/>
          <pc:sldMk cId="1191535217" sldId="351"/>
        </pc:sldMkLst>
        <pc:picChg chg="add mod">
          <ac:chgData name="SUSHANTH GS" userId="89aff6f21c65323f" providerId="LiveId" clId="{452E1ABD-B47F-4FB2-9611-2C0FD1D49725}" dt="2026-06-14T07:23:50.964" v="1637" actId="1076"/>
          <ac:picMkLst>
            <pc:docMk/>
            <pc:sldMk cId="1191535217" sldId="351"/>
            <ac:picMk id="3" creationId="{DEEF9D90-79B0-0CB0-98BD-C529605F864D}"/>
          </ac:picMkLst>
        </pc:picChg>
      </pc:sldChg>
      <pc:sldChg chg="addSp delSp modSp add mod modTransition modAnim">
        <pc:chgData name="SUSHANTH GS" userId="89aff6f21c65323f" providerId="LiveId" clId="{452E1ABD-B47F-4FB2-9611-2C0FD1D49725}" dt="2026-06-14T07:43:20.186" v="2323"/>
        <pc:sldMkLst>
          <pc:docMk/>
          <pc:sldMk cId="2548607038" sldId="352"/>
        </pc:sldMkLst>
        <pc:spChg chg="del mod">
          <ac:chgData name="SUSHANTH GS" userId="89aff6f21c65323f" providerId="LiveId" clId="{452E1ABD-B47F-4FB2-9611-2C0FD1D49725}" dt="2026-06-13T10:05:42.882" v="924" actId="21"/>
          <ac:spMkLst>
            <pc:docMk/>
            <pc:sldMk cId="2548607038" sldId="352"/>
            <ac:spMk id="9" creationId="{D7EB8908-C3F2-801F-D396-A5DF3220A5BA}"/>
          </ac:spMkLst>
        </pc:spChg>
        <pc:graphicFrameChg chg="mod modGraphic">
          <ac:chgData name="SUSHANTH GS" userId="89aff6f21c65323f" providerId="LiveId" clId="{452E1ABD-B47F-4FB2-9611-2C0FD1D49725}" dt="2026-06-14T07:41:41.742" v="2316" actId="20577"/>
          <ac:graphicFrameMkLst>
            <pc:docMk/>
            <pc:sldMk cId="2548607038" sldId="352"/>
            <ac:graphicFrameMk id="8" creationId="{267029FC-BE5D-39B2-ECAF-26015332CFC6}"/>
          </ac:graphicFrameMkLst>
        </pc:graphicFrameChg>
        <pc:graphicFrameChg chg="mod modGraphic">
          <ac:chgData name="SUSHANTH GS" userId="89aff6f21c65323f" providerId="LiveId" clId="{452E1ABD-B47F-4FB2-9611-2C0FD1D49725}" dt="2026-06-14T07:34:42.441" v="2097" actId="255"/>
          <ac:graphicFrameMkLst>
            <pc:docMk/>
            <pc:sldMk cId="2548607038" sldId="352"/>
            <ac:graphicFrameMk id="17" creationId="{70765C26-C73B-5B97-1D5B-68678D80F4C1}"/>
          </ac:graphicFrameMkLst>
        </pc:graphicFrameChg>
        <pc:picChg chg="add mod">
          <ac:chgData name="SUSHANTH GS" userId="89aff6f21c65323f" providerId="LiveId" clId="{452E1ABD-B47F-4FB2-9611-2C0FD1D49725}" dt="2026-06-14T07:23:57.212" v="1639" actId="1076"/>
          <ac:picMkLst>
            <pc:docMk/>
            <pc:sldMk cId="2548607038" sldId="352"/>
            <ac:picMk id="2" creationId="{91625A19-BB91-F734-37A7-71F6B66D94F4}"/>
          </ac:picMkLst>
        </pc:picChg>
        <pc:picChg chg="add del">
          <ac:chgData name="SUSHANTH GS" userId="89aff6f21c65323f" providerId="LiveId" clId="{452E1ABD-B47F-4FB2-9611-2C0FD1D49725}" dt="2026-06-13T09:35:30.586" v="438" actId="22"/>
          <ac:picMkLst>
            <pc:docMk/>
            <pc:sldMk cId="2548607038" sldId="352"/>
            <ac:picMk id="3" creationId="{F55917D8-0845-4B4B-079A-A4B1732CAB54}"/>
          </ac:picMkLst>
        </pc:picChg>
        <pc:picChg chg="del">
          <ac:chgData name="SUSHANTH GS" userId="89aff6f21c65323f" providerId="LiveId" clId="{452E1ABD-B47F-4FB2-9611-2C0FD1D49725}" dt="2026-06-13T10:05:46.264" v="925" actId="21"/>
          <ac:picMkLst>
            <pc:docMk/>
            <pc:sldMk cId="2548607038" sldId="352"/>
            <ac:picMk id="11" creationId="{2A535DD2-16AB-9BD2-B8D3-148A182B9568}"/>
          </ac:picMkLst>
        </pc:picChg>
      </pc:sldChg>
      <pc:sldChg chg="add del">
        <pc:chgData name="SUSHANTH GS" userId="89aff6f21c65323f" providerId="LiveId" clId="{452E1ABD-B47F-4FB2-9611-2C0FD1D49725}" dt="2026-06-13T09:35:26.035" v="436"/>
        <pc:sldMkLst>
          <pc:docMk/>
          <pc:sldMk cId="855283604" sldId="353"/>
        </pc:sldMkLst>
      </pc:sldChg>
      <pc:sldChg chg="addSp delSp modSp add mod modTransition modAnim">
        <pc:chgData name="SUSHANTH GS" userId="89aff6f21c65323f" providerId="LiveId" clId="{452E1ABD-B47F-4FB2-9611-2C0FD1D49725}" dt="2026-06-14T07:46:38.234" v="2357"/>
        <pc:sldMkLst>
          <pc:docMk/>
          <pc:sldMk cId="4275203058" sldId="353"/>
        </pc:sldMkLst>
        <pc:picChg chg="add mod">
          <ac:chgData name="SUSHANTH GS" userId="89aff6f21c65323f" providerId="LiveId" clId="{452E1ABD-B47F-4FB2-9611-2C0FD1D49725}" dt="2026-06-14T07:23:12.283" v="1625" actId="1076"/>
          <ac:picMkLst>
            <pc:docMk/>
            <pc:sldMk cId="4275203058" sldId="353"/>
            <ac:picMk id="2" creationId="{C391AC97-71D4-B9DF-A029-84C07C536D0E}"/>
          </ac:picMkLst>
        </pc:picChg>
        <pc:cxnChg chg="add">
          <ac:chgData name="SUSHANTH GS" userId="89aff6f21c65323f" providerId="LiveId" clId="{452E1ABD-B47F-4FB2-9611-2C0FD1D49725}" dt="2026-06-14T07:08:30.557" v="1559" actId="11529"/>
          <ac:cxnSpMkLst>
            <pc:docMk/>
            <pc:sldMk cId="4275203058" sldId="353"/>
            <ac:cxnSpMk id="4" creationId="{D6D42BBC-1082-C1EB-0C07-796C37F7044C}"/>
          </ac:cxnSpMkLst>
        </pc:cxnChg>
        <pc:cxnChg chg="add">
          <ac:chgData name="SUSHANTH GS" userId="89aff6f21c65323f" providerId="LiveId" clId="{452E1ABD-B47F-4FB2-9611-2C0FD1D49725}" dt="2026-06-14T07:08:49.064" v="1560" actId="11529"/>
          <ac:cxnSpMkLst>
            <pc:docMk/>
            <pc:sldMk cId="4275203058" sldId="353"/>
            <ac:cxnSpMk id="6" creationId="{03B89327-CEC8-E0AC-ADC1-C24E5BEA2A6D}"/>
          </ac:cxnSpMkLst>
        </pc:cxnChg>
        <pc:cxnChg chg="add">
          <ac:chgData name="SUSHANTH GS" userId="89aff6f21c65323f" providerId="LiveId" clId="{452E1ABD-B47F-4FB2-9611-2C0FD1D49725}" dt="2026-06-14T07:08:58.335" v="1561" actId="11529"/>
          <ac:cxnSpMkLst>
            <pc:docMk/>
            <pc:sldMk cId="4275203058" sldId="353"/>
            <ac:cxnSpMk id="11" creationId="{835C05B2-41DD-58A3-CEE9-C1726E787532}"/>
          </ac:cxnSpMkLst>
        </pc:cxnChg>
        <pc:cxnChg chg="add">
          <ac:chgData name="SUSHANTH GS" userId="89aff6f21c65323f" providerId="LiveId" clId="{452E1ABD-B47F-4FB2-9611-2C0FD1D49725}" dt="2026-06-14T07:09:05.821" v="1562" actId="11529"/>
          <ac:cxnSpMkLst>
            <pc:docMk/>
            <pc:sldMk cId="4275203058" sldId="353"/>
            <ac:cxnSpMk id="13" creationId="{E9FBC9E4-08D3-1179-0FE2-1ACBEE243DB9}"/>
          </ac:cxnSpMkLst>
        </pc:cxnChg>
        <pc:cxnChg chg="add del">
          <ac:chgData name="SUSHANTH GS" userId="89aff6f21c65323f" providerId="LiveId" clId="{452E1ABD-B47F-4FB2-9611-2C0FD1D49725}" dt="2026-06-14T07:09:21.269" v="1564" actId="11529"/>
          <ac:cxnSpMkLst>
            <pc:docMk/>
            <pc:sldMk cId="4275203058" sldId="353"/>
            <ac:cxnSpMk id="15" creationId="{5E0B66AA-BE9D-36B1-2EC3-3D9F6D508476}"/>
          </ac:cxnSpMkLst>
        </pc:cxnChg>
        <pc:cxnChg chg="add">
          <ac:chgData name="SUSHANTH GS" userId="89aff6f21c65323f" providerId="LiveId" clId="{452E1ABD-B47F-4FB2-9611-2C0FD1D49725}" dt="2026-06-14T07:09:35.861" v="1565" actId="11529"/>
          <ac:cxnSpMkLst>
            <pc:docMk/>
            <pc:sldMk cId="4275203058" sldId="353"/>
            <ac:cxnSpMk id="17" creationId="{6930D093-475B-2487-72D9-DEBBD67C0B3E}"/>
          </ac:cxnSpMkLst>
        </pc:cxnChg>
        <pc:cxnChg chg="add del">
          <ac:chgData name="SUSHANTH GS" userId="89aff6f21c65323f" providerId="LiveId" clId="{452E1ABD-B47F-4FB2-9611-2C0FD1D49725}" dt="2026-06-14T07:10:01.088" v="1567" actId="11529"/>
          <ac:cxnSpMkLst>
            <pc:docMk/>
            <pc:sldMk cId="4275203058" sldId="353"/>
            <ac:cxnSpMk id="19" creationId="{5E7A1023-7824-F1DF-FB3C-47651D25D7DD}"/>
          </ac:cxnSpMkLst>
        </pc:cxnChg>
        <pc:cxnChg chg="add mod">
          <ac:chgData name="SUSHANTH GS" userId="89aff6f21c65323f" providerId="LiveId" clId="{452E1ABD-B47F-4FB2-9611-2C0FD1D49725}" dt="2026-06-14T07:10:23.029" v="1569" actId="13822"/>
          <ac:cxnSpMkLst>
            <pc:docMk/>
            <pc:sldMk cId="4275203058" sldId="353"/>
            <ac:cxnSpMk id="21" creationId="{D631C696-6B15-C1E0-556E-FED20BA500F7}"/>
          </ac:cxnSpMkLst>
        </pc:cxnChg>
        <pc:cxnChg chg="add mod">
          <ac:chgData name="SUSHANTH GS" userId="89aff6f21c65323f" providerId="LiveId" clId="{452E1ABD-B47F-4FB2-9611-2C0FD1D49725}" dt="2026-06-14T07:13:16.968" v="1587" actId="14100"/>
          <ac:cxnSpMkLst>
            <pc:docMk/>
            <pc:sldMk cId="4275203058" sldId="353"/>
            <ac:cxnSpMk id="23" creationId="{61DAC507-6F71-A405-6E9D-839D8B2BB366}"/>
          </ac:cxnSpMkLst>
        </pc:cxnChg>
        <pc:cxnChg chg="add del">
          <ac:chgData name="SUSHANTH GS" userId="89aff6f21c65323f" providerId="LiveId" clId="{452E1ABD-B47F-4FB2-9611-2C0FD1D49725}" dt="2026-06-14T07:13:14.045" v="1585" actId="11529"/>
          <ac:cxnSpMkLst>
            <pc:docMk/>
            <pc:sldMk cId="4275203058" sldId="353"/>
            <ac:cxnSpMk id="26" creationId="{1C53116B-7600-3E61-90E4-9C114807D849}"/>
          </ac:cxnSpMkLst>
        </pc:cxnChg>
        <pc:cxnChg chg="add del mod">
          <ac:chgData name="SUSHANTH GS" userId="89aff6f21c65323f" providerId="LiveId" clId="{452E1ABD-B47F-4FB2-9611-2C0FD1D49725}" dt="2026-06-14T07:11:23.887" v="1576" actId="11529"/>
          <ac:cxnSpMkLst>
            <pc:docMk/>
            <pc:sldMk cId="4275203058" sldId="353"/>
            <ac:cxnSpMk id="28" creationId="{DF958087-BC27-75B7-E2A9-891184916BC0}"/>
          </ac:cxnSpMkLst>
        </pc:cxnChg>
        <pc:cxnChg chg="add del">
          <ac:chgData name="SUSHANTH GS" userId="89aff6f21c65323f" providerId="LiveId" clId="{452E1ABD-B47F-4FB2-9611-2C0FD1D49725}" dt="2026-06-14T07:11:37.313" v="1578" actId="11529"/>
          <ac:cxnSpMkLst>
            <pc:docMk/>
            <pc:sldMk cId="4275203058" sldId="353"/>
            <ac:cxnSpMk id="33" creationId="{1EB7079F-5F93-8F4C-29E0-D82A4B977DB1}"/>
          </ac:cxnSpMkLst>
        </pc:cxnChg>
        <pc:cxnChg chg="add del">
          <ac:chgData name="SUSHANTH GS" userId="89aff6f21c65323f" providerId="LiveId" clId="{452E1ABD-B47F-4FB2-9611-2C0FD1D49725}" dt="2026-06-14T07:13:13.468" v="1584" actId="11529"/>
          <ac:cxnSpMkLst>
            <pc:docMk/>
            <pc:sldMk cId="4275203058" sldId="353"/>
            <ac:cxnSpMk id="35" creationId="{38DDC458-7C1D-00D3-DCF3-41CAAD00BE6E}"/>
          </ac:cxnSpMkLst>
        </pc:cxnChg>
        <pc:cxnChg chg="add del">
          <ac:chgData name="SUSHANTH GS" userId="89aff6f21c65323f" providerId="LiveId" clId="{452E1ABD-B47F-4FB2-9611-2C0FD1D49725}" dt="2026-06-14T07:13:12.932" v="1583" actId="11529"/>
          <ac:cxnSpMkLst>
            <pc:docMk/>
            <pc:sldMk cId="4275203058" sldId="353"/>
            <ac:cxnSpMk id="37" creationId="{437392C4-7108-5359-3B18-041002BF55B9}"/>
          </ac:cxnSpMkLst>
        </pc:cxnChg>
      </pc:sldChg>
      <pc:sldChg chg="add">
        <pc:chgData name="SUSHANTH GS" userId="89aff6f21c65323f" providerId="LiveId" clId="{452E1ABD-B47F-4FB2-9611-2C0FD1D49725}" dt="2026-06-14T07:17:22.012" v="1595"/>
        <pc:sldMkLst>
          <pc:docMk/>
          <pc:sldMk cId="1511845910" sldId="354"/>
        </pc:sldMkLst>
      </pc:sldChg>
      <pc:sldChg chg="add">
        <pc:chgData name="SUSHANTH GS" userId="89aff6f21c65323f" providerId="LiveId" clId="{452E1ABD-B47F-4FB2-9611-2C0FD1D49725}" dt="2026-06-14T07:17:42.745" v="1597"/>
        <pc:sldMkLst>
          <pc:docMk/>
          <pc:sldMk cId="796970097" sldId="355"/>
        </pc:sldMkLst>
      </pc:sldChg>
      <pc:sldChg chg="add">
        <pc:chgData name="SUSHANTH GS" userId="89aff6f21c65323f" providerId="LiveId" clId="{452E1ABD-B47F-4FB2-9611-2C0FD1D49725}" dt="2026-06-14T07:18:14.756" v="1599"/>
        <pc:sldMkLst>
          <pc:docMk/>
          <pc:sldMk cId="323450813" sldId="356"/>
        </pc:sldMkLst>
      </pc:sldChg>
      <pc:sldChg chg="add">
        <pc:chgData name="SUSHANTH GS" userId="89aff6f21c65323f" providerId="LiveId" clId="{452E1ABD-B47F-4FB2-9611-2C0FD1D49725}" dt="2026-06-14T07:18:44.691" v="1601"/>
        <pc:sldMkLst>
          <pc:docMk/>
          <pc:sldMk cId="1318306058" sldId="357"/>
        </pc:sldMkLst>
      </pc:sldChg>
      <pc:sldChg chg="add">
        <pc:chgData name="SUSHANTH GS" userId="89aff6f21c65323f" providerId="LiveId" clId="{452E1ABD-B47F-4FB2-9611-2C0FD1D49725}" dt="2026-06-14T07:19:13.027" v="1603"/>
        <pc:sldMkLst>
          <pc:docMk/>
          <pc:sldMk cId="2444000823" sldId="358"/>
        </pc:sldMkLst>
      </pc:sldChg>
      <pc:sldChg chg="add">
        <pc:chgData name="SUSHANTH GS" userId="89aff6f21c65323f" providerId="LiveId" clId="{452E1ABD-B47F-4FB2-9611-2C0FD1D49725}" dt="2026-06-14T07:19:34.711" v="1605"/>
        <pc:sldMkLst>
          <pc:docMk/>
          <pc:sldMk cId="3418826798" sldId="359"/>
        </pc:sldMkLst>
      </pc:sldChg>
      <pc:sldChg chg="add">
        <pc:chgData name="SUSHANTH GS" userId="89aff6f21c65323f" providerId="LiveId" clId="{452E1ABD-B47F-4FB2-9611-2C0FD1D49725}" dt="2026-06-14T07:19:55.829" v="1607"/>
        <pc:sldMkLst>
          <pc:docMk/>
          <pc:sldMk cId="1036815405" sldId="360"/>
        </pc:sldMkLst>
      </pc:sldChg>
      <pc:sldChg chg="add">
        <pc:chgData name="SUSHANTH GS" userId="89aff6f21c65323f" providerId="LiveId" clId="{452E1ABD-B47F-4FB2-9611-2C0FD1D49725}" dt="2026-06-14T07:20:20.115" v="1609"/>
        <pc:sldMkLst>
          <pc:docMk/>
          <pc:sldMk cId="3124031546" sldId="361"/>
        </pc:sldMkLst>
      </pc:sldChg>
      <pc:sldChg chg="add">
        <pc:chgData name="SUSHANTH GS" userId="89aff6f21c65323f" providerId="LiveId" clId="{452E1ABD-B47F-4FB2-9611-2C0FD1D49725}" dt="2026-06-14T07:20:39.431" v="1612"/>
        <pc:sldMkLst>
          <pc:docMk/>
          <pc:sldMk cId="2308136058" sldId="362"/>
        </pc:sldMkLst>
      </pc:sldChg>
      <pc:sldChg chg="add">
        <pc:chgData name="SUSHANTH GS" userId="89aff6f21c65323f" providerId="LiveId" clId="{452E1ABD-B47F-4FB2-9611-2C0FD1D49725}" dt="2026-06-14T07:20:58.675" v="1614"/>
        <pc:sldMkLst>
          <pc:docMk/>
          <pc:sldMk cId="3576481953" sldId="363"/>
        </pc:sldMkLst>
      </pc:sldChg>
      <pc:sldChg chg="add">
        <pc:chgData name="SUSHANTH GS" userId="89aff6f21c65323f" providerId="LiveId" clId="{452E1ABD-B47F-4FB2-9611-2C0FD1D49725}" dt="2026-06-14T07:21:35.605" v="1616"/>
        <pc:sldMkLst>
          <pc:docMk/>
          <pc:sldMk cId="616719730" sldId="364"/>
        </pc:sldMkLst>
      </pc:sldChg>
      <pc:sldChg chg="add">
        <pc:chgData name="SUSHANTH GS" userId="89aff6f21c65323f" providerId="LiveId" clId="{452E1ABD-B47F-4FB2-9611-2C0FD1D49725}" dt="2026-06-14T07:22:35.853" v="1619"/>
        <pc:sldMkLst>
          <pc:docMk/>
          <pc:sldMk cId="4178247997" sldId="36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1" qsCatId="simple" csTypeId="urn:microsoft.com/office/officeart/2005/8/colors/accent6_1" csCatId="accent6" phldr="1"/>
      <dgm:spPr/>
      <dgm:t>
        <a:bodyPr/>
        <a:lstStyle/>
        <a:p>
          <a:endParaRPr lang="en-IN"/>
        </a:p>
      </dgm:t>
    </dgm:pt>
    <dgm:pt modelId="{746B4EF9-BF3A-40BA-AFB2-066011491528}">
      <dgm:prSet phldrT="[Text]"/>
      <dgm:spPr>
        <a:xfrm>
          <a:off x="1391698" y="0"/>
          <a:ext cx="3975621" cy="3975621"/>
        </a:xfrm>
      </dgm:spPr>
      <dgm:t>
        <a:bodyPr/>
        <a:lstStyle/>
        <a:p>
          <a:r>
            <a:rPr lang="en-IN" dirty="0">
              <a:latin typeface="Calibri" panose="020F0502020204030204"/>
              <a:ea typeface="+mn-ea"/>
              <a:cs typeface="+mn-cs"/>
            </a:rPr>
            <a:t>TAM=38-40cr</a:t>
          </a:r>
        </a:p>
      </dgm:t>
    </dgm:pt>
    <dgm:pt modelId="{1954D69E-B74F-4B4C-92A9-ACC18C47A984}" type="parTrans" cxnId="{6915F751-B358-4E82-A29A-FC970199FF41}">
      <dgm:prSet/>
      <dgm:spPr/>
      <dgm:t>
        <a:bodyPr/>
        <a:lstStyle/>
        <a:p>
          <a:endParaRPr lang="en-IN"/>
        </a:p>
      </dgm:t>
    </dgm:pt>
    <dgm:pt modelId="{0B14DF90-4A8A-4E4D-9AD4-5A31ECC3D299}" type="sibTrans" cxnId="{6915F751-B358-4E82-A29A-FC970199FF41}">
      <dgm:prSet/>
      <dgm:spPr/>
      <dgm:t>
        <a:bodyPr/>
        <a:lstStyle/>
        <a:p>
          <a:endParaRPr lang="en-IN"/>
        </a:p>
      </dgm:t>
    </dgm:pt>
    <dgm:pt modelId="{C97EDADC-8ECD-42D4-89AC-847633F19078}">
      <dgm:prSet phldrT="[Text]"/>
      <dgm:spPr>
        <a:xfrm>
          <a:off x="1888651" y="993905"/>
          <a:ext cx="2981715" cy="2981715"/>
        </a:xfrm>
      </dgm:spPr>
      <dgm:t>
        <a:bodyPr/>
        <a:lstStyle/>
        <a:p>
          <a:r>
            <a:rPr lang="en-IN" dirty="0">
              <a:latin typeface="Calibri" panose="020F0502020204030204"/>
              <a:ea typeface="+mn-ea"/>
              <a:cs typeface="+mn-cs"/>
            </a:rPr>
            <a:t>SAM=5cr users</a:t>
          </a:r>
        </a:p>
      </dgm:t>
    </dgm:pt>
    <dgm:pt modelId="{A3260F69-CA56-4346-A57E-769087C36739}" type="parTrans" cxnId="{3DEA3B12-D7FA-440A-BE79-775519D6910A}">
      <dgm:prSet/>
      <dgm:spPr/>
      <dgm:t>
        <a:bodyPr/>
        <a:lstStyle/>
        <a:p>
          <a:endParaRPr lang="en-IN"/>
        </a:p>
      </dgm:t>
    </dgm:pt>
    <dgm:pt modelId="{5909561E-9CA8-4668-901B-DE46BDCB26D4}" type="sibTrans" cxnId="{3DEA3B12-D7FA-440A-BE79-775519D6910A}">
      <dgm:prSet/>
      <dgm:spPr/>
      <dgm:t>
        <a:bodyPr/>
        <a:lstStyle/>
        <a:p>
          <a:endParaRPr lang="en-IN"/>
        </a:p>
      </dgm:t>
    </dgm:pt>
    <dgm:pt modelId="{E5EFF1E8-ABE4-4362-A50E-B875D125BD96}">
      <dgm:prSet phldrT="[Text]"/>
      <dgm:spPr>
        <a:xfrm>
          <a:off x="2385603" y="1987810"/>
          <a:ext cx="1987810" cy="1987810"/>
        </a:xfrm>
      </dgm:spPr>
      <dgm:t>
        <a:bodyPr/>
        <a:lstStyle/>
        <a:p>
          <a:r>
            <a:rPr lang="en-IN" dirty="0">
              <a:latin typeface="Calibri" panose="020F0502020204030204"/>
              <a:ea typeface="+mn-ea"/>
              <a:cs typeface="+mn-cs"/>
            </a:rPr>
            <a:t>SOM=5 to 15 lakh</a:t>
          </a:r>
        </a:p>
      </dgm:t>
    </dgm:pt>
    <dgm:pt modelId="{14B6BEEE-EB27-4CAC-B0EE-383B99B876FC}" type="parTrans" cxnId="{154FA2CE-CAB5-4733-8C08-DDAE9106897D}">
      <dgm:prSet/>
      <dgm:spPr/>
      <dgm:t>
        <a:bodyPr/>
        <a:lstStyle/>
        <a:p>
          <a:endParaRPr lang="en-IN"/>
        </a:p>
      </dgm:t>
    </dgm:pt>
    <dgm:pt modelId="{D5317EF5-6EDB-436F-B2D4-C6A7CD409F02}" type="sibTrans" cxnId="{154FA2CE-CAB5-4733-8C08-DDAE9106897D}">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pt>
    <dgm:pt modelId="{ED7C1346-0397-438A-9AAD-8BE2335EC6BB}" type="pres">
      <dgm:prSet presAssocID="{DD344F1D-3325-40CB-A71F-A79307D22CED}" presName="c1text" presStyleLbl="node1" presStyleIdx="0" presStyleCnt="3">
        <dgm:presLayoutVars>
          <dgm:bulletEnabled val="1"/>
        </dgm:presLayoutVars>
      </dgm:prSet>
      <dgm:spPr/>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pt>
    <dgm:pt modelId="{4871E181-12FC-48FB-9E74-6BA476466234}" type="pres">
      <dgm:prSet presAssocID="{DD344F1D-3325-40CB-A71F-A79307D22CED}" presName="c2text" presStyleLbl="node1" presStyleIdx="1" presStyleCnt="3">
        <dgm:presLayoutVars>
          <dgm:bulletEnabled val="1"/>
        </dgm:presLayoutVars>
      </dgm:prSet>
      <dgm:spPr/>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pt>
    <dgm:pt modelId="{DFA2E1B6-C653-4ECD-AABA-E3551E5267D7}" type="pres">
      <dgm:prSet presAssocID="{DD344F1D-3325-40CB-A71F-A79307D22CED}" presName="c3text" presStyleLbl="node1" presStyleIdx="2" presStyleCnt="3">
        <dgm:presLayoutVars>
          <dgm:bulletEnabled val="1"/>
        </dgm:presLayoutVars>
      </dgm:prSet>
      <dgm:spPr/>
    </dgm:pt>
  </dgm:ptLst>
  <dgm:cxnLst>
    <dgm:cxn modelId="{3DEA3B12-D7FA-440A-BE79-775519D6910A}" srcId="{DD344F1D-3325-40CB-A71F-A79307D22CED}" destId="{C97EDADC-8ECD-42D4-89AC-847633F19078}" srcOrd="1" destOrd="0" parTransId="{A3260F69-CA56-4346-A57E-769087C36739}" sibTransId="{5909561E-9CA8-4668-901B-DE46BDCB26D4}"/>
    <dgm:cxn modelId="{69D89837-AE44-447D-BEBD-713B62821E4E}" type="presOf" srcId="{DD344F1D-3325-40CB-A71F-A79307D22CED}" destId="{F2B9CC1C-BDE6-4CDB-A758-74CC86A3F31F}" srcOrd="0" destOrd="0" presId="urn:microsoft.com/office/officeart/2005/8/layout/venn2"/>
    <dgm:cxn modelId="{5048B446-AC55-441E-A5AC-1FA804A23A0B}" type="presOf" srcId="{746B4EF9-BF3A-40BA-AFB2-066011491528}" destId="{2BE2AAFC-BEAE-481D-B557-81DE68A237F7}" srcOrd="0" destOrd="0" presId="urn:microsoft.com/office/officeart/2005/8/layout/venn2"/>
    <dgm:cxn modelId="{6EF22650-71F8-46AA-B2F3-3FB7C09D1771}" type="presOf" srcId="{C97EDADC-8ECD-42D4-89AC-847633F19078}" destId="{5783AC22-EAAA-4B02-9505-F9F67BC8F71A}" srcOrd="0" destOrd="0" presId="urn:microsoft.com/office/officeart/2005/8/layout/venn2"/>
    <dgm:cxn modelId="{6915F751-B358-4E82-A29A-FC970199FF41}" srcId="{DD344F1D-3325-40CB-A71F-A79307D22CED}" destId="{746B4EF9-BF3A-40BA-AFB2-066011491528}" srcOrd="0" destOrd="0" parTransId="{1954D69E-B74F-4B4C-92A9-ACC18C47A984}" sibTransId="{0B14DF90-4A8A-4E4D-9AD4-5A31ECC3D299}"/>
    <dgm:cxn modelId="{3E5E3453-8B05-494C-B7DD-8F789CE1047E}" type="presOf" srcId="{E5EFF1E8-ABE4-4362-A50E-B875D125BD96}" destId="{DFA2E1B6-C653-4ECD-AABA-E3551E5267D7}" srcOrd="1" destOrd="0" presId="urn:microsoft.com/office/officeart/2005/8/layout/venn2"/>
    <dgm:cxn modelId="{1D633193-84D8-41E9-9BEA-42E4AE88C1C3}" type="presOf" srcId="{746B4EF9-BF3A-40BA-AFB2-066011491528}" destId="{ED7C1346-0397-438A-9AAD-8BE2335EC6BB}" srcOrd="1"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BC82ABE1-F8A3-46C7-A8A9-E359E0C156F0}" type="presOf" srcId="{E5EFF1E8-ABE4-4362-A50E-B875D125BD96}" destId="{0927306A-DE0F-4C43-94ED-305F00916AD7}" srcOrd="0" destOrd="0" presId="urn:microsoft.com/office/officeart/2005/8/layout/venn2"/>
    <dgm:cxn modelId="{76C1ADE8-3E68-44A1-9298-A83070409F2A}" type="presOf" srcId="{C97EDADC-8ECD-42D4-89AC-847633F19078}" destId="{4871E181-12FC-48FB-9E74-6BA476466234}" srcOrd="1" destOrd="0" presId="urn:microsoft.com/office/officeart/2005/8/layout/venn2"/>
    <dgm:cxn modelId="{D86D7FDC-6353-4BA1-AE90-91314EE84F6A}" type="presParOf" srcId="{F2B9CC1C-BDE6-4CDB-A758-74CC86A3F31F}" destId="{8451ED41-C590-464C-8723-134AEB39DBB3}" srcOrd="0" destOrd="0" presId="urn:microsoft.com/office/officeart/2005/8/layout/venn2"/>
    <dgm:cxn modelId="{79A2FCE8-97C6-47B7-A077-3470F5B7CF5B}" type="presParOf" srcId="{8451ED41-C590-464C-8723-134AEB39DBB3}" destId="{2BE2AAFC-BEAE-481D-B557-81DE68A237F7}" srcOrd="0" destOrd="0" presId="urn:microsoft.com/office/officeart/2005/8/layout/venn2"/>
    <dgm:cxn modelId="{2001E8A0-D926-4888-A220-3D21930627E0}" type="presParOf" srcId="{8451ED41-C590-464C-8723-134AEB39DBB3}" destId="{ED7C1346-0397-438A-9AAD-8BE2335EC6BB}" srcOrd="1" destOrd="0" presId="urn:microsoft.com/office/officeart/2005/8/layout/venn2"/>
    <dgm:cxn modelId="{8227A953-9708-418C-850B-24986FB12064}" type="presParOf" srcId="{F2B9CC1C-BDE6-4CDB-A758-74CC86A3F31F}" destId="{8F11973F-33EE-445B-8E28-2D5EAC0DA289}" srcOrd="1" destOrd="0" presId="urn:microsoft.com/office/officeart/2005/8/layout/venn2"/>
    <dgm:cxn modelId="{63F99341-D2DC-4256-A8D3-412F66819B89}" type="presParOf" srcId="{8F11973F-33EE-445B-8E28-2D5EAC0DA289}" destId="{5783AC22-EAAA-4B02-9505-F9F67BC8F71A}" srcOrd="0" destOrd="0" presId="urn:microsoft.com/office/officeart/2005/8/layout/venn2"/>
    <dgm:cxn modelId="{0BD8D4D5-D41A-4F9B-88FD-86DA00EB0EF8}" type="presParOf" srcId="{8F11973F-33EE-445B-8E28-2D5EAC0DA289}" destId="{4871E181-12FC-48FB-9E74-6BA476466234}" srcOrd="1" destOrd="0" presId="urn:microsoft.com/office/officeart/2005/8/layout/venn2"/>
    <dgm:cxn modelId="{23E4EAB6-377C-4E17-A90D-6389D8FA740D}" type="presParOf" srcId="{F2B9CC1C-BDE6-4CDB-A758-74CC86A3F31F}" destId="{901532F9-DC54-486E-8432-B2395DAF1269}" srcOrd="2" destOrd="0" presId="urn:microsoft.com/office/officeart/2005/8/layout/venn2"/>
    <dgm:cxn modelId="{374D50A8-F5A5-43D6-9CD4-AD2528D84802}" type="presParOf" srcId="{901532F9-DC54-486E-8432-B2395DAF1269}" destId="{0927306A-DE0F-4C43-94ED-305F00916AD7}" srcOrd="0" destOrd="0" presId="urn:microsoft.com/office/officeart/2005/8/layout/venn2"/>
    <dgm:cxn modelId="{301AC02E-0AB1-4E55-A8F9-DF8BF733D4BC}"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C08995-0A06-4692-A667-D87FC34CAEDF}" type="doc">
      <dgm:prSet loTypeId="urn:microsoft.com/office/officeart/2005/8/layout/pyramid3" loCatId="pyramid" qsTypeId="urn:microsoft.com/office/officeart/2005/8/quickstyle/simple1" qsCatId="simple" csTypeId="urn:microsoft.com/office/officeart/2005/8/colors/accent2_1" csCatId="accent2" phldr="1"/>
      <dgm:spPr/>
      <dgm:t>
        <a:bodyPr/>
        <a:lstStyle/>
        <a:p>
          <a:endParaRPr lang="en-IN"/>
        </a:p>
      </dgm:t>
    </dgm:pt>
    <dgm:pt modelId="{1B77F4E2-4054-44C5-8439-BAAC1D809E85}">
      <dgm:prSet phldrT="[Text]" custT="1"/>
      <dgm:spPr/>
      <dgm:t>
        <a:bodyPr/>
        <a:lstStyle/>
        <a:p>
          <a:r>
            <a:rPr lang="de-DE" sz="1800" b="1" dirty="0">
              <a:latin typeface="+mn-lt"/>
              <a:cs typeface="Arial" panose="020B0604020202020204" pitchFamily="34" charset="0"/>
            </a:rPr>
            <a:t>TARGET MARKET: 50M+ vehicle users in India</a:t>
          </a:r>
          <a:endParaRPr lang="de-DE" sz="1050" dirty="0">
            <a:latin typeface="+mn-lt"/>
            <a:cs typeface="Arial" panose="020B0604020202020204" pitchFamily="34" charset="0"/>
          </a:endParaRPr>
        </a:p>
      </dgm:t>
    </dgm:pt>
    <dgm:pt modelId="{C067D827-58D6-4BB7-B862-87652879F687}" type="parTrans" cxnId="{6F7BCFFC-5685-445A-8A80-F7B3A816B052}">
      <dgm:prSet/>
      <dgm:spPr/>
      <dgm:t>
        <a:bodyPr/>
        <a:lstStyle/>
        <a:p>
          <a:endParaRPr lang="de-DE" sz="2400">
            <a:latin typeface="+mn-lt"/>
          </a:endParaRPr>
        </a:p>
      </dgm:t>
    </dgm:pt>
    <dgm:pt modelId="{DCC0FA10-27F4-428E-A55C-7BFE43B8D6A1}" type="sibTrans" cxnId="{6F7BCFFC-5685-445A-8A80-F7B3A816B052}">
      <dgm:prSet/>
      <dgm:spPr/>
      <dgm:t>
        <a:bodyPr/>
        <a:lstStyle/>
        <a:p>
          <a:endParaRPr lang="de-DE" sz="2400">
            <a:latin typeface="+mn-lt"/>
          </a:endParaRPr>
        </a:p>
      </dgm:t>
    </dgm:pt>
    <dgm:pt modelId="{89124381-D640-426D-B253-4D1A874C75B4}">
      <dgm:prSet phldrT="[Text]" custT="1"/>
      <dgm:spPr/>
      <dgm:t>
        <a:bodyPr/>
        <a:lstStyle/>
        <a:p>
          <a:pPr algn="ctr"/>
          <a:r>
            <a:rPr lang="de-DE" sz="1800" b="1" dirty="0">
              <a:latin typeface="+mn-lt"/>
              <a:cs typeface="Arial" panose="020B0604020202020204" pitchFamily="34" charset="0"/>
            </a:rPr>
            <a:t>OPPORTUNITIES/PROSPECTS:</a:t>
          </a:r>
        </a:p>
        <a:p>
          <a:pPr algn="ctr"/>
          <a:r>
            <a:rPr lang="de-DE" sz="1800" b="1" dirty="0">
              <a:latin typeface="+mn-lt"/>
              <a:cs typeface="Arial" panose="020B0604020202020204" pitchFamily="34" charset="0"/>
            </a:rPr>
            <a:t>1,00,000 app registrations</a:t>
          </a:r>
        </a:p>
        <a:p>
          <a:pPr algn="ctr"/>
          <a:endParaRPr lang="de-DE" sz="1800" b="0" dirty="0">
            <a:latin typeface="+mn-lt"/>
            <a:cs typeface="Arial" panose="020B0604020202020204" pitchFamily="34" charset="0"/>
          </a:endParaRPr>
        </a:p>
      </dgm:t>
    </dgm:pt>
    <dgm:pt modelId="{E7A18DAA-BC05-4839-9C1F-A64F22600D8C}" type="parTrans" cxnId="{2255E916-F98E-4667-9893-DF40C3CF220E}">
      <dgm:prSet/>
      <dgm:spPr/>
      <dgm:t>
        <a:bodyPr/>
        <a:lstStyle/>
        <a:p>
          <a:endParaRPr lang="de-DE" sz="2400">
            <a:latin typeface="+mn-lt"/>
          </a:endParaRPr>
        </a:p>
      </dgm:t>
    </dgm:pt>
    <dgm:pt modelId="{5B0535CC-E61B-420F-921D-62F4C85520B5}" type="sibTrans" cxnId="{2255E916-F98E-4667-9893-DF40C3CF220E}">
      <dgm:prSet/>
      <dgm:spPr/>
      <dgm:t>
        <a:bodyPr/>
        <a:lstStyle/>
        <a:p>
          <a:endParaRPr lang="de-DE" sz="2400">
            <a:latin typeface="+mn-lt"/>
          </a:endParaRPr>
        </a:p>
      </dgm:t>
    </dgm:pt>
    <dgm:pt modelId="{D4302C08-0B0E-4DFF-B831-670196B8A703}">
      <dgm:prSet phldrT="[Text]" custT="1"/>
      <dgm:spPr/>
      <dgm:t>
        <a:bodyPr/>
        <a:lstStyle/>
        <a:p>
          <a:pPr algn="ctr">
            <a:lnSpc>
              <a:spcPct val="100000"/>
            </a:lnSpc>
          </a:pPr>
          <a:r>
            <a:rPr lang="de-DE" sz="1800" b="1" dirty="0">
              <a:latin typeface="+mn-lt"/>
              <a:cs typeface="Arial" panose="020B0604020202020204" pitchFamily="34" charset="0"/>
            </a:rPr>
            <a:t>CUSTOMER:</a:t>
          </a:r>
        </a:p>
        <a:p>
          <a:pPr algn="ctr">
            <a:lnSpc>
              <a:spcPct val="100000"/>
            </a:lnSpc>
          </a:pPr>
          <a:r>
            <a:rPr lang="de-DE" sz="1800" b="1" dirty="0">
              <a:latin typeface="+mn-lt"/>
              <a:cs typeface="Arial" panose="020B0604020202020204" pitchFamily="34" charset="0"/>
            </a:rPr>
            <a:t>10,000</a:t>
          </a:r>
        </a:p>
        <a:p>
          <a:pPr algn="ctr">
            <a:lnSpc>
              <a:spcPct val="100000"/>
            </a:lnSpc>
          </a:pPr>
          <a:r>
            <a:rPr lang="de-DE" sz="1800" b="1" dirty="0">
              <a:latin typeface="+mn-lt"/>
              <a:cs typeface="Arial" panose="020B0604020202020204" pitchFamily="34" charset="0"/>
            </a:rPr>
            <a:t>Paid</a:t>
          </a:r>
        </a:p>
        <a:p>
          <a:pPr algn="ctr">
            <a:lnSpc>
              <a:spcPct val="100000"/>
            </a:lnSpc>
          </a:pPr>
          <a:r>
            <a:rPr lang="de-DE" sz="1800" b="1" dirty="0">
              <a:latin typeface="+mn-lt"/>
              <a:cs typeface="Arial" panose="020B0604020202020204" pitchFamily="34" charset="0"/>
            </a:rPr>
            <a:t> users</a:t>
          </a:r>
        </a:p>
        <a:p>
          <a:pPr algn="ctr">
            <a:lnSpc>
              <a:spcPct val="100000"/>
            </a:lnSpc>
          </a:pPr>
          <a:endParaRPr lang="de-DE" sz="1800" dirty="0">
            <a:latin typeface="+mn-lt"/>
            <a:cs typeface="Arial" panose="020B0604020202020204" pitchFamily="34" charset="0"/>
          </a:endParaRPr>
        </a:p>
      </dgm:t>
    </dgm:pt>
    <dgm:pt modelId="{34BF3499-FD55-441F-AF06-BBB55804704C}" type="parTrans" cxnId="{D13609CC-BF64-4283-B375-996ED0D6E430}">
      <dgm:prSet/>
      <dgm:spPr/>
      <dgm:t>
        <a:bodyPr/>
        <a:lstStyle/>
        <a:p>
          <a:endParaRPr lang="de-DE" sz="2400">
            <a:latin typeface="+mn-lt"/>
          </a:endParaRPr>
        </a:p>
      </dgm:t>
    </dgm:pt>
    <dgm:pt modelId="{95A280FD-9DD1-42AB-82EC-4058973521FC}" type="sibTrans" cxnId="{D13609CC-BF64-4283-B375-996ED0D6E430}">
      <dgm:prSet/>
      <dgm:spPr/>
      <dgm:t>
        <a:bodyPr/>
        <a:lstStyle/>
        <a:p>
          <a:endParaRPr lang="de-DE" sz="2400">
            <a:latin typeface="+mn-lt"/>
          </a:endParaRPr>
        </a:p>
      </dgm:t>
    </dgm:pt>
    <dgm:pt modelId="{11880C8A-DE3B-4D4A-BB2A-56AB99C538BE}">
      <dgm:prSet phldrT="[Text]" custT="1"/>
      <dgm:spPr/>
      <dgm:t>
        <a:bodyPr/>
        <a:lstStyle/>
        <a:p>
          <a:pPr algn="ctr"/>
          <a:endParaRPr lang="de-DE" sz="1800" b="1" dirty="0">
            <a:latin typeface="+mn-lt"/>
            <a:cs typeface="Arial" panose="020B0604020202020204" pitchFamily="34" charset="0"/>
          </a:endParaRPr>
        </a:p>
        <a:p>
          <a:pPr algn="ctr"/>
          <a:r>
            <a:rPr lang="de-DE" sz="1800" b="1" dirty="0">
              <a:latin typeface="+mn-lt"/>
              <a:cs typeface="Arial" panose="020B0604020202020204" pitchFamily="34" charset="0"/>
            </a:rPr>
            <a:t>LEADS: 5,00,000 digital-reached users</a:t>
          </a:r>
        </a:p>
        <a:p>
          <a:pPr algn="ctr"/>
          <a:r>
            <a:rPr lang="de-DE" sz="1800" b="1" dirty="0">
              <a:latin typeface="+mn-lt"/>
              <a:cs typeface="Arial" panose="020B0604020202020204" pitchFamily="34" charset="0"/>
            </a:rPr>
            <a:t>  </a:t>
          </a:r>
        </a:p>
        <a:p>
          <a:pPr algn="ctr"/>
          <a:endParaRPr lang="de-DE" sz="1800" b="0" dirty="0">
            <a:latin typeface="+mn-lt"/>
            <a:cs typeface="Arial" panose="020B0604020202020204" pitchFamily="34" charset="0"/>
          </a:endParaRPr>
        </a:p>
      </dgm:t>
    </dgm:pt>
    <dgm:pt modelId="{31871C92-E695-4083-AA22-764C465EC697}" type="sibTrans" cxnId="{1E291445-3153-461C-AB66-06E1B7809C99}">
      <dgm:prSet/>
      <dgm:spPr/>
      <dgm:t>
        <a:bodyPr/>
        <a:lstStyle/>
        <a:p>
          <a:endParaRPr lang="de-DE" sz="2400">
            <a:latin typeface="+mn-lt"/>
          </a:endParaRPr>
        </a:p>
      </dgm:t>
    </dgm:pt>
    <dgm:pt modelId="{ED62723E-6919-451D-A1CC-9607B26064A4}" type="parTrans" cxnId="{1E291445-3153-461C-AB66-06E1B7809C99}">
      <dgm:prSet/>
      <dgm:spPr/>
      <dgm:t>
        <a:bodyPr/>
        <a:lstStyle/>
        <a:p>
          <a:endParaRPr lang="de-DE" sz="2400">
            <a:latin typeface="+mn-lt"/>
          </a:endParaRPr>
        </a:p>
      </dgm:t>
    </dgm:pt>
    <dgm:pt modelId="{D8783527-D5E7-4F04-B0F3-E1AEFA6F2585}" type="pres">
      <dgm:prSet presAssocID="{68C08995-0A06-4692-A667-D87FC34CAEDF}" presName="Name0" presStyleCnt="0">
        <dgm:presLayoutVars>
          <dgm:dir/>
          <dgm:animLvl val="lvl"/>
          <dgm:resizeHandles val="exact"/>
        </dgm:presLayoutVars>
      </dgm:prSet>
      <dgm:spPr/>
    </dgm:pt>
    <dgm:pt modelId="{0AC996AF-C876-4ABA-893C-DD32AC8BC5F9}" type="pres">
      <dgm:prSet presAssocID="{1B77F4E2-4054-44C5-8439-BAAC1D809E85}" presName="Name8" presStyleCnt="0"/>
      <dgm:spPr/>
    </dgm:pt>
    <dgm:pt modelId="{7C2B6F5A-5F5A-42A7-BB03-8526EC8ECB0E}" type="pres">
      <dgm:prSet presAssocID="{1B77F4E2-4054-44C5-8439-BAAC1D809E85}" presName="level" presStyleLbl="node1" presStyleIdx="0" presStyleCnt="4" custLinFactNeighborX="0" custLinFactNeighborY="692">
        <dgm:presLayoutVars>
          <dgm:chMax val="1"/>
          <dgm:bulletEnabled val="1"/>
        </dgm:presLayoutVars>
      </dgm:prSet>
      <dgm:spPr/>
    </dgm:pt>
    <dgm:pt modelId="{60E5429C-6DFB-41DC-A7D6-2B3DF2243655}" type="pres">
      <dgm:prSet presAssocID="{1B77F4E2-4054-44C5-8439-BAAC1D809E85}" presName="levelTx" presStyleLbl="revTx" presStyleIdx="0" presStyleCnt="0">
        <dgm:presLayoutVars>
          <dgm:chMax val="1"/>
          <dgm:bulletEnabled val="1"/>
        </dgm:presLayoutVars>
      </dgm:prSet>
      <dgm:spPr/>
    </dgm:pt>
    <dgm:pt modelId="{CFBD61D2-733F-48B8-B975-93303805372D}" type="pres">
      <dgm:prSet presAssocID="{11880C8A-DE3B-4D4A-BB2A-56AB99C538BE}" presName="Name8" presStyleCnt="0"/>
      <dgm:spPr/>
    </dgm:pt>
    <dgm:pt modelId="{E7BA9A3F-62F1-4C8A-9110-30A46B9CC3D7}" type="pres">
      <dgm:prSet presAssocID="{11880C8A-DE3B-4D4A-BB2A-56AB99C538BE}" presName="level" presStyleLbl="node1" presStyleIdx="1" presStyleCnt="4">
        <dgm:presLayoutVars>
          <dgm:chMax val="1"/>
          <dgm:bulletEnabled val="1"/>
        </dgm:presLayoutVars>
      </dgm:prSet>
      <dgm:spPr/>
    </dgm:pt>
    <dgm:pt modelId="{C3CAF407-6D4B-4D01-83B9-AA702E086A23}" type="pres">
      <dgm:prSet presAssocID="{11880C8A-DE3B-4D4A-BB2A-56AB99C538BE}" presName="levelTx" presStyleLbl="revTx" presStyleIdx="0" presStyleCnt="0">
        <dgm:presLayoutVars>
          <dgm:chMax val="1"/>
          <dgm:bulletEnabled val="1"/>
        </dgm:presLayoutVars>
      </dgm:prSet>
      <dgm:spPr/>
    </dgm:pt>
    <dgm:pt modelId="{92629B2F-F5EF-490D-9F78-E72B81C8853D}" type="pres">
      <dgm:prSet presAssocID="{89124381-D640-426D-B253-4D1A874C75B4}" presName="Name8" presStyleCnt="0"/>
      <dgm:spPr/>
    </dgm:pt>
    <dgm:pt modelId="{DE969564-BBE0-4263-AB30-F2604A7E43AA}" type="pres">
      <dgm:prSet presAssocID="{89124381-D640-426D-B253-4D1A874C75B4}" presName="level" presStyleLbl="node1" presStyleIdx="2" presStyleCnt="4" custScaleY="162146" custLinFactNeighborX="-160" custLinFactNeighborY="-888">
        <dgm:presLayoutVars>
          <dgm:chMax val="1"/>
          <dgm:bulletEnabled val="1"/>
        </dgm:presLayoutVars>
      </dgm:prSet>
      <dgm:spPr/>
    </dgm:pt>
    <dgm:pt modelId="{F194EA57-6578-4F08-8E05-068A297086B1}" type="pres">
      <dgm:prSet presAssocID="{89124381-D640-426D-B253-4D1A874C75B4}" presName="levelTx" presStyleLbl="revTx" presStyleIdx="0" presStyleCnt="0">
        <dgm:presLayoutVars>
          <dgm:chMax val="1"/>
          <dgm:bulletEnabled val="1"/>
        </dgm:presLayoutVars>
      </dgm:prSet>
      <dgm:spPr/>
    </dgm:pt>
    <dgm:pt modelId="{FB8D457D-B452-4DE6-AF3A-0A701F05EF3B}" type="pres">
      <dgm:prSet presAssocID="{D4302C08-0B0E-4DFF-B831-670196B8A703}" presName="Name8" presStyleCnt="0"/>
      <dgm:spPr/>
    </dgm:pt>
    <dgm:pt modelId="{39C83C79-88BF-48E6-B687-122D3FA17668}" type="pres">
      <dgm:prSet presAssocID="{D4302C08-0B0E-4DFF-B831-670196B8A703}" presName="level" presStyleLbl="node1" presStyleIdx="3" presStyleCnt="4" custScaleY="187455">
        <dgm:presLayoutVars>
          <dgm:chMax val="1"/>
          <dgm:bulletEnabled val="1"/>
        </dgm:presLayoutVars>
      </dgm:prSet>
      <dgm:spPr/>
    </dgm:pt>
    <dgm:pt modelId="{0F60B76B-398B-45B6-9BE6-BDA64C0F093D}" type="pres">
      <dgm:prSet presAssocID="{D4302C08-0B0E-4DFF-B831-670196B8A703}" presName="levelTx" presStyleLbl="revTx" presStyleIdx="0" presStyleCnt="0">
        <dgm:presLayoutVars>
          <dgm:chMax val="1"/>
          <dgm:bulletEnabled val="1"/>
        </dgm:presLayoutVars>
      </dgm:prSet>
      <dgm:spPr/>
    </dgm:pt>
  </dgm:ptLst>
  <dgm:cxnLst>
    <dgm:cxn modelId="{2255E916-F98E-4667-9893-DF40C3CF220E}" srcId="{68C08995-0A06-4692-A667-D87FC34CAEDF}" destId="{89124381-D640-426D-B253-4D1A874C75B4}" srcOrd="2" destOrd="0" parTransId="{E7A18DAA-BC05-4839-9C1F-A64F22600D8C}" sibTransId="{5B0535CC-E61B-420F-921D-62F4C85520B5}"/>
    <dgm:cxn modelId="{51A0D222-941D-4FB5-A328-468F2F5CDC12}" type="presOf" srcId="{89124381-D640-426D-B253-4D1A874C75B4}" destId="{DE969564-BBE0-4263-AB30-F2604A7E43AA}" srcOrd="0" destOrd="0" presId="urn:microsoft.com/office/officeart/2005/8/layout/pyramid3"/>
    <dgm:cxn modelId="{5A0BA52F-5C34-4EE2-B04D-9A7AE83FCF68}" type="presOf" srcId="{89124381-D640-426D-B253-4D1A874C75B4}" destId="{F194EA57-6578-4F08-8E05-068A297086B1}" srcOrd="1" destOrd="0" presId="urn:microsoft.com/office/officeart/2005/8/layout/pyramid3"/>
    <dgm:cxn modelId="{1E291445-3153-461C-AB66-06E1B7809C99}" srcId="{68C08995-0A06-4692-A667-D87FC34CAEDF}" destId="{11880C8A-DE3B-4D4A-BB2A-56AB99C538BE}" srcOrd="1" destOrd="0" parTransId="{ED62723E-6919-451D-A1CC-9607B26064A4}" sibTransId="{31871C92-E695-4083-AA22-764C465EC697}"/>
    <dgm:cxn modelId="{1D277A4C-9745-40BB-AE94-1F72656204D2}" type="presOf" srcId="{68C08995-0A06-4692-A667-D87FC34CAEDF}" destId="{D8783527-D5E7-4F04-B0F3-E1AEFA6F2585}" srcOrd="0" destOrd="0" presId="urn:microsoft.com/office/officeart/2005/8/layout/pyramid3"/>
    <dgm:cxn modelId="{160DBD7D-DED5-4C39-A009-75CFF1B78622}" type="presOf" srcId="{D4302C08-0B0E-4DFF-B831-670196B8A703}" destId="{0F60B76B-398B-45B6-9BE6-BDA64C0F093D}" srcOrd="1" destOrd="0" presId="urn:microsoft.com/office/officeart/2005/8/layout/pyramid3"/>
    <dgm:cxn modelId="{2559F681-0269-492E-B9B5-054676E12BC2}" type="presOf" srcId="{1B77F4E2-4054-44C5-8439-BAAC1D809E85}" destId="{60E5429C-6DFB-41DC-A7D6-2B3DF2243655}" srcOrd="1" destOrd="0" presId="urn:microsoft.com/office/officeart/2005/8/layout/pyramid3"/>
    <dgm:cxn modelId="{626E3B87-7369-48F5-BA52-CB3CC15B3AB4}" type="presOf" srcId="{11880C8A-DE3B-4D4A-BB2A-56AB99C538BE}" destId="{E7BA9A3F-62F1-4C8A-9110-30A46B9CC3D7}" srcOrd="0" destOrd="0" presId="urn:microsoft.com/office/officeart/2005/8/layout/pyramid3"/>
    <dgm:cxn modelId="{D13609CC-BF64-4283-B375-996ED0D6E430}" srcId="{68C08995-0A06-4692-A667-D87FC34CAEDF}" destId="{D4302C08-0B0E-4DFF-B831-670196B8A703}" srcOrd="3" destOrd="0" parTransId="{34BF3499-FD55-441F-AF06-BBB55804704C}" sibTransId="{95A280FD-9DD1-42AB-82EC-4058973521FC}"/>
    <dgm:cxn modelId="{AA7722EC-B4A1-4700-B11C-068B084FC693}" type="presOf" srcId="{1B77F4E2-4054-44C5-8439-BAAC1D809E85}" destId="{7C2B6F5A-5F5A-42A7-BB03-8526EC8ECB0E}" srcOrd="0" destOrd="0" presId="urn:microsoft.com/office/officeart/2005/8/layout/pyramid3"/>
    <dgm:cxn modelId="{352B50F2-515B-468D-B9E0-80AFBFE3C89A}" type="presOf" srcId="{11880C8A-DE3B-4D4A-BB2A-56AB99C538BE}" destId="{C3CAF407-6D4B-4D01-83B9-AA702E086A23}" srcOrd="1" destOrd="0" presId="urn:microsoft.com/office/officeart/2005/8/layout/pyramid3"/>
    <dgm:cxn modelId="{804B3AFA-B2BB-4EE9-A456-D781CEA2595F}" type="presOf" srcId="{D4302C08-0B0E-4DFF-B831-670196B8A703}" destId="{39C83C79-88BF-48E6-B687-122D3FA17668}" srcOrd="0" destOrd="0" presId="urn:microsoft.com/office/officeart/2005/8/layout/pyramid3"/>
    <dgm:cxn modelId="{6F7BCFFC-5685-445A-8A80-F7B3A816B052}" srcId="{68C08995-0A06-4692-A667-D87FC34CAEDF}" destId="{1B77F4E2-4054-44C5-8439-BAAC1D809E85}" srcOrd="0" destOrd="0" parTransId="{C067D827-58D6-4BB7-B862-87652879F687}" sibTransId="{DCC0FA10-27F4-428E-A55C-7BFE43B8D6A1}"/>
    <dgm:cxn modelId="{EAAFBB5E-35B5-410F-AF10-7FC0F635084F}" type="presParOf" srcId="{D8783527-D5E7-4F04-B0F3-E1AEFA6F2585}" destId="{0AC996AF-C876-4ABA-893C-DD32AC8BC5F9}" srcOrd="0" destOrd="0" presId="urn:microsoft.com/office/officeart/2005/8/layout/pyramid3"/>
    <dgm:cxn modelId="{5D5A3505-65DA-4631-9442-54E0B9DC1AD0}" type="presParOf" srcId="{0AC996AF-C876-4ABA-893C-DD32AC8BC5F9}" destId="{7C2B6F5A-5F5A-42A7-BB03-8526EC8ECB0E}" srcOrd="0" destOrd="0" presId="urn:microsoft.com/office/officeart/2005/8/layout/pyramid3"/>
    <dgm:cxn modelId="{97A2117A-EB7A-4BC0-B2FB-5870B696E56C}" type="presParOf" srcId="{0AC996AF-C876-4ABA-893C-DD32AC8BC5F9}" destId="{60E5429C-6DFB-41DC-A7D6-2B3DF2243655}" srcOrd="1" destOrd="0" presId="urn:microsoft.com/office/officeart/2005/8/layout/pyramid3"/>
    <dgm:cxn modelId="{28C0B70D-B779-40B5-912A-4104E2E8A077}" type="presParOf" srcId="{D8783527-D5E7-4F04-B0F3-E1AEFA6F2585}" destId="{CFBD61D2-733F-48B8-B975-93303805372D}" srcOrd="1" destOrd="0" presId="urn:microsoft.com/office/officeart/2005/8/layout/pyramid3"/>
    <dgm:cxn modelId="{BB68F354-BF69-4407-AEDA-CE1E522ACC21}" type="presParOf" srcId="{CFBD61D2-733F-48B8-B975-93303805372D}" destId="{E7BA9A3F-62F1-4C8A-9110-30A46B9CC3D7}" srcOrd="0" destOrd="0" presId="urn:microsoft.com/office/officeart/2005/8/layout/pyramid3"/>
    <dgm:cxn modelId="{844F77DF-4836-471B-9523-450BD476FD9E}" type="presParOf" srcId="{CFBD61D2-733F-48B8-B975-93303805372D}" destId="{C3CAF407-6D4B-4D01-83B9-AA702E086A23}" srcOrd="1" destOrd="0" presId="urn:microsoft.com/office/officeart/2005/8/layout/pyramid3"/>
    <dgm:cxn modelId="{C2466E5C-9F83-46AA-8C90-F1C5C4BEB33D}" type="presParOf" srcId="{D8783527-D5E7-4F04-B0F3-E1AEFA6F2585}" destId="{92629B2F-F5EF-490D-9F78-E72B81C8853D}" srcOrd="2" destOrd="0" presId="urn:microsoft.com/office/officeart/2005/8/layout/pyramid3"/>
    <dgm:cxn modelId="{E9F1C14F-6C43-44BE-B756-3374CAE2D54E}" type="presParOf" srcId="{92629B2F-F5EF-490D-9F78-E72B81C8853D}" destId="{DE969564-BBE0-4263-AB30-F2604A7E43AA}" srcOrd="0" destOrd="0" presId="urn:microsoft.com/office/officeart/2005/8/layout/pyramid3"/>
    <dgm:cxn modelId="{3BF7A85C-EC5C-4ADD-A53C-D7092EBAA177}" type="presParOf" srcId="{92629B2F-F5EF-490D-9F78-E72B81C8853D}" destId="{F194EA57-6578-4F08-8E05-068A297086B1}" srcOrd="1" destOrd="0" presId="urn:microsoft.com/office/officeart/2005/8/layout/pyramid3"/>
    <dgm:cxn modelId="{34886542-9432-4736-A3AC-68792368B32C}" type="presParOf" srcId="{D8783527-D5E7-4F04-B0F3-E1AEFA6F2585}" destId="{FB8D457D-B452-4DE6-AF3A-0A701F05EF3B}" srcOrd="3" destOrd="0" presId="urn:microsoft.com/office/officeart/2005/8/layout/pyramid3"/>
    <dgm:cxn modelId="{04D0AF78-B6CB-4C09-A500-35E0920293B1}" type="presParOf" srcId="{FB8D457D-B452-4DE6-AF3A-0A701F05EF3B}" destId="{39C83C79-88BF-48E6-B687-122D3FA17668}" srcOrd="0" destOrd="0" presId="urn:microsoft.com/office/officeart/2005/8/layout/pyramid3"/>
    <dgm:cxn modelId="{29D67A0C-4E06-4F21-B3BD-00C1431D8DFC}" type="presParOf" srcId="{FB8D457D-B452-4DE6-AF3A-0A701F05EF3B}" destId="{0F60B76B-398B-45B6-9BE6-BDA64C0F093D}"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AAFC-BEAE-481D-B557-81DE68A237F7}">
      <dsp:nvSpPr>
        <dsp:cNvPr id="0" name=""/>
        <dsp:cNvSpPr/>
      </dsp:nvSpPr>
      <dsp:spPr>
        <a:xfrm>
          <a:off x="1069175" y="0"/>
          <a:ext cx="5481650" cy="5481650"/>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TAM=38-40cr</a:t>
          </a:r>
        </a:p>
      </dsp:txBody>
      <dsp:txXfrm>
        <a:off x="2852081" y="274082"/>
        <a:ext cx="1915836" cy="822247"/>
      </dsp:txXfrm>
    </dsp:sp>
    <dsp:sp modelId="{5783AC22-EAAA-4B02-9505-F9F67BC8F71A}">
      <dsp:nvSpPr>
        <dsp:cNvPr id="0" name=""/>
        <dsp:cNvSpPr/>
      </dsp:nvSpPr>
      <dsp:spPr>
        <a:xfrm>
          <a:off x="1754381" y="1370412"/>
          <a:ext cx="4111237" cy="4111237"/>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SAM=5cr users</a:t>
          </a:r>
        </a:p>
      </dsp:txBody>
      <dsp:txXfrm>
        <a:off x="2852081" y="1627364"/>
        <a:ext cx="1915836" cy="770857"/>
      </dsp:txXfrm>
    </dsp:sp>
    <dsp:sp modelId="{0927306A-DE0F-4C43-94ED-305F00916AD7}">
      <dsp:nvSpPr>
        <dsp:cNvPr id="0" name=""/>
        <dsp:cNvSpPr/>
      </dsp:nvSpPr>
      <dsp:spPr>
        <a:xfrm>
          <a:off x="2439587" y="2740825"/>
          <a:ext cx="2740825" cy="2740825"/>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SOM=5 to 15 lakh</a:t>
          </a:r>
        </a:p>
      </dsp:txBody>
      <dsp:txXfrm>
        <a:off x="2840972" y="3426031"/>
        <a:ext cx="1938055" cy="1370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B6F5A-5F5A-42A7-BB03-8526EC8ECB0E}">
      <dsp:nvSpPr>
        <dsp:cNvPr id="0" name=""/>
        <dsp:cNvSpPr/>
      </dsp:nvSpPr>
      <dsp:spPr>
        <a:xfrm rot="10800000">
          <a:off x="0" y="7614"/>
          <a:ext cx="5665026" cy="1100423"/>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TARGET MARKET: 50M+ vehicle users in India</a:t>
          </a:r>
          <a:endParaRPr lang="de-DE" sz="1050" kern="1200" dirty="0">
            <a:latin typeface="+mn-lt"/>
            <a:cs typeface="Arial" panose="020B0604020202020204" pitchFamily="34" charset="0"/>
          </a:endParaRPr>
        </a:p>
      </dsp:txBody>
      <dsp:txXfrm rot="-10800000">
        <a:off x="991379" y="7614"/>
        <a:ext cx="3682267" cy="1100423"/>
      </dsp:txXfrm>
    </dsp:sp>
    <dsp:sp modelId="{E7BA9A3F-62F1-4C8A-9110-30A46B9CC3D7}">
      <dsp:nvSpPr>
        <dsp:cNvPr id="0" name=""/>
        <dsp:cNvSpPr/>
      </dsp:nvSpPr>
      <dsp:spPr>
        <a:xfrm rot="10800000">
          <a:off x="515376" y="1100423"/>
          <a:ext cx="4634274" cy="1100423"/>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LEADS: 5,00,000 digital-reached users</a:t>
          </a: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  </a:t>
          </a:r>
        </a:p>
        <a:p>
          <a:pPr marL="0" lvl="0" indent="0" algn="ctr" defTabSz="800100">
            <a:lnSpc>
              <a:spcPct val="90000"/>
            </a:lnSpc>
            <a:spcBef>
              <a:spcPct val="0"/>
            </a:spcBef>
            <a:spcAft>
              <a:spcPct val="35000"/>
            </a:spcAft>
            <a:buNone/>
          </a:pPr>
          <a:endParaRPr lang="de-DE" sz="1800" b="0" kern="1200" dirty="0">
            <a:latin typeface="+mn-lt"/>
            <a:cs typeface="Arial" panose="020B0604020202020204" pitchFamily="34" charset="0"/>
          </a:endParaRPr>
        </a:p>
      </dsp:txBody>
      <dsp:txXfrm rot="-10800000">
        <a:off x="1326374" y="1100423"/>
        <a:ext cx="3012278" cy="1100423"/>
      </dsp:txXfrm>
    </dsp:sp>
    <dsp:sp modelId="{DE969564-BBE0-4263-AB30-F2604A7E43AA}">
      <dsp:nvSpPr>
        <dsp:cNvPr id="0" name=""/>
        <dsp:cNvSpPr/>
      </dsp:nvSpPr>
      <dsp:spPr>
        <a:xfrm rot="10800000">
          <a:off x="1024987" y="2191075"/>
          <a:ext cx="3603521" cy="1784292"/>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OPPORTUNITIES/PROSPECTS:</a:t>
          </a: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1,00,000 app registrations</a:t>
          </a:r>
        </a:p>
        <a:p>
          <a:pPr marL="0" lvl="0" indent="0" algn="ctr" defTabSz="800100">
            <a:lnSpc>
              <a:spcPct val="90000"/>
            </a:lnSpc>
            <a:spcBef>
              <a:spcPct val="0"/>
            </a:spcBef>
            <a:spcAft>
              <a:spcPct val="35000"/>
            </a:spcAft>
            <a:buNone/>
          </a:pPr>
          <a:endParaRPr lang="de-DE" sz="1800" b="0" kern="1200" dirty="0">
            <a:latin typeface="+mn-lt"/>
            <a:cs typeface="Arial" panose="020B0604020202020204" pitchFamily="34" charset="0"/>
          </a:endParaRPr>
        </a:p>
      </dsp:txBody>
      <dsp:txXfrm rot="-10800000">
        <a:off x="1655603" y="2191075"/>
        <a:ext cx="2342289" cy="1784292"/>
      </dsp:txXfrm>
    </dsp:sp>
    <dsp:sp modelId="{39C83C79-88BF-48E6-B687-122D3FA17668}">
      <dsp:nvSpPr>
        <dsp:cNvPr id="0" name=""/>
        <dsp:cNvSpPr/>
      </dsp:nvSpPr>
      <dsp:spPr>
        <a:xfrm rot="10800000">
          <a:off x="1866414" y="3985139"/>
          <a:ext cx="1932197" cy="2062799"/>
        </a:xfrm>
        <a:prstGeom prst="trapezoid">
          <a:avLst>
            <a:gd name="adj" fmla="val 5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100000"/>
            </a:lnSpc>
            <a:spcBef>
              <a:spcPct val="0"/>
            </a:spcBef>
            <a:spcAft>
              <a:spcPct val="35000"/>
            </a:spcAft>
            <a:buNone/>
          </a:pPr>
          <a:r>
            <a:rPr lang="de-DE" sz="1800" b="1" kern="1200" dirty="0">
              <a:latin typeface="+mn-lt"/>
              <a:cs typeface="Arial" panose="020B0604020202020204" pitchFamily="34" charset="0"/>
            </a:rPr>
            <a:t>CUSTOMER:</a:t>
          </a:r>
        </a:p>
        <a:p>
          <a:pPr marL="0" lvl="0" indent="0" algn="ctr" defTabSz="800100">
            <a:lnSpc>
              <a:spcPct val="100000"/>
            </a:lnSpc>
            <a:spcBef>
              <a:spcPct val="0"/>
            </a:spcBef>
            <a:spcAft>
              <a:spcPct val="35000"/>
            </a:spcAft>
            <a:buNone/>
          </a:pPr>
          <a:r>
            <a:rPr lang="de-DE" sz="1800" b="1" kern="1200" dirty="0">
              <a:latin typeface="+mn-lt"/>
              <a:cs typeface="Arial" panose="020B0604020202020204" pitchFamily="34" charset="0"/>
            </a:rPr>
            <a:t>10,000</a:t>
          </a:r>
        </a:p>
        <a:p>
          <a:pPr marL="0" lvl="0" indent="0" algn="ctr" defTabSz="800100">
            <a:lnSpc>
              <a:spcPct val="100000"/>
            </a:lnSpc>
            <a:spcBef>
              <a:spcPct val="0"/>
            </a:spcBef>
            <a:spcAft>
              <a:spcPct val="35000"/>
            </a:spcAft>
            <a:buNone/>
          </a:pPr>
          <a:r>
            <a:rPr lang="de-DE" sz="1800" b="1" kern="1200" dirty="0">
              <a:latin typeface="+mn-lt"/>
              <a:cs typeface="Arial" panose="020B0604020202020204" pitchFamily="34" charset="0"/>
            </a:rPr>
            <a:t>Paid</a:t>
          </a:r>
        </a:p>
        <a:p>
          <a:pPr marL="0" lvl="0" indent="0" algn="ctr" defTabSz="800100">
            <a:lnSpc>
              <a:spcPct val="100000"/>
            </a:lnSpc>
            <a:spcBef>
              <a:spcPct val="0"/>
            </a:spcBef>
            <a:spcAft>
              <a:spcPct val="35000"/>
            </a:spcAft>
            <a:buNone/>
          </a:pPr>
          <a:r>
            <a:rPr lang="de-DE" sz="1800" b="1" kern="1200" dirty="0">
              <a:latin typeface="+mn-lt"/>
              <a:cs typeface="Arial" panose="020B0604020202020204" pitchFamily="34" charset="0"/>
            </a:rPr>
            <a:t> users</a:t>
          </a:r>
        </a:p>
        <a:p>
          <a:pPr marL="0" lvl="0" indent="0" algn="ctr" defTabSz="800100">
            <a:lnSpc>
              <a:spcPct val="100000"/>
            </a:lnSpc>
            <a:spcBef>
              <a:spcPct val="0"/>
            </a:spcBef>
            <a:spcAft>
              <a:spcPct val="35000"/>
            </a:spcAft>
            <a:buNone/>
          </a:pPr>
          <a:endParaRPr lang="de-DE" sz="1800" kern="1200" dirty="0">
            <a:latin typeface="+mn-lt"/>
            <a:cs typeface="Arial" panose="020B0604020202020204" pitchFamily="34" charset="0"/>
          </a:endParaRPr>
        </a:p>
      </dsp:txBody>
      <dsp:txXfrm rot="-10800000">
        <a:off x="1866414" y="3985139"/>
        <a:ext cx="1932197" cy="206279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49:53.74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249 0,'-6'0,"-7"0,-2 6,-4 7,-4 2,-4-2,-3-3,-3-4,0-2,5 4,7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50:28.75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297 0,'0'6,"-6"7,-7 2,-7-1,-7-4,-3-3,-3-3,-1-2,-1-2,0 0,0-1,7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50:37.290"/>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320 1,'0'5,"-6"3,-7-1,-8-1,-5-2,-5-1,-7-2,-10-1,-2 0,3 0,8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BF9E8-1F40-410A-A1CC-60BC60DB98B3}" type="datetimeFigureOut">
              <a:rPr lang="en-IN" smtClean="0"/>
              <a:t>14-06-2026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E411-3744-4059-A83F-482351BF9D8B}" type="slidenum">
              <a:rPr lang="en-IN" smtClean="0"/>
              <a:t>‹#›</a:t>
            </a:fld>
            <a:endParaRPr lang="en-IN"/>
          </a:p>
        </p:txBody>
      </p:sp>
    </p:spTree>
    <p:extLst>
      <p:ext uri="{BB962C8B-B14F-4D97-AF65-F5344CB8AC3E}">
        <p14:creationId xmlns:p14="http://schemas.microsoft.com/office/powerpoint/2010/main" val="379290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a:t>
            </a:r>
            <a:r>
              <a:rPr lang="en-US" b="1" baseline="0" dirty="0"/>
              <a:t> 7 mins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Get students to brainstorm on the customer persona and VPC </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BEB79-93E1-4BD7-A47D-89BD4B7805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42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a:t>
            </a:r>
            <a:r>
              <a:rPr lang="en-IN" b="1" baseline="0" dirty="0"/>
              <a:t> for slides 8 and 9</a:t>
            </a:r>
          </a:p>
          <a:p>
            <a:endParaRPr lang="en-IN" b="0" i="1" baseline="0" dirty="0"/>
          </a:p>
          <a:p>
            <a:r>
              <a:rPr lang="en-US" sz="1200" b="0" i="1" u="none" strike="noStrike" kern="1200" dirty="0">
                <a:solidFill>
                  <a:schemeClr val="tx1"/>
                </a:solidFill>
                <a:effectLst/>
                <a:latin typeface="+mn-lt"/>
                <a:ea typeface="+mn-ea"/>
                <a:cs typeface="+mn-cs"/>
              </a:rPr>
              <a:t>Check the following on the correctness</a:t>
            </a:r>
            <a:r>
              <a:rPr lang="en-US" sz="1200" b="0" i="1" u="none" strike="noStrike" kern="1200" baseline="0" dirty="0">
                <a:solidFill>
                  <a:schemeClr val="tx1"/>
                </a:solidFill>
                <a:effectLst/>
                <a:latin typeface="+mn-lt"/>
                <a:ea typeface="+mn-ea"/>
                <a:cs typeface="+mn-cs"/>
              </a:rPr>
              <a:t> of VPC</a:t>
            </a:r>
            <a:r>
              <a:rPr lang="en-US" sz="1200" b="0" i="1" u="none" strike="noStrike" kern="1200" dirty="0">
                <a:solidFill>
                  <a:schemeClr val="tx1"/>
                </a:solidFill>
                <a:effectLst/>
                <a:latin typeface="+mn-lt"/>
                <a:ea typeface="+mn-ea"/>
                <a:cs typeface="+mn-cs"/>
              </a:rPr>
              <a:t>:</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a.  Have you identified the correct pains &amp; gains; pain relievers &amp; gain creators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b. Have you identified the correct Jobs-to-be-done?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c. Are the pain relievers addressing the customer pains?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d. Have you identified the right value proposition so that the solution makes the customer's life better? (1 mark)</a:t>
            </a:r>
            <a:r>
              <a:rPr lang="en-US" b="0" i="1" dirty="0"/>
              <a:t> </a:t>
            </a:r>
            <a:endParaRPr lang="en-IN" b="0" i="1" dirty="0"/>
          </a:p>
        </p:txBody>
      </p:sp>
      <p:sp>
        <p:nvSpPr>
          <p:cNvPr id="4" name="Slide Number Placeholder 3"/>
          <p:cNvSpPr>
            <a:spLocks noGrp="1"/>
          </p:cNvSpPr>
          <p:nvPr>
            <p:ph type="sldNum" sz="quarter" idx="10"/>
          </p:nvPr>
        </p:nvSpPr>
        <p:spPr/>
        <p:txBody>
          <a:bodyPr/>
          <a:lstStyle/>
          <a:p>
            <a:fld id="{565F787C-D8F9-4047-8CC8-08AC13C2A058}" type="slidenum">
              <a:rPr lang="en-US" smtClean="0"/>
              <a:t>8</a:t>
            </a:fld>
            <a:endParaRPr lang="en-US"/>
          </a:p>
        </p:txBody>
      </p:sp>
    </p:spTree>
    <p:extLst>
      <p:ext uri="{BB962C8B-B14F-4D97-AF65-F5344CB8AC3E}">
        <p14:creationId xmlns:p14="http://schemas.microsoft.com/office/powerpoint/2010/main" val="35382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Evaluation</a:t>
            </a:r>
            <a:r>
              <a:rPr lang="en-US" sz="1200" b="1" i="0" u="none" strike="noStrike" kern="1200" baseline="0">
                <a:solidFill>
                  <a:schemeClr val="tx1"/>
                </a:solidFill>
                <a:effectLst/>
                <a:latin typeface="+mn-lt"/>
                <a:ea typeface="+mn-ea"/>
                <a:cs typeface="+mn-cs"/>
              </a:rPr>
              <a:t> Criteria for slides 12 to 14</a:t>
            </a:r>
            <a:endParaRPr lang="en-US" sz="1200" b="1" i="0" u="none" strike="noStrike" kern="1200">
              <a:solidFill>
                <a:schemeClr val="tx1"/>
              </a:solidFill>
              <a:effectLst/>
              <a:latin typeface="+mn-lt"/>
              <a:ea typeface="+mn-ea"/>
              <a:cs typeface="+mn-cs"/>
            </a:endParaRPr>
          </a:p>
          <a:p>
            <a:endParaRPr lang="en-US" sz="1200" b="1" i="1" u="none" strike="noStrike" kern="1200">
              <a:solidFill>
                <a:schemeClr val="tx1"/>
              </a:solidFill>
              <a:effectLst/>
              <a:latin typeface="+mn-lt"/>
              <a:ea typeface="+mn-ea"/>
              <a:cs typeface="+mn-cs"/>
            </a:endParaRPr>
          </a:p>
          <a:p>
            <a:r>
              <a:rPr lang="en-US" sz="1200" b="0" i="1" u="none" strike="noStrike" kern="1200">
                <a:solidFill>
                  <a:schemeClr val="tx1"/>
                </a:solidFill>
                <a:effectLst/>
                <a:latin typeface="+mn-lt"/>
                <a:ea typeface="+mn-ea"/>
                <a:cs typeface="+mn-cs"/>
              </a:rPr>
              <a:t>Check the following on MVP?</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1. Does it look credible and </a:t>
            </a:r>
            <a:r>
              <a:rPr lang="en-US" sz="1200" b="0" i="1" u="none" strike="noStrike" kern="1200" err="1">
                <a:solidFill>
                  <a:schemeClr val="tx1"/>
                </a:solidFill>
                <a:effectLst/>
                <a:latin typeface="+mn-lt"/>
                <a:ea typeface="+mn-ea"/>
                <a:cs typeface="+mn-cs"/>
              </a:rPr>
              <a:t>showcasable</a:t>
            </a:r>
            <a:r>
              <a:rPr lang="en-US" sz="1200" b="0" i="1" u="none" strike="noStrike" kern="1200">
                <a:solidFill>
                  <a:schemeClr val="tx1"/>
                </a:solidFill>
                <a:effectLst/>
                <a:latin typeface="+mn-lt"/>
                <a:ea typeface="+mn-ea"/>
                <a:cs typeface="+mn-cs"/>
              </a:rPr>
              <a:t>? Add a picture/video of the MVP? (3 marks)</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2. Have you validated the product benefits and the price with real customers? Add the MVP interview records in a Google drive and add to the PPT. (1 + 1 marks)</a:t>
            </a:r>
            <a:r>
              <a:rPr lang="en-US" i="1"/>
              <a:t> </a:t>
            </a:r>
            <a:endParaRPr lang="en-IN" i="1"/>
          </a:p>
          <a:p>
            <a:endParaRPr lang="en-IN"/>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565F787C-D8F9-4047-8CC8-08AC13C2A058}" type="slidenum">
              <a:rPr lang="en-US" smtClean="0">
                <a:solidFill>
                  <a:prstClr val="black"/>
                </a:solidFill>
                <a:latin typeface="Calibri" panose="020F0502020204030204"/>
              </a: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3030988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8B4A-F655-83A9-3C20-A39F9B288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9ECD5-FB44-216F-5DB9-BACA94148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99657-50A9-35E5-8C57-B77CDC34C331}"/>
              </a:ext>
            </a:extLst>
          </p:cNvPr>
          <p:cNvSpPr>
            <a:spLocks noGrp="1"/>
          </p:cNvSpPr>
          <p:nvPr>
            <p:ph type="body" idx="1"/>
          </p:nvPr>
        </p:nvSpPr>
        <p:spPr/>
        <p:txBody>
          <a:bodyPr/>
          <a:lstStyle/>
          <a:p>
            <a:r>
              <a:rPr lang="en-IN" b="1" i="0" dirty="0"/>
              <a:t>Evaluation Criteria for</a:t>
            </a:r>
            <a:r>
              <a:rPr lang="en-IN" b="1" i="0" baseline="0" dirty="0"/>
              <a:t> slide 20 to 22</a:t>
            </a:r>
          </a:p>
          <a:p>
            <a:endParaRPr lang="en-IN" baseline="0" dirty="0"/>
          </a:p>
          <a:p>
            <a:r>
              <a:rPr lang="en-US" sz="1200" b="0" i="1" u="none" strike="noStrike" kern="1200" dirty="0">
                <a:solidFill>
                  <a:schemeClr val="tx1"/>
                </a:solidFill>
                <a:effectLst/>
                <a:latin typeface="+mn-lt"/>
                <a:ea typeface="+mn-ea"/>
                <a:cs typeface="+mn-cs"/>
              </a:rPr>
              <a:t>1. Does the venture have a Sales projections sheet with monthly sales targets and customer funnel defined for the next one year?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Does the venture have an active social media presence, such as FB, </a:t>
            </a:r>
            <a:r>
              <a:rPr lang="en-US" sz="1200" b="0" i="1" u="none" strike="noStrike" kern="1200" dirty="0" err="1">
                <a:solidFill>
                  <a:schemeClr val="tx1"/>
                </a:solidFill>
                <a:effectLst/>
                <a:latin typeface="+mn-lt"/>
                <a:ea typeface="+mn-ea"/>
                <a:cs typeface="+mn-cs"/>
              </a:rPr>
              <a:t>Instagram</a:t>
            </a:r>
            <a:r>
              <a:rPr lang="en-US" sz="1200" b="0" i="1" u="none" strike="noStrike" kern="1200" dirty="0">
                <a:solidFill>
                  <a:schemeClr val="tx1"/>
                </a:solidFill>
                <a:effectLst/>
                <a:latin typeface="+mn-lt"/>
                <a:ea typeface="+mn-ea"/>
                <a:cs typeface="+mn-cs"/>
              </a:rPr>
              <a:t>, LinkedIn?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Do you have a well-thought out brand name, logo, and a Positioning statement?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Have you made an actual sale? (1 mark)</a:t>
            </a:r>
            <a:r>
              <a:rPr lang="en-US" i="1" dirty="0"/>
              <a:t> </a:t>
            </a:r>
            <a:endParaRPr lang="en-IN" i="1" dirty="0"/>
          </a:p>
        </p:txBody>
      </p:sp>
      <p:sp>
        <p:nvSpPr>
          <p:cNvPr id="4" name="Slide Number Placeholder 3">
            <a:extLst>
              <a:ext uri="{FF2B5EF4-FFF2-40B4-BE49-F238E27FC236}">
                <a16:creationId xmlns:a16="http://schemas.microsoft.com/office/drawing/2014/main" id="{AFE65135-9B0B-424E-05C1-C58F973E19BE}"/>
              </a:ext>
            </a:extLst>
          </p:cNvPr>
          <p:cNvSpPr>
            <a:spLocks noGrp="1"/>
          </p:cNvSpPr>
          <p:nvPr>
            <p:ph type="sldNum" sz="quarter" idx="10"/>
          </p:nvPr>
        </p:nvSpPr>
        <p:spPr/>
        <p:txBody>
          <a:bodyPr/>
          <a:lstStyle/>
          <a:p>
            <a:fld id="{565F787C-D8F9-4047-8CC8-08AC13C2A058}"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647103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146044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 for slide 24</a:t>
            </a:r>
          </a:p>
          <a:p>
            <a:endParaRPr lang="en-IN" i="1" dirty="0"/>
          </a:p>
          <a:p>
            <a:r>
              <a:rPr lang="en-US" sz="1200" b="0" i="1" u="none" strike="noStrike" kern="1200" dirty="0">
                <a:solidFill>
                  <a:schemeClr val="tx1"/>
                </a:solidFill>
                <a:effectLst/>
                <a:latin typeface="+mn-lt"/>
                <a:ea typeface="+mn-ea"/>
                <a:cs typeface="+mn-cs"/>
              </a:rPr>
              <a:t>1. Have you done their Unit Economics and come up with CAC, CLV, ARPU, Net and Gross Profit?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 you have a plan on how to reduce their CAC and churn rate, and increase their CLV, ARPU, and Net Profit Margin?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Is the capital asked for as per the Funding plan in line with the business?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How long will it take you to return the investment? (1 mark)</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t>17</a:t>
            </a:fld>
            <a:endParaRPr lang="en-US"/>
          </a:p>
        </p:txBody>
      </p:sp>
    </p:spTree>
    <p:extLst>
      <p:ext uri="{BB962C8B-B14F-4D97-AF65-F5344CB8AC3E}">
        <p14:creationId xmlns:p14="http://schemas.microsoft.com/office/powerpoint/2010/main" val="1931541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a:t>
            </a:r>
            <a:r>
              <a:rPr lang="en-IN" b="1" baseline="0" dirty="0"/>
              <a:t> for slide 19</a:t>
            </a:r>
          </a:p>
          <a:p>
            <a:endParaRPr lang="en-IN" i="1" baseline="0" dirty="0"/>
          </a:p>
          <a:p>
            <a:r>
              <a:rPr lang="en-US" sz="1200" b="0" i="1" u="none" strike="noStrike" kern="1200" dirty="0">
                <a:solidFill>
                  <a:schemeClr val="tx1"/>
                </a:solidFill>
                <a:effectLst/>
                <a:latin typeface="+mn-lt"/>
                <a:ea typeface="+mn-ea"/>
                <a:cs typeface="+mn-cs"/>
              </a:rPr>
              <a:t>1. Have you identified how much fund you need to reach the next level for the venture?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Have you </a:t>
            </a:r>
            <a:r>
              <a:rPr lang="en-US" sz="1200" b="0" i="1" u="none" strike="noStrike" kern="1200" dirty="0" err="1">
                <a:solidFill>
                  <a:schemeClr val="tx1"/>
                </a:solidFill>
                <a:effectLst/>
                <a:latin typeface="+mn-lt"/>
                <a:ea typeface="+mn-ea"/>
                <a:cs typeface="+mn-cs"/>
              </a:rPr>
              <a:t>bootsrapped</a:t>
            </a:r>
            <a:r>
              <a:rPr lang="en-US" sz="1200" b="0" i="1" u="none" strike="noStrike" kern="1200" dirty="0">
                <a:solidFill>
                  <a:schemeClr val="tx1"/>
                </a:solidFill>
                <a:effectLst/>
                <a:latin typeface="+mn-lt"/>
                <a:ea typeface="+mn-ea"/>
                <a:cs typeface="+mn-cs"/>
              </a:rPr>
              <a:t> any money till now? How much can they bootstrap?(1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Do you</a:t>
            </a:r>
            <a:r>
              <a:rPr lang="en-US" sz="1200" b="0" i="1" u="none" strike="noStrike" kern="1200" baseline="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rPr>
              <a:t>need external funding? Why or why not?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Can you explain clearly how you will utilize the money tomorrow if they get the funding today? (2 marks)</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t>19</a:t>
            </a:fld>
            <a:endParaRPr lang="en-US"/>
          </a:p>
        </p:txBody>
      </p:sp>
    </p:spTree>
    <p:extLst>
      <p:ext uri="{BB962C8B-B14F-4D97-AF65-F5344CB8AC3E}">
        <p14:creationId xmlns:p14="http://schemas.microsoft.com/office/powerpoint/2010/main" val="195936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Foo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547691"/>
            <a:ext cx="15773400" cy="652462"/>
          </a:xfrm>
          <a:prstGeom prst="rect">
            <a:avLst/>
          </a:prstGeom>
        </p:spPr>
        <p:txBody>
          <a:bodyPr/>
          <a:lstStyle>
            <a:lvl1pPr>
              <a:defRPr sz="3000" b="1">
                <a:solidFill>
                  <a:srgbClr val="9E0D20"/>
                </a:solidFill>
                <a:latin typeface="Raleway" panose="020B0503030101060003" pitchFamily="34" charset="0"/>
              </a:defRPr>
            </a:lvl1pPr>
          </a:lstStyle>
          <a:p>
            <a:r>
              <a:rPr lang="en-US"/>
              <a:t>CLICK TO EDIT MASTER TITLE STYLE</a:t>
            </a:r>
          </a:p>
        </p:txBody>
      </p:sp>
      <p:grpSp>
        <p:nvGrpSpPr>
          <p:cNvPr id="16" name="Group 15"/>
          <p:cNvGrpSpPr/>
          <p:nvPr userDrawn="1"/>
        </p:nvGrpSpPr>
        <p:grpSpPr>
          <a:xfrm>
            <a:off x="921228" y="9969693"/>
            <a:ext cx="16445552" cy="71646"/>
            <a:chOff x="532000" y="6640224"/>
            <a:chExt cx="9000000" cy="54000"/>
          </a:xfrm>
        </p:grpSpPr>
        <p:sp>
          <p:nvSpPr>
            <p:cNvPr id="11" name="Rectangle 10"/>
            <p:cNvSpPr/>
            <p:nvPr userDrawn="1"/>
          </p:nvSpPr>
          <p:spPr>
            <a:xfrm>
              <a:off x="532000" y="6640224"/>
              <a:ext cx="1800000" cy="54000"/>
            </a:xfrm>
            <a:prstGeom prst="rect">
              <a:avLst/>
            </a:prstGeom>
            <a:solidFill>
              <a:srgbClr val="9E0D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2" name="Rectangle 11"/>
            <p:cNvSpPr/>
            <p:nvPr userDrawn="1"/>
          </p:nvSpPr>
          <p:spPr>
            <a:xfrm>
              <a:off x="2332000" y="6640224"/>
              <a:ext cx="1800000" cy="54000"/>
            </a:xfrm>
            <a:prstGeom prst="rect">
              <a:avLst/>
            </a:prstGeom>
            <a:solidFill>
              <a:srgbClr val="2874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3" name="Rectangle 12"/>
            <p:cNvSpPr/>
            <p:nvPr userDrawn="1"/>
          </p:nvSpPr>
          <p:spPr>
            <a:xfrm>
              <a:off x="4132000" y="6640224"/>
              <a:ext cx="1800000" cy="54000"/>
            </a:xfrm>
            <a:prstGeom prst="rect">
              <a:avLst/>
            </a:prstGeom>
            <a:solidFill>
              <a:srgbClr val="F68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4" name="Rectangle 13"/>
            <p:cNvSpPr/>
            <p:nvPr userDrawn="1"/>
          </p:nvSpPr>
          <p:spPr>
            <a:xfrm>
              <a:off x="5932000" y="6640224"/>
              <a:ext cx="1800000" cy="54000"/>
            </a:xfrm>
            <a:prstGeom prst="rect">
              <a:avLst/>
            </a:prstGeom>
            <a:solidFill>
              <a:srgbClr val="1D4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5" name="Rectangle 14"/>
            <p:cNvSpPr/>
            <p:nvPr userDrawn="1"/>
          </p:nvSpPr>
          <p:spPr>
            <a:xfrm>
              <a:off x="7732000" y="6640224"/>
              <a:ext cx="1800000" cy="54000"/>
            </a:xfrm>
            <a:prstGeom prst="rect">
              <a:avLst/>
            </a:prstGeom>
            <a:solidFill>
              <a:srgbClr val="2EDA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grpSp>
    </p:spTree>
    <p:extLst>
      <p:ext uri="{BB962C8B-B14F-4D97-AF65-F5344CB8AC3E}">
        <p14:creationId xmlns:p14="http://schemas.microsoft.com/office/powerpoint/2010/main" val="1361423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IN"/>
          </a:p>
        </p:txBody>
      </p:sp>
      <p:sp>
        <p:nvSpPr>
          <p:cNvPr id="5" name="Slide Number Placeholder 4"/>
          <p:cNvSpPr>
            <a:spLocks noGrp="1"/>
          </p:cNvSpPr>
          <p:nvPr>
            <p:ph type="sldNum" sz="quarter" idx="12"/>
          </p:nvPr>
        </p:nvSpPr>
        <p:spPr/>
        <p:txBody>
          <a:bodyPr/>
          <a:lstStyle/>
          <a:p>
            <a:pPr marL="39064">
              <a:spcBef>
                <a:spcPts val="113"/>
              </a:spcBef>
            </a:pPr>
            <a:fld id="{81D60167-4931-47E6-BA6A-407CBD079E47}" type="slidenum">
              <a:rPr lang="en-IN" smtClean="0"/>
              <a:pPr marL="39064">
                <a:spcBef>
                  <a:spcPts val="113"/>
                </a:spcBef>
              </a:pPr>
              <a:t>‹#›</a:t>
            </a:fld>
            <a:endParaRPr lang="en-IN" dirty="0"/>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7" cy="345113"/>
          </a:xfrm>
        </p:spPr>
        <p:txBody>
          <a:bodyPr>
            <a:noAutofit/>
          </a:bodyPr>
          <a:lstStyle>
            <a:lvl1pPr marL="0" indent="0" algn="l">
              <a:buNone/>
              <a:defRPr sz="1800">
                <a:solidFill>
                  <a:schemeClr val="tx1">
                    <a:lumMod val="65000"/>
                    <a:lumOff val="35000"/>
                  </a:schemeClr>
                </a:solidFill>
              </a:defRPr>
            </a:lvl1pPr>
            <a:lvl2pPr marL="685612" indent="0" algn="ctr">
              <a:buNone/>
              <a:defRPr sz="3000"/>
            </a:lvl2pPr>
            <a:lvl3pPr marL="1371224" indent="0" algn="ctr">
              <a:buNone/>
              <a:defRPr sz="2700"/>
            </a:lvl3pPr>
            <a:lvl4pPr marL="2056835" indent="0" algn="ctr">
              <a:buNone/>
              <a:defRPr sz="2400"/>
            </a:lvl4pPr>
            <a:lvl5pPr marL="2742447" indent="0" algn="ctr">
              <a:buNone/>
              <a:defRPr sz="2400"/>
            </a:lvl5pPr>
            <a:lvl6pPr marL="3428059" indent="0" algn="ctr">
              <a:buNone/>
              <a:defRPr sz="2400"/>
            </a:lvl6pPr>
            <a:lvl7pPr marL="4113669" indent="0" algn="ctr">
              <a:buNone/>
              <a:defRPr sz="2400"/>
            </a:lvl7pPr>
            <a:lvl8pPr marL="4799281" indent="0" algn="ctr">
              <a:buNone/>
              <a:defRPr sz="2400"/>
            </a:lvl8pPr>
            <a:lvl9pPr marL="5484893" indent="0" algn="ctr">
              <a:buNone/>
              <a:defRPr sz="2400"/>
            </a:lvl9pPr>
          </a:lstStyle>
          <a:p>
            <a:r>
              <a:rPr lang="en-US" dirty="0"/>
              <a:t>Click to edit Master subtitle style</a:t>
            </a:r>
          </a:p>
        </p:txBody>
      </p:sp>
    </p:spTree>
    <p:extLst>
      <p:ext uri="{BB962C8B-B14F-4D97-AF65-F5344CB8AC3E}">
        <p14:creationId xmlns:p14="http://schemas.microsoft.com/office/powerpoint/2010/main" val="139857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09"/>
            <a:ext cx="6172200" cy="547687"/>
          </a:xfrm>
        </p:spPr>
        <p:txBody>
          <a:bodyPr/>
          <a:lstStyle>
            <a:lvl1pPr>
              <a:defRPr sz="15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0"/>
            <a:ext cx="4114800" cy="547687"/>
          </a:xfr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5" y="1293187"/>
            <a:ext cx="15304107" cy="345112"/>
          </a:xfrm>
        </p:spPr>
        <p:txBody>
          <a:bodyPr>
            <a:noAutofit/>
          </a:bodyPr>
          <a:lstStyle>
            <a:lvl1pPr marL="0" indent="0" algn="l">
              <a:buNone/>
              <a:defRPr sz="1800">
                <a:solidFill>
                  <a:schemeClr val="tx1">
                    <a:lumMod val="65000"/>
                    <a:lumOff val="35000"/>
                  </a:schemeClr>
                </a:solidFill>
              </a:defRPr>
            </a:lvl1pPr>
            <a:lvl2pPr marL="685636" indent="0" algn="ctr">
              <a:buNone/>
              <a:defRPr sz="3000"/>
            </a:lvl2pPr>
            <a:lvl3pPr marL="1371271" indent="0" algn="ctr">
              <a:buNone/>
              <a:defRPr sz="2700"/>
            </a:lvl3pPr>
            <a:lvl4pPr marL="2056905" indent="0" algn="ctr">
              <a:buNone/>
              <a:defRPr sz="2400"/>
            </a:lvl4pPr>
            <a:lvl5pPr marL="2742540" indent="0" algn="ctr">
              <a:buNone/>
              <a:defRPr sz="2400"/>
            </a:lvl5pPr>
            <a:lvl6pPr marL="3428176" indent="0" algn="ctr">
              <a:buNone/>
              <a:defRPr sz="2400"/>
            </a:lvl6pPr>
            <a:lvl7pPr marL="4113809" indent="0" algn="ctr">
              <a:buNone/>
              <a:defRPr sz="2400"/>
            </a:lvl7pPr>
            <a:lvl8pPr marL="4799445" indent="0" algn="ctr">
              <a:buNone/>
              <a:defRPr sz="2400"/>
            </a:lvl8pPr>
            <a:lvl9pPr marL="5485080" indent="0" algn="ctr">
              <a:buNone/>
              <a:defRPr sz="2400"/>
            </a:lvl9pPr>
          </a:lstStyle>
          <a:p>
            <a:r>
              <a:rPr lang="en-US" dirty="0"/>
              <a:t>Click to edit Master subtitle style</a:t>
            </a:r>
          </a:p>
        </p:txBody>
      </p:sp>
      <p:sp>
        <p:nvSpPr>
          <p:cNvPr id="8" name="Text Placeholder 2"/>
          <p:cNvSpPr>
            <a:spLocks noGrp="1"/>
          </p:cNvSpPr>
          <p:nvPr>
            <p:ph idx="13"/>
          </p:nvPr>
        </p:nvSpPr>
        <p:spPr>
          <a:xfrm>
            <a:off x="716943" y="1924050"/>
            <a:ext cx="16854116" cy="73413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742445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942" y="9534528"/>
            <a:ext cx="4114800" cy="547687"/>
          </a:xfrm>
          <a:prstGeom prst="rect">
            <a:avLst/>
          </a:prstGeom>
        </p:spPr>
        <p:txBody>
          <a:bodyPr/>
          <a:lstStyle/>
          <a:p>
            <a:pPr defTabSz="1371579"/>
            <a:fld id="{14112D9D-64C6-4E47-9018-0DB3950AA54C}" type="datetime1">
              <a:rPr lang="en-US" smtClean="0">
                <a:solidFill>
                  <a:prstClr val="black">
                    <a:tint val="75000"/>
                  </a:prstClr>
                </a:solidFill>
              </a:rPr>
              <a:pPr defTabSz="1371579"/>
              <a:t>6/14/2026</a:t>
            </a:fld>
            <a:endParaRPr lang="id-ID">
              <a:solidFill>
                <a:prstClr val="black">
                  <a:tint val="75000"/>
                </a:prstClr>
              </a:solidFill>
            </a:endParaRPr>
          </a:p>
        </p:txBody>
      </p:sp>
      <p:sp>
        <p:nvSpPr>
          <p:cNvPr id="4" name="Footer Placeholder 3"/>
          <p:cNvSpPr>
            <a:spLocks noGrp="1"/>
          </p:cNvSpPr>
          <p:nvPr>
            <p:ph type="ftr" sz="quarter" idx="11"/>
          </p:nvPr>
        </p:nvSpPr>
        <p:spPr>
          <a:xfrm>
            <a:off x="6057900" y="9534528"/>
            <a:ext cx="6172200" cy="547687"/>
          </a:xfrm>
          <a:prstGeom prst="rect">
            <a:avLst/>
          </a:prstGeom>
        </p:spPr>
        <p:txBody>
          <a:bodyPr/>
          <a:lstStyle/>
          <a:p>
            <a:pPr defTabSz="1371579"/>
            <a:r>
              <a:rPr lang="en-US" sz="2700">
                <a:solidFill>
                  <a:prstClr val="black">
                    <a:tint val="75000"/>
                  </a:prstClr>
                </a:solidFill>
              </a:rPr>
              <a:t>© Copyright Wadhwani Foundation</a:t>
            </a:r>
          </a:p>
        </p:txBody>
      </p:sp>
      <p:sp>
        <p:nvSpPr>
          <p:cNvPr id="5" name="Slide Number Placeholder 4"/>
          <p:cNvSpPr>
            <a:spLocks noGrp="1"/>
          </p:cNvSpPr>
          <p:nvPr>
            <p:ph type="sldNum" sz="quarter" idx="12"/>
          </p:nvPr>
        </p:nvSpPr>
        <p:spPr>
          <a:xfrm>
            <a:off x="13456259" y="9534528"/>
            <a:ext cx="4114800" cy="547687"/>
          </a:xfrm>
          <a:prstGeom prst="rect">
            <a:avLst/>
          </a:prstGeom>
        </p:spPr>
        <p:txBody>
          <a:bodyPr/>
          <a:lstStyle/>
          <a:p>
            <a:pPr defTabSz="1371579"/>
            <a:fld id="{8632F5CF-2680-48A4-8032-177420087341}" type="slidenum">
              <a:rPr lang="id-ID" sz="2700" smtClean="0">
                <a:solidFill>
                  <a:prstClr val="black">
                    <a:tint val="75000"/>
                  </a:prstClr>
                </a:solidFill>
              </a:rPr>
              <a:pPr defTabSz="1371579"/>
              <a:t>‹#›</a:t>
            </a:fld>
            <a:endParaRPr lang="id-ID" sz="2700">
              <a:solidFill>
                <a:prstClr val="black">
                  <a:tint val="75000"/>
                </a:prstClr>
              </a:solidFill>
            </a:endParaRPr>
          </a:p>
        </p:txBody>
      </p:sp>
    </p:spTree>
    <p:extLst>
      <p:ext uri="{BB962C8B-B14F-4D97-AF65-F5344CB8AC3E}">
        <p14:creationId xmlns:p14="http://schemas.microsoft.com/office/powerpoint/2010/main" val="136417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0972800" y="0"/>
            <a:ext cx="7315200" cy="10287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876800" h="6858000">
                <a:moveTo>
                  <a:pt x="0" y="0"/>
                </a:moveTo>
                <a:lnTo>
                  <a:pt x="4876800" y="0"/>
                </a:lnTo>
                <a:lnTo>
                  <a:pt x="4876800"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
        <p:nvSpPr>
          <p:cNvPr id="10" name="Picture Placeholder 9"/>
          <p:cNvSpPr>
            <a:spLocks noGrp="1"/>
          </p:cNvSpPr>
          <p:nvPr>
            <p:ph type="pic" sz="quarter" idx="12"/>
          </p:nvPr>
        </p:nvSpPr>
        <p:spPr>
          <a:xfrm>
            <a:off x="0" y="6715124"/>
            <a:ext cx="3314700" cy="3571876"/>
          </a:xfrm>
          <a:custGeom>
            <a:avLst/>
            <a:gdLst>
              <a:gd name="connsiteX0" fmla="*/ 0 w 2209800"/>
              <a:gd name="connsiteY0" fmla="*/ 0 h 2381250"/>
              <a:gd name="connsiteX1" fmla="*/ 2209800 w 2209800"/>
              <a:gd name="connsiteY1" fmla="*/ 0 h 2381250"/>
              <a:gd name="connsiteX2" fmla="*/ 2209800 w 2209800"/>
              <a:gd name="connsiteY2" fmla="*/ 2381250 h 2381250"/>
              <a:gd name="connsiteX3" fmla="*/ 0 w 2209800"/>
              <a:gd name="connsiteY3" fmla="*/ 2381250 h 2381250"/>
            </a:gdLst>
            <a:ahLst/>
            <a:cxnLst>
              <a:cxn ang="0">
                <a:pos x="connsiteX0" y="connsiteY0"/>
              </a:cxn>
              <a:cxn ang="0">
                <a:pos x="connsiteX1" y="connsiteY1"/>
              </a:cxn>
              <a:cxn ang="0">
                <a:pos x="connsiteX2" y="connsiteY2"/>
              </a:cxn>
              <a:cxn ang="0">
                <a:pos x="connsiteX3" y="connsiteY3"/>
              </a:cxn>
            </a:cxnLst>
            <a:rect l="l" t="t" r="r" b="b"/>
            <a:pathLst>
              <a:path w="2209800" h="2381250">
                <a:moveTo>
                  <a:pt x="0" y="0"/>
                </a:moveTo>
                <a:lnTo>
                  <a:pt x="2209800" y="0"/>
                </a:lnTo>
                <a:lnTo>
                  <a:pt x="2209800" y="2381250"/>
                </a:lnTo>
                <a:lnTo>
                  <a:pt x="0" y="238125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Tree>
    <p:extLst>
      <p:ext uri="{BB962C8B-B14F-4D97-AF65-F5344CB8AC3E}">
        <p14:creationId xmlns:p14="http://schemas.microsoft.com/office/powerpoint/2010/main" val="1014372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0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10"/>
            <a:ext cx="6172200" cy="547688"/>
          </a:xfrm>
          <a:prstGeom prst="rect">
            <a:avLst/>
          </a:prstGeom>
        </p:spPr>
        <p:txBody>
          <a:bodyPr/>
          <a:lstStyle>
            <a:lvl1pPr>
              <a:defRPr sz="15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0"/>
            <a:ext cx="4114800" cy="547688"/>
          </a:xfrm>
          <a:prstGeom prst="rect">
            <a:avLst/>
          </a:prstGeo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7" y="476344"/>
            <a:ext cx="15304106" cy="729948"/>
          </a:xfrm>
          <a:prstGeom prst="rect">
            <a:avLst/>
          </a:prstGeo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8" cy="345112"/>
          </a:xfrm>
          <a:prstGeom prst="rect">
            <a:avLst/>
          </a:prstGeom>
        </p:spPr>
        <p:txBody>
          <a:bodyPr>
            <a:noAutofit/>
          </a:bodyPr>
          <a:lstStyle>
            <a:lvl1pPr marL="0" indent="0" algn="l">
              <a:buNone/>
              <a:defRPr sz="1800">
                <a:solidFill>
                  <a:schemeClr val="tx1">
                    <a:lumMod val="65000"/>
                    <a:lumOff val="35000"/>
                  </a:schemeClr>
                </a:solidFill>
              </a:defRPr>
            </a:lvl1pPr>
            <a:lvl2pPr marL="685636" indent="0" algn="ctr">
              <a:buNone/>
              <a:defRPr sz="3000"/>
            </a:lvl2pPr>
            <a:lvl3pPr marL="1371272" indent="0" algn="ctr">
              <a:buNone/>
              <a:defRPr sz="2700"/>
            </a:lvl3pPr>
            <a:lvl4pPr marL="2056906" indent="0" algn="ctr">
              <a:buNone/>
              <a:defRPr sz="2400"/>
            </a:lvl4pPr>
            <a:lvl5pPr marL="2742540" indent="0" algn="ctr">
              <a:buNone/>
              <a:defRPr sz="2400"/>
            </a:lvl5pPr>
            <a:lvl6pPr marL="3428176" indent="0" algn="ctr">
              <a:buNone/>
              <a:defRPr sz="2400"/>
            </a:lvl6pPr>
            <a:lvl7pPr marL="4113810" indent="0" algn="ctr">
              <a:buNone/>
              <a:defRPr sz="2400"/>
            </a:lvl7pPr>
            <a:lvl8pPr marL="4799446" indent="0" algn="ctr">
              <a:buNone/>
              <a:defRPr sz="2400"/>
            </a:lvl8pPr>
            <a:lvl9pPr marL="5485080" indent="0" algn="ctr">
              <a:buNone/>
              <a:defRPr sz="2400"/>
            </a:lvl9pPr>
          </a:lstStyle>
          <a:p>
            <a:r>
              <a:rPr lang="en-US" dirty="0"/>
              <a:t>Click to edit Master subtitle style</a:t>
            </a:r>
          </a:p>
        </p:txBody>
      </p:sp>
      <p:sp>
        <p:nvSpPr>
          <p:cNvPr id="8" name="Text Placeholder 2"/>
          <p:cNvSpPr>
            <a:spLocks noGrp="1"/>
          </p:cNvSpPr>
          <p:nvPr>
            <p:ph idx="13"/>
          </p:nvPr>
        </p:nvSpPr>
        <p:spPr>
          <a:xfrm>
            <a:off x="716944" y="1924050"/>
            <a:ext cx="16854116" cy="73413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54574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695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6" r:id="rId13"/>
    <p:sldLayoutId id="2147483677" r:id="rId14"/>
    <p:sldLayoutId id="2147483693" r:id="rId15"/>
    <p:sldLayoutId id="2147483696" r:id="rId16"/>
    <p:sldLayoutId id="2147483697" r:id="rId17"/>
    <p:sldLayoutId id="2147483698" r:id="rId1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1.jpe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2.xml"/><Relationship Id="rId4" Type="http://schemas.openxmlformats.org/officeDocument/2006/relationships/image" Target="../media/image140.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masterclass.com/articles/how-to-calculate-operating-cost" TargetMode="External"/><Relationship Id="rId2" Type="http://schemas.openxmlformats.org/officeDocument/2006/relationships/hyperlink" Target="https://www.zoho.com/subscriptions/guides/what-is-customer-lifetime-value-clv.html#:~:text=Customer%20Lifetime%20Value%20is%20calculated,frequency%2C%20and%20average%20customer%20lifespan." TargetMode="Externa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hyperlink" Target="https://www.masterclass.com/articles/how-to-calculate-operating-profit-in-busines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11097" y="-10026"/>
            <a:ext cx="18310194" cy="10287000"/>
          </a:xfrm>
          <a:prstGeom prst="rect">
            <a:avLst/>
          </a:prstGeom>
        </p:spPr>
      </p:pic>
      <p:grpSp>
        <p:nvGrpSpPr>
          <p:cNvPr id="4" name="Group 4"/>
          <p:cNvGrpSpPr>
            <a:grpSpLocks noChangeAspect="1"/>
          </p:cNvGrpSpPr>
          <p:nvPr/>
        </p:nvGrpSpPr>
        <p:grpSpPr>
          <a:xfrm>
            <a:off x="10228234" y="5024845"/>
            <a:ext cx="495300" cy="495300"/>
            <a:chOff x="0" y="0"/>
            <a:chExt cx="6355080" cy="6355080"/>
          </a:xfrm>
        </p:grpSpPr>
        <p:sp>
          <p:nvSpPr>
            <p:cNvPr id="5" name="Freeform 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IN"/>
            </a:p>
          </p:txBody>
        </p:sp>
      </p:grpSp>
      <p:pic>
        <p:nvPicPr>
          <p:cNvPr id="12" name="Picture 12"/>
          <p:cNvPicPr>
            <a:picLocks noChangeAspect="1"/>
          </p:cNvPicPr>
          <p:nvPr/>
        </p:nvPicPr>
        <p:blipFill>
          <a:blip r:embed="rId3"/>
          <a:srcRect/>
          <a:stretch>
            <a:fillRect/>
          </a:stretch>
        </p:blipFill>
        <p:spPr>
          <a:xfrm>
            <a:off x="15314576" y="509277"/>
            <a:ext cx="2278599" cy="1131276"/>
          </a:xfrm>
          <a:prstGeom prst="rect">
            <a:avLst/>
          </a:prstGeom>
        </p:spPr>
      </p:pic>
      <p:sp>
        <p:nvSpPr>
          <p:cNvPr id="19" name="TextBox 19"/>
          <p:cNvSpPr txBox="1"/>
          <p:nvPr/>
        </p:nvSpPr>
        <p:spPr>
          <a:xfrm>
            <a:off x="1343156" y="3511470"/>
            <a:ext cx="6928588" cy="2851230"/>
          </a:xfrm>
          <a:prstGeom prst="rect">
            <a:avLst/>
          </a:prstGeom>
        </p:spPr>
        <p:txBody>
          <a:bodyPr lIns="0" tIns="0" rIns="0" bIns="0" rtlCol="0" anchor="t">
            <a:spAutoFit/>
          </a:bodyPr>
          <a:lstStyle/>
          <a:p>
            <a:pPr>
              <a:lnSpc>
                <a:spcPts val="11040"/>
              </a:lnSpc>
            </a:pPr>
            <a:r>
              <a:rPr lang="en-US" sz="12000" dirty="0">
                <a:solidFill>
                  <a:srgbClr val="FFFFFF"/>
                </a:solidFill>
                <a:latin typeface="Antonio Bold"/>
              </a:rPr>
              <a:t>IGNITE</a:t>
            </a:r>
          </a:p>
          <a:p>
            <a:pPr>
              <a:lnSpc>
                <a:spcPts val="11040"/>
              </a:lnSpc>
            </a:pPr>
            <a:r>
              <a:rPr lang="en-US" sz="12000" dirty="0">
                <a:solidFill>
                  <a:srgbClr val="FFFFFF"/>
                </a:solidFill>
                <a:latin typeface="Antonio Bold"/>
              </a:rPr>
              <a:t>Pitch Deck</a:t>
            </a:r>
          </a:p>
        </p:txBody>
      </p:sp>
      <p:sp>
        <p:nvSpPr>
          <p:cNvPr id="7" name="Rectangle 6"/>
          <p:cNvSpPr/>
          <p:nvPr/>
        </p:nvSpPr>
        <p:spPr>
          <a:xfrm>
            <a:off x="1343156" y="6953250"/>
            <a:ext cx="8628034" cy="1371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4000" b="1" dirty="0">
                <a:ln w="0"/>
                <a:solidFill>
                  <a:schemeClr val="tx1"/>
                </a:solidFill>
                <a:effectLst>
                  <a:outerShdw blurRad="38100" dist="19050" dir="2700000" algn="tl" rotWithShape="0">
                    <a:schemeClr val="dk1">
                      <a:alpha val="40000"/>
                    </a:schemeClr>
                  </a:outerShdw>
                </a:effectLst>
              </a:rPr>
              <a:t>Milestone 3 </a:t>
            </a:r>
          </a:p>
        </p:txBody>
      </p:sp>
      <p:pic>
        <p:nvPicPr>
          <p:cNvPr id="3" name="Picture 2" descr="AUTO FIXAI">
            <a:extLst>
              <a:ext uri="{FF2B5EF4-FFF2-40B4-BE49-F238E27FC236}">
                <a16:creationId xmlns:a16="http://schemas.microsoft.com/office/drawing/2014/main" id="{255B612C-4ED8-F876-95C9-8A43D7EBE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8234" y="2188602"/>
            <a:ext cx="7297766" cy="61677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5BE9276-DC2F-F843-82A1-22E8A3A5B667}"/>
              </a:ext>
            </a:extLst>
          </p:cNvPr>
          <p:cNvGrpSpPr/>
          <p:nvPr/>
        </p:nvGrpSpPr>
        <p:grpSpPr>
          <a:xfrm>
            <a:off x="704241" y="7442478"/>
            <a:ext cx="1371600" cy="1371600"/>
            <a:chOff x="6821181" y="4608210"/>
            <a:chExt cx="914400" cy="914400"/>
          </a:xfrm>
        </p:grpSpPr>
        <p:sp>
          <p:nvSpPr>
            <p:cNvPr id="41" name="Oval 40"/>
            <p:cNvSpPr/>
            <p:nvPr/>
          </p:nvSpPr>
          <p:spPr>
            <a:xfrm>
              <a:off x="6821181" y="4608210"/>
              <a:ext cx="914400" cy="9144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prstClr val="white"/>
                </a:solidFill>
              </a:endParaRPr>
            </a:p>
          </p:txBody>
        </p:sp>
        <p:sp>
          <p:nvSpPr>
            <p:cNvPr id="42" name="Shape 2932">
              <a:extLst>
                <a:ext uri="{FF2B5EF4-FFF2-40B4-BE49-F238E27FC236}">
                  <a16:creationId xmlns:a16="http://schemas.microsoft.com/office/drawing/2014/main" id="{F24913FF-4021-F444-AC80-1D5E7C5340A2}"/>
                </a:ext>
              </a:extLst>
            </p:cNvPr>
            <p:cNvSpPr/>
            <p:nvPr/>
          </p:nvSpPr>
          <p:spPr>
            <a:xfrm>
              <a:off x="7038859" y="4857302"/>
              <a:ext cx="479042" cy="391945"/>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miter lim="400000"/>
            </a:ln>
          </p:spPr>
          <p:txBody>
            <a:bodyPr lIns="57136" tIns="57136" rIns="57136" bIns="57136" anchor="ctr"/>
            <a:lstStyle/>
            <a:p>
              <a:pPr defTabSz="685594">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498" dirty="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grpSp>
      <p:sp>
        <p:nvSpPr>
          <p:cNvPr id="43" name="TextBox 42"/>
          <p:cNvSpPr txBox="1"/>
          <p:nvPr/>
        </p:nvSpPr>
        <p:spPr>
          <a:xfrm>
            <a:off x="67466" y="62230"/>
            <a:ext cx="9198340" cy="923330"/>
          </a:xfrm>
          <a:prstGeom prst="rect">
            <a:avLst/>
          </a:prstGeom>
          <a:noFill/>
        </p:spPr>
        <p:txBody>
          <a:bodyPr wrap="square" rtlCol="0">
            <a:spAutoFit/>
          </a:bodyPr>
          <a:lstStyle/>
          <a:p>
            <a:pPr defTabSz="1371600"/>
            <a:r>
              <a:rPr lang="en-US" sz="5400" b="1" dirty="0"/>
              <a:t>Who we are</a:t>
            </a:r>
            <a:endParaRPr lang="en-US" sz="5400" b="1" dirty="0">
              <a:solidFill>
                <a:prstClr val="black">
                  <a:lumMod val="85000"/>
                  <a:lumOff val="15000"/>
                </a:prstClr>
              </a:solidFill>
              <a:latin typeface="Montserrat"/>
            </a:endParaRPr>
          </a:p>
        </p:txBody>
      </p:sp>
      <p:sp>
        <p:nvSpPr>
          <p:cNvPr id="3" name="Rectangle 2"/>
          <p:cNvSpPr/>
          <p:nvPr/>
        </p:nvSpPr>
        <p:spPr>
          <a:xfrm>
            <a:off x="93386" y="1158819"/>
            <a:ext cx="11717614" cy="461665"/>
          </a:xfrm>
          <a:prstGeom prst="rect">
            <a:avLst/>
          </a:prstGeom>
        </p:spPr>
        <p:txBody>
          <a:bodyPr wrap="square">
            <a:spAutoFit/>
          </a:bodyPr>
          <a:lstStyle/>
          <a:p>
            <a:r>
              <a:rPr lang="en-US" sz="2400" dirty="0">
                <a:solidFill>
                  <a:srgbClr val="000000"/>
                </a:solidFill>
                <a:latin typeface="Avenir"/>
              </a:rPr>
              <a:t>Name of your Venture: </a:t>
            </a:r>
            <a:r>
              <a:rPr lang="en-US" sz="2000" dirty="0">
                <a:solidFill>
                  <a:srgbClr val="000000"/>
                </a:solidFill>
                <a:latin typeface="Cooper Black" panose="0208090404030B020404" pitchFamily="18" charset="0"/>
              </a:rPr>
              <a:t>AUTO FIX AI –REVOLUTIONIZING AUTOMOTIVE REPAIR</a:t>
            </a:r>
            <a:endParaRPr lang="en-US" sz="2400" dirty="0"/>
          </a:p>
        </p:txBody>
      </p:sp>
      <p:sp>
        <p:nvSpPr>
          <p:cNvPr id="44" name="Rectangle 43">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45" name="TextBox 44">
            <a:extLst>
              <a:ext uri="{FF2B5EF4-FFF2-40B4-BE49-F238E27FC236}">
                <a16:creationId xmlns:a16="http://schemas.microsoft.com/office/drawing/2014/main" id="{437D10F2-D825-4F14-8721-CF5105D60893}"/>
              </a:ext>
            </a:extLst>
          </p:cNvPr>
          <p:cNvSpPr txBox="1"/>
          <p:nvPr/>
        </p:nvSpPr>
        <p:spPr>
          <a:xfrm>
            <a:off x="16256163" y="1009801"/>
            <a:ext cx="1422954" cy="900246"/>
          </a:xfrm>
          <a:prstGeom prst="rect">
            <a:avLst/>
          </a:prstGeom>
          <a:noFill/>
        </p:spPr>
        <p:txBody>
          <a:bodyPr wrap="square" lIns="68580" tIns="34290" rIns="68580" bIns="34290" rtlCol="0" anchor="t">
            <a:spAutoFit/>
          </a:bodyPr>
          <a:lstStyle/>
          <a:p>
            <a:pPr algn="ctr"/>
            <a:r>
              <a:rPr lang="en-US" b="1" dirty="0"/>
              <a:t>Place your venture logo here</a:t>
            </a:r>
            <a:endParaRPr lang="en-ZA" b="1" dirty="0"/>
          </a:p>
        </p:txBody>
      </p:sp>
      <p:sp>
        <p:nvSpPr>
          <p:cNvPr id="5" name="Rectangle 4"/>
          <p:cNvSpPr/>
          <p:nvPr/>
        </p:nvSpPr>
        <p:spPr>
          <a:xfrm>
            <a:off x="2770112" y="4717502"/>
            <a:ext cx="8050287" cy="369332"/>
          </a:xfrm>
          <a:prstGeom prst="rect">
            <a:avLst/>
          </a:prstGeom>
        </p:spPr>
        <p:txBody>
          <a:bodyPr wrap="square">
            <a:spAutoFit/>
          </a:bodyPr>
          <a:lstStyle/>
          <a:p>
            <a:r>
              <a:rPr lang="en-US" dirty="0">
                <a:solidFill>
                  <a:srgbClr val="000000"/>
                </a:solidFill>
                <a:latin typeface="Avenir"/>
              </a:rPr>
              <a:t>Provide a brief on what does your venture do.</a:t>
            </a:r>
            <a:endParaRPr lang="en-US" dirty="0"/>
          </a:p>
        </p:txBody>
      </p:sp>
      <p:sp>
        <p:nvSpPr>
          <p:cNvPr id="46" name="Rectangle 45"/>
          <p:cNvSpPr/>
          <p:nvPr/>
        </p:nvSpPr>
        <p:spPr>
          <a:xfrm>
            <a:off x="2792811" y="1654984"/>
            <a:ext cx="1527982" cy="584775"/>
          </a:xfrm>
          <a:prstGeom prst="rect">
            <a:avLst/>
          </a:prstGeom>
        </p:spPr>
        <p:txBody>
          <a:bodyPr wrap="none">
            <a:spAutoFit/>
          </a:bodyPr>
          <a:lstStyle/>
          <a:p>
            <a:r>
              <a:rPr lang="en-US" sz="3200" b="1" dirty="0">
                <a:solidFill>
                  <a:srgbClr val="000000"/>
                </a:solidFill>
                <a:latin typeface="Avenir"/>
              </a:rPr>
              <a:t>Why ? </a:t>
            </a:r>
            <a:endParaRPr lang="en-US" sz="3200" b="1" dirty="0"/>
          </a:p>
        </p:txBody>
      </p:sp>
      <p:sp>
        <p:nvSpPr>
          <p:cNvPr id="47" name="Rectangle 46"/>
          <p:cNvSpPr/>
          <p:nvPr/>
        </p:nvSpPr>
        <p:spPr>
          <a:xfrm>
            <a:off x="2792811" y="2196108"/>
            <a:ext cx="8295022" cy="369332"/>
          </a:xfrm>
          <a:prstGeom prst="rect">
            <a:avLst/>
          </a:prstGeom>
        </p:spPr>
        <p:txBody>
          <a:bodyPr wrap="square">
            <a:spAutoFit/>
          </a:bodyPr>
          <a:lstStyle/>
          <a:p>
            <a:r>
              <a:rPr lang="en-US" dirty="0">
                <a:solidFill>
                  <a:srgbClr val="000000"/>
                </a:solidFill>
                <a:latin typeface="Avenir"/>
              </a:rPr>
              <a:t>Explain why do you want to pursue this Business Idea. </a:t>
            </a:r>
            <a:endParaRPr lang="en-US" dirty="0"/>
          </a:p>
        </p:txBody>
      </p:sp>
      <p:sp>
        <p:nvSpPr>
          <p:cNvPr id="48" name="Rectangle 47"/>
          <p:cNvSpPr/>
          <p:nvPr/>
        </p:nvSpPr>
        <p:spPr>
          <a:xfrm>
            <a:off x="2792811" y="4267518"/>
            <a:ext cx="1778051" cy="584775"/>
          </a:xfrm>
          <a:prstGeom prst="rect">
            <a:avLst/>
          </a:prstGeom>
        </p:spPr>
        <p:txBody>
          <a:bodyPr wrap="none">
            <a:spAutoFit/>
          </a:bodyPr>
          <a:lstStyle/>
          <a:p>
            <a:r>
              <a:rPr lang="en-US" sz="3200" b="1" dirty="0">
                <a:solidFill>
                  <a:srgbClr val="000000"/>
                </a:solidFill>
                <a:latin typeface="Avenir"/>
              </a:rPr>
              <a:t>What  ? </a:t>
            </a:r>
            <a:endParaRPr lang="en-US" sz="3200" b="1" dirty="0"/>
          </a:p>
        </p:txBody>
      </p:sp>
      <p:sp>
        <p:nvSpPr>
          <p:cNvPr id="49" name="Rectangle 48"/>
          <p:cNvSpPr/>
          <p:nvPr/>
        </p:nvSpPr>
        <p:spPr>
          <a:xfrm>
            <a:off x="2735904" y="6857703"/>
            <a:ext cx="1641796" cy="584775"/>
          </a:xfrm>
          <a:prstGeom prst="rect">
            <a:avLst/>
          </a:prstGeom>
        </p:spPr>
        <p:txBody>
          <a:bodyPr wrap="none">
            <a:spAutoFit/>
          </a:bodyPr>
          <a:lstStyle/>
          <a:p>
            <a:r>
              <a:rPr lang="en-US" sz="3200" b="1" dirty="0">
                <a:solidFill>
                  <a:srgbClr val="000000"/>
                </a:solidFill>
                <a:latin typeface="Avenir"/>
              </a:rPr>
              <a:t>How  ? </a:t>
            </a:r>
            <a:endParaRPr lang="en-US" sz="3200" b="1" dirty="0"/>
          </a:p>
        </p:txBody>
      </p:sp>
      <p:sp>
        <p:nvSpPr>
          <p:cNvPr id="51" name="Rectangle 50"/>
          <p:cNvSpPr/>
          <p:nvPr/>
        </p:nvSpPr>
        <p:spPr>
          <a:xfrm>
            <a:off x="2852044" y="5148408"/>
            <a:ext cx="12768955" cy="1011752"/>
          </a:xfrm>
          <a:prstGeom prst="rect">
            <a:avLst/>
          </a:prstGeom>
          <a:ln>
            <a:solidFill>
              <a:schemeClr val="tx1"/>
            </a:solidFill>
          </a:ln>
        </p:spPr>
        <p:txBody>
          <a:bodyPr wrap="square">
            <a:spAutoFit/>
          </a:bodyPr>
          <a:lstStyle/>
          <a:p>
            <a:pPr algn="just">
              <a:lnSpc>
                <a:spcPct val="150000"/>
              </a:lnSpc>
            </a:pPr>
            <a:r>
              <a:rPr lang="en-IN" sz="2100" dirty="0"/>
              <a:t>AUTO FIX AI is an intelligent app that helps diagnose vehicle issues instantly. It provides solutions and connects users </a:t>
            </a:r>
          </a:p>
          <a:p>
            <a:pPr algn="just">
              <a:lnSpc>
                <a:spcPct val="150000"/>
              </a:lnSpc>
            </a:pPr>
            <a:r>
              <a:rPr lang="en-IN" sz="2100" dirty="0"/>
              <a:t>With nearby verified  garages. It acts as a digital assistant for car maintenance and repair.</a:t>
            </a:r>
          </a:p>
        </p:txBody>
      </p:sp>
      <p:sp>
        <p:nvSpPr>
          <p:cNvPr id="52" name="Rectangle 51"/>
          <p:cNvSpPr/>
          <p:nvPr/>
        </p:nvSpPr>
        <p:spPr>
          <a:xfrm>
            <a:off x="2852044" y="2591626"/>
            <a:ext cx="12692755" cy="1496500"/>
          </a:xfrm>
          <a:prstGeom prst="rect">
            <a:avLst/>
          </a:prstGeom>
          <a:ln>
            <a:solidFill>
              <a:schemeClr val="tx1"/>
            </a:solidFill>
          </a:ln>
        </p:spPr>
        <p:txBody>
          <a:bodyPr wrap="square">
            <a:spAutoFit/>
          </a:bodyPr>
          <a:lstStyle/>
          <a:p>
            <a:pPr algn="just">
              <a:lnSpc>
                <a:spcPct val="150000"/>
              </a:lnSpc>
            </a:pPr>
            <a:r>
              <a:rPr lang="en-IN" sz="2100" dirty="0"/>
              <a:t>We aim to solve common challenges faced by the vehicle owners such as lack of knowledge ,difficulty in finding reliable mechanics ,unexpected repair costs ,and delay in service .We aim to make car repair simple and  transparent and accessible. Our goal to empower users with smart automotive support.</a:t>
            </a:r>
          </a:p>
        </p:txBody>
      </p:sp>
      <p:sp>
        <p:nvSpPr>
          <p:cNvPr id="53" name="Rectangle 52"/>
          <p:cNvSpPr/>
          <p:nvPr/>
        </p:nvSpPr>
        <p:spPr>
          <a:xfrm>
            <a:off x="2735904" y="7451858"/>
            <a:ext cx="7289175" cy="369332"/>
          </a:xfrm>
          <a:prstGeom prst="rect">
            <a:avLst/>
          </a:prstGeom>
        </p:spPr>
        <p:txBody>
          <a:bodyPr wrap="none">
            <a:spAutoFit/>
          </a:bodyPr>
          <a:lstStyle/>
          <a:p>
            <a:r>
              <a:rPr lang="en-US" dirty="0">
                <a:solidFill>
                  <a:srgbClr val="000000"/>
                </a:solidFill>
                <a:latin typeface="Avenir"/>
              </a:rPr>
              <a:t>Explain how your venture solves the problem and make its revenue. </a:t>
            </a:r>
            <a:endParaRPr lang="en-US" dirty="0"/>
          </a:p>
        </p:txBody>
      </p:sp>
      <p:sp>
        <p:nvSpPr>
          <p:cNvPr id="54" name="Rectangle 53"/>
          <p:cNvSpPr/>
          <p:nvPr/>
        </p:nvSpPr>
        <p:spPr>
          <a:xfrm>
            <a:off x="2852044" y="7851637"/>
            <a:ext cx="12768954" cy="1011752"/>
          </a:xfrm>
          <a:prstGeom prst="rect">
            <a:avLst/>
          </a:prstGeom>
          <a:ln>
            <a:solidFill>
              <a:schemeClr val="tx1"/>
            </a:solidFill>
          </a:ln>
        </p:spPr>
        <p:txBody>
          <a:bodyPr wrap="square">
            <a:spAutoFit/>
          </a:bodyPr>
          <a:lstStyle/>
          <a:p>
            <a:pPr algn="just">
              <a:lnSpc>
                <a:spcPct val="150000"/>
              </a:lnSpc>
            </a:pPr>
            <a:r>
              <a:rPr lang="en-IN" sz="2100" dirty="0"/>
              <a:t>The app use  AI and smart technology to analyse  problems and suggest solutions .It integrates GPS to locate garages and guide users. Revenue comes from commissions ,subscription, and advertisements.</a:t>
            </a:r>
          </a:p>
        </p:txBody>
      </p:sp>
      <p:pic>
        <p:nvPicPr>
          <p:cNvPr id="58" name="Graphic 23" descr="Lightbulb and gear with solid fill">
            <a:extLst>
              <a:ext uri="{FF2B5EF4-FFF2-40B4-BE49-F238E27FC236}">
                <a16:creationId xmlns:a16="http://schemas.microsoft.com/office/drawing/2014/main" id="{70701804-1B30-4A44-B98A-18706EAEAFD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6141" y="5074619"/>
            <a:ext cx="1290307" cy="1414469"/>
          </a:xfrm>
          <a:prstGeom prst="rect">
            <a:avLst/>
          </a:prstGeom>
          <a:solidFill>
            <a:schemeClr val="accent2">
              <a:lumMod val="40000"/>
              <a:lumOff val="60000"/>
            </a:schemeClr>
          </a:solidFill>
        </p:spPr>
      </p:pic>
      <p:pic>
        <p:nvPicPr>
          <p:cNvPr id="59" name="Graphic 19" descr="Dance steps with solid fill">
            <a:extLst>
              <a:ext uri="{FF2B5EF4-FFF2-40B4-BE49-F238E27FC236}">
                <a16:creationId xmlns:a16="http://schemas.microsoft.com/office/drawing/2014/main" id="{ED04F3D0-C2B5-426E-ADEE-F065E40DF45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4920" y="2737856"/>
            <a:ext cx="1251527" cy="1186444"/>
          </a:xfrm>
          <a:prstGeom prst="rect">
            <a:avLst/>
          </a:prstGeom>
          <a:solidFill>
            <a:schemeClr val="accent6">
              <a:lumMod val="60000"/>
              <a:lumOff val="40000"/>
            </a:schemeClr>
          </a:solidFill>
        </p:spPr>
      </p:pic>
      <p:pic>
        <p:nvPicPr>
          <p:cNvPr id="9" name="Picture 8" descr="AUTOFIXAI">
            <a:extLst>
              <a:ext uri="{FF2B5EF4-FFF2-40B4-BE49-F238E27FC236}">
                <a16:creationId xmlns:a16="http://schemas.microsoft.com/office/drawing/2014/main" id="{10852F1E-687F-A277-EF8F-0A6B432756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73399" y="647700"/>
            <a:ext cx="2286001" cy="1828800"/>
          </a:xfrm>
          <a:prstGeom prst="rect">
            <a:avLst/>
          </a:prstGeom>
        </p:spPr>
      </p:pic>
    </p:spTree>
    <p:extLst>
      <p:ext uri="{BB962C8B-B14F-4D97-AF65-F5344CB8AC3E}">
        <p14:creationId xmlns:p14="http://schemas.microsoft.com/office/powerpoint/2010/main" val="15118459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circle(in)">
                                      <p:cBhvr>
                                        <p:cTn id="15" dur="2000"/>
                                        <p:tgtEl>
                                          <p:spTgt spid="52"/>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circle(in)">
                                      <p:cBhvr>
                                        <p:cTn id="20" dur="20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circle(in)">
                                      <p:cBhvr>
                                        <p:cTn id="25" dur="2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1" grpId="0" animBg="1"/>
      <p:bldP spid="52"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400" y="1888147"/>
          <a:ext cx="15697200" cy="7482279"/>
        </p:xfrm>
        <a:graphic>
          <a:graphicData uri="http://schemas.openxmlformats.org/drawingml/2006/table">
            <a:tbl>
              <a:tblPr firstRow="1" bandRow="1">
                <a:tableStyleId>{2D5ABB26-0587-4C30-8999-92F81FD0307C}</a:tableStyleId>
              </a:tblPr>
              <a:tblGrid>
                <a:gridCol w="4572000">
                  <a:extLst>
                    <a:ext uri="{9D8B030D-6E8A-4147-A177-3AD203B41FA5}">
                      <a16:colId xmlns:a16="http://schemas.microsoft.com/office/drawing/2014/main" val="20000"/>
                    </a:ext>
                  </a:extLst>
                </a:gridCol>
                <a:gridCol w="5867402">
                  <a:extLst>
                    <a:ext uri="{9D8B030D-6E8A-4147-A177-3AD203B41FA5}">
                      <a16:colId xmlns:a16="http://schemas.microsoft.com/office/drawing/2014/main" val="20001"/>
                    </a:ext>
                  </a:extLst>
                </a:gridCol>
                <a:gridCol w="5257798">
                  <a:extLst>
                    <a:ext uri="{9D8B030D-6E8A-4147-A177-3AD203B41FA5}">
                      <a16:colId xmlns:a16="http://schemas.microsoft.com/office/drawing/2014/main" val="20002"/>
                    </a:ext>
                  </a:extLst>
                </a:gridCol>
              </a:tblGrid>
              <a:tr h="2849424">
                <a:tc>
                  <a:txBody>
                    <a:bodyPr/>
                    <a:lstStyle/>
                    <a:p>
                      <a:pPr marL="85090">
                        <a:lnSpc>
                          <a:spcPct val="100000"/>
                        </a:lnSpc>
                        <a:spcBef>
                          <a:spcPts val="635"/>
                        </a:spcBef>
                      </a:pPr>
                      <a:r>
                        <a:rPr sz="1400" b="1" spc="-120" dirty="0">
                          <a:latin typeface="Verdana" panose="020B0604030504040204" pitchFamily="34" charset="0"/>
                          <a:ea typeface="Verdana" panose="020B0604030504040204" pitchFamily="34" charset="0"/>
                          <a:cs typeface="Open Sans" panose="020B0606030504020204" pitchFamily="34" charset="0"/>
                        </a:rPr>
                        <a:t>CONTEXT</a:t>
                      </a:r>
                      <a:endParaRPr sz="1400" dirty="0">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pPr>
                      <a:r>
                        <a:rPr sz="1400" spc="-70" dirty="0">
                          <a:latin typeface="Verdana" panose="020B0604030504040204" pitchFamily="34" charset="0"/>
                          <a:ea typeface="Verdana" panose="020B0604030504040204" pitchFamily="34" charset="0"/>
                          <a:cs typeface="Open Sans" panose="020B0606030504020204" pitchFamily="34" charset="0"/>
                        </a:rPr>
                        <a:t>When</a:t>
                      </a:r>
                      <a:r>
                        <a:rPr sz="1400" spc="-19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does</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the</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85" dirty="0">
                          <a:latin typeface="Verdana" panose="020B0604030504040204" pitchFamily="34" charset="0"/>
                          <a:ea typeface="Verdana" panose="020B0604030504040204" pitchFamily="34" charset="0"/>
                          <a:cs typeface="Open Sans" panose="020B0606030504020204" pitchFamily="34" charset="0"/>
                        </a:rPr>
                        <a:t>p</a:t>
                      </a:r>
                      <a:r>
                        <a:rPr sz="1400" spc="-95" dirty="0">
                          <a:latin typeface="Verdana" panose="020B0604030504040204" pitchFamily="34" charset="0"/>
                          <a:ea typeface="Verdana" panose="020B0604030504040204" pitchFamily="34" charset="0"/>
                          <a:cs typeface="Open Sans" panose="020B0606030504020204" pitchFamily="34" charset="0"/>
                        </a:rPr>
                        <a:t>r</a:t>
                      </a:r>
                      <a:r>
                        <a:rPr sz="1400" spc="-90" dirty="0">
                          <a:latin typeface="Verdana" panose="020B0604030504040204" pitchFamily="34" charset="0"/>
                          <a:ea typeface="Verdana" panose="020B0604030504040204" pitchFamily="34" charset="0"/>
                          <a:cs typeface="Open Sans" panose="020B0606030504020204" pitchFamily="34" charset="0"/>
                        </a:rPr>
                        <a:t>o</a:t>
                      </a:r>
                      <a:r>
                        <a:rPr sz="1400" spc="-85" dirty="0">
                          <a:latin typeface="Verdana" panose="020B0604030504040204" pitchFamily="34" charset="0"/>
                          <a:ea typeface="Verdana" panose="020B0604030504040204" pitchFamily="34" charset="0"/>
                          <a:cs typeface="Open Sans" panose="020B0606030504020204" pitchFamily="34" charset="0"/>
                        </a:rPr>
                        <a:t>b</a:t>
                      </a:r>
                      <a:r>
                        <a:rPr sz="1400" spc="-60" dirty="0">
                          <a:latin typeface="Verdana" panose="020B0604030504040204" pitchFamily="34" charset="0"/>
                          <a:ea typeface="Verdana" panose="020B0604030504040204" pitchFamily="34" charset="0"/>
                          <a:cs typeface="Open Sans" panose="020B0606030504020204" pitchFamily="34" charset="0"/>
                        </a:rPr>
                        <a:t>l</a:t>
                      </a:r>
                      <a:r>
                        <a:rPr sz="1400" spc="-95" dirty="0">
                          <a:latin typeface="Verdana" panose="020B0604030504040204" pitchFamily="34" charset="0"/>
                          <a:ea typeface="Verdana" panose="020B0604030504040204" pitchFamily="34" charset="0"/>
                          <a:cs typeface="Open Sans" panose="020B0606030504020204" pitchFamily="34" charset="0"/>
                        </a:rPr>
                        <a:t>e</a:t>
                      </a:r>
                      <a:r>
                        <a:rPr sz="1400" dirty="0">
                          <a:latin typeface="Verdana" panose="020B0604030504040204" pitchFamily="34" charset="0"/>
                          <a:ea typeface="Verdana" panose="020B0604030504040204" pitchFamily="34" charset="0"/>
                          <a:cs typeface="Open Sans" panose="020B0606030504020204" pitchFamily="34" charset="0"/>
                        </a:rPr>
                        <a:t>m</a:t>
                      </a:r>
                      <a:r>
                        <a:rPr sz="1400" spc="-254" dirty="0">
                          <a:latin typeface="Verdana" panose="020B0604030504040204" pitchFamily="34" charset="0"/>
                          <a:ea typeface="Verdana" panose="020B0604030504040204" pitchFamily="34" charset="0"/>
                          <a:cs typeface="Open Sans" panose="020B0606030504020204" pitchFamily="34" charset="0"/>
                        </a:rPr>
                        <a:t> </a:t>
                      </a:r>
                      <a:r>
                        <a:rPr sz="1400" spc="-70" dirty="0">
                          <a:latin typeface="Verdana" panose="020B0604030504040204" pitchFamily="34" charset="0"/>
                          <a:ea typeface="Verdana" panose="020B0604030504040204" pitchFamily="34" charset="0"/>
                          <a:cs typeface="Open Sans" panose="020B0606030504020204" pitchFamily="34" charset="0"/>
                        </a:rPr>
                        <a:t>o</a:t>
                      </a:r>
                      <a:r>
                        <a:rPr sz="1400" spc="-65" dirty="0">
                          <a:latin typeface="Verdana" panose="020B0604030504040204" pitchFamily="34" charset="0"/>
                          <a:ea typeface="Verdana" panose="020B0604030504040204" pitchFamily="34" charset="0"/>
                          <a:cs typeface="Open Sans" panose="020B0606030504020204" pitchFamily="34" charset="0"/>
                        </a:rPr>
                        <a:t>cc</a:t>
                      </a:r>
                      <a:r>
                        <a:rPr sz="1400" spc="-45" dirty="0">
                          <a:latin typeface="Verdana" panose="020B0604030504040204" pitchFamily="34" charset="0"/>
                          <a:ea typeface="Verdana" panose="020B0604030504040204" pitchFamily="34" charset="0"/>
                          <a:cs typeface="Open Sans" panose="020B0606030504020204" pitchFamily="34" charset="0"/>
                        </a:rPr>
                        <a:t>u</a:t>
                      </a:r>
                      <a:r>
                        <a:rPr sz="1400" spc="-55" dirty="0">
                          <a:latin typeface="Verdana" panose="020B0604030504040204" pitchFamily="34" charset="0"/>
                          <a:ea typeface="Verdana" panose="020B0604030504040204" pitchFamily="34" charset="0"/>
                          <a:cs typeface="Open Sans" panose="020B0606030504020204" pitchFamily="34" charset="0"/>
                        </a:rPr>
                        <a:t>r</a:t>
                      </a:r>
                      <a:r>
                        <a:rPr sz="1400" dirty="0">
                          <a:latin typeface="Verdana" panose="020B0604030504040204" pitchFamily="34" charset="0"/>
                          <a:ea typeface="Verdana" panose="020B0604030504040204" pitchFamily="34" charset="0"/>
                          <a:cs typeface="Open Sans" panose="020B0606030504020204" pitchFamily="34" charset="0"/>
                        </a:rPr>
                        <a:t>?</a:t>
                      </a:r>
                      <a:endParaRPr lang="en-IN" sz="1400" dirty="0">
                        <a:latin typeface="Verdana" panose="020B0604030504040204" pitchFamily="34" charset="0"/>
                        <a:ea typeface="Verdana" panose="020B0604030504040204" pitchFamily="34" charset="0"/>
                        <a:cs typeface="Open Sans" panose="020B0606030504020204" pitchFamily="34" charset="0"/>
                      </a:endParaRPr>
                    </a:p>
                    <a:p>
                      <a:pPr marL="8509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 "The problem occurs in three situations — when a warning light appears and the owner doesn't understand it, when the car makes strange sounds or behaves abnormally, and when the car breaks down in an unknown location far from help. In all three cases, the owner feels confused, stressed, and helpless — and that is exactly the gap Auto Fix AI fills."</a:t>
                      </a:r>
                      <a:endParaRPr lang="en-US" sz="1400" dirty="0"/>
                    </a:p>
                    <a:p>
                      <a:pPr marL="85090">
                        <a:lnSpc>
                          <a:spcPct val="100000"/>
                        </a:lnSpc>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35"/>
                        </a:spcBef>
                      </a:pPr>
                      <a:r>
                        <a:rPr sz="1400" b="1" spc="-130" dirty="0">
                          <a:latin typeface="Verdana" panose="020B0604030504040204" pitchFamily="34" charset="0"/>
                          <a:ea typeface="Verdana" panose="020B0604030504040204" pitchFamily="34" charset="0"/>
                          <a:cs typeface="Open Sans" panose="020B0606030504020204" pitchFamily="34" charset="0"/>
                        </a:rPr>
                        <a:t>PROBLEM</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30" dirty="0">
                          <a:latin typeface="Verdana" panose="020B0604030504040204" pitchFamily="34" charset="0"/>
                          <a:ea typeface="Verdana" panose="020B0604030504040204" pitchFamily="34" charset="0"/>
                          <a:cs typeface="Open Sans" panose="020B0606030504020204" pitchFamily="34" charset="0"/>
                        </a:rPr>
                        <a:t>What</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is</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the</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root </a:t>
                      </a:r>
                      <a:r>
                        <a:rPr sz="1400" spc="-55" dirty="0">
                          <a:latin typeface="Verdana" panose="020B0604030504040204" pitchFamily="34" charset="0"/>
                          <a:ea typeface="Verdana" panose="020B0604030504040204" pitchFamily="34" charset="0"/>
                          <a:cs typeface="Open Sans" panose="020B0606030504020204" pitchFamily="34" charset="0"/>
                        </a:rPr>
                        <a:t>cause</a:t>
                      </a:r>
                      <a:r>
                        <a:rPr sz="1400" spc="4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of</a:t>
                      </a:r>
                      <a:r>
                        <a:rPr lang="en-IN" sz="1400" spc="0" dirty="0">
                          <a:latin typeface="Verdana" panose="020B0604030504040204" pitchFamily="34" charset="0"/>
                          <a:ea typeface="Verdana" panose="020B0604030504040204" pitchFamily="34" charset="0"/>
                          <a:cs typeface="Open Sans" panose="020B0606030504020204" pitchFamily="34" charset="0"/>
                        </a:rPr>
                        <a:t> t</a:t>
                      </a:r>
                      <a:r>
                        <a:rPr sz="1400" spc="-70" dirty="0">
                          <a:latin typeface="Verdana" panose="020B0604030504040204" pitchFamily="34" charset="0"/>
                          <a:ea typeface="Verdana" panose="020B0604030504040204" pitchFamily="34" charset="0"/>
                          <a:cs typeface="Open Sans" panose="020B0606030504020204" pitchFamily="34" charset="0"/>
                        </a:rPr>
                        <a:t>he</a:t>
                      </a:r>
                      <a:r>
                        <a:rPr lang="en-IN" sz="1400" spc="-70" dirty="0">
                          <a:latin typeface="Verdana" panose="020B0604030504040204" pitchFamily="34" charset="0"/>
                          <a:ea typeface="Verdana" panose="020B0604030504040204" pitchFamily="34" charset="0"/>
                          <a:cs typeface="Open Sans" panose="020B0606030504020204" pitchFamily="34" charset="0"/>
                        </a:rPr>
                        <a:t> problem</a:t>
                      </a:r>
                      <a:r>
                        <a:rPr sz="1400" spc="-70" dirty="0">
                          <a:latin typeface="Verdana" panose="020B0604030504040204" pitchFamily="34" charset="0"/>
                          <a:ea typeface="Verdana" panose="020B0604030504040204" pitchFamily="34" charset="0"/>
                          <a:cs typeface="Open Sans" panose="020B0606030504020204" pitchFamily="34" charset="0"/>
                        </a:rPr>
                        <a:t>?</a:t>
                      </a: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84455" algn="l">
                        <a:lnSpc>
                          <a:spcPct val="100000"/>
                        </a:lnSpc>
                      </a:pPr>
                      <a:r>
                        <a:rPr lang="en-US" sz="1400" spc="-70" dirty="0">
                          <a:latin typeface="Verdana" panose="020B0604030504040204" pitchFamily="34" charset="0"/>
                          <a:ea typeface="Verdana" panose="020B0604030504040204" pitchFamily="34" charset="0"/>
                          <a:cs typeface="Open Sans" panose="020B0606030504020204" pitchFamily="34" charset="0"/>
                        </a:rPr>
                        <a:t>    </a:t>
                      </a:r>
                      <a:r>
                        <a:rPr lang="en-US" sz="1800" spc="-70" dirty="0">
                          <a:latin typeface="Verdana" panose="020B0604030504040204" pitchFamily="34" charset="0"/>
                          <a:ea typeface="Verdana" panose="020B0604030504040204" pitchFamily="34" charset="0"/>
                          <a:cs typeface="Open Sans" panose="020B0606030504020204" pitchFamily="34" charset="0"/>
                        </a:rPr>
                        <a:t>The root cause of the problem are Lack of car knowledge, No simple diagnostic tool for normal people, No trusted transparent system.</a:t>
                      </a:r>
                      <a:endParaRPr lang="en-IN" sz="1400" spc="-7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12700">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tc>
                  <a:txBody>
                    <a:bodyPr/>
                    <a:lstStyle/>
                    <a:p>
                      <a:pPr marL="85725">
                        <a:lnSpc>
                          <a:spcPct val="100000"/>
                        </a:lnSpc>
                        <a:spcBef>
                          <a:spcPts val="635"/>
                        </a:spcBef>
                      </a:pPr>
                      <a:r>
                        <a:rPr sz="1400" b="1" spc="-135" dirty="0">
                          <a:latin typeface="Verdana" panose="020B0604030504040204" pitchFamily="34" charset="0"/>
                          <a:ea typeface="Verdana" panose="020B0604030504040204" pitchFamily="34" charset="0"/>
                          <a:cs typeface="Open Sans" panose="020B0606030504020204" pitchFamily="34" charset="0"/>
                        </a:rPr>
                        <a:t>ALTERNATIVES</a:t>
                      </a:r>
                      <a:endParaRPr sz="140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do </a:t>
                      </a:r>
                      <a:r>
                        <a:rPr sz="1400" spc="-60" dirty="0">
                          <a:latin typeface="Verdana" panose="020B0604030504040204" pitchFamily="34" charset="0"/>
                          <a:ea typeface="Verdana" panose="020B0604030504040204" pitchFamily="34" charset="0"/>
                          <a:cs typeface="Open Sans" panose="020B0606030504020204" pitchFamily="34" charset="0"/>
                        </a:rPr>
                        <a:t>customers </a:t>
                      </a:r>
                      <a:r>
                        <a:rPr sz="1400" spc="-20" dirty="0">
                          <a:latin typeface="Verdana" panose="020B0604030504040204" pitchFamily="34" charset="0"/>
                          <a:ea typeface="Verdana" panose="020B0604030504040204" pitchFamily="34" charset="0"/>
                          <a:cs typeface="Open Sans" panose="020B0606030504020204" pitchFamily="34" charset="0"/>
                        </a:rPr>
                        <a:t>do</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now</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to</a:t>
                      </a:r>
                      <a:r>
                        <a:rPr sz="1400" spc="-15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ﬁx</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the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Customers now usually visit a mechanic ,call roadside help, or use towing services to fix the problem. Some also search in google, watch on YouTube videos, or ask others for devices.</a:t>
                      </a:r>
                    </a:p>
                  </a:txBody>
                  <a:tcPr marL="0" marR="0" marT="82683"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0"/>
                  </a:ext>
                </a:extLst>
              </a:tr>
              <a:tr h="889931">
                <a:tc rowSpan="2">
                  <a:txBody>
                    <a:bodyPr/>
                    <a:lstStyle/>
                    <a:p>
                      <a:pPr marL="85090">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CUSTOMERS</a:t>
                      </a:r>
                    </a:p>
                    <a:p>
                      <a:pPr marL="85090" marR="702310">
                        <a:lnSpc>
                          <a:spcPct val="100000"/>
                        </a:lnSpc>
                      </a:pPr>
                      <a:r>
                        <a:rPr sz="1400" spc="-40" dirty="0">
                          <a:latin typeface="Verdana" panose="020B0604030504040204" pitchFamily="34" charset="0"/>
                          <a:ea typeface="Verdana" panose="020B0604030504040204" pitchFamily="34" charset="0"/>
                          <a:cs typeface="Open Sans" panose="020B0606030504020204" pitchFamily="34" charset="0"/>
                        </a:rPr>
                        <a:t>Who</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has</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the</a:t>
                      </a:r>
                      <a:r>
                        <a:rPr sz="1400" spc="-245"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most </a:t>
                      </a:r>
                      <a:r>
                        <a:rPr sz="1400" spc="-55" dirty="0">
                          <a:latin typeface="Verdana" panose="020B0604030504040204" pitchFamily="34" charset="0"/>
                          <a:ea typeface="Verdana" panose="020B0604030504040204" pitchFamily="34" charset="0"/>
                          <a:cs typeface="Open Sans" panose="020B0606030504020204" pitchFamily="34" charset="0"/>
                        </a:rPr>
                        <a:t>often?</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The problem often faced by the</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–Non technical car users </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-People in remote areas and</a:t>
                      </a: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semi-urban areas</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-Busy working professionals </a:t>
                      </a:r>
                    </a:p>
                  </a:txBody>
                  <a:tcPr marL="0" marR="0" marT="83334" marB="0">
                    <a:lnL w="9525">
                      <a:solidFill>
                        <a:srgbClr val="FBBD00"/>
                      </a:solidFill>
                      <a:prstDash val="solid"/>
                    </a:lnL>
                    <a:lnR w="12700"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lnB w="9525">
                      <a:solidFill>
                        <a:srgbClr val="FBBD00"/>
                      </a:solidFill>
                      <a:prstDash val="solid"/>
                    </a:lnB>
                  </a:tcPr>
                </a:tc>
                <a:tc>
                  <a:txBody>
                    <a:bodyPr/>
                    <a:lstStyle/>
                    <a:p>
                      <a:pPr marL="8445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EMOTIONAL</a:t>
                      </a:r>
                      <a:r>
                        <a:rPr lang="en-IN" sz="1400" b="1" spc="-150" dirty="0">
                          <a:latin typeface="Verdana" panose="020B0604030504040204" pitchFamily="34" charset="0"/>
                          <a:ea typeface="Verdana" panose="020B0604030504040204" pitchFamily="34" charset="0"/>
                          <a:cs typeface="Open Sans" panose="020B0606030504020204" pitchFamily="34" charset="0"/>
                        </a:rPr>
                        <a:t> </a:t>
                      </a:r>
                      <a:r>
                        <a:rPr sz="1400" b="1" spc="-150"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50" dirty="0">
                          <a:latin typeface="Verdana" panose="020B0604030504040204" pitchFamily="34" charset="0"/>
                          <a:ea typeface="Verdana" panose="020B0604030504040204" pitchFamily="34" charset="0"/>
                          <a:cs typeface="Open Sans" panose="020B0606030504020204" pitchFamily="34" charset="0"/>
                        </a:rPr>
                        <a:t>How</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does</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229"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the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customer</a:t>
                      </a:r>
                      <a:r>
                        <a:rPr sz="1400" spc="-215" dirty="0">
                          <a:latin typeface="Verdana" panose="020B0604030504040204" pitchFamily="34" charset="0"/>
                          <a:ea typeface="Verdana" panose="020B0604030504040204" pitchFamily="34" charset="0"/>
                          <a:cs typeface="Open Sans" panose="020B0606030504020204" pitchFamily="34" charset="0"/>
                        </a:rPr>
                        <a:t> </a:t>
                      </a:r>
                      <a:r>
                        <a:rPr lang="en-IN" sz="1400" spc="-215" dirty="0">
                          <a:latin typeface="Verdana" panose="020B0604030504040204" pitchFamily="34" charset="0"/>
                          <a:ea typeface="Verdana" panose="020B0604030504040204" pitchFamily="34" charset="0"/>
                          <a:cs typeface="Open Sans" panose="020B0606030504020204" pitchFamily="34" charset="0"/>
                        </a:rPr>
                        <a:t> </a:t>
                      </a:r>
                      <a:r>
                        <a:rPr sz="1400" spc="-55" dirty="0">
                          <a:latin typeface="Verdana" panose="020B0604030504040204" pitchFamily="34" charset="0"/>
                          <a:ea typeface="Verdana" panose="020B0604030504040204" pitchFamily="34" charset="0"/>
                          <a:cs typeface="Open Sans" panose="020B0606030504020204" pitchFamily="34" charset="0"/>
                        </a:rPr>
                        <a:t>feel?</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lang="en-IN" sz="1400" spc="-55" dirty="0">
                          <a:latin typeface="Verdana" panose="020B0604030504040204" pitchFamily="34" charset="0"/>
                          <a:ea typeface="Verdana" panose="020B0604030504040204" pitchFamily="34" charset="0"/>
                          <a:cs typeface="Open Sans" panose="020B0606030504020204" pitchFamily="34" charset="0"/>
                        </a:rPr>
                        <a:t>  </a:t>
                      </a:r>
                      <a:r>
                        <a:rPr lang="en-IN" sz="1800" spc="-55" dirty="0">
                          <a:latin typeface="Verdana" panose="020B0604030504040204" pitchFamily="34" charset="0"/>
                          <a:ea typeface="Verdana" panose="020B0604030504040204" pitchFamily="34" charset="0"/>
                          <a:cs typeface="Open Sans" panose="020B0606030504020204" pitchFamily="34" charset="0"/>
                        </a:rPr>
                        <a:t>Customers often feel confused and stressed when </a:t>
                      </a:r>
                    </a:p>
                    <a:p>
                      <a:pPr marL="84455">
                        <a:lnSpc>
                          <a:spcPct val="100000"/>
                        </a:lnSpc>
                      </a:pPr>
                      <a:r>
                        <a:rPr lang="en-IN" sz="1800" spc="-55" dirty="0">
                          <a:latin typeface="Verdana" panose="020B0604030504040204" pitchFamily="34" charset="0"/>
                          <a:ea typeface="Verdana" panose="020B0604030504040204" pitchFamily="34" charset="0"/>
                          <a:cs typeface="Open Sans" panose="020B0606030504020204" pitchFamily="34" charset="0"/>
                        </a:rPr>
                        <a:t>they don’t understand the car problem .They feel frustrated and worried about time loss or being        </a:t>
                      </a:r>
                    </a:p>
                    <a:p>
                      <a:pPr marL="84455">
                        <a:lnSpc>
                          <a:spcPct val="100000"/>
                        </a:lnSpc>
                      </a:pPr>
                      <a:r>
                        <a:rPr lang="en-IN" sz="1800" spc="-55" dirty="0" err="1">
                          <a:latin typeface="Verdana" panose="020B0604030504040204" pitchFamily="34" charset="0"/>
                          <a:ea typeface="Verdana" panose="020B0604030504040204" pitchFamily="34" charset="0"/>
                          <a:cs typeface="Open Sans" panose="020B0606030504020204" pitchFamily="34" charset="0"/>
                        </a:rPr>
                        <a:t>overchanged</a:t>
                      </a:r>
                      <a:r>
                        <a:rPr lang="en-IN" sz="1800" spc="-55" dirty="0">
                          <a:latin typeface="Verdana" panose="020B0604030504040204" pitchFamily="34" charset="0"/>
                          <a:ea typeface="Verdana" panose="020B0604030504040204" pitchFamily="34" charset="0"/>
                          <a:cs typeface="Open Sans" panose="020B0606030504020204" pitchFamily="34" charset="0"/>
                        </a:rPr>
                        <a:t>.</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12700" cap="flat" cmpd="sng" algn="ctr">
                      <a:solidFill>
                        <a:srgbClr val="FBBD00"/>
                      </a:solidFill>
                      <a:prstDash val="solid"/>
                      <a:round/>
                      <a:headEnd type="none" w="med" len="med"/>
                      <a:tailEnd type="none" w="med" len="med"/>
                    </a:lnL>
                    <a:lnR w="9525"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tcPr>
                </a:tc>
                <a:tc rowSpan="2">
                  <a:txBody>
                    <a:bodyPr/>
                    <a:lstStyle/>
                    <a:p>
                      <a:pPr marL="8572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ALTERNATIVE</a:t>
                      </a:r>
                      <a:r>
                        <a:rPr lang="en-IN" sz="1400" b="1" spc="-155" dirty="0">
                          <a:latin typeface="Verdana" panose="020B0604030504040204" pitchFamily="34" charset="0"/>
                          <a:ea typeface="Verdana" panose="020B0604030504040204" pitchFamily="34" charset="0"/>
                          <a:cs typeface="Open Sans" panose="020B0606030504020204" pitchFamily="34" charset="0"/>
                        </a:rPr>
                        <a:t> </a:t>
                      </a: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SHORTCO</a:t>
                      </a:r>
                      <a:r>
                        <a:rPr lang="en-IN"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MINGS</a:t>
                      </a:r>
                    </a:p>
                    <a:p>
                      <a:pPr marL="85725">
                        <a:lnSpc>
                          <a:spcPct val="100000"/>
                        </a:lnSpc>
                        <a:spcBef>
                          <a:spcPts val="640"/>
                        </a:spcBef>
                      </a:pPr>
                      <a:r>
                        <a:rPr lang="en-IN"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What are disadvantages of alternatives?</a:t>
                      </a:r>
                      <a:endParaRPr lang="en-US"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5725" marR="247015">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Disadvantages are- Going to mechanic blindly, Searching on google or YouTube, Using OBD devices or asking friends.</a:t>
                      </a:r>
                    </a:p>
                  </a:txBody>
                  <a:tcPr marL="0" marR="0" marT="83334" marB="0">
                    <a:lnL w="9525" cap="flat" cmpd="sng" algn="ctr">
                      <a:solidFill>
                        <a:srgbClr val="FBBD00"/>
                      </a:solidFill>
                      <a:prstDash val="solid"/>
                      <a:round/>
                      <a:headEnd type="none" w="med" len="med"/>
                      <a:tailEnd type="none" w="med" len="med"/>
                    </a:lnL>
                    <a:lnR w="9525">
                      <a:solidFill>
                        <a:srgbClr val="FBBD00"/>
                      </a:solidFill>
                      <a:prstDash val="solid"/>
                    </a:lnR>
                    <a:lnT w="9525" cap="flat" cmpd="sng" algn="ctr">
                      <a:solidFill>
                        <a:srgbClr val="FBBD00"/>
                      </a:solidFill>
                      <a:prstDash val="solid"/>
                      <a:round/>
                      <a:headEnd type="none" w="med" len="med"/>
                      <a:tailEnd type="none" w="med" len="med"/>
                    </a:lnT>
                    <a:lnB w="9525">
                      <a:solidFill>
                        <a:srgbClr val="FBBD00"/>
                      </a:solidFill>
                      <a:prstDash val="solid"/>
                    </a:lnB>
                  </a:tcPr>
                </a:tc>
                <a:extLst>
                  <a:ext uri="{0D108BD9-81ED-4DB2-BD59-A6C34878D82A}">
                    <a16:rowId xmlns:a16="http://schemas.microsoft.com/office/drawing/2014/main" val="10001"/>
                  </a:ext>
                </a:extLst>
              </a:tr>
              <a:tr h="2134662">
                <a:tc vMerge="1">
                  <a:txBody>
                    <a:bodyPr/>
                    <a:lstStyle/>
                    <a:p>
                      <a:endParaRPr/>
                    </a:p>
                  </a:txBody>
                  <a:tcPr marL="0" marR="0" marT="81280"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a:lnSpc>
                          <a:spcPct val="100000"/>
                        </a:lnSpc>
                      </a:pPr>
                      <a:endParaRPr sz="21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QUANTIFIABLE</a:t>
                      </a:r>
                      <a:r>
                        <a:rPr lang="en-IN" sz="1400" b="1" spc="-145" dirty="0">
                          <a:latin typeface="Verdana" panose="020B0604030504040204" pitchFamily="34" charset="0"/>
                          <a:ea typeface="Verdana" panose="020B0604030504040204" pitchFamily="34" charset="0"/>
                          <a:cs typeface="Open Sans" panose="020B0606030504020204" pitchFamily="34" charset="0"/>
                        </a:rPr>
                        <a:t> </a:t>
                      </a:r>
                      <a:r>
                        <a:rPr sz="1400" b="1" spc="-145"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is</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the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measurable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impact  </a:t>
                      </a:r>
                      <a:r>
                        <a:rPr sz="1400" spc="-60" dirty="0">
                          <a:latin typeface="Verdana" panose="020B0604030504040204" pitchFamily="34" charset="0"/>
                          <a:ea typeface="Verdana" panose="020B0604030504040204" pitchFamily="34" charset="0"/>
                          <a:cs typeface="Open Sans" panose="020B0606030504020204" pitchFamily="34" charset="0"/>
                        </a:rPr>
                        <a:t>(include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units)?</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Reduces diagnostic time from hours to minutes. Lowers unnecessary repair costs up to </a:t>
                      </a:r>
                    </a:p>
                    <a:p>
                      <a:pPr marL="84455" marR="474345">
                        <a:lnSpc>
                          <a:spcPct val="100000"/>
                        </a:lnSpc>
                      </a:pPr>
                      <a:r>
                        <a:rPr lang="en-IN" sz="1800" spc="-60" dirty="0">
                          <a:latin typeface="Verdana" panose="020B0604030504040204" pitchFamily="34" charset="0"/>
                          <a:ea typeface="Verdana" panose="020B0604030504040204" pitchFamily="34" charset="0"/>
                          <a:cs typeface="Open Sans" panose="020B0606030504020204" pitchFamily="34" charset="0"/>
                        </a:rPr>
                        <a:t>20% to 40%.</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0" marB="0">
                    <a:lnL w="12700">
                      <a:solidFill>
                        <a:srgbClr val="FBBD00"/>
                      </a:solidFill>
                      <a:prstDash val="solid"/>
                    </a:lnL>
                    <a:lnR w="9525">
                      <a:solidFill>
                        <a:srgbClr val="FBBD00"/>
                      </a:solidFill>
                      <a:prstDash val="solid"/>
                    </a:lnR>
                    <a:lnB w="9525">
                      <a:solidFill>
                        <a:srgbClr val="FBBD00"/>
                      </a:solidFill>
                      <a:prstDash val="solid"/>
                    </a:lnB>
                  </a:tcPr>
                </a:tc>
                <a:tc vMerge="1">
                  <a:txBody>
                    <a:bodyPr/>
                    <a:lstStyle/>
                    <a:p>
                      <a:endParaRPr/>
                    </a:p>
                  </a:txBody>
                  <a:tcPr marL="0" marR="0" marT="81280"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2"/>
                  </a:ext>
                </a:extLst>
              </a:tr>
            </a:tbl>
          </a:graphicData>
        </a:graphic>
      </p:graphicFrame>
      <p:sp>
        <p:nvSpPr>
          <p:cNvPr id="4" name="object 4"/>
          <p:cNvSpPr txBox="1">
            <a:spLocks noGrp="1"/>
          </p:cNvSpPr>
          <p:nvPr>
            <p:ph type="sldNum" sz="quarter" idx="12"/>
          </p:nvPr>
        </p:nvSpPr>
        <p:spPr>
          <a:xfrm>
            <a:off x="6718838" y="6602494"/>
            <a:ext cx="2187529" cy="203796"/>
          </a:xfrm>
          <a:prstGeom prst="rect">
            <a:avLst/>
          </a:prstGeom>
        </p:spPr>
        <p:txBody>
          <a:bodyPr vert="horz" wrap="square" lIns="0" tIns="14323" rIns="0" bIns="0" rtlCol="0" anchor="ctr">
            <a:spAutoFit/>
          </a:bodyPr>
          <a:lstStyle/>
          <a:p>
            <a:pPr marL="39064">
              <a:spcBef>
                <a:spcPts val="113"/>
              </a:spcBef>
            </a:pPr>
            <a:fld id="{81D60167-4931-47E6-BA6A-407CBD079E47}" type="slidenum">
              <a:rPr dirty="0">
                <a:latin typeface="Verdana" panose="020B0604030504040204" pitchFamily="34" charset="0"/>
                <a:ea typeface="Verdana" panose="020B0604030504040204" pitchFamily="34" charset="0"/>
              </a:rPr>
              <a:pPr marL="39064">
                <a:spcBef>
                  <a:spcPts val="113"/>
                </a:spcBef>
              </a:pPr>
              <a:t>3</a:t>
            </a:fld>
            <a:endParaRPr dirty="0">
              <a:latin typeface="Verdana" panose="020B0604030504040204" pitchFamily="34" charset="0"/>
              <a:ea typeface="Verdana" panose="020B0604030504040204" pitchFamily="34" charset="0"/>
            </a:endParaRPr>
          </a:p>
        </p:txBody>
      </p:sp>
      <p:sp>
        <p:nvSpPr>
          <p:cNvPr id="3" name="object 3"/>
          <p:cNvSpPr txBox="1">
            <a:spLocks noGrp="1"/>
          </p:cNvSpPr>
          <p:nvPr>
            <p:ph type="title"/>
          </p:nvPr>
        </p:nvSpPr>
        <p:spPr>
          <a:xfrm>
            <a:off x="304800" y="256304"/>
            <a:ext cx="15304106" cy="1040529"/>
          </a:xfrm>
          <a:prstGeom prst="rect">
            <a:avLst/>
          </a:prstGeom>
        </p:spPr>
        <p:txBody>
          <a:bodyPr vert="horz" wrap="square" lIns="0" tIns="12370" rIns="0" bIns="0" rtlCol="0" anchor="ctr">
            <a:spAutoFit/>
          </a:bodyPr>
          <a:lstStyle/>
          <a:p>
            <a:pPr>
              <a:lnSpc>
                <a:spcPts val="8747"/>
              </a:lnSpc>
              <a:spcBef>
                <a:spcPts val="97"/>
              </a:spcBef>
            </a:pPr>
            <a:r>
              <a:rPr lang="en-IN" sz="5400" b="1" dirty="0">
                <a:solidFill>
                  <a:schemeClr val="tx1"/>
                </a:solidFill>
                <a:latin typeface="+mn-lt"/>
                <a:ea typeface="+mn-ea"/>
                <a:cs typeface="Times New Roman" panose="02020603050405020304" pitchFamily="18" charset="0"/>
              </a:rPr>
              <a:t>Problem/Opportunity</a:t>
            </a:r>
            <a:endParaRPr sz="5400" b="1" dirty="0">
              <a:solidFill>
                <a:schemeClr val="tx1"/>
              </a:solidFill>
              <a:latin typeface="+mn-lt"/>
              <a:ea typeface="+mn-ea"/>
              <a:cs typeface="Times New Roman" panose="02020603050405020304" pitchFamily="18" charset="0"/>
            </a:endParaRPr>
          </a:p>
        </p:txBody>
      </p:sp>
      <p:sp>
        <p:nvSpPr>
          <p:cNvPr id="14" name="TextBox 13">
            <a:extLst>
              <a:ext uri="{FF2B5EF4-FFF2-40B4-BE49-F238E27FC236}">
                <a16:creationId xmlns:a16="http://schemas.microsoft.com/office/drawing/2014/main" id="{437D10F2-D825-4F14-8721-CF5105D60893}"/>
              </a:ext>
            </a:extLst>
          </p:cNvPr>
          <p:cNvSpPr txBox="1"/>
          <p:nvPr/>
        </p:nvSpPr>
        <p:spPr>
          <a:xfrm>
            <a:off x="16141386" y="59344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45620" y="19262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Rectangle 4"/>
          <p:cNvSpPr/>
          <p:nvPr/>
        </p:nvSpPr>
        <p:spPr>
          <a:xfrm>
            <a:off x="914400" y="6815207"/>
            <a:ext cx="9144000" cy="1110560"/>
          </a:xfrm>
          <a:prstGeom prst="rect">
            <a:avLst/>
          </a:prstGeom>
        </p:spPr>
        <p:txBody>
          <a:bodyPr>
            <a:spAutoFit/>
          </a:bodyPr>
          <a:lstStyle/>
          <a:p>
            <a:endParaRPr lang="en-US" dirty="0"/>
          </a:p>
          <a:p>
            <a:pPr marL="93102">
              <a:spcBef>
                <a:spcPts val="195"/>
              </a:spcBef>
            </a:pPr>
            <a:endParaRPr lang="en-US" sz="1050" spc="-82" dirty="0">
              <a:latin typeface="Verdana" panose="020B0604030504040204" pitchFamily="34" charset="0"/>
              <a:ea typeface="Verdana" panose="020B0604030504040204" pitchFamily="34" charset="0"/>
              <a:cs typeface="Open Sans" panose="020B0606030504020204" pitchFamily="34" charset="0"/>
            </a:endParaRPr>
          </a:p>
          <a:p>
            <a:endParaRPr lang="en-US" dirty="0"/>
          </a:p>
          <a:p>
            <a:endParaRPr lang="en-IN" dirty="0"/>
          </a:p>
        </p:txBody>
      </p:sp>
      <p:pic>
        <p:nvPicPr>
          <p:cNvPr id="6" name="Picture 5" descr="AUTOFIXAI">
            <a:extLst>
              <a:ext uri="{FF2B5EF4-FFF2-40B4-BE49-F238E27FC236}">
                <a16:creationId xmlns:a16="http://schemas.microsoft.com/office/drawing/2014/main" id="{A616AD86-8DBC-912D-B575-8D6DF6C89D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45619" y="192626"/>
            <a:ext cx="1695221" cy="1288685"/>
          </a:xfrm>
          <a:prstGeom prst="rect">
            <a:avLst/>
          </a:prstGeom>
        </p:spPr>
      </p:pic>
    </p:spTree>
    <p:extLst>
      <p:ext uri="{BB962C8B-B14F-4D97-AF65-F5344CB8AC3E}">
        <p14:creationId xmlns:p14="http://schemas.microsoft.com/office/powerpoint/2010/main" val="7969700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457200" y="217695"/>
            <a:ext cx="12338484" cy="1039900"/>
          </a:xfrm>
          <a:prstGeom prst="rect">
            <a:avLst/>
          </a:prstGeom>
        </p:spPr>
        <p:txBody>
          <a:bodyPr wrap="square" lIns="0" tIns="0" rIns="0" bIns="0" rtlCol="0" anchor="t">
            <a:spAutoFit/>
          </a:bodyPr>
          <a:lstStyle/>
          <a:p>
            <a:pPr>
              <a:lnSpc>
                <a:spcPts val="8747"/>
              </a:lnSpc>
              <a:spcBef>
                <a:spcPts val="97"/>
              </a:spcBef>
            </a:pPr>
            <a:r>
              <a:rPr lang="en-US" sz="5400" b="1" dirty="0"/>
              <a:t>Problem Interviews And Surveys Results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070778" y="107931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5875012" y="67849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7" name="Rectangle 16"/>
          <p:cNvSpPr/>
          <p:nvPr/>
        </p:nvSpPr>
        <p:spPr>
          <a:xfrm>
            <a:off x="838200" y="1967181"/>
            <a:ext cx="11201400" cy="5016758"/>
          </a:xfrm>
          <a:prstGeom prst="rect">
            <a:avLst/>
          </a:prstGeom>
          <a:noFill/>
        </p:spPr>
        <p:txBody>
          <a:bodyPr wrap="square">
            <a:spAutoFit/>
          </a:bodyPr>
          <a:lstStyle/>
          <a:p>
            <a:pPr marL="457200" indent="-457200">
              <a:buFont typeface="Arial" panose="020B0604020202020204" pitchFamily="34" charset="0"/>
              <a:buChar char="•"/>
            </a:pPr>
            <a:r>
              <a:rPr lang="pt-BR" sz="3200" dirty="0"/>
              <a:t>How many customers did you interview? </a:t>
            </a:r>
          </a:p>
          <a:p>
            <a:r>
              <a:rPr lang="pt-BR" sz="3200" dirty="0"/>
              <a:t>     25</a:t>
            </a:r>
          </a:p>
          <a:p>
            <a:pPr marL="457200" indent="-457200">
              <a:buFont typeface="Arial" panose="020B0604020202020204" pitchFamily="34" charset="0"/>
              <a:buChar char="•"/>
            </a:pPr>
            <a:r>
              <a:rPr lang="pt-BR" sz="3200" dirty="0"/>
              <a:t>What was the interview mode?</a:t>
            </a:r>
          </a:p>
          <a:p>
            <a:r>
              <a:rPr lang="pt-BR" sz="3200" i="1" dirty="0"/>
              <a:t>     </a:t>
            </a:r>
            <a:r>
              <a:rPr lang="pt-BR" sz="3200" dirty="0"/>
              <a:t>Offline</a:t>
            </a:r>
            <a:endParaRPr lang="pt-BR" sz="3200" i="1" dirty="0"/>
          </a:p>
          <a:p>
            <a:pPr marL="457200" indent="-457200">
              <a:buFont typeface="Arial" panose="020B0604020202020204" pitchFamily="34" charset="0"/>
              <a:buChar char="•"/>
            </a:pPr>
            <a:r>
              <a:rPr lang="pt-BR" sz="3200" dirty="0"/>
              <a:t>How many of them agree this is a problem and wants a solution?</a:t>
            </a:r>
          </a:p>
          <a:p>
            <a:r>
              <a:rPr lang="pt-BR" sz="3200" dirty="0"/>
              <a:t>      18</a:t>
            </a:r>
          </a:p>
          <a:p>
            <a:pPr marL="457200" indent="-457200">
              <a:buFont typeface="Arial" panose="020B0604020202020204" pitchFamily="34" charset="0"/>
              <a:buChar char="•"/>
            </a:pPr>
            <a:r>
              <a:rPr lang="pt-BR" sz="3200" dirty="0"/>
              <a:t>How many of them said they don't need a new solution?</a:t>
            </a:r>
          </a:p>
          <a:p>
            <a:r>
              <a:rPr lang="pt-BR" sz="3200" i="1" dirty="0"/>
              <a:t>      7</a:t>
            </a:r>
          </a:p>
          <a:p>
            <a:pPr marL="457200" indent="-457200">
              <a:buFont typeface="Arial" panose="020B0604020202020204" pitchFamily="34" charset="0"/>
              <a:buChar char="•"/>
            </a:pPr>
            <a:endParaRPr lang="pt-BR" sz="3200" i="1" dirty="0"/>
          </a:p>
        </p:txBody>
      </p:sp>
      <p:sp>
        <p:nvSpPr>
          <p:cNvPr id="11" name="Rectangle 10"/>
          <p:cNvSpPr/>
          <p:nvPr/>
        </p:nvSpPr>
        <p:spPr>
          <a:xfrm>
            <a:off x="838200" y="3536969"/>
            <a:ext cx="473206" cy="369332"/>
          </a:xfrm>
          <a:prstGeom prst="rect">
            <a:avLst/>
          </a:prstGeom>
        </p:spPr>
        <p:txBody>
          <a:bodyPr wrap="none">
            <a:spAutoFit/>
          </a:bodyPr>
          <a:lstStyle/>
          <a:p>
            <a:pPr marL="285750" indent="-285750">
              <a:buFont typeface="Arial" panose="020B0604020202020204" pitchFamily="34" charset="0"/>
              <a:buChar char="•"/>
            </a:pPr>
            <a:endParaRPr lang="pt-BR" dirty="0"/>
          </a:p>
        </p:txBody>
      </p:sp>
      <p:pic>
        <p:nvPicPr>
          <p:cNvPr id="2" name="Picture 1" descr="AUTOFIXAI">
            <a:extLst>
              <a:ext uri="{FF2B5EF4-FFF2-40B4-BE49-F238E27FC236}">
                <a16:creationId xmlns:a16="http://schemas.microsoft.com/office/drawing/2014/main" id="{108E0F02-7C02-9C26-3D69-63E8C3A9F0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75012" y="678496"/>
            <a:ext cx="1695221" cy="1288685"/>
          </a:xfrm>
          <a:prstGeom prst="rect">
            <a:avLst/>
          </a:prstGeom>
        </p:spPr>
      </p:pic>
    </p:spTree>
    <p:extLst>
      <p:ext uri="{BB962C8B-B14F-4D97-AF65-F5344CB8AC3E}">
        <p14:creationId xmlns:p14="http://schemas.microsoft.com/office/powerpoint/2010/main" val="3234508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37D10F2-D825-4F14-8721-CF5105D60893}"/>
              </a:ext>
            </a:extLst>
          </p:cNvPr>
          <p:cNvSpPr txBox="1"/>
          <p:nvPr/>
        </p:nvSpPr>
        <p:spPr>
          <a:xfrm>
            <a:off x="16118497" y="728885"/>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22731" y="328065"/>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aphicFrame>
        <p:nvGraphicFramePr>
          <p:cNvPr id="18" name="Diagram 17"/>
          <p:cNvGraphicFramePr/>
          <p:nvPr/>
        </p:nvGraphicFramePr>
        <p:xfrm>
          <a:off x="-732132" y="1893546"/>
          <a:ext cx="7620000" cy="548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Rounded Rectangle 18"/>
          <p:cNvSpPr/>
          <p:nvPr/>
        </p:nvSpPr>
        <p:spPr>
          <a:xfrm>
            <a:off x="5996456" y="461804"/>
            <a:ext cx="9849774" cy="9106111"/>
          </a:xfrm>
          <a:prstGeom prst="roundRect">
            <a:avLst/>
          </a:prstGeom>
          <a:noFill/>
          <a:ln w="12700" cap="flat" cmpd="sng" algn="ctr">
            <a:solidFill>
              <a:srgbClr val="E7E6E6">
                <a:lumMod val="50000"/>
              </a:srgbClr>
            </a:solidFill>
            <a:prstDash val="solid"/>
            <a:miter lim="800000"/>
          </a:ln>
          <a:effectLst/>
        </p:spPr>
        <p:txBody>
          <a:bodyPr rtlCol="0" anchor="ctr"/>
          <a:lstStyle/>
          <a:p>
            <a:pPr algn="just">
              <a:defRPr/>
            </a:pPr>
            <a:r>
              <a:rPr kumimoji="0" lang="en-IN" sz="2400" b="1" i="0" u="none" strike="noStrike" kern="0" cap="none" spc="0" normalizeH="0" baseline="0" noProof="0" dirty="0">
                <a:ln>
                  <a:noFill/>
                </a:ln>
                <a:effectLst/>
                <a:uLnTx/>
                <a:uFillTx/>
                <a:latin typeface="+mj-lt"/>
              </a:rPr>
              <a:t>How to calculate market size?</a:t>
            </a:r>
          </a:p>
          <a:p>
            <a:pPr algn="just">
              <a:defRPr/>
            </a:pPr>
            <a:endParaRPr kumimoji="0" lang="en-IN" b="0" i="0" u="none" strike="noStrike" kern="0" cap="none" spc="0" normalizeH="0" baseline="0" noProof="0" dirty="0">
              <a:ln>
                <a:noFill/>
              </a:ln>
              <a:effectLst/>
              <a:uLnTx/>
              <a:uFillTx/>
              <a:latin typeface="+mj-lt"/>
            </a:endParaRPr>
          </a:p>
          <a:p>
            <a:pPr marL="342900" indent="-342900" algn="just">
              <a:buAutoNum type="arabicPeriod"/>
              <a:defRPr/>
            </a:pPr>
            <a:r>
              <a:rPr kumimoji="0" lang="en-IN" b="0" i="0" u="none" strike="noStrike" kern="0" cap="none" spc="0" normalizeH="0" baseline="0" noProof="0" dirty="0">
                <a:ln>
                  <a:noFill/>
                </a:ln>
                <a:effectLst/>
                <a:uLnTx/>
                <a:uFillTx/>
                <a:latin typeface="+mj-lt"/>
              </a:rPr>
              <a:t>Start with Total</a:t>
            </a:r>
            <a:r>
              <a:rPr kumimoji="0" lang="en-IN" b="0" i="0" u="none" strike="noStrike" kern="0" cap="none" spc="0" normalizeH="0" noProof="0" dirty="0">
                <a:ln>
                  <a:noFill/>
                </a:ln>
                <a:effectLst/>
                <a:uLnTx/>
                <a:uFillTx/>
                <a:latin typeface="+mj-lt"/>
              </a:rPr>
              <a:t> Addressable market(TAM)- </a:t>
            </a:r>
            <a:r>
              <a:rPr lang="en-US" dirty="0"/>
              <a:t>Global car owners and drivers in India: </a:t>
            </a:r>
            <a:r>
              <a:rPr lang="en-US" b="1" dirty="0"/>
              <a:t>                      approximately 35.4 crore registered vehicles as the conservative official base, and     about 38–40 crore as a current rounded estimate.</a:t>
            </a:r>
          </a:p>
          <a:p>
            <a:pPr algn="just">
              <a:defRPr/>
            </a:pPr>
            <a:endParaRPr kumimoji="0" lang="en-IN" b="0" i="0" u="none" strike="noStrike" kern="0" cap="none" spc="0" normalizeH="0" noProof="0" dirty="0">
              <a:ln>
                <a:noFill/>
              </a:ln>
              <a:effectLst/>
              <a:uLnTx/>
              <a:uFillTx/>
              <a:latin typeface="+mj-lt"/>
            </a:endParaRPr>
          </a:p>
          <a:p>
            <a:pPr algn="just">
              <a:defRPr/>
            </a:pPr>
            <a:endParaRPr lang="en-IN" kern="0" dirty="0">
              <a:latin typeface="+mj-lt"/>
            </a:endParaRPr>
          </a:p>
          <a:p>
            <a:pPr algn="just">
              <a:defRPr/>
            </a:pPr>
            <a:r>
              <a:rPr lang="en-US" dirty="0"/>
              <a:t>TAM refers to the total market demand for a product or service.</a:t>
            </a:r>
          </a:p>
          <a:p>
            <a:pPr algn="just">
              <a:defRPr/>
            </a:pPr>
            <a:r>
              <a:rPr lang="en-IN" kern="0" dirty="0">
                <a:latin typeface="+mj-lt"/>
              </a:rPr>
              <a:t> </a:t>
            </a:r>
            <a:r>
              <a:rPr lang="en-US" dirty="0">
                <a:latin typeface="+mj-lt"/>
              </a:rPr>
              <a:t>If you’re entering a pre-existing space (like small business banking) you can research it and provide credible sources or reference points on how you arrived at the TAM.  If you’re creating a new product or space (like Slack), you can estimate the number of customers that would want your product and approximate how much you could charge them.</a:t>
            </a:r>
          </a:p>
          <a:p>
            <a:pPr algn="just">
              <a:defRPr/>
            </a:pPr>
            <a:endParaRPr lang="en-US" dirty="0">
              <a:latin typeface="+mj-lt"/>
            </a:endParaRPr>
          </a:p>
          <a:p>
            <a:pPr algn="just">
              <a:defRPr/>
            </a:pPr>
            <a:r>
              <a:rPr lang="en-US" dirty="0"/>
              <a:t>2. Take your target market (SAM), within that TAM, which varies depending on geography and other logistical factors. Determine the penetration potential of your target market. This is the portion of the market you can reasonably compete with:</a:t>
            </a:r>
          </a:p>
          <a:p>
            <a:pPr algn="just">
              <a:defRPr/>
            </a:pPr>
            <a:r>
              <a:rPr lang="en-US" dirty="0"/>
              <a:t>*Serviceable Available Market (SAM): Smartphone-using car owners in India, estimated at </a:t>
            </a:r>
            <a:endParaRPr lang="en-US" b="1" dirty="0"/>
          </a:p>
          <a:p>
            <a:pPr algn="just">
              <a:defRPr/>
            </a:pPr>
            <a:r>
              <a:rPr lang="en-US" b="1" dirty="0"/>
              <a:t> - 5 crore users (initially targeting smartphone-using 4-wheeler owners).”</a:t>
            </a:r>
          </a:p>
          <a:p>
            <a:pPr algn="just">
              <a:defRPr/>
            </a:pPr>
            <a:endParaRPr lang="en-US" dirty="0"/>
          </a:p>
          <a:p>
            <a:pPr algn="just">
              <a:defRPr/>
            </a:pPr>
            <a:r>
              <a:rPr lang="en-US" dirty="0"/>
              <a:t>*Penetration Potential: </a:t>
            </a:r>
            <a:r>
              <a:rPr lang="en-US" b="1" dirty="0"/>
              <a:t>1%–3% initially, with scope to grow to 5%–10% over time</a:t>
            </a:r>
            <a:r>
              <a:rPr lang="en-US" dirty="0"/>
              <a:t>.”</a:t>
            </a:r>
          </a:p>
          <a:p>
            <a:pPr algn="just">
              <a:defRPr/>
            </a:pPr>
            <a:endParaRPr lang="en-US" dirty="0">
              <a:latin typeface="+mj-lt"/>
            </a:endParaRPr>
          </a:p>
          <a:p>
            <a:pPr algn="just">
              <a:defRPr/>
            </a:pPr>
            <a:r>
              <a:rPr lang="en-US" dirty="0"/>
              <a:t>3.By conducting research with existing competitors, distributors etc., understand the likely penetration rate:</a:t>
            </a:r>
          </a:p>
          <a:p>
            <a:pPr algn="just">
              <a:defRPr/>
            </a:pPr>
            <a:r>
              <a:rPr lang="en-US" dirty="0"/>
              <a:t>*Based on competitor analysis, the likely penetration rate is around </a:t>
            </a:r>
            <a:r>
              <a:rPr lang="en-US" b="1" dirty="0"/>
              <a:t>1%–3% in the initial stages</a:t>
            </a:r>
            <a:r>
              <a:rPr lang="en-US" dirty="0"/>
              <a:t>.</a:t>
            </a:r>
          </a:p>
          <a:p>
            <a:pPr algn="just">
              <a:defRPr/>
            </a:pPr>
            <a:r>
              <a:rPr lang="en-US" dirty="0"/>
              <a:t>*With strong features and user adoption, it can grow to </a:t>
            </a:r>
            <a:r>
              <a:rPr lang="en-US" b="1" dirty="0"/>
              <a:t>5%–10% over time</a:t>
            </a:r>
            <a:r>
              <a:rPr lang="en-US" dirty="0"/>
              <a:t>.</a:t>
            </a:r>
          </a:p>
          <a:p>
            <a:pPr algn="just">
              <a:defRPr/>
            </a:pPr>
            <a:endParaRPr lang="en-US" dirty="0"/>
          </a:p>
          <a:p>
            <a:pPr algn="just">
              <a:defRPr/>
            </a:pPr>
            <a:r>
              <a:rPr lang="en-US" dirty="0"/>
              <a:t>4. Multiply target market by penetration rate to find your market size:</a:t>
            </a:r>
          </a:p>
          <a:p>
            <a:pPr algn="just">
              <a:defRPr/>
            </a:pPr>
            <a:r>
              <a:rPr lang="en-US" dirty="0">
                <a:latin typeface="+mj-lt"/>
              </a:rPr>
              <a:t>    *</a:t>
            </a:r>
            <a:r>
              <a:rPr lang="en-US" dirty="0"/>
              <a:t>Market Size = SAM × Penetration Rate = </a:t>
            </a:r>
            <a:r>
              <a:rPr lang="en-US" b="1" dirty="0"/>
              <a:t>5 crore × 1%–3% = 5 lakh to 15 lakh users</a:t>
            </a:r>
            <a:endParaRPr lang="en-US" b="1" dirty="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700" b="1" i="0" u="none" strike="noStrike" kern="0" cap="none" spc="0" normalizeH="0" noProof="0" dirty="0">
                <a:ln>
                  <a:noFill/>
                </a:ln>
                <a:solidFill>
                  <a:prstClr val="white"/>
                </a:solidFill>
                <a:effectLst/>
                <a:uLnTx/>
                <a:uFillTx/>
                <a:latin typeface="Calibri" panose="020F0502020204030204"/>
                <a:ea typeface="+mn-ea"/>
                <a:cs typeface="+mn-cs"/>
              </a:rPr>
              <a:t> </a:t>
            </a:r>
            <a:endParaRPr kumimoji="0" lang="en-IN" sz="27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239949" y="32806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latin typeface="Montserrat"/>
              </a:rPr>
              <a:t>Market Size Estimation </a:t>
            </a:r>
          </a:p>
        </p:txBody>
      </p:sp>
      <p:sp>
        <p:nvSpPr>
          <p:cNvPr id="16" name="Rectangle 15"/>
          <p:cNvSpPr/>
          <p:nvPr/>
        </p:nvSpPr>
        <p:spPr>
          <a:xfrm>
            <a:off x="6140613" y="4958834"/>
            <a:ext cx="248786" cy="369332"/>
          </a:xfrm>
          <a:prstGeom prst="rect">
            <a:avLst/>
          </a:prstGeom>
        </p:spPr>
        <p:txBody>
          <a:bodyPr wrap="none">
            <a:spAutoFit/>
          </a:bodyPr>
          <a:lstStyle/>
          <a:p>
            <a:r>
              <a:rPr lang="en-US" dirty="0">
                <a:solidFill>
                  <a:srgbClr val="2E475D"/>
                </a:solidFill>
                <a:latin typeface="Lexend Deca"/>
              </a:rPr>
              <a:t>.</a:t>
            </a:r>
            <a:endParaRPr lang="en-US" dirty="0"/>
          </a:p>
        </p:txBody>
      </p:sp>
      <p:sp>
        <p:nvSpPr>
          <p:cNvPr id="10" name="TextBox 9"/>
          <p:cNvSpPr txBox="1"/>
          <p:nvPr/>
        </p:nvSpPr>
        <p:spPr>
          <a:xfrm>
            <a:off x="320617" y="9363531"/>
            <a:ext cx="5675839" cy="461665"/>
          </a:xfrm>
          <a:prstGeom prst="rect">
            <a:avLst/>
          </a:prstGeom>
          <a:noFill/>
        </p:spPr>
        <p:txBody>
          <a:bodyPr wrap="square" rtlCol="0">
            <a:spAutoFit/>
          </a:bodyPr>
          <a:lstStyle/>
          <a:p>
            <a:pPr defTabSz="685800"/>
            <a:r>
              <a:rPr lang="en-US" sz="2400" b="1" dirty="0">
                <a:solidFill>
                  <a:prstClr val="black">
                    <a:lumMod val="85000"/>
                    <a:lumOff val="15000"/>
                  </a:prstClr>
                </a:solidFill>
                <a:latin typeface="Montserrat"/>
              </a:rPr>
              <a:t>Sources: ChatGPT and Attest</a:t>
            </a:r>
          </a:p>
        </p:txBody>
      </p:sp>
      <p:pic>
        <p:nvPicPr>
          <p:cNvPr id="3" name="Picture 2" descr="AUTOFIXAI">
            <a:extLst>
              <a:ext uri="{FF2B5EF4-FFF2-40B4-BE49-F238E27FC236}">
                <a16:creationId xmlns:a16="http://schemas.microsoft.com/office/drawing/2014/main" id="{E51F5D5E-9EC6-52F3-4E94-2BCC57072EF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32091" y="282425"/>
            <a:ext cx="1695221" cy="1334326"/>
          </a:xfrm>
          <a:prstGeom prst="rect">
            <a:avLst/>
          </a:prstGeom>
        </p:spPr>
      </p:pic>
    </p:spTree>
    <p:extLst>
      <p:ext uri="{BB962C8B-B14F-4D97-AF65-F5344CB8AC3E}">
        <p14:creationId xmlns:p14="http://schemas.microsoft.com/office/powerpoint/2010/main" val="13183060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20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19"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4769111" y="1955330"/>
            <a:ext cx="9115851" cy="2392963"/>
          </a:xfrm>
          <a:prstGeom prst="rect">
            <a:avLst/>
          </a:prstGeom>
          <a:solidFill>
            <a:srgbClr val="FFC000"/>
          </a:solidFill>
        </p:spPr>
        <p:txBody>
          <a:bodyPr wrap="square">
            <a:spAutoFit/>
          </a:bodyPr>
          <a:lstStyle/>
          <a:p>
            <a:pPr defTabSz="1371579"/>
            <a:r>
              <a:rPr lang="en-US" sz="2700" b="1" dirty="0">
                <a:solidFill>
                  <a:schemeClr val="bg1"/>
                </a:solidFill>
                <a:latin typeface="Calibri" panose="020F0502020204030204"/>
              </a:rPr>
              <a:t>Goals</a:t>
            </a:r>
          </a:p>
          <a:p>
            <a:pPr defTabSz="1371579"/>
            <a:r>
              <a:rPr lang="en-US" sz="2700" b="1" dirty="0">
                <a:solidFill>
                  <a:schemeClr val="bg1"/>
                </a:solidFill>
                <a:latin typeface="Calibri" panose="020F0502020204030204"/>
              </a:rPr>
              <a:t>  </a:t>
            </a:r>
            <a:r>
              <a:rPr lang="en-US" sz="2800" dirty="0"/>
              <a:t>Bharath, a marketing head in Bangalore, tells that one must understand their car problems without wasting time during their busy  schedule. He aims to fix issues efficiently with minimum cost and avoid unnecessary visits to mechanics.</a:t>
            </a:r>
            <a:endParaRPr lang="en-US" sz="1050" b="1" dirty="0">
              <a:solidFill>
                <a:schemeClr val="bg1"/>
              </a:solidFill>
              <a:latin typeface="Calibri" panose="020F0502020204030204"/>
            </a:endParaRPr>
          </a:p>
          <a:p>
            <a:pPr defTabSz="1371579"/>
            <a:endParaRPr lang="en-US" sz="1050" b="1" dirty="0">
              <a:solidFill>
                <a:schemeClr val="bg1"/>
              </a:solidFill>
              <a:latin typeface="Calibri" panose="020F0502020204030204"/>
            </a:endParaRPr>
          </a:p>
        </p:txBody>
      </p:sp>
      <p:sp>
        <p:nvSpPr>
          <p:cNvPr id="27" name="Rectangle 26"/>
          <p:cNvSpPr/>
          <p:nvPr/>
        </p:nvSpPr>
        <p:spPr>
          <a:xfrm>
            <a:off x="4740797" y="4481778"/>
            <a:ext cx="9144165" cy="2231380"/>
          </a:xfrm>
          <a:prstGeom prst="rect">
            <a:avLst/>
          </a:prstGeom>
          <a:solidFill>
            <a:schemeClr val="accent6"/>
          </a:solidFill>
        </p:spPr>
        <p:txBody>
          <a:bodyPr wrap="square">
            <a:spAutoFit/>
          </a:bodyPr>
          <a:lstStyle/>
          <a:p>
            <a:pPr defTabSz="1371579"/>
            <a:r>
              <a:rPr lang="en-US" sz="2700" b="1" dirty="0">
                <a:solidFill>
                  <a:schemeClr val="bg1"/>
                </a:solidFill>
                <a:latin typeface="Calibri" panose="020F0502020204030204"/>
              </a:rPr>
              <a:t>Frustrations</a:t>
            </a:r>
          </a:p>
          <a:p>
            <a:pPr defTabSz="1371579"/>
            <a:r>
              <a:rPr lang="en-US" sz="2700" b="1" dirty="0">
                <a:solidFill>
                  <a:schemeClr val="bg1"/>
                </a:solidFill>
                <a:latin typeface="Calibri" panose="020F0502020204030204"/>
              </a:rPr>
              <a:t> </a:t>
            </a:r>
            <a:r>
              <a:rPr lang="en-IN" sz="2800" dirty="0"/>
              <a:t>Bharath</a:t>
            </a:r>
            <a:r>
              <a:rPr lang="en-US" sz="2700" b="1" dirty="0">
                <a:solidFill>
                  <a:schemeClr val="bg1"/>
                </a:solidFill>
                <a:latin typeface="Calibri" panose="020F0502020204030204"/>
              </a:rPr>
              <a:t> </a:t>
            </a:r>
            <a:r>
              <a:rPr lang="en-US" sz="2800" dirty="0"/>
              <a:t>feel frustrated when he cannot understand what is wrong with his car.  He get irritated due to time loss and unexpected breakdowns. He also have frustration from high repair costs and fear of being overcharged.</a:t>
            </a:r>
          </a:p>
        </p:txBody>
      </p:sp>
      <p:sp>
        <p:nvSpPr>
          <p:cNvPr id="28" name="Rectangle 27"/>
          <p:cNvSpPr/>
          <p:nvPr/>
        </p:nvSpPr>
        <p:spPr>
          <a:xfrm>
            <a:off x="4732598" y="6927472"/>
            <a:ext cx="9188875" cy="309315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defTabSz="1371579"/>
            <a:r>
              <a:rPr lang="en-US" sz="2700" b="1" dirty="0">
                <a:solidFill>
                  <a:srgbClr val="FD9F4D"/>
                </a:solidFill>
                <a:latin typeface="Calibri" panose="020F0502020204030204"/>
              </a:rPr>
              <a:t>Bio</a:t>
            </a:r>
          </a:p>
          <a:p>
            <a:pPr defTabSz="1371579"/>
            <a:r>
              <a:rPr lang="en-US" sz="2700" b="1" dirty="0">
                <a:solidFill>
                  <a:srgbClr val="FD9F4D"/>
                </a:solidFill>
                <a:latin typeface="Calibri" panose="020F0502020204030204"/>
              </a:rPr>
              <a:t>  </a:t>
            </a:r>
            <a:r>
              <a:rPr lang="en-US" sz="2800" dirty="0"/>
              <a:t>Bharath is a working professional based in Bangalore, currently serving as a Marketing Head in IT company. He has a busy lifestyle with tight schedules and frequent travel, which makes time management very important for him. He prefers smart, efficient solutions that save time, reduce stress, and help him make quick and confident decisions in his daily life.</a:t>
            </a:r>
          </a:p>
        </p:txBody>
      </p:sp>
      <p:sp>
        <p:nvSpPr>
          <p:cNvPr id="31" name="Rectangle 30"/>
          <p:cNvSpPr/>
          <p:nvPr/>
        </p:nvSpPr>
        <p:spPr>
          <a:xfrm>
            <a:off x="609487" y="7130568"/>
            <a:ext cx="1918120" cy="520667"/>
          </a:xfrm>
          <a:prstGeom prst="rect">
            <a:avLst/>
          </a:prstGeom>
        </p:spPr>
        <p:txBody>
          <a:bodyPr wrap="none">
            <a:spAutoFit/>
          </a:bodyPr>
          <a:lstStyle/>
          <a:p>
            <a:pPr defTabSz="1371579"/>
            <a:r>
              <a:rPr lang="en-US" sz="2700" b="1" dirty="0">
                <a:solidFill>
                  <a:srgbClr val="FD9F4D"/>
                </a:solidFill>
                <a:latin typeface="Calibri" panose="020F0502020204030204"/>
              </a:rPr>
              <a:t>Personality </a:t>
            </a:r>
          </a:p>
        </p:txBody>
      </p:sp>
      <p:sp>
        <p:nvSpPr>
          <p:cNvPr id="34" name="Rectangle 33"/>
          <p:cNvSpPr/>
          <p:nvPr/>
        </p:nvSpPr>
        <p:spPr>
          <a:xfrm>
            <a:off x="14158195" y="1437388"/>
            <a:ext cx="2049536" cy="520667"/>
          </a:xfrm>
          <a:prstGeom prst="rect">
            <a:avLst/>
          </a:prstGeom>
        </p:spPr>
        <p:txBody>
          <a:bodyPr wrap="none">
            <a:spAutoFit/>
          </a:bodyPr>
          <a:lstStyle/>
          <a:p>
            <a:pPr defTabSz="1371579"/>
            <a:r>
              <a:rPr lang="en-US" sz="2700" b="1" dirty="0">
                <a:solidFill>
                  <a:srgbClr val="FD9F4D"/>
                </a:solidFill>
                <a:latin typeface="Calibri" panose="020F0502020204030204"/>
              </a:rPr>
              <a:t>Motivations </a:t>
            </a:r>
          </a:p>
        </p:txBody>
      </p:sp>
      <p:sp>
        <p:nvSpPr>
          <p:cNvPr id="5" name="TextBox 4"/>
          <p:cNvSpPr txBox="1"/>
          <p:nvPr/>
        </p:nvSpPr>
        <p:spPr>
          <a:xfrm>
            <a:off x="495965" y="5722648"/>
            <a:ext cx="4497266" cy="1088668"/>
          </a:xfrm>
          <a:prstGeom prst="rect">
            <a:avLst/>
          </a:prstGeom>
          <a:noFill/>
        </p:spPr>
        <p:txBody>
          <a:bodyPr wrap="square" rtlCol="0">
            <a:spAutoFit/>
          </a:bodyPr>
          <a:lstStyle/>
          <a:p>
            <a:pPr defTabSz="1371579"/>
            <a:r>
              <a:rPr lang="en-US" sz="2100" dirty="0">
                <a:solidFill>
                  <a:srgbClr val="052B3E"/>
                </a:solidFill>
                <a:latin typeface="Calibri" panose="020F0502020204030204"/>
              </a:rPr>
              <a:t>Age: 30</a:t>
            </a:r>
          </a:p>
          <a:p>
            <a:pPr defTabSz="1371579"/>
            <a:r>
              <a:rPr lang="en-US" sz="2100" dirty="0">
                <a:solidFill>
                  <a:srgbClr val="052B3E"/>
                </a:solidFill>
                <a:latin typeface="Calibri" panose="020F0502020204030204"/>
              </a:rPr>
              <a:t>Occupation: Marketing Head	</a:t>
            </a:r>
          </a:p>
          <a:p>
            <a:pPr defTabSz="1371579"/>
            <a:r>
              <a:rPr lang="en-US" sz="2100" dirty="0">
                <a:solidFill>
                  <a:srgbClr val="052B3E"/>
                </a:solidFill>
                <a:latin typeface="Calibri" panose="020F0502020204030204"/>
              </a:rPr>
              <a:t>Location: Bangalore</a:t>
            </a:r>
          </a:p>
        </p:txBody>
      </p:sp>
      <p:sp>
        <p:nvSpPr>
          <p:cNvPr id="25" name="Rounded Rectangle 24"/>
          <p:cNvSpPr/>
          <p:nvPr/>
        </p:nvSpPr>
        <p:spPr>
          <a:xfrm>
            <a:off x="6270301" y="1285996"/>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GOOD PERSON</a:t>
            </a:r>
          </a:p>
        </p:txBody>
      </p:sp>
      <p:pic>
        <p:nvPicPr>
          <p:cNvPr id="13" name="Picture 12"/>
          <p:cNvPicPr>
            <a:picLocks noChangeAspect="1"/>
          </p:cNvPicPr>
          <p:nvPr/>
        </p:nvPicPr>
        <p:blipFill>
          <a:blip r:embed="rId3">
            <a:duotone>
              <a:prstClr val="black"/>
              <a:schemeClr val="accent6">
                <a:tint val="45000"/>
                <a:satMod val="400000"/>
              </a:schemeClr>
            </a:duotone>
          </a:blip>
          <a:stretch>
            <a:fillRect/>
          </a:stretch>
        </p:blipFill>
        <p:spPr>
          <a:xfrm>
            <a:off x="609487" y="7527688"/>
            <a:ext cx="3553359" cy="2187914"/>
          </a:xfrm>
          <a:prstGeom prst="rect">
            <a:avLst/>
          </a:prstGeom>
        </p:spPr>
      </p:pic>
      <p:pic>
        <p:nvPicPr>
          <p:cNvPr id="15" name="Picture 14"/>
          <p:cNvPicPr>
            <a:picLocks noChangeAspect="1"/>
          </p:cNvPicPr>
          <p:nvPr/>
        </p:nvPicPr>
        <p:blipFill>
          <a:blip r:embed="rId4">
            <a:duotone>
              <a:prstClr val="black"/>
              <a:schemeClr val="accent3">
                <a:tint val="45000"/>
                <a:satMod val="400000"/>
              </a:schemeClr>
            </a:duotone>
          </a:blip>
          <a:stretch>
            <a:fillRect/>
          </a:stretch>
        </p:blipFill>
        <p:spPr>
          <a:xfrm>
            <a:off x="14310982" y="1853155"/>
            <a:ext cx="3254332" cy="2498557"/>
          </a:xfrm>
          <a:prstGeom prst="rect">
            <a:avLst/>
          </a:prstGeom>
        </p:spPr>
      </p:pic>
      <p:sp>
        <p:nvSpPr>
          <p:cNvPr id="16" name="Rectangle 15"/>
          <p:cNvSpPr/>
          <p:nvPr/>
        </p:nvSpPr>
        <p:spPr>
          <a:xfrm>
            <a:off x="522484" y="4477024"/>
            <a:ext cx="4093839" cy="10624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371579"/>
            <a:r>
              <a:rPr lang="en-US" sz="2100" b="1" dirty="0">
                <a:solidFill>
                  <a:prstClr val="white"/>
                </a:solidFill>
                <a:latin typeface="Calibri" panose="020F0502020204030204"/>
              </a:rPr>
              <a:t>Ethos </a:t>
            </a:r>
          </a:p>
        </p:txBody>
      </p:sp>
      <p:sp>
        <p:nvSpPr>
          <p:cNvPr id="17" name="TextBox 16"/>
          <p:cNvSpPr txBox="1"/>
          <p:nvPr/>
        </p:nvSpPr>
        <p:spPr>
          <a:xfrm>
            <a:off x="486195" y="339098"/>
            <a:ext cx="11351228" cy="840230"/>
          </a:xfrm>
          <a:prstGeom prst="rect">
            <a:avLst/>
          </a:prstGeom>
          <a:noFill/>
        </p:spPr>
        <p:txBody>
          <a:bodyPr wrap="square" rtlCol="0">
            <a:spAutoFit/>
          </a:bodyPr>
          <a:lstStyle/>
          <a:p>
            <a:pPr defTabSz="1371613">
              <a:lnSpc>
                <a:spcPct val="90000"/>
              </a:lnSpc>
              <a:spcBef>
                <a:spcPct val="0"/>
              </a:spcBef>
            </a:pPr>
            <a:r>
              <a:rPr lang="en-US" sz="5400" b="1" dirty="0"/>
              <a:t>Customer Personal</a:t>
            </a:r>
          </a:p>
        </p:txBody>
      </p:sp>
      <p:sp>
        <p:nvSpPr>
          <p:cNvPr id="2" name="Rectangle 1"/>
          <p:cNvSpPr/>
          <p:nvPr/>
        </p:nvSpPr>
        <p:spPr>
          <a:xfrm>
            <a:off x="495965" y="1838287"/>
            <a:ext cx="4120358" cy="2498557"/>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defTabSz="1371613"/>
            <a:r>
              <a:rPr lang="en-US" sz="2400" dirty="0">
                <a:solidFill>
                  <a:prstClr val="black"/>
                </a:solidFill>
                <a:latin typeface="Calibri" panose="020F0502020204030204"/>
              </a:rPr>
              <a:t>Photo </a:t>
            </a:r>
          </a:p>
        </p:txBody>
      </p:sp>
      <p:sp>
        <p:nvSpPr>
          <p:cNvPr id="18" name="Rounded Rectangle 17"/>
          <p:cNvSpPr/>
          <p:nvPr/>
        </p:nvSpPr>
        <p:spPr>
          <a:xfrm>
            <a:off x="8777729" y="1285995"/>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HELPFUL</a:t>
            </a:r>
          </a:p>
        </p:txBody>
      </p:sp>
      <p:pic>
        <p:nvPicPr>
          <p:cNvPr id="11" name="Picture 10">
            <a:extLst>
              <a:ext uri="{FF2B5EF4-FFF2-40B4-BE49-F238E27FC236}">
                <a16:creationId xmlns:a16="http://schemas.microsoft.com/office/drawing/2014/main" id="{AB30FB5D-F14A-7AC5-BB8B-716F6112C2A5}"/>
              </a:ext>
            </a:extLst>
          </p:cNvPr>
          <p:cNvPicPr>
            <a:picLocks noChangeAspect="1"/>
          </p:cNvPicPr>
          <p:nvPr/>
        </p:nvPicPr>
        <p:blipFill>
          <a:blip r:embed="rId5">
            <a:extLst>
              <a:ext uri="{28A0092B-C50C-407E-A947-70E740481C1C}">
                <a14:useLocalDpi xmlns:a14="http://schemas.microsoft.com/office/drawing/2010/main" val="0"/>
              </a:ext>
            </a:extLst>
          </a:blip>
          <a:srcRect l="-147" t="-313" r="147" b="50313"/>
          <a:stretch>
            <a:fillRect/>
          </a:stretch>
        </p:blipFill>
        <p:spPr>
          <a:xfrm>
            <a:off x="486195" y="1702875"/>
            <a:ext cx="4130128" cy="2657993"/>
          </a:xfrm>
          <a:prstGeom prst="rect">
            <a:avLst/>
          </a:prstGeom>
        </p:spPr>
      </p:pic>
    </p:spTree>
    <p:extLst>
      <p:ext uri="{BB962C8B-B14F-4D97-AF65-F5344CB8AC3E}">
        <p14:creationId xmlns:p14="http://schemas.microsoft.com/office/powerpoint/2010/main" val="24440008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additive="base">
                                        <p:cTn id="48" dur="500" fill="hold"/>
                                        <p:tgtEl>
                                          <p:spTgt spid="26"/>
                                        </p:tgtEl>
                                        <p:attrNameLst>
                                          <p:attrName>ppt_x</p:attrName>
                                        </p:attrNameLst>
                                      </p:cBhvr>
                                      <p:tavLst>
                                        <p:tav tm="0">
                                          <p:val>
                                            <p:strVal val="#ppt_x"/>
                                          </p:val>
                                        </p:tav>
                                        <p:tav tm="100000">
                                          <p:val>
                                            <p:strVal val="#ppt_x"/>
                                          </p:val>
                                        </p:tav>
                                      </p:tavLst>
                                    </p:anim>
                                    <p:anim calcmode="lin" valueType="num">
                                      <p:cBhvr additive="base">
                                        <p:cTn id="4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fill="hold"/>
                                        <p:tgtEl>
                                          <p:spTgt spid="27"/>
                                        </p:tgtEl>
                                        <p:attrNameLst>
                                          <p:attrName>ppt_x</p:attrName>
                                        </p:attrNameLst>
                                      </p:cBhvr>
                                      <p:tavLst>
                                        <p:tav tm="0">
                                          <p:val>
                                            <p:strVal val="#ppt_x"/>
                                          </p:val>
                                        </p:tav>
                                        <p:tav tm="100000">
                                          <p:val>
                                            <p:strVal val="#ppt_x"/>
                                          </p:val>
                                        </p:tav>
                                      </p:tavLst>
                                    </p:anim>
                                    <p:anim calcmode="lin" valueType="num">
                                      <p:cBhvr additive="base">
                                        <p:cTn id="5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ppt_x"/>
                                          </p:val>
                                        </p:tav>
                                        <p:tav tm="100000">
                                          <p:val>
                                            <p:strVal val="#ppt_x"/>
                                          </p:val>
                                        </p:tav>
                                      </p:tavLst>
                                    </p:anim>
                                    <p:anim calcmode="lin" valueType="num">
                                      <p:cBhvr additive="base">
                                        <p:cTn id="6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5" grpId="0"/>
      <p:bldP spid="25"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738845" y="546240"/>
            <a:ext cx="12338484" cy="1019574"/>
          </a:xfrm>
          <a:prstGeom prst="rect">
            <a:avLst/>
          </a:prstGeom>
        </p:spPr>
        <p:txBody>
          <a:bodyPr wrap="square" lIns="0" tIns="0" rIns="0" bIns="0" rtlCol="0" anchor="t">
            <a:spAutoFit/>
          </a:bodyPr>
          <a:lstStyle/>
          <a:p>
            <a:pPr>
              <a:lnSpc>
                <a:spcPts val="8747"/>
              </a:lnSpc>
            </a:pPr>
            <a:r>
              <a:rPr lang="en-US" sz="5400" b="1" dirty="0"/>
              <a:t>Value Proposition Canvas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68576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28494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pSp>
        <p:nvGrpSpPr>
          <p:cNvPr id="7" name="Group 6"/>
          <p:cNvGrpSpPr/>
          <p:nvPr/>
        </p:nvGrpSpPr>
        <p:grpSpPr>
          <a:xfrm>
            <a:off x="1295400" y="1824733"/>
            <a:ext cx="15161847" cy="7135723"/>
            <a:chOff x="898803" y="997866"/>
            <a:chExt cx="6995173" cy="4155811"/>
          </a:xfrm>
        </p:grpSpPr>
        <p:grpSp>
          <p:nvGrpSpPr>
            <p:cNvPr id="14" name="Group 13"/>
            <p:cNvGrpSpPr/>
            <p:nvPr/>
          </p:nvGrpSpPr>
          <p:grpSpPr>
            <a:xfrm>
              <a:off x="2991814" y="2419869"/>
              <a:ext cx="2911566" cy="1229114"/>
              <a:chOff x="587719" y="1125830"/>
              <a:chExt cx="4350054" cy="1835386"/>
            </a:xfrm>
          </p:grpSpPr>
          <p:grpSp>
            <p:nvGrpSpPr>
              <p:cNvPr id="15" name="Group 14"/>
              <p:cNvGrpSpPr/>
              <p:nvPr/>
            </p:nvGrpSpPr>
            <p:grpSpPr>
              <a:xfrm>
                <a:off x="2884450" y="1125830"/>
                <a:ext cx="2053323" cy="1828800"/>
                <a:chOff x="2884450" y="1125830"/>
                <a:chExt cx="2053323" cy="1828800"/>
              </a:xfrm>
            </p:grpSpPr>
            <p:sp>
              <p:nvSpPr>
                <p:cNvPr id="25" name="Flowchart: Connector 24"/>
                <p:cNvSpPr/>
                <p:nvPr/>
              </p:nvSpPr>
              <p:spPr>
                <a:xfrm>
                  <a:off x="2884450" y="1125830"/>
                  <a:ext cx="1828800" cy="1828800"/>
                </a:xfrm>
                <a:prstGeom prst="flowChartConnector">
                  <a:avLst/>
                </a:prstGeom>
                <a:solidFill>
                  <a:srgbClr val="FFC000">
                    <a:lumMod val="60000"/>
                    <a:lumOff val="40000"/>
                  </a:srgbClr>
                </a:solidFill>
                <a:ln w="635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sp>
              <p:nvSpPr>
                <p:cNvPr id="26" name="Flowchart: Connector 25"/>
                <p:cNvSpPr/>
                <p:nvPr/>
              </p:nvSpPr>
              <p:spPr>
                <a:xfrm>
                  <a:off x="3646450" y="1887830"/>
                  <a:ext cx="304800" cy="304800"/>
                </a:xfrm>
                <a:prstGeom prst="flowChartConnector">
                  <a:avLst/>
                </a:prstGeom>
                <a:solidFill>
                  <a:srgbClr val="FFC000"/>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27" name="Straight Arrow Connector 26"/>
                <p:cNvCxnSpPr>
                  <a:endCxn id="25" idx="2"/>
                </p:cNvCxnSpPr>
                <p:nvPr/>
              </p:nvCxnSpPr>
              <p:spPr>
                <a:xfrm flipH="1">
                  <a:off x="2884450" y="2040230"/>
                  <a:ext cx="762000" cy="0"/>
                </a:xfrm>
                <a:prstGeom prst="straightConnector1">
                  <a:avLst/>
                </a:prstGeom>
                <a:noFill/>
                <a:ln w="38100" cap="flat" cmpd="sng" algn="ctr">
                  <a:solidFill>
                    <a:srgbClr val="A5A5A5"/>
                  </a:solidFill>
                  <a:prstDash val="solid"/>
                  <a:miter lim="800000"/>
                  <a:tailEnd type="triangle"/>
                </a:ln>
                <a:effectLst/>
              </p:spPr>
            </p:cxnSp>
            <p:cxnSp>
              <p:nvCxnSpPr>
                <p:cNvPr id="28" name="Straight Connector 27"/>
                <p:cNvCxnSpPr>
                  <a:stCxn id="25" idx="7"/>
                  <a:endCxn id="26" idx="0"/>
                </p:cNvCxnSpPr>
                <p:nvPr/>
              </p:nvCxnSpPr>
              <p:spPr>
                <a:xfrm flipH="1">
                  <a:off x="3798850" y="1393652"/>
                  <a:ext cx="646578" cy="494178"/>
                </a:xfrm>
                <a:prstGeom prst="line">
                  <a:avLst/>
                </a:prstGeom>
                <a:noFill/>
                <a:ln w="28575" cap="flat" cmpd="sng" algn="ctr">
                  <a:solidFill>
                    <a:srgbClr val="A5A5A5"/>
                  </a:solidFill>
                  <a:prstDash val="solid"/>
                  <a:miter lim="800000"/>
                </a:ln>
                <a:effectLst/>
              </p:spPr>
            </p:cxnSp>
            <p:cxnSp>
              <p:nvCxnSpPr>
                <p:cNvPr id="29" name="Straight Connector 28"/>
                <p:cNvCxnSpPr>
                  <a:stCxn id="25" idx="5"/>
                  <a:endCxn id="26" idx="4"/>
                </p:cNvCxnSpPr>
                <p:nvPr/>
              </p:nvCxnSpPr>
              <p:spPr>
                <a:xfrm flipH="1" flipV="1">
                  <a:off x="3798850" y="2192630"/>
                  <a:ext cx="646578" cy="494178"/>
                </a:xfrm>
                <a:prstGeom prst="line">
                  <a:avLst/>
                </a:prstGeom>
                <a:noFill/>
                <a:ln w="28575" cap="flat" cmpd="sng" algn="ctr">
                  <a:solidFill>
                    <a:srgbClr val="A5A5A5"/>
                  </a:solidFill>
                  <a:prstDash val="solid"/>
                  <a:miter lim="800000"/>
                </a:ln>
                <a:effectLst/>
              </p:spPr>
            </p:cxnSp>
            <p:sp>
              <p:nvSpPr>
                <p:cNvPr id="30" name="TextBox 29"/>
                <p:cNvSpPr txBox="1"/>
                <p:nvPr/>
              </p:nvSpPr>
              <p:spPr>
                <a:xfrm>
                  <a:off x="4063533" y="192002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JOBS</a:t>
                  </a:r>
                </a:p>
              </p:txBody>
            </p:sp>
            <p:sp>
              <p:nvSpPr>
                <p:cNvPr id="31" name="TextBox 30"/>
                <p:cNvSpPr txBox="1"/>
                <p:nvPr/>
              </p:nvSpPr>
              <p:spPr>
                <a:xfrm>
                  <a:off x="3355370" y="235118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PAINS</a:t>
                  </a:r>
                </a:p>
              </p:txBody>
            </p:sp>
            <p:sp>
              <p:nvSpPr>
                <p:cNvPr id="32" name="TextBox 31"/>
                <p:cNvSpPr txBox="1"/>
                <p:nvPr/>
              </p:nvSpPr>
              <p:spPr>
                <a:xfrm>
                  <a:off x="3315382" y="1377593"/>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GAINS</a:t>
                  </a:r>
                </a:p>
              </p:txBody>
            </p:sp>
          </p:grpSp>
          <p:grpSp>
            <p:nvGrpSpPr>
              <p:cNvPr id="16" name="Group 15"/>
              <p:cNvGrpSpPr/>
              <p:nvPr/>
            </p:nvGrpSpPr>
            <p:grpSpPr>
              <a:xfrm>
                <a:off x="587719" y="1125830"/>
                <a:ext cx="2080915" cy="1835386"/>
                <a:chOff x="587719" y="1125830"/>
                <a:chExt cx="2080915" cy="1835386"/>
              </a:xfrm>
            </p:grpSpPr>
            <p:sp>
              <p:nvSpPr>
                <p:cNvPr id="17" name="Rectangle 16"/>
                <p:cNvSpPr/>
                <p:nvPr/>
              </p:nvSpPr>
              <p:spPr>
                <a:xfrm>
                  <a:off x="653143" y="1125830"/>
                  <a:ext cx="1828800" cy="1828800"/>
                </a:xfrm>
                <a:prstGeom prst="rect">
                  <a:avLst/>
                </a:prstGeom>
                <a:solidFill>
                  <a:srgbClr val="70AD47">
                    <a:lumMod val="60000"/>
                    <a:lumOff val="40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18" name="Flowchart: Connector 17"/>
                <p:cNvSpPr/>
                <p:nvPr/>
              </p:nvSpPr>
              <p:spPr>
                <a:xfrm>
                  <a:off x="1415143" y="1891123"/>
                  <a:ext cx="304800" cy="304800"/>
                </a:xfrm>
                <a:prstGeom prst="flowChartConnector">
                  <a:avLst/>
                </a:prstGeom>
                <a:solidFill>
                  <a:srgbClr val="70AD47">
                    <a:lumMod val="75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19" name="Straight Arrow Connector 18"/>
                <p:cNvCxnSpPr>
                  <a:endCxn id="17" idx="3"/>
                </p:cNvCxnSpPr>
                <p:nvPr/>
              </p:nvCxnSpPr>
              <p:spPr>
                <a:xfrm>
                  <a:off x="1738265" y="2040230"/>
                  <a:ext cx="743678" cy="0"/>
                </a:xfrm>
                <a:prstGeom prst="straightConnector1">
                  <a:avLst/>
                </a:prstGeom>
                <a:noFill/>
                <a:ln w="38100" cap="flat" cmpd="sng" algn="ctr">
                  <a:solidFill>
                    <a:srgbClr val="A5A5A5"/>
                  </a:solidFill>
                  <a:prstDash val="solid"/>
                  <a:miter lim="800000"/>
                  <a:tailEnd type="triangle"/>
                </a:ln>
                <a:effectLst/>
              </p:spPr>
            </p:cxnSp>
            <p:cxnSp>
              <p:nvCxnSpPr>
                <p:cNvPr id="20" name="Straight Connector 19"/>
                <p:cNvCxnSpPr>
                  <a:stCxn id="18" idx="0"/>
                </p:cNvCxnSpPr>
                <p:nvPr/>
              </p:nvCxnSpPr>
              <p:spPr>
                <a:xfrm flipH="1" flipV="1">
                  <a:off x="653143" y="1125830"/>
                  <a:ext cx="914400" cy="765293"/>
                </a:xfrm>
                <a:prstGeom prst="line">
                  <a:avLst/>
                </a:prstGeom>
                <a:noFill/>
                <a:ln w="38100" cap="flat" cmpd="sng" algn="ctr">
                  <a:solidFill>
                    <a:srgbClr val="A5A5A5"/>
                  </a:solidFill>
                  <a:prstDash val="solid"/>
                  <a:miter lim="800000"/>
                </a:ln>
                <a:effectLst/>
              </p:spPr>
            </p:cxnSp>
            <p:cxnSp>
              <p:nvCxnSpPr>
                <p:cNvPr id="21" name="Straight Connector 20"/>
                <p:cNvCxnSpPr/>
                <p:nvPr/>
              </p:nvCxnSpPr>
              <p:spPr>
                <a:xfrm flipH="1">
                  <a:off x="653143" y="2202509"/>
                  <a:ext cx="925766" cy="758707"/>
                </a:xfrm>
                <a:prstGeom prst="line">
                  <a:avLst/>
                </a:prstGeom>
                <a:noFill/>
                <a:ln w="38100" cap="flat" cmpd="sng" algn="ctr">
                  <a:solidFill>
                    <a:srgbClr val="A5A5A5"/>
                  </a:solidFill>
                  <a:prstDash val="solid"/>
                  <a:miter lim="800000"/>
                </a:ln>
                <a:effectLst/>
              </p:spPr>
            </p:cxnSp>
            <p:sp>
              <p:nvSpPr>
                <p:cNvPr id="22" name="TextBox 21"/>
                <p:cNvSpPr txBox="1"/>
                <p:nvPr/>
              </p:nvSpPr>
              <p:spPr>
                <a:xfrm>
                  <a:off x="1298136" y="1377594"/>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GAIN CREATORS </a:t>
                  </a:r>
                </a:p>
              </p:txBody>
            </p:sp>
            <p:sp>
              <p:nvSpPr>
                <p:cNvPr id="23" name="TextBox 22"/>
                <p:cNvSpPr txBox="1"/>
                <p:nvPr/>
              </p:nvSpPr>
              <p:spPr>
                <a:xfrm>
                  <a:off x="1391480" y="2351187"/>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PAIN KILLERS</a:t>
                  </a:r>
                </a:p>
              </p:txBody>
            </p:sp>
            <p:sp>
              <p:nvSpPr>
                <p:cNvPr id="24" name="TextBox 23"/>
                <p:cNvSpPr txBox="1"/>
                <p:nvPr/>
              </p:nvSpPr>
              <p:spPr>
                <a:xfrm>
                  <a:off x="587719" y="1764605"/>
                  <a:ext cx="1277154" cy="562093"/>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PRODUCT/ </a:t>
                  </a:r>
                </a:p>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SERVICE</a:t>
                  </a:r>
                </a:p>
              </p:txBody>
            </p:sp>
          </p:grpSp>
        </p:grpSp>
        <p:cxnSp>
          <p:nvCxnSpPr>
            <p:cNvPr id="33" name="Straight Connector 32"/>
            <p:cNvCxnSpPr/>
            <p:nvPr/>
          </p:nvCxnSpPr>
          <p:spPr>
            <a:xfrm flipV="1">
              <a:off x="3639097" y="1771429"/>
              <a:ext cx="7608" cy="648440"/>
            </a:xfrm>
            <a:prstGeom prst="line">
              <a:avLst/>
            </a:prstGeom>
            <a:noFill/>
            <a:ln w="19050" cap="flat" cmpd="sng" algn="ctr">
              <a:solidFill>
                <a:srgbClr val="70AD47"/>
              </a:solidFill>
              <a:prstDash val="solid"/>
              <a:miter lim="800000"/>
            </a:ln>
            <a:effectLst/>
          </p:spPr>
        </p:cxnSp>
        <p:cxnSp>
          <p:nvCxnSpPr>
            <p:cNvPr id="34" name="Straight Connector 33"/>
            <p:cNvCxnSpPr>
              <a:cxnSpLocks/>
            </p:cNvCxnSpPr>
            <p:nvPr/>
          </p:nvCxnSpPr>
          <p:spPr>
            <a:xfrm flipH="1">
              <a:off x="2728366" y="1781992"/>
              <a:ext cx="926869" cy="0"/>
            </a:xfrm>
            <a:prstGeom prst="line">
              <a:avLst/>
            </a:prstGeom>
            <a:noFill/>
            <a:ln w="19050" cap="flat" cmpd="sng" algn="ctr">
              <a:solidFill>
                <a:srgbClr val="70AD47"/>
              </a:solidFill>
              <a:prstDash val="solid"/>
              <a:miter lim="800000"/>
            </a:ln>
            <a:effectLst/>
          </p:spPr>
        </p:cxnSp>
        <p:sp>
          <p:nvSpPr>
            <p:cNvPr id="35" name="TextBox 34"/>
            <p:cNvSpPr txBox="1"/>
            <p:nvPr/>
          </p:nvSpPr>
          <p:spPr>
            <a:xfrm>
              <a:off x="905041" y="1260249"/>
              <a:ext cx="181906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you offer that makes the customers happy?</a:t>
              </a:r>
            </a:p>
            <a:p>
              <a:pPr marL="128585" lvl="0" indent="-128585" defTabSz="685783">
                <a:buFont typeface="Wingdings" panose="05000000000000000000" pitchFamily="2" charset="2"/>
                <a:buChar char="à"/>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     </a:t>
              </a:r>
              <a:r>
                <a:rPr lang="en-US" sz="1400" dirty="0"/>
                <a:t>Our solution provides quick and accurate diagnosis of car problems with simple and easy-to-understand guidance for users. It helps save time and reduce unnecessary repair costs by offering smart suggestions and solutions. The app is designed to be user-friendly, making it accessible even for beginners</a:t>
              </a:r>
              <a:r>
                <a:rPr lang="en-US" sz="1400" kern="0" dirty="0">
                  <a:solidFill>
                    <a:prstClr val="white">
                      <a:lumMod val="50000"/>
                    </a:prstClr>
                  </a:solidFill>
                  <a:cs typeface="Arial"/>
                  <a:sym typeface="Wingdings" panose="05000000000000000000" pitchFamily="2" charset="2"/>
                </a:rPr>
                <a:t>.</a:t>
              </a: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p:txBody>
        </p:sp>
        <p:cxnSp>
          <p:nvCxnSpPr>
            <p:cNvPr id="38" name="Straight Connector 37"/>
            <p:cNvCxnSpPr>
              <a:cxnSpLocks/>
            </p:cNvCxnSpPr>
            <p:nvPr/>
          </p:nvCxnSpPr>
          <p:spPr>
            <a:xfrm flipV="1">
              <a:off x="3639097" y="3644573"/>
              <a:ext cx="0" cy="1023864"/>
            </a:xfrm>
            <a:prstGeom prst="line">
              <a:avLst/>
            </a:prstGeom>
            <a:noFill/>
            <a:ln w="19050" cap="flat" cmpd="sng" algn="ctr">
              <a:solidFill>
                <a:srgbClr val="70AD47"/>
              </a:solidFill>
              <a:prstDash val="solid"/>
              <a:miter lim="800000"/>
            </a:ln>
            <a:effectLst/>
          </p:spPr>
        </p:cxnSp>
        <p:cxnSp>
          <p:nvCxnSpPr>
            <p:cNvPr id="39" name="Straight Connector 38"/>
            <p:cNvCxnSpPr>
              <a:cxnSpLocks/>
            </p:cNvCxnSpPr>
            <p:nvPr/>
          </p:nvCxnSpPr>
          <p:spPr>
            <a:xfrm flipH="1">
              <a:off x="2728366" y="4670276"/>
              <a:ext cx="914535" cy="0"/>
            </a:xfrm>
            <a:prstGeom prst="line">
              <a:avLst/>
            </a:prstGeom>
            <a:noFill/>
            <a:ln w="19050" cap="flat" cmpd="sng" algn="ctr">
              <a:solidFill>
                <a:srgbClr val="70AD47"/>
              </a:solidFill>
              <a:prstDash val="solid"/>
              <a:miter lim="800000"/>
            </a:ln>
            <a:effectLst/>
          </p:spPr>
        </p:cxnSp>
        <p:sp>
          <p:nvSpPr>
            <p:cNvPr id="40" name="TextBox 39"/>
            <p:cNvSpPr txBox="1"/>
            <p:nvPr/>
          </p:nvSpPr>
          <p:spPr>
            <a:xfrm>
              <a:off x="905041" y="3845169"/>
              <a:ext cx="180414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Which features of your offering relieve the customer's pains?</a:t>
              </a:r>
            </a:p>
            <a:p>
              <a:pPr marL="128585" indent="-128585"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AI-based quick problem diagnosis reduces confusion and saves time. Simple step-by-step guidance removes dependency on mechanics for small issues. Camera and audio analysis help identify problems easily. Garage locator and cost suggestions reduce stress and unnecessary expenses.</a:t>
              </a:r>
            </a:p>
          </p:txBody>
        </p:sp>
        <p:cxnSp>
          <p:nvCxnSpPr>
            <p:cNvPr id="41" name="Straight Connector 40"/>
            <p:cNvCxnSpPr/>
            <p:nvPr/>
          </p:nvCxnSpPr>
          <p:spPr>
            <a:xfrm flipH="1">
              <a:off x="3515381" y="2838188"/>
              <a:ext cx="36888" cy="0"/>
            </a:xfrm>
            <a:prstGeom prst="line">
              <a:avLst/>
            </a:prstGeom>
            <a:noFill/>
            <a:ln w="19050" cap="flat" cmpd="sng" algn="ctr">
              <a:solidFill>
                <a:srgbClr val="70AD47"/>
              </a:solidFill>
              <a:prstDash val="solid"/>
              <a:miter lim="800000"/>
            </a:ln>
            <a:effectLst/>
          </p:spPr>
        </p:cxnSp>
        <p:cxnSp>
          <p:nvCxnSpPr>
            <p:cNvPr id="42" name="Straight Connector 41"/>
            <p:cNvCxnSpPr/>
            <p:nvPr/>
          </p:nvCxnSpPr>
          <p:spPr>
            <a:xfrm flipV="1">
              <a:off x="2899064" y="2419868"/>
              <a:ext cx="0" cy="1182920"/>
            </a:xfrm>
            <a:prstGeom prst="line">
              <a:avLst/>
            </a:prstGeom>
            <a:noFill/>
            <a:ln w="19050" cap="flat" cmpd="sng" algn="ctr">
              <a:solidFill>
                <a:srgbClr val="70AD47"/>
              </a:solidFill>
              <a:prstDash val="solid"/>
              <a:miter lim="800000"/>
            </a:ln>
            <a:effectLst/>
          </p:spPr>
        </p:cxnSp>
        <p:cxnSp>
          <p:nvCxnSpPr>
            <p:cNvPr id="43" name="Straight Connector 42"/>
            <p:cNvCxnSpPr/>
            <p:nvPr/>
          </p:nvCxnSpPr>
          <p:spPr>
            <a:xfrm flipV="1">
              <a:off x="5141079" y="1771429"/>
              <a:ext cx="0" cy="648440"/>
            </a:xfrm>
            <a:prstGeom prst="line">
              <a:avLst/>
            </a:prstGeom>
            <a:noFill/>
            <a:ln w="19050" cap="flat" cmpd="sng" algn="ctr">
              <a:solidFill>
                <a:srgbClr val="FFC000"/>
              </a:solidFill>
              <a:prstDash val="solid"/>
              <a:miter lim="800000"/>
            </a:ln>
            <a:effectLst/>
          </p:spPr>
        </p:cxnSp>
        <p:cxnSp>
          <p:nvCxnSpPr>
            <p:cNvPr id="44" name="Straight Connector 43"/>
            <p:cNvCxnSpPr>
              <a:cxnSpLocks/>
            </p:cNvCxnSpPr>
            <p:nvPr/>
          </p:nvCxnSpPr>
          <p:spPr>
            <a:xfrm flipH="1">
              <a:off x="5136823" y="1783160"/>
              <a:ext cx="821126" cy="0"/>
            </a:xfrm>
            <a:prstGeom prst="line">
              <a:avLst/>
            </a:prstGeom>
            <a:noFill/>
            <a:ln w="19050" cap="flat" cmpd="sng" algn="ctr">
              <a:solidFill>
                <a:srgbClr val="FFC000"/>
              </a:solidFill>
              <a:prstDash val="solid"/>
              <a:miter lim="800000"/>
            </a:ln>
            <a:effectLst/>
          </p:spPr>
        </p:cxnSp>
        <p:sp>
          <p:nvSpPr>
            <p:cNvPr id="45" name="TextBox 44"/>
            <p:cNvSpPr txBox="1"/>
            <p:nvPr/>
          </p:nvSpPr>
          <p:spPr>
            <a:xfrm>
              <a:off x="5957949" y="997866"/>
              <a:ext cx="1936027" cy="1169591"/>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LOVE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a:t>
              </a:r>
              <a:r>
                <a:rPr kumimoji="0" lang="pt-BR" sz="1400" b="0" i="1" u="none" strike="noStrike" kern="0" cap="none" spc="0" normalizeH="0" baseline="0" noProof="0" dirty="0">
                  <a:ln>
                    <a:noFill/>
                  </a:ln>
                  <a:solidFill>
                    <a:prstClr val="black"/>
                  </a:solidFill>
                  <a:effectLst/>
                  <a:uLnTx/>
                  <a:uFillTx/>
                  <a:cs typeface="Arial"/>
                  <a:sym typeface="Arial"/>
                </a:rPr>
                <a:t> What would make the customer happy? </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They expect simple solutions, low cost, and easy access to nearby help when needed.</a:t>
              </a: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pt-BR" sz="1400" b="0" i="1" u="none" strike="noStrike" kern="0" cap="none" spc="0" normalizeH="0" baseline="0" noProof="0" dirty="0">
                <a:ln>
                  <a:noFill/>
                </a:ln>
                <a:solidFill>
                  <a:prstClr val="black"/>
                </a:solidFill>
                <a:effectLst/>
                <a:uLnTx/>
                <a:uFillTx/>
                <a:cs typeface="Calibri" panose="020F0502020204030204"/>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 What do the clients want when facing the problem?</a:t>
              </a:r>
            </a:p>
            <a:p>
              <a:pPr marL="128111" lvl="0"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Customers want a quick and accurate understanding of their car problem without confusion.</a:t>
              </a:r>
              <a:endParaRPr kumimoji="0" lang="pt-BR" sz="1400" b="0" i="1" u="none" strike="noStrike" kern="0" cap="none" spc="0" normalizeH="0" baseline="0" noProof="0" dirty="0">
                <a:ln>
                  <a:noFill/>
                </a:ln>
                <a:solidFill>
                  <a:prstClr val="white">
                    <a:lumMod val="50000"/>
                  </a:prstClr>
                </a:solidFill>
                <a:effectLst/>
                <a:uLnTx/>
                <a:uFillTx/>
                <a:cs typeface="Calibri" panose="020F0502020204030204"/>
                <a:sym typeface="Arial"/>
              </a:endParaRPr>
            </a:p>
          </p:txBody>
        </p:sp>
        <p:cxnSp>
          <p:nvCxnSpPr>
            <p:cNvPr id="46" name="Straight Connector 45"/>
            <p:cNvCxnSpPr/>
            <p:nvPr/>
          </p:nvCxnSpPr>
          <p:spPr>
            <a:xfrm>
              <a:off x="5824125" y="2947312"/>
              <a:ext cx="151861" cy="2850"/>
            </a:xfrm>
            <a:prstGeom prst="line">
              <a:avLst/>
            </a:prstGeom>
            <a:noFill/>
            <a:ln w="6350" cap="flat" cmpd="sng" algn="ctr">
              <a:solidFill>
                <a:srgbClr val="ED7D31"/>
              </a:solidFill>
              <a:prstDash val="solid"/>
              <a:miter lim="800000"/>
            </a:ln>
            <a:effectLst/>
          </p:spPr>
        </p:cxnSp>
        <p:cxnSp>
          <p:nvCxnSpPr>
            <p:cNvPr id="47" name="Straight Connector 46"/>
            <p:cNvCxnSpPr/>
            <p:nvPr/>
          </p:nvCxnSpPr>
          <p:spPr>
            <a:xfrm flipH="1" flipV="1">
              <a:off x="5963697" y="2419869"/>
              <a:ext cx="8108" cy="1082870"/>
            </a:xfrm>
            <a:prstGeom prst="line">
              <a:avLst/>
            </a:prstGeom>
            <a:noFill/>
            <a:ln w="6350" cap="flat" cmpd="sng" algn="ctr">
              <a:solidFill>
                <a:srgbClr val="ED7D31"/>
              </a:solidFill>
              <a:prstDash val="solid"/>
              <a:miter lim="800000"/>
            </a:ln>
            <a:effectLst/>
          </p:spPr>
        </p:cxnSp>
        <p:cxnSp>
          <p:nvCxnSpPr>
            <p:cNvPr id="48" name="Straight Connector 47"/>
            <p:cNvCxnSpPr>
              <a:cxnSpLocks/>
            </p:cNvCxnSpPr>
            <p:nvPr/>
          </p:nvCxnSpPr>
          <p:spPr>
            <a:xfrm flipH="1" flipV="1">
              <a:off x="5136823" y="3644573"/>
              <a:ext cx="4256" cy="725592"/>
            </a:xfrm>
            <a:prstGeom prst="line">
              <a:avLst/>
            </a:prstGeom>
            <a:noFill/>
            <a:ln w="19050" cap="flat" cmpd="sng" algn="ctr">
              <a:solidFill>
                <a:srgbClr val="FFC000"/>
              </a:solidFill>
              <a:prstDash val="solid"/>
              <a:miter lim="800000"/>
            </a:ln>
            <a:effectLst/>
          </p:spPr>
        </p:cxnSp>
        <p:cxnSp>
          <p:nvCxnSpPr>
            <p:cNvPr id="49" name="Straight Connector 48"/>
            <p:cNvCxnSpPr>
              <a:cxnSpLocks/>
            </p:cNvCxnSpPr>
            <p:nvPr/>
          </p:nvCxnSpPr>
          <p:spPr>
            <a:xfrm flipH="1">
              <a:off x="5141079" y="4370165"/>
              <a:ext cx="822618" cy="0"/>
            </a:xfrm>
            <a:prstGeom prst="line">
              <a:avLst/>
            </a:prstGeom>
            <a:noFill/>
            <a:ln w="19050" cap="flat" cmpd="sng" algn="ctr">
              <a:solidFill>
                <a:srgbClr val="FFC000"/>
              </a:solidFill>
              <a:prstDash val="solid"/>
              <a:miter lim="800000"/>
            </a:ln>
            <a:effectLst/>
          </p:spPr>
        </p:cxnSp>
        <p:sp>
          <p:nvSpPr>
            <p:cNvPr id="50" name="TextBox 49"/>
            <p:cNvSpPr txBox="1"/>
            <p:nvPr/>
          </p:nvSpPr>
          <p:spPr>
            <a:xfrm>
              <a:off x="5954876" y="3823271"/>
              <a:ext cx="1939100" cy="918644"/>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HATE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are the pains of the clients when facing the problem?</a:t>
              </a:r>
            </a:p>
            <a:p>
              <a:pPr marL="128111" indent="-128111" defTabSz="685783">
                <a:buFont typeface="Wingdings" panose="05000000000000000000" pitchFamily="2" charset="2"/>
                <a:buChar char="à"/>
                <a:defRPr/>
              </a:pPr>
              <a:r>
                <a:rPr lang="en-US" sz="1400" dirty="0"/>
                <a:t>Clients feel confused and stressed because they don’t understand the car problem. They face time loss, high repair cost.</a:t>
              </a:r>
            </a:p>
          </p:txBody>
        </p:sp>
        <p:sp>
          <p:nvSpPr>
            <p:cNvPr id="51" name="TextBox 50"/>
            <p:cNvSpPr txBox="1"/>
            <p:nvPr/>
          </p:nvSpPr>
          <p:spPr>
            <a:xfrm>
              <a:off x="6082880" y="2458622"/>
              <a:ext cx="1719300" cy="1044117"/>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WANT</a:t>
              </a: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the clients do (actions) when facing the problem?</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Clients usually visit a mechanic or seek help from experienced people to identify the issue.</a:t>
              </a:r>
              <a:br>
                <a:rPr lang="en-US" sz="1400" dirty="0"/>
              </a:br>
              <a:r>
                <a:rPr lang="en-US" sz="1400" dirty="0"/>
                <a:t>They also search online or use basic apps and tools to find possible solutions.</a:t>
              </a:r>
            </a:p>
          </p:txBody>
        </p:sp>
        <p:sp>
          <p:nvSpPr>
            <p:cNvPr id="52" name="TextBox 51"/>
            <p:cNvSpPr txBox="1"/>
            <p:nvPr/>
          </p:nvSpPr>
          <p:spPr>
            <a:xfrm>
              <a:off x="898803" y="2717473"/>
              <a:ext cx="1819070" cy="932087"/>
            </a:xfrm>
            <a:prstGeom prst="rect">
              <a:avLst/>
            </a:prstGeom>
            <a:noFill/>
            <a:ln>
              <a:solidFill>
                <a:srgbClr val="E7E6E6">
                  <a:lumMod val="50000"/>
                </a:srgbClr>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400" b="1" i="1" u="none" strike="noStrike" kern="0" cap="none" spc="0" normalizeH="0" baseline="0" noProof="0" dirty="0">
                  <a:ln>
                    <a:noFill/>
                  </a:ln>
                  <a:solidFill>
                    <a:srgbClr val="FF0000"/>
                  </a:solidFill>
                  <a:effectLst/>
                  <a:uLnTx/>
                  <a:uFillTx/>
                  <a:cs typeface="Arial"/>
                  <a:sym typeface="Arial"/>
                </a:rPr>
                <a:t>What is the product or service that you are offering?</a:t>
              </a:r>
            </a:p>
            <a:p>
              <a:pPr>
                <a:defRPr/>
              </a:pPr>
              <a:r>
                <a:rPr lang="pt-BR" sz="1400" b="1" i="1" kern="0" dirty="0">
                  <a:solidFill>
                    <a:srgbClr val="FF0000"/>
                  </a:solidFill>
                  <a:cs typeface="Arial"/>
                  <a:sym typeface="Arial"/>
                </a:rPr>
                <a:t>       </a:t>
              </a:r>
              <a:r>
                <a:rPr lang="en-US" sz="1400" dirty="0"/>
                <a:t>We are offering an AI-powered mobile application that helps users diagnose and understand car problems easily. It allows users to input symptoms through text, images, or audio and provides accurate</a:t>
              </a:r>
              <a:r>
                <a:rPr lang="en-IN" sz="1400" kern="0" dirty="0">
                  <a:solidFill>
                    <a:prstClr val="white">
                      <a:lumMod val="50000"/>
                    </a:prstClr>
                  </a:solidFill>
                  <a:cs typeface="Arial"/>
                  <a:sym typeface="Arial"/>
                </a:rPr>
                <a:t> </a:t>
              </a:r>
              <a:r>
                <a:rPr lang="en-IN" sz="1400" dirty="0"/>
                <a:t>answer</a:t>
              </a:r>
            </a:p>
          </p:txBody>
        </p:sp>
        <p:cxnSp>
          <p:nvCxnSpPr>
            <p:cNvPr id="53" name="Straight Connector 52"/>
            <p:cNvCxnSpPr>
              <a:cxnSpLocks/>
            </p:cNvCxnSpPr>
            <p:nvPr/>
          </p:nvCxnSpPr>
          <p:spPr>
            <a:xfrm flipH="1">
              <a:off x="2899064" y="3002224"/>
              <a:ext cx="92750" cy="0"/>
            </a:xfrm>
            <a:prstGeom prst="line">
              <a:avLst/>
            </a:prstGeom>
            <a:noFill/>
            <a:ln w="19050" cap="flat" cmpd="sng" algn="ctr">
              <a:solidFill>
                <a:srgbClr val="70AD47"/>
              </a:solidFill>
              <a:prstDash val="solid"/>
              <a:miter lim="800000"/>
            </a:ln>
            <a:effectLst/>
          </p:spPr>
        </p:cxnSp>
      </p:grpSp>
      <p:sp>
        <p:nvSpPr>
          <p:cNvPr id="8" name="Rectangle 7"/>
          <p:cNvSpPr/>
          <p:nvPr/>
        </p:nvSpPr>
        <p:spPr>
          <a:xfrm>
            <a:off x="8016362" y="4626289"/>
            <a:ext cx="1714342" cy="369332"/>
          </a:xfrm>
          <a:prstGeom prst="rect">
            <a:avLst/>
          </a:prstGeom>
        </p:spPr>
        <p:txBody>
          <a:bodyPr wrap="square">
            <a:spAutoFit/>
          </a:bodyPr>
          <a:lstStyle/>
          <a:p>
            <a:pPr algn="ctr"/>
            <a:r>
              <a:rPr lang="en-US" dirty="0"/>
              <a:t>FIT</a:t>
            </a:r>
          </a:p>
        </p:txBody>
      </p:sp>
      <p:sp>
        <p:nvSpPr>
          <p:cNvPr id="2" name="Rectangle 1"/>
          <p:cNvSpPr/>
          <p:nvPr/>
        </p:nvSpPr>
        <p:spPr>
          <a:xfrm>
            <a:off x="6286487" y="1477264"/>
            <a:ext cx="248786" cy="369332"/>
          </a:xfrm>
          <a:prstGeom prst="rect">
            <a:avLst/>
          </a:prstGeom>
        </p:spPr>
        <p:txBody>
          <a:bodyPr wrap="none">
            <a:spAutoFit/>
          </a:bodyPr>
          <a:lstStyle/>
          <a:p>
            <a:r>
              <a:rPr lang="en-US" dirty="0">
                <a:solidFill>
                  <a:srgbClr val="292929"/>
                </a:solidFill>
                <a:latin typeface="charter"/>
              </a:rPr>
              <a:t>.</a:t>
            </a:r>
            <a:endParaRPr lang="en-US" dirty="0"/>
          </a:p>
        </p:txBody>
      </p:sp>
      <p:pic>
        <p:nvPicPr>
          <p:cNvPr id="3" name="Picture 2" descr="AUTOFIXAI">
            <a:extLst>
              <a:ext uri="{FF2B5EF4-FFF2-40B4-BE49-F238E27FC236}">
                <a16:creationId xmlns:a16="http://schemas.microsoft.com/office/drawing/2014/main" id="{14D53127-C3D4-F47E-5F55-365D47BF31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04541" y="267098"/>
            <a:ext cx="1750370" cy="1371202"/>
          </a:xfrm>
          <a:prstGeom prst="rect">
            <a:avLst/>
          </a:prstGeom>
        </p:spPr>
      </p:pic>
    </p:spTree>
    <p:extLst>
      <p:ext uri="{BB962C8B-B14F-4D97-AF65-F5344CB8AC3E}">
        <p14:creationId xmlns:p14="http://schemas.microsoft.com/office/powerpoint/2010/main" val="34188267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05009" y="28190"/>
            <a:ext cx="11351678" cy="1178400"/>
          </a:xfrm>
          <a:prstGeom prst="rect">
            <a:avLst/>
          </a:prstGeom>
          <a:noFill/>
        </p:spPr>
        <p:txBody>
          <a:bodyPr wrap="square" lIns="137160" tIns="68580" rIns="137160" bIns="68580" rtlCol="0" anchor="t">
            <a:spAutoFit/>
          </a:bodyPr>
          <a:lstStyle/>
          <a:p>
            <a:pPr>
              <a:lnSpc>
                <a:spcPts val="8747"/>
              </a:lnSpc>
              <a:spcBef>
                <a:spcPct val="0"/>
              </a:spcBef>
            </a:pPr>
            <a:r>
              <a:rPr lang="en-US" sz="5400" b="1" dirty="0"/>
              <a:t>Solution</a:t>
            </a:r>
          </a:p>
        </p:txBody>
      </p:sp>
      <p:sp>
        <p:nvSpPr>
          <p:cNvPr id="110" name="Content Placeholder 2"/>
          <p:cNvSpPr txBox="1">
            <a:spLocks/>
          </p:cNvSpPr>
          <p:nvPr/>
        </p:nvSpPr>
        <p:spPr>
          <a:xfrm>
            <a:off x="1371600" y="2043904"/>
            <a:ext cx="6629400" cy="6186308"/>
          </a:xfrm>
          <a:prstGeom prst="rect">
            <a:avLst/>
          </a:prstGeom>
          <a:ln>
            <a:solidFill>
              <a:schemeClr val="tx1"/>
            </a:solidFill>
          </a:ln>
        </p:spPr>
        <p:txBody>
          <a:bodyPr vert="horz" lIns="137160" tIns="68580" rIns="137160" bIns="6858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t>Describe your Solution:</a:t>
            </a:r>
          </a:p>
          <a:p>
            <a:pPr marL="0" indent="0" algn="just">
              <a:buNone/>
            </a:pPr>
            <a:r>
              <a:rPr lang="en-GB" sz="2400" dirty="0"/>
              <a:t>We offer </a:t>
            </a:r>
            <a:r>
              <a:rPr lang="en-US" sz="2400" dirty="0"/>
              <a:t>An AI-powered mobile app that helps users quickly identify and understand car problems.</a:t>
            </a:r>
            <a:br>
              <a:rPr lang="en-US" sz="2400" dirty="0"/>
            </a:br>
            <a:r>
              <a:rPr lang="en-US" sz="2400" dirty="0"/>
              <a:t>It uses text, images, and audio to analyze issues and give simple solutions. The app guides users step-by-step and suggests nearby garages if needed.</a:t>
            </a:r>
            <a:br>
              <a:rPr lang="en-US" sz="2400" dirty="0"/>
            </a:br>
            <a:r>
              <a:rPr lang="en-US" sz="2400" dirty="0"/>
              <a:t>It is designed to be easy, fast, and helpful for everyone.</a:t>
            </a:r>
          </a:p>
          <a:p>
            <a:pPr marL="0" indent="0">
              <a:buNone/>
            </a:pPr>
            <a:r>
              <a:rPr lang="en-GB" sz="2400" dirty="0"/>
              <a:t> The details of our offering consist of:</a:t>
            </a:r>
            <a:endParaRPr lang="en-GB" sz="2400" dirty="0">
              <a:cs typeface="Calibri"/>
            </a:endParaRPr>
          </a:p>
          <a:p>
            <a:pPr marL="0" indent="0">
              <a:buNone/>
            </a:pPr>
            <a:r>
              <a:rPr lang="en-GB" sz="2400" dirty="0"/>
              <a:t>1.Selection of  vehicle company , name ,model and  variant.     </a:t>
            </a:r>
          </a:p>
          <a:p>
            <a:pPr marL="0" indent="0">
              <a:buNone/>
            </a:pPr>
            <a:r>
              <a:rPr lang="en-GB" sz="2400" dirty="0">
                <a:cs typeface="Calibri"/>
              </a:rPr>
              <a:t>2. Virtual Mechanic Assistant with AI (search bar)</a:t>
            </a:r>
          </a:p>
          <a:p>
            <a:pPr marL="0" indent="0">
              <a:buNone/>
            </a:pPr>
            <a:r>
              <a:rPr lang="en-GB" sz="2400" dirty="0">
                <a:cs typeface="Calibri"/>
              </a:rPr>
              <a:t>3. Image and Video based Diagnosis</a:t>
            </a:r>
          </a:p>
          <a:p>
            <a:pPr marL="0" indent="0">
              <a:buNone/>
            </a:pPr>
            <a:r>
              <a:rPr lang="en-GB" sz="2400" dirty="0">
                <a:cs typeface="Calibri"/>
              </a:rPr>
              <a:t>4. AI sound analysis</a:t>
            </a:r>
          </a:p>
          <a:p>
            <a:pPr marL="0" indent="0">
              <a:buNone/>
            </a:pPr>
            <a:r>
              <a:rPr lang="en-GB" sz="2400" dirty="0">
                <a:cs typeface="Calibri"/>
              </a:rPr>
              <a:t>4. Garage finder near the location.</a:t>
            </a:r>
          </a:p>
          <a:p>
            <a:pPr marL="0" indent="0">
              <a:buNone/>
            </a:pPr>
            <a:r>
              <a:rPr lang="en-GB" sz="2400" dirty="0">
                <a:cs typeface="Calibri"/>
              </a:rPr>
              <a:t>5. Media access </a:t>
            </a:r>
          </a:p>
          <a:p>
            <a:pPr marL="0" indent="0">
              <a:buNone/>
            </a:pPr>
            <a:r>
              <a:rPr lang="en-GB" sz="2400" dirty="0">
                <a:cs typeface="Calibri"/>
              </a:rPr>
              <a:t>6. Spare parts information and price checking</a:t>
            </a:r>
          </a:p>
          <a:p>
            <a:pPr marL="0" indent="0">
              <a:buNone/>
            </a:pPr>
            <a:endParaRPr lang="en-GB" sz="2700" dirty="0">
              <a:cs typeface="Calibri"/>
            </a:endParaRPr>
          </a:p>
          <a:p>
            <a:pPr marL="0" indent="0">
              <a:buNone/>
            </a:pPr>
            <a:endParaRPr lang="en-GB" sz="2100" dirty="0">
              <a:cs typeface="Calibri"/>
            </a:endParaRPr>
          </a:p>
        </p:txBody>
      </p:sp>
      <p:sp>
        <p:nvSpPr>
          <p:cNvPr id="13" name="TextBox 12">
            <a:extLst>
              <a:ext uri="{FF2B5EF4-FFF2-40B4-BE49-F238E27FC236}">
                <a16:creationId xmlns:a16="http://schemas.microsoft.com/office/drawing/2014/main" id="{437D10F2-D825-4F14-8721-CF5105D60893}"/>
              </a:ext>
            </a:extLst>
          </p:cNvPr>
          <p:cNvSpPr txBox="1"/>
          <p:nvPr/>
        </p:nvSpPr>
        <p:spPr>
          <a:xfrm>
            <a:off x="16121867" y="90567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4" name="Rectangle 13">
            <a:extLst>
              <a:ext uri="{FF2B5EF4-FFF2-40B4-BE49-F238E27FC236}">
                <a16:creationId xmlns:a16="http://schemas.microsoft.com/office/drawing/2014/main" id="{5DE34494-019C-4AF1-907B-33245967C575}"/>
              </a:ext>
            </a:extLst>
          </p:cNvPr>
          <p:cNvSpPr/>
          <p:nvPr/>
        </p:nvSpPr>
        <p:spPr>
          <a:xfrm>
            <a:off x="15849600" y="572954"/>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 name="Rectangle 1"/>
          <p:cNvSpPr/>
          <p:nvPr/>
        </p:nvSpPr>
        <p:spPr>
          <a:xfrm>
            <a:off x="8839200" y="2043904"/>
            <a:ext cx="5867400" cy="6186309"/>
          </a:xfrm>
          <a:prstGeom prst="rect">
            <a:avLst/>
          </a:prstGeom>
          <a:ln>
            <a:solidFill>
              <a:schemeClr val="tx1"/>
            </a:solidFill>
          </a:ln>
        </p:spPr>
        <p:txBody>
          <a:bodyPr wrap="square">
            <a:spAutoFit/>
          </a:bodyPr>
          <a:lstStyle/>
          <a:p>
            <a:r>
              <a:rPr lang="en-GB" sz="2800" b="1" dirty="0"/>
              <a:t>List the Benefits of Your solutions</a:t>
            </a:r>
          </a:p>
          <a:p>
            <a:endParaRPr lang="en-GB" sz="2800" b="1" dirty="0"/>
          </a:p>
          <a:p>
            <a:r>
              <a:rPr lang="en-GB" sz="2800" b="1" dirty="0"/>
              <a:t>1. Easy to use for everyone with AI        </a:t>
            </a:r>
          </a:p>
          <a:p>
            <a:r>
              <a:rPr lang="en-GB" sz="2800" b="1" dirty="0"/>
              <a:t>    guidance</a:t>
            </a:r>
          </a:p>
          <a:p>
            <a:endParaRPr lang="en-GB" sz="2800" b="1" dirty="0"/>
          </a:p>
          <a:p>
            <a:r>
              <a:rPr lang="en-GB" sz="2800" b="1" dirty="0"/>
              <a:t>2. Saves money and time.</a:t>
            </a:r>
          </a:p>
          <a:p>
            <a:endParaRPr lang="en-GB" sz="2800" b="1" dirty="0"/>
          </a:p>
          <a:p>
            <a:r>
              <a:rPr lang="en-GB" sz="2800" b="1" dirty="0"/>
              <a:t>3. Quick help anytime.</a:t>
            </a:r>
          </a:p>
          <a:p>
            <a:endParaRPr lang="en-GB" sz="2800" b="1" dirty="0"/>
          </a:p>
          <a:p>
            <a:r>
              <a:rPr lang="en-GB" sz="2800" b="1" dirty="0"/>
              <a:t>4. Reduces stress and confusion.</a:t>
            </a:r>
          </a:p>
          <a:p>
            <a:endParaRPr lang="en-GB" sz="2800" b="1" dirty="0"/>
          </a:p>
          <a:p>
            <a:endParaRPr lang="en-GB" sz="2800" b="1" dirty="0"/>
          </a:p>
          <a:p>
            <a:endParaRPr lang="en-GB" sz="2000" b="1" dirty="0">
              <a:cs typeface="Calibri"/>
            </a:endParaRPr>
          </a:p>
          <a:p>
            <a:endParaRPr lang="en-GB" sz="2000" b="1" dirty="0">
              <a:cs typeface="Calibri"/>
            </a:endParaRPr>
          </a:p>
          <a:p>
            <a:endParaRPr lang="en-GB" sz="2000" b="1" dirty="0">
              <a:cs typeface="Calibri"/>
            </a:endParaRPr>
          </a:p>
        </p:txBody>
      </p:sp>
      <p:pic>
        <p:nvPicPr>
          <p:cNvPr id="3" name="Picture 2" descr="AUTOFIXAI">
            <a:extLst>
              <a:ext uri="{FF2B5EF4-FFF2-40B4-BE49-F238E27FC236}">
                <a16:creationId xmlns:a16="http://schemas.microsoft.com/office/drawing/2014/main" id="{A1CAAD10-D3FD-AED5-47FE-33F6D71205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16805" y="556074"/>
            <a:ext cx="1924291" cy="1386112"/>
          </a:xfrm>
          <a:prstGeom prst="rect">
            <a:avLst/>
          </a:prstGeom>
        </p:spPr>
      </p:pic>
    </p:spTree>
    <p:extLst>
      <p:ext uri="{BB962C8B-B14F-4D97-AF65-F5344CB8AC3E}">
        <p14:creationId xmlns:p14="http://schemas.microsoft.com/office/powerpoint/2010/main" val="10368154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arn(inVertic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381000" y="0"/>
            <a:ext cx="12338484" cy="1019574"/>
          </a:xfrm>
          <a:prstGeom prst="rect">
            <a:avLst/>
          </a:prstGeom>
        </p:spPr>
        <p:txBody>
          <a:bodyPr wrap="square" lIns="0" tIns="0" rIns="0" bIns="0" rtlCol="0" anchor="t">
            <a:spAutoFit/>
          </a:bodyPr>
          <a:lstStyle/>
          <a:p>
            <a:pPr>
              <a:lnSpc>
                <a:spcPts val="8747"/>
              </a:lnSpc>
            </a:pPr>
            <a:r>
              <a:rPr lang="en-US" sz="5400" b="1" dirty="0"/>
              <a:t>Competition Analysis</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121566" y="794080"/>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aphicFrame>
        <p:nvGraphicFramePr>
          <p:cNvPr id="7" name="Table 6"/>
          <p:cNvGraphicFramePr>
            <a:graphicFrameLocks noGrp="1"/>
          </p:cNvGraphicFramePr>
          <p:nvPr/>
        </p:nvGraphicFramePr>
        <p:xfrm>
          <a:off x="990600" y="1105704"/>
          <a:ext cx="14630400" cy="8869680"/>
        </p:xfrm>
        <a:graphic>
          <a:graphicData uri="http://schemas.openxmlformats.org/drawingml/2006/table">
            <a:tbl>
              <a:tblPr firstRow="1" bandRow="1">
                <a:tableStyleId>{93296810-A885-4BE3-A3E7-6D5BEEA58F35}</a:tableStyleId>
              </a:tblPr>
              <a:tblGrid>
                <a:gridCol w="2733390">
                  <a:extLst>
                    <a:ext uri="{9D8B030D-6E8A-4147-A177-3AD203B41FA5}">
                      <a16:colId xmlns:a16="http://schemas.microsoft.com/office/drawing/2014/main" val="666748423"/>
                    </a:ext>
                  </a:extLst>
                </a:gridCol>
                <a:gridCol w="2733390">
                  <a:extLst>
                    <a:ext uri="{9D8B030D-6E8A-4147-A177-3AD203B41FA5}">
                      <a16:colId xmlns:a16="http://schemas.microsoft.com/office/drawing/2014/main" val="837611741"/>
                    </a:ext>
                  </a:extLst>
                </a:gridCol>
                <a:gridCol w="2733390">
                  <a:extLst>
                    <a:ext uri="{9D8B030D-6E8A-4147-A177-3AD203B41FA5}">
                      <a16:colId xmlns:a16="http://schemas.microsoft.com/office/drawing/2014/main" val="2522811997"/>
                    </a:ext>
                  </a:extLst>
                </a:gridCol>
                <a:gridCol w="2869739">
                  <a:extLst>
                    <a:ext uri="{9D8B030D-6E8A-4147-A177-3AD203B41FA5}">
                      <a16:colId xmlns:a16="http://schemas.microsoft.com/office/drawing/2014/main" val="842314674"/>
                    </a:ext>
                  </a:extLst>
                </a:gridCol>
                <a:gridCol w="3560491">
                  <a:extLst>
                    <a:ext uri="{9D8B030D-6E8A-4147-A177-3AD203B41FA5}">
                      <a16:colId xmlns:a16="http://schemas.microsoft.com/office/drawing/2014/main" val="3630476225"/>
                    </a:ext>
                  </a:extLst>
                </a:gridCol>
              </a:tblGrid>
              <a:tr h="609600">
                <a:tc>
                  <a:txBody>
                    <a:bodyPr/>
                    <a:lstStyle/>
                    <a:p>
                      <a:pPr algn="ctr"/>
                      <a:r>
                        <a:rPr lang="en-US" sz="2400" b="1" dirty="0">
                          <a:solidFill>
                            <a:schemeClr val="tx1"/>
                          </a:solidFill>
                        </a:rPr>
                        <a:t>Benefits </a:t>
                      </a:r>
                    </a:p>
                  </a:txBody>
                  <a:tcPr/>
                </a:tc>
                <a:tc>
                  <a:txBody>
                    <a:bodyPr/>
                    <a:lstStyle/>
                    <a:p>
                      <a:pPr algn="ctr"/>
                      <a:r>
                        <a:rPr lang="en-US" sz="2400" b="1" dirty="0">
                          <a:solidFill>
                            <a:schemeClr val="tx1"/>
                          </a:solidFill>
                        </a:rPr>
                        <a:t>Competitor 1</a:t>
                      </a:r>
                    </a:p>
                    <a:p>
                      <a:pPr algn="ctr"/>
                      <a:r>
                        <a:rPr lang="en-US" sz="2400" b="1" dirty="0">
                          <a:solidFill>
                            <a:schemeClr val="tx1"/>
                          </a:solidFill>
                        </a:rPr>
                        <a:t>OBD Apps</a:t>
                      </a:r>
                    </a:p>
                  </a:txBody>
                  <a:tcPr/>
                </a:tc>
                <a:tc>
                  <a:txBody>
                    <a:bodyPr/>
                    <a:lstStyle/>
                    <a:p>
                      <a:pPr algn="ctr"/>
                      <a:r>
                        <a:rPr lang="en-US" sz="2400" b="1" dirty="0">
                          <a:solidFill>
                            <a:schemeClr val="tx1"/>
                          </a:solidFill>
                        </a:rPr>
                        <a:t>Competitor 2</a:t>
                      </a:r>
                    </a:p>
                    <a:p>
                      <a:pPr algn="ctr"/>
                      <a:r>
                        <a:rPr lang="en-US" sz="2400" b="1" dirty="0" err="1">
                          <a:solidFill>
                            <a:schemeClr val="tx1"/>
                          </a:solidFill>
                        </a:rPr>
                        <a:t>CarDekho</a:t>
                      </a:r>
                      <a:endParaRPr lang="en-US" sz="2400" b="1" dirty="0">
                        <a:solidFill>
                          <a:schemeClr val="tx1"/>
                        </a:solidFill>
                      </a:endParaRPr>
                    </a:p>
                  </a:txBody>
                  <a:tcPr/>
                </a:tc>
                <a:tc>
                  <a:txBody>
                    <a:bodyPr/>
                    <a:lstStyle/>
                    <a:p>
                      <a:pPr algn="ctr"/>
                      <a:r>
                        <a:rPr lang="en-US" sz="2400" b="1" dirty="0">
                          <a:solidFill>
                            <a:schemeClr val="tx1"/>
                          </a:solidFill>
                        </a:rPr>
                        <a:t>Competitor 3</a:t>
                      </a:r>
                    </a:p>
                    <a:p>
                      <a:pPr algn="ctr"/>
                      <a:r>
                        <a:rPr lang="en-US" sz="2400" b="1" dirty="0">
                          <a:solidFill>
                            <a:schemeClr val="tx1"/>
                          </a:solidFill>
                        </a:rPr>
                        <a:t>ChatGPT\Google</a:t>
                      </a:r>
                    </a:p>
                  </a:txBody>
                  <a:tcPr/>
                </a:tc>
                <a:tc>
                  <a:txBody>
                    <a:bodyPr/>
                    <a:lstStyle/>
                    <a:p>
                      <a:pPr algn="ctr"/>
                      <a:r>
                        <a:rPr lang="en-US" sz="2400" b="1" dirty="0">
                          <a:solidFill>
                            <a:schemeClr val="tx1"/>
                          </a:solidFill>
                        </a:rPr>
                        <a:t>Your Venture </a:t>
                      </a:r>
                    </a:p>
                    <a:p>
                      <a:pPr algn="ctr"/>
                      <a:r>
                        <a:rPr lang="en-US" sz="2400" b="1" dirty="0">
                          <a:solidFill>
                            <a:schemeClr val="tx1"/>
                          </a:solidFill>
                        </a:rPr>
                        <a:t>AUTO FIX AI</a:t>
                      </a:r>
                    </a:p>
                  </a:txBody>
                  <a:tcPr/>
                </a:tc>
                <a:extLst>
                  <a:ext uri="{0D108BD9-81ED-4DB2-BD59-A6C34878D82A}">
                    <a16:rowId xmlns:a16="http://schemas.microsoft.com/office/drawing/2014/main" val="1806830575"/>
                  </a:ext>
                </a:extLst>
              </a:tr>
              <a:tr h="609600">
                <a:tc>
                  <a:txBody>
                    <a:bodyPr/>
                    <a:lstStyle/>
                    <a:p>
                      <a:r>
                        <a:rPr lang="en-US" dirty="0"/>
                        <a:t>Product</a:t>
                      </a:r>
                    </a:p>
                  </a:txBody>
                  <a:tcPr/>
                </a:tc>
                <a:tc>
                  <a:txBody>
                    <a:bodyPr/>
                    <a:lstStyle/>
                    <a:p>
                      <a:r>
                        <a:rPr lang="en-IN" sz="1800" b="0" i="0" kern="1200" dirty="0">
                          <a:solidFill>
                            <a:schemeClr val="dk1"/>
                          </a:solidFill>
                          <a:effectLst/>
                          <a:latin typeface="+mn-lt"/>
                          <a:ea typeface="+mn-ea"/>
                          <a:cs typeface="+mn-cs"/>
                        </a:rPr>
                        <a:t>Hardware scanner device + basic app. Reads error codes only.</a:t>
                      </a:r>
                      <a:endParaRPr lang="en-US" dirty="0"/>
                    </a:p>
                  </a:txBody>
                  <a:tcPr/>
                </a:tc>
                <a:tc>
                  <a:txBody>
                    <a:bodyPr/>
                    <a:lstStyle/>
                    <a:p>
                      <a:r>
                        <a:rPr lang="en-IN" sz="1800" b="0" i="0" kern="1200" dirty="0">
                          <a:solidFill>
                            <a:schemeClr val="dk1"/>
                          </a:solidFill>
                          <a:effectLst/>
                          <a:latin typeface="+mn-lt"/>
                          <a:ea typeface="+mn-ea"/>
                          <a:cs typeface="+mn-cs"/>
                        </a:rPr>
                        <a:t>Car buying &amp; selling platform. Reviews new and used cars. No repair help.</a:t>
                      </a:r>
                      <a:endParaRPr lang="en-US" dirty="0"/>
                    </a:p>
                  </a:txBody>
                  <a:tcPr/>
                </a:tc>
                <a:tc>
                  <a:txBody>
                    <a:bodyPr/>
                    <a:lstStyle/>
                    <a:p>
                      <a:r>
                        <a:rPr lang="en-IN" b="0" i="0" dirty="0">
                          <a:solidFill>
                            <a:srgbClr val="1A1A1A"/>
                          </a:solidFill>
                          <a:effectLst/>
                          <a:latin typeface="Anthropic Sans"/>
                        </a:rPr>
                        <a:t>General AI chatbot and search engine. Answers any topic.</a:t>
                      </a:r>
                      <a:endParaRPr lang="en-US" dirty="0"/>
                    </a:p>
                  </a:txBody>
                  <a:tcPr/>
                </a:tc>
                <a:tc>
                  <a:txBody>
                    <a:bodyPr/>
                    <a:lstStyle/>
                    <a:p>
                      <a:r>
                        <a:rPr lang="en-IN" b="0" i="0" dirty="0">
                          <a:solidFill>
                            <a:srgbClr val="1A1A1A"/>
                          </a:solidFill>
                          <a:effectLst/>
                          <a:latin typeface="Anthropic Sans"/>
                        </a:rPr>
                        <a:t>All-in-one AI car troubleshoot app. Diagnose, find garage, check parts — in one place.</a:t>
                      </a:r>
                      <a:endParaRPr lang="en-US" dirty="0"/>
                    </a:p>
                  </a:txBody>
                  <a:tcPr/>
                </a:tc>
                <a:extLst>
                  <a:ext uri="{0D108BD9-81ED-4DB2-BD59-A6C34878D82A}">
                    <a16:rowId xmlns:a16="http://schemas.microsoft.com/office/drawing/2014/main" val="584068931"/>
                  </a:ext>
                </a:extLst>
              </a:tr>
              <a:tr h="609600">
                <a:tc>
                  <a:txBody>
                    <a:bodyPr/>
                    <a:lstStyle/>
                    <a:p>
                      <a:r>
                        <a:rPr lang="en-US" dirty="0"/>
                        <a:t>Price </a:t>
                      </a:r>
                    </a:p>
                  </a:txBody>
                  <a:tcPr/>
                </a:tc>
                <a:tc>
                  <a:txBody>
                    <a:bodyPr/>
                    <a:lstStyle/>
                    <a:p>
                      <a:r>
                        <a:rPr lang="en-IN" sz="1800" b="0" i="0" kern="1200" dirty="0">
                          <a:solidFill>
                            <a:schemeClr val="dk1"/>
                          </a:solidFill>
                          <a:effectLst/>
                          <a:latin typeface="+mn-lt"/>
                          <a:ea typeface="+mn-ea"/>
                          <a:cs typeface="+mn-cs"/>
                        </a:rPr>
                        <a:t>₹800–₹2,000 for OBD device + app subscription charges.</a:t>
                      </a:r>
                      <a:br>
                        <a:rPr lang="en-IN" dirty="0"/>
                      </a:br>
                      <a:r>
                        <a:rPr lang="en-IN" sz="1800" b="1" i="0" kern="1200" dirty="0">
                          <a:solidFill>
                            <a:schemeClr val="dk1"/>
                          </a:solidFill>
                          <a:effectLst/>
                          <a:latin typeface="+mn-lt"/>
                          <a:ea typeface="+mn-ea"/>
                          <a:cs typeface="+mn-cs"/>
                        </a:rPr>
                        <a:t>Hardware cost extra</a:t>
                      </a:r>
                      <a:endParaRPr lang="en-US" dirty="0"/>
                    </a:p>
                  </a:txBody>
                  <a:tcPr/>
                </a:tc>
                <a:tc>
                  <a:txBody>
                    <a:bodyPr/>
                    <a:lstStyle/>
                    <a:p>
                      <a:r>
                        <a:rPr lang="en-IN" sz="1800" b="0" i="0" kern="1200" dirty="0">
                          <a:solidFill>
                            <a:schemeClr val="dk1"/>
                          </a:solidFill>
                          <a:effectLst/>
                          <a:latin typeface="+mn-lt"/>
                          <a:ea typeface="+mn-ea"/>
                          <a:cs typeface="+mn-cs"/>
                        </a:rPr>
                        <a:t>Free to browse. Revenue from ads &amp; dealers.</a:t>
                      </a:r>
                      <a:endParaRPr lang="en-US" dirty="0"/>
                    </a:p>
                  </a:txBody>
                  <a:tcPr/>
                </a:tc>
                <a:tc>
                  <a:txBody>
                    <a:bodyPr/>
                    <a:lstStyle/>
                    <a:p>
                      <a:r>
                        <a:rPr lang="en-IN" sz="1800" b="0" i="0" kern="1200" dirty="0">
                          <a:solidFill>
                            <a:schemeClr val="dk1"/>
                          </a:solidFill>
                          <a:effectLst/>
                          <a:latin typeface="+mn-lt"/>
                          <a:ea typeface="+mn-ea"/>
                          <a:cs typeface="+mn-cs"/>
                        </a:rPr>
                        <a:t>Free for basic. ChatGPT Plus costs₹1,700/month for advanced.</a:t>
                      </a:r>
                      <a:endParaRPr lang="en-US" dirty="0"/>
                    </a:p>
                  </a:txBody>
                  <a:tcPr/>
                </a:tc>
                <a:tc>
                  <a:txBody>
                    <a:bodyPr/>
                    <a:lstStyle/>
                    <a:p>
                      <a:r>
                        <a:rPr lang="en-IN" b="0" i="0" dirty="0">
                          <a:solidFill>
                            <a:srgbClr val="1A1A1A"/>
                          </a:solidFill>
                          <a:effectLst/>
                          <a:latin typeface="Anthropic Sans"/>
                        </a:rPr>
                        <a:t>Basic features FREE. Premium plan ₹99/month only.</a:t>
                      </a:r>
                      <a:endParaRPr lang="en-US" dirty="0"/>
                    </a:p>
                  </a:txBody>
                  <a:tcPr/>
                </a:tc>
                <a:extLst>
                  <a:ext uri="{0D108BD9-81ED-4DB2-BD59-A6C34878D82A}">
                    <a16:rowId xmlns:a16="http://schemas.microsoft.com/office/drawing/2014/main" val="3832088801"/>
                  </a:ext>
                </a:extLst>
              </a:tr>
              <a:tr h="632099">
                <a:tc>
                  <a:txBody>
                    <a:bodyPr/>
                    <a:lstStyle/>
                    <a:p>
                      <a:r>
                        <a:rPr lang="en-US" dirty="0"/>
                        <a:t>Branding channels </a:t>
                      </a:r>
                    </a:p>
                  </a:txBody>
                  <a:tcPr/>
                </a:tc>
                <a:tc>
                  <a:txBody>
                    <a:bodyPr/>
                    <a:lstStyle/>
                    <a:p>
                      <a:r>
                        <a:rPr lang="en-IN" b="0" i="0" dirty="0">
                          <a:solidFill>
                            <a:srgbClr val="1A1A1A"/>
                          </a:solidFill>
                          <a:effectLst/>
                          <a:latin typeface="Anthropic Sans"/>
                        </a:rPr>
                        <a:t>Amazon, Flipkart product listings. Auto accessory stores.</a:t>
                      </a:r>
                      <a:endParaRPr lang="en-US" dirty="0"/>
                    </a:p>
                  </a:txBody>
                  <a:tcPr/>
                </a:tc>
                <a:tc>
                  <a:txBody>
                    <a:bodyPr/>
                    <a:lstStyle/>
                    <a:p>
                      <a:r>
                        <a:rPr lang="en-IN" sz="1800" b="0" i="0" kern="1200" dirty="0">
                          <a:solidFill>
                            <a:schemeClr val="dk1"/>
                          </a:solidFill>
                          <a:effectLst/>
                          <a:latin typeface="+mn-lt"/>
                          <a:ea typeface="+mn-ea"/>
                          <a:cs typeface="+mn-cs"/>
                        </a:rPr>
                        <a:t>TV ads, YouTube, Google ads, dealership tie-ups. Very large budget.</a:t>
                      </a:r>
                      <a:endParaRPr lang="en-US" dirty="0"/>
                    </a:p>
                  </a:txBody>
                  <a:tcPr/>
                </a:tc>
                <a:tc>
                  <a:txBody>
                    <a:bodyPr/>
                    <a:lstStyle/>
                    <a:p>
                      <a:r>
                        <a:rPr lang="en-IN" sz="1800" b="0" i="0" kern="1200" dirty="0">
                          <a:solidFill>
                            <a:schemeClr val="dk1"/>
                          </a:solidFill>
                          <a:effectLst/>
                          <a:latin typeface="+mn-lt"/>
                          <a:ea typeface="+mn-ea"/>
                          <a:cs typeface="+mn-cs"/>
                        </a:rPr>
                        <a:t>World's most known brands. Zero marketing needed.</a:t>
                      </a:r>
                      <a:endParaRPr lang="en-US" dirty="0"/>
                    </a:p>
                  </a:txBody>
                  <a:tcPr/>
                </a:tc>
                <a:tc>
                  <a:txBody>
                    <a:bodyPr/>
                    <a:lstStyle/>
                    <a:p>
                      <a:r>
                        <a:rPr lang="en-IN" sz="1800" b="0" i="0" kern="1200" dirty="0">
                          <a:solidFill>
                            <a:schemeClr val="dk1"/>
                          </a:solidFill>
                          <a:effectLst/>
                          <a:latin typeface="+mn-lt"/>
                          <a:ea typeface="+mn-ea"/>
                          <a:cs typeface="+mn-cs"/>
                        </a:rPr>
                        <a:t>Social media (Instagram, YouTube), WhatsApp, college campaigns, word of mouth, garage partnerships.</a:t>
                      </a:r>
                      <a:endParaRPr lang="en-US" dirty="0"/>
                    </a:p>
                  </a:txBody>
                  <a:tcPr/>
                </a:tc>
                <a:extLst>
                  <a:ext uri="{0D108BD9-81ED-4DB2-BD59-A6C34878D82A}">
                    <a16:rowId xmlns:a16="http://schemas.microsoft.com/office/drawing/2014/main" val="457005780"/>
                  </a:ext>
                </a:extLst>
              </a:tr>
              <a:tr h="609600">
                <a:tc>
                  <a:txBody>
                    <a:bodyPr/>
                    <a:lstStyle/>
                    <a:p>
                      <a:r>
                        <a:rPr lang="en-US" dirty="0"/>
                        <a:t>Packaging</a:t>
                      </a:r>
                    </a:p>
                  </a:txBody>
                  <a:tcPr/>
                </a:tc>
                <a:tc>
                  <a:txBody>
                    <a:bodyPr/>
                    <a:lstStyle/>
                    <a:p>
                      <a:r>
                        <a:rPr lang="en-IN" sz="1800" b="0" i="0" kern="1200" dirty="0">
                          <a:solidFill>
                            <a:schemeClr val="dk1"/>
                          </a:solidFill>
                          <a:effectLst/>
                          <a:latin typeface="+mn-lt"/>
                          <a:ea typeface="+mn-ea"/>
                          <a:cs typeface="+mn-cs"/>
                        </a:rPr>
                        <a:t>Physical OBD device (plug-in hardware) + companion app. Needs setup.</a:t>
                      </a:r>
                      <a:endParaRPr lang="en-US" dirty="0"/>
                    </a:p>
                  </a:txBody>
                  <a:tcPr/>
                </a:tc>
                <a:tc>
                  <a:txBody>
                    <a:bodyPr/>
                    <a:lstStyle/>
                    <a:p>
                      <a:r>
                        <a:rPr lang="en-IN" sz="1800" b="0" i="0" kern="1200" dirty="0">
                          <a:solidFill>
                            <a:schemeClr val="dk1"/>
                          </a:solidFill>
                          <a:effectLst/>
                          <a:latin typeface="+mn-lt"/>
                          <a:ea typeface="+mn-ea"/>
                          <a:cs typeface="+mn-cs"/>
                        </a:rPr>
                        <a:t>Website + Mobile App. Clean UI but focused on car sales only.</a:t>
                      </a:r>
                      <a:endParaRPr lang="en-US" dirty="0"/>
                    </a:p>
                  </a:txBody>
                  <a:tcPr/>
                </a:tc>
                <a:tc>
                  <a:txBody>
                    <a:bodyPr/>
                    <a:lstStyle/>
                    <a:p>
                      <a:r>
                        <a:rPr lang="en-IN" sz="1800" b="0" i="0" kern="1200" dirty="0">
                          <a:solidFill>
                            <a:schemeClr val="dk1"/>
                          </a:solidFill>
                          <a:effectLst/>
                          <a:latin typeface="+mn-lt"/>
                          <a:ea typeface="+mn-ea"/>
                          <a:cs typeface="+mn-cs"/>
                        </a:rPr>
                        <a:t>Web + mobile app. Very general interface not made for cars</a:t>
                      </a:r>
                      <a:endParaRPr lang="en-US" dirty="0"/>
                    </a:p>
                  </a:txBody>
                  <a:tcPr/>
                </a:tc>
                <a:tc>
                  <a:txBody>
                    <a:bodyPr/>
                    <a:lstStyle/>
                    <a:p>
                      <a:r>
                        <a:rPr lang="en-IN" sz="1800" b="0" i="0" kern="1200" dirty="0">
                          <a:solidFill>
                            <a:schemeClr val="dk1"/>
                          </a:solidFill>
                          <a:effectLst/>
                          <a:latin typeface="+mn-lt"/>
                          <a:ea typeface="+mn-ea"/>
                          <a:cs typeface="+mn-cs"/>
                        </a:rPr>
                        <a:t>Mobile app only (Android + iOS). Dark orange theme. Voice + camera + chat. Simple 3-button interface for all users.</a:t>
                      </a:r>
                      <a:endParaRPr lang="en-US" dirty="0"/>
                    </a:p>
                  </a:txBody>
                  <a:tcPr/>
                </a:tc>
                <a:extLst>
                  <a:ext uri="{0D108BD9-81ED-4DB2-BD59-A6C34878D82A}">
                    <a16:rowId xmlns:a16="http://schemas.microsoft.com/office/drawing/2014/main" val="3498795634"/>
                  </a:ext>
                </a:extLst>
              </a:tr>
              <a:tr h="609600">
                <a:tc>
                  <a:txBody>
                    <a:bodyPr/>
                    <a:lstStyle/>
                    <a:p>
                      <a:r>
                        <a:rPr lang="en-US" dirty="0"/>
                        <a:t>Market reviews </a:t>
                      </a:r>
                    </a:p>
                  </a:txBody>
                  <a:tcPr/>
                </a:tc>
                <a:tc>
                  <a:txBody>
                    <a:bodyPr/>
                    <a:lstStyle/>
                    <a:p>
                      <a:r>
                        <a:rPr lang="en-IN" sz="1800" b="0" i="0" kern="1200" dirty="0">
                          <a:solidFill>
                            <a:schemeClr val="dk1"/>
                          </a:solidFill>
                          <a:effectLst/>
                          <a:latin typeface="+mn-lt"/>
                          <a:ea typeface="+mn-ea"/>
                          <a:cs typeface="+mn-cs"/>
                        </a:rPr>
                        <a:t>3.5★ average. Users say setup is confusing and codes are not understandable.</a:t>
                      </a:r>
                      <a:endParaRPr lang="en-US" dirty="0"/>
                    </a:p>
                  </a:txBody>
                  <a:tcPr/>
                </a:tc>
                <a:tc>
                  <a:txBody>
                    <a:bodyPr/>
                    <a:lstStyle/>
                    <a:p>
                      <a:r>
                        <a:rPr lang="en-IN" sz="1800" b="0" i="0" kern="1200" dirty="0">
                          <a:solidFill>
                            <a:schemeClr val="dk1"/>
                          </a:solidFill>
                          <a:effectLst/>
                          <a:latin typeface="+mn-lt"/>
                          <a:ea typeface="+mn-ea"/>
                          <a:cs typeface="+mn-cs"/>
                        </a:rPr>
                        <a:t>4.2★ on Play Store. Popular for buying cars. Users complain it doesn't help with repairs.</a:t>
                      </a:r>
                      <a:endParaRPr lang="en-US" dirty="0"/>
                    </a:p>
                  </a:txBody>
                  <a:tcPr/>
                </a:tc>
                <a:tc>
                  <a:txBody>
                    <a:bodyPr/>
                    <a:lstStyle/>
                    <a:p>
                      <a:r>
                        <a:rPr lang="en-IN" sz="1800" b="0" i="0" kern="1200" dirty="0">
                          <a:solidFill>
                            <a:schemeClr val="dk1"/>
                          </a:solidFill>
                          <a:effectLst/>
                          <a:latin typeface="+mn-lt"/>
                          <a:ea typeface="+mn-ea"/>
                          <a:cs typeface="+mn-cs"/>
                        </a:rPr>
                        <a:t>4.5★ but users say answers are too general and not car-specific for India.</a:t>
                      </a:r>
                      <a:endParaRPr lang="en-US" dirty="0"/>
                    </a:p>
                  </a:txBody>
                  <a:tcPr/>
                </a:tc>
                <a:tc>
                  <a:txBody>
                    <a:bodyPr/>
                    <a:lstStyle/>
                    <a:p>
                      <a:r>
                        <a:rPr lang="en-IN" sz="1800" b="0" i="0" kern="1200" dirty="0" err="1">
                          <a:solidFill>
                            <a:schemeClr val="dk1"/>
                          </a:solidFill>
                          <a:effectLst/>
                          <a:latin typeface="+mn-lt"/>
                          <a:ea typeface="+mn-ea"/>
                          <a:cs typeface="+mn-cs"/>
                        </a:rPr>
                        <a:t>arget</a:t>
                      </a:r>
                      <a:r>
                        <a:rPr lang="en-IN" sz="1800" b="0" i="0" kern="1200" dirty="0">
                          <a:solidFill>
                            <a:schemeClr val="dk1"/>
                          </a:solidFill>
                          <a:effectLst/>
                          <a:latin typeface="+mn-lt"/>
                          <a:ea typeface="+mn-ea"/>
                          <a:cs typeface="+mn-cs"/>
                        </a:rPr>
                        <a:t>: 4.5★+. Focused on simplicity, Indian languages, and instant helpful answers.</a:t>
                      </a:r>
                      <a:endParaRPr lang="en-US" dirty="0"/>
                    </a:p>
                  </a:txBody>
                  <a:tcPr/>
                </a:tc>
                <a:extLst>
                  <a:ext uri="{0D108BD9-81ED-4DB2-BD59-A6C34878D82A}">
                    <a16:rowId xmlns:a16="http://schemas.microsoft.com/office/drawing/2014/main" val="1009763486"/>
                  </a:ext>
                </a:extLst>
              </a:tr>
              <a:tr h="0">
                <a:tc>
                  <a:txBody>
                    <a:bodyPr/>
                    <a:lstStyle/>
                    <a:p>
                      <a:r>
                        <a:rPr lang="en-US" dirty="0"/>
                        <a:t>UVP</a:t>
                      </a:r>
                    </a:p>
                  </a:txBody>
                  <a:tcPr/>
                </a:tc>
                <a:tc>
                  <a:txBody>
                    <a:bodyPr/>
                    <a:lstStyle/>
                    <a:p>
                      <a:r>
                        <a:rPr lang="en-IN" sz="1800" b="0" i="0" kern="1200" dirty="0">
                          <a:solidFill>
                            <a:schemeClr val="dk1"/>
                          </a:solidFill>
                          <a:effectLst/>
                          <a:latin typeface="+mn-lt"/>
                          <a:ea typeface="+mn-ea"/>
                          <a:cs typeface="+mn-cs"/>
                        </a:rPr>
                        <a:t>Accurate OBD error code reading directly from car's computer.</a:t>
                      </a:r>
                      <a:endParaRPr lang="en-US" dirty="0"/>
                    </a:p>
                  </a:txBody>
                  <a:tcPr/>
                </a:tc>
                <a:tc>
                  <a:txBody>
                    <a:bodyPr/>
                    <a:lstStyle/>
                    <a:p>
                      <a:r>
                        <a:rPr lang="en-IN" sz="1800" b="0" i="0" kern="1200" dirty="0">
                          <a:solidFill>
                            <a:schemeClr val="dk1"/>
                          </a:solidFill>
                          <a:effectLst/>
                          <a:latin typeface="+mn-lt"/>
                          <a:ea typeface="+mn-ea"/>
                          <a:cs typeface="+mn-cs"/>
                        </a:rPr>
                        <a:t>India's largest car buying platform. Best for new and used car discovery.</a:t>
                      </a:r>
                      <a:endParaRPr lang="en-US" dirty="0"/>
                    </a:p>
                  </a:txBody>
                  <a:tcPr/>
                </a:tc>
                <a:tc>
                  <a:txBody>
                    <a:bodyPr/>
                    <a:lstStyle/>
                    <a:p>
                      <a:r>
                        <a:rPr lang="en-IN" sz="1800" b="0" i="0" kern="1200" dirty="0">
                          <a:solidFill>
                            <a:schemeClr val="dk1"/>
                          </a:solidFill>
                          <a:effectLst/>
                          <a:latin typeface="+mn-lt"/>
                          <a:ea typeface="+mn-ea"/>
                          <a:cs typeface="+mn-cs"/>
                        </a:rPr>
                        <a:t>World's most powerful AI. Answers any question instantly.</a:t>
                      </a:r>
                      <a:endParaRPr lang="en-US" dirty="0"/>
                    </a:p>
                  </a:txBody>
                  <a:tcPr/>
                </a:tc>
                <a:tc>
                  <a:txBody>
                    <a:bodyPr/>
                    <a:lstStyle/>
                    <a:p>
                      <a:r>
                        <a:rPr lang="en-IN" sz="1800" b="0" i="0" kern="1200" dirty="0">
                          <a:solidFill>
                            <a:schemeClr val="dk1"/>
                          </a:solidFill>
                          <a:effectLst/>
                          <a:latin typeface="+mn-lt"/>
                          <a:ea typeface="+mn-ea"/>
                          <a:cs typeface="+mn-cs"/>
                        </a:rPr>
                        <a:t>✔ AI diagnosis by text, voice &amp; photo,✔ GPS garage finder,✔ Spare parts price checker,✔ Works in Indian languages,✔ Works offline,✔ Built for India 🇮🇳</a:t>
                      </a:r>
                      <a:endParaRPr lang="en-US" dirty="0"/>
                    </a:p>
                  </a:txBody>
                  <a:tcPr/>
                </a:tc>
                <a:extLst>
                  <a:ext uri="{0D108BD9-81ED-4DB2-BD59-A6C34878D82A}">
                    <a16:rowId xmlns:a16="http://schemas.microsoft.com/office/drawing/2014/main" val="1794513914"/>
                  </a:ext>
                </a:extLst>
              </a:tr>
              <a:tr h="609600">
                <a:tc>
                  <a:txBody>
                    <a:bodyPr/>
                    <a:lstStyle/>
                    <a:p>
                      <a:r>
                        <a:rPr lang="en-US" dirty="0"/>
                        <a:t>Target Users  </a:t>
                      </a:r>
                    </a:p>
                  </a:txBody>
                  <a:tcPr/>
                </a:tc>
                <a:tc>
                  <a:txBody>
                    <a:bodyPr/>
                    <a:lstStyle/>
                    <a:p>
                      <a:r>
                        <a:rPr lang="en-IN" sz="1800" b="0" i="0" kern="1200" dirty="0">
                          <a:solidFill>
                            <a:schemeClr val="dk1"/>
                          </a:solidFill>
                          <a:effectLst/>
                          <a:latin typeface="+mn-lt"/>
                          <a:ea typeface="+mn-ea"/>
                          <a:cs typeface="+mn-cs"/>
                        </a:rPr>
                        <a:t>Car enthusiasts &amp; mechanics who understand error codes.</a:t>
                      </a:r>
                      <a:endParaRPr lang="en-US" dirty="0"/>
                    </a:p>
                  </a:txBody>
                  <a:tcPr/>
                </a:tc>
                <a:tc>
                  <a:txBody>
                    <a:bodyPr/>
                    <a:lstStyle/>
                    <a:p>
                      <a:r>
                        <a:rPr lang="en-IN" sz="1800" b="0" i="0" kern="1200" dirty="0">
                          <a:solidFill>
                            <a:schemeClr val="dk1"/>
                          </a:solidFill>
                          <a:effectLst/>
                          <a:latin typeface="+mn-lt"/>
                          <a:ea typeface="+mn-ea"/>
                          <a:cs typeface="+mn-cs"/>
                        </a:rPr>
                        <a:t>People buying or selling a car. Car enthusiasts.</a:t>
                      </a:r>
                      <a:endParaRPr lang="en-US" dirty="0"/>
                    </a:p>
                  </a:txBody>
                  <a:tcPr/>
                </a:tc>
                <a:tc>
                  <a:txBody>
                    <a:bodyPr/>
                    <a:lstStyle/>
                    <a:p>
                      <a:r>
                        <a:rPr lang="en-IN" sz="1800" b="0" i="0" kern="1200" dirty="0">
                          <a:solidFill>
                            <a:schemeClr val="dk1"/>
                          </a:solidFill>
                          <a:effectLst/>
                          <a:latin typeface="+mn-lt"/>
                          <a:ea typeface="+mn-ea"/>
                          <a:cs typeface="+mn-cs"/>
                        </a:rPr>
                        <a:t>Everyone — but no specific focus on car owners.</a:t>
                      </a:r>
                      <a:endParaRPr lang="en-US" dirty="0"/>
                    </a:p>
                  </a:txBody>
                  <a:tcPr/>
                </a:tc>
                <a:tc>
                  <a:txBody>
                    <a:bodyPr/>
                    <a:lstStyle/>
                    <a:p>
                      <a:r>
                        <a:rPr lang="en-IN" sz="1800" b="0" i="0" kern="1200" dirty="0">
                          <a:solidFill>
                            <a:schemeClr val="dk1"/>
                          </a:solidFill>
                          <a:effectLst/>
                          <a:latin typeface="+mn-lt"/>
                          <a:ea typeface="+mn-ea"/>
                          <a:cs typeface="+mn-cs"/>
                        </a:rPr>
                        <a:t>Every Indian car owner — especially non-technical, rural, busy professionals who need simple instant help.</a:t>
                      </a:r>
                      <a:endParaRPr lang="en-US" dirty="0"/>
                    </a:p>
                  </a:txBody>
                  <a:tcPr/>
                </a:tc>
                <a:extLst>
                  <a:ext uri="{0D108BD9-81ED-4DB2-BD59-A6C34878D82A}">
                    <a16:rowId xmlns:a16="http://schemas.microsoft.com/office/drawing/2014/main" val="3836816247"/>
                  </a:ext>
                </a:extLst>
              </a:tr>
            </a:tbl>
          </a:graphicData>
        </a:graphic>
      </p:graphicFrame>
      <p:pic>
        <p:nvPicPr>
          <p:cNvPr id="2" name="Picture 1" descr="AUTOFIXAI">
            <a:extLst>
              <a:ext uri="{FF2B5EF4-FFF2-40B4-BE49-F238E27FC236}">
                <a16:creationId xmlns:a16="http://schemas.microsoft.com/office/drawing/2014/main" id="{0756E78D-24AE-20CC-1381-ADDA1CDA37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70897" y="266725"/>
            <a:ext cx="1924291" cy="1386112"/>
          </a:xfrm>
          <a:prstGeom prst="rect">
            <a:avLst/>
          </a:prstGeom>
        </p:spPr>
      </p:pic>
    </p:spTree>
    <p:extLst>
      <p:ext uri="{BB962C8B-B14F-4D97-AF65-F5344CB8AC3E}">
        <p14:creationId xmlns:p14="http://schemas.microsoft.com/office/powerpoint/2010/main" val="31240315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txBox="1"/>
          <p:nvPr/>
        </p:nvSpPr>
        <p:spPr>
          <a:xfrm>
            <a:off x="738845" y="546240"/>
            <a:ext cx="12338484" cy="1115690"/>
          </a:xfrm>
          <a:prstGeom prst="rect">
            <a:avLst/>
          </a:prstGeom>
        </p:spPr>
        <p:txBody>
          <a:bodyPr wrap="square" lIns="0" tIns="0" rIns="0" bIns="0" rtlCol="0" anchor="t">
            <a:spAutoFit/>
          </a:bodyPr>
          <a:lstStyle/>
          <a:p>
            <a:pPr>
              <a:lnSpc>
                <a:spcPts val="8747"/>
              </a:lnSpc>
            </a:pPr>
            <a:r>
              <a:rPr lang="en-US" sz="6000" b="1" dirty="0"/>
              <a:t>Lean Canvas</a:t>
            </a:r>
          </a:p>
        </p:txBody>
      </p:sp>
      <p:sp>
        <p:nvSpPr>
          <p:cNvPr id="14" name="TextBox 13"/>
          <p:cNvSpPr txBox="1"/>
          <p:nvPr/>
        </p:nvSpPr>
        <p:spPr>
          <a:xfrm>
            <a:off x="14752474" y="1748104"/>
            <a:ext cx="3323451" cy="4801314"/>
          </a:xfrm>
          <a:prstGeom prst="rect">
            <a:avLst/>
          </a:prstGeom>
          <a:noFill/>
          <a:ln>
            <a:solidFill>
              <a:schemeClr val="bg2">
                <a:lumMod val="50000"/>
              </a:schemeClr>
            </a:solidFill>
          </a:ln>
        </p:spPr>
        <p:txBody>
          <a:bodyPr wrap="square" rtlCol="0">
            <a:spAutoFit/>
          </a:bodyPr>
          <a:lstStyle/>
          <a:p>
            <a:r>
              <a:rPr lang="en-IN" b="1" dirty="0"/>
              <a:t>Business Model </a:t>
            </a:r>
            <a:r>
              <a:rPr lang="en-IN" sz="1200" dirty="0"/>
              <a:t>(Explain with a process diagram)</a:t>
            </a:r>
          </a:p>
          <a:p>
            <a:endParaRPr lang="en-IN" sz="120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Select car model and year  </a:t>
            </a:r>
          </a:p>
          <a:p>
            <a:endParaRPr lang="en-IN" sz="1200" dirty="0">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Describe the car Problem</a:t>
            </a:r>
          </a:p>
          <a:p>
            <a:r>
              <a:rPr lang="en-IN" dirty="0">
                <a:solidFill>
                  <a:srgbClr val="002060"/>
                </a:solidFill>
                <a:latin typeface="Arial" panose="020B0604020202020204" pitchFamily="34" charset="0"/>
                <a:cs typeface="Arial" panose="020B0604020202020204" pitchFamily="34" charset="0"/>
              </a:rPr>
              <a:t>                      </a:t>
            </a:r>
          </a:p>
          <a:p>
            <a:r>
              <a:rPr lang="en-IN" dirty="0">
                <a:solidFill>
                  <a:srgbClr val="002060"/>
                </a:solidFill>
                <a:latin typeface="Arial" panose="020B0604020202020204" pitchFamily="34" charset="0"/>
                <a:cs typeface="Arial" panose="020B0604020202020204" pitchFamily="34" charset="0"/>
              </a:rPr>
              <a:t>   Sent to AI processing Engine </a:t>
            </a:r>
          </a:p>
          <a:p>
            <a:r>
              <a:rPr lang="en-IN" dirty="0">
                <a:solidFill>
                  <a:srgbClr val="002060"/>
                </a:solidFill>
                <a:latin typeface="Arial" panose="020B0604020202020204" pitchFamily="34" charset="0"/>
                <a:cs typeface="Arial" panose="020B0604020202020204" pitchFamily="34" charset="0"/>
              </a:rPr>
              <a:t>                    </a:t>
            </a:r>
          </a:p>
          <a:p>
            <a:r>
              <a:rPr lang="en-IN" dirty="0">
                <a:solidFill>
                  <a:srgbClr val="002060"/>
                </a:solidFill>
                <a:latin typeface="Arial" panose="020B0604020202020204" pitchFamily="34" charset="0"/>
                <a:cs typeface="Arial" panose="020B0604020202020204" pitchFamily="34" charset="0"/>
              </a:rPr>
              <a:t>   Problem identified for exact</a:t>
            </a:r>
          </a:p>
          <a:p>
            <a:r>
              <a:rPr lang="en-IN" dirty="0">
                <a:solidFill>
                  <a:srgbClr val="002060"/>
                </a:solidFill>
                <a:latin typeface="Arial" panose="020B0604020202020204" pitchFamily="34" charset="0"/>
                <a:cs typeface="Arial" panose="020B0604020202020204" pitchFamily="34" charset="0"/>
              </a:rPr>
              <a:t>   car               </a:t>
            </a:r>
          </a:p>
          <a:p>
            <a:r>
              <a:rPr lang="en-IN" dirty="0">
                <a:solidFill>
                  <a:srgbClr val="002060"/>
                </a:solidFill>
                <a:latin typeface="Arial" panose="020B0604020202020204" pitchFamily="34" charset="0"/>
                <a:cs typeface="Arial" panose="020B0604020202020204" pitchFamily="34" charset="0"/>
              </a:rPr>
              <a:t>   Repair cost estimated in ₹</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Directions + call in one tap</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User never get </a:t>
            </a:r>
            <a:r>
              <a:rPr lang="en-IN" dirty="0" err="1">
                <a:solidFill>
                  <a:srgbClr val="002060"/>
                </a:solidFill>
                <a:latin typeface="Arial" panose="020B0604020202020204" pitchFamily="34" charset="0"/>
                <a:cs typeface="Arial" panose="020B0604020202020204" pitchFamily="34" charset="0"/>
              </a:rPr>
              <a:t>overchanged</a:t>
            </a:r>
            <a:r>
              <a:rPr lang="en-IN" dirty="0">
                <a:solidFill>
                  <a:srgbClr val="002060"/>
                </a:solidFill>
                <a:latin typeface="Arial" panose="020B0604020202020204" pitchFamily="34" charset="0"/>
                <a:cs typeface="Arial" panose="020B0604020202020204" pitchFamily="34" charset="0"/>
              </a:rPr>
              <a:t> </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Problem fully solved for user</a:t>
            </a:r>
          </a:p>
        </p:txBody>
      </p:sp>
      <p:sp>
        <p:nvSpPr>
          <p:cNvPr id="22" name="TextBox 21">
            <a:extLst>
              <a:ext uri="{FF2B5EF4-FFF2-40B4-BE49-F238E27FC236}">
                <a16:creationId xmlns:a16="http://schemas.microsoft.com/office/drawing/2014/main" id="{437D10F2-D825-4F14-8721-CF5105D60893}"/>
              </a:ext>
            </a:extLst>
          </p:cNvPr>
          <p:cNvSpPr txBox="1"/>
          <p:nvPr/>
        </p:nvSpPr>
        <p:spPr>
          <a:xfrm>
            <a:off x="16426366" y="799815"/>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23" name="Rectangle 22">
            <a:extLst>
              <a:ext uri="{FF2B5EF4-FFF2-40B4-BE49-F238E27FC236}">
                <a16:creationId xmlns:a16="http://schemas.microsoft.com/office/drawing/2014/main" id="{5DE34494-019C-4AF1-907B-33245967C575}"/>
              </a:ext>
            </a:extLst>
          </p:cNvPr>
          <p:cNvSpPr/>
          <p:nvPr/>
        </p:nvSpPr>
        <p:spPr>
          <a:xfrm>
            <a:off x="16230600" y="398995"/>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pSp>
        <p:nvGrpSpPr>
          <p:cNvPr id="24" name="Group 23">
            <a:extLst>
              <a:ext uri="{FF2B5EF4-FFF2-40B4-BE49-F238E27FC236}">
                <a16:creationId xmlns:a16="http://schemas.microsoft.com/office/drawing/2014/main" id="{2871DA2D-B3CE-4F68-958C-EFD80A045093}"/>
              </a:ext>
            </a:extLst>
          </p:cNvPr>
          <p:cNvGrpSpPr/>
          <p:nvPr/>
        </p:nvGrpSpPr>
        <p:grpSpPr>
          <a:xfrm>
            <a:off x="738845" y="1646989"/>
            <a:ext cx="13931506" cy="8182928"/>
            <a:chOff x="1057033" y="956344"/>
            <a:chExt cx="9301525" cy="5455285"/>
          </a:xfrm>
          <a:noFill/>
        </p:grpSpPr>
        <p:sp>
          <p:nvSpPr>
            <p:cNvPr id="25" name="Rectangle 24">
              <a:extLst>
                <a:ext uri="{FF2B5EF4-FFF2-40B4-BE49-F238E27FC236}">
                  <a16:creationId xmlns:a16="http://schemas.microsoft.com/office/drawing/2014/main" id="{142DE8B1-BA37-482F-A9F6-BEF943895596}"/>
                </a:ext>
              </a:extLst>
            </p:cNvPr>
            <p:cNvSpPr/>
            <p:nvPr/>
          </p:nvSpPr>
          <p:spPr>
            <a:xfrm>
              <a:off x="1057033" y="956344"/>
              <a:ext cx="1870333" cy="406161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spcBef>
                  <a:spcPts val="300"/>
                </a:spcBef>
                <a:spcAft>
                  <a:spcPts val="300"/>
                </a:spcAft>
                <a:buNone/>
              </a:pPr>
              <a:r>
                <a:rPr lang="en-IN" sz="2000" b="1" dirty="0">
                  <a:solidFill>
                    <a:srgbClr val="C05000"/>
                  </a:solidFill>
                  <a:effectLst/>
                  <a:latin typeface="Arial" panose="020B0604020202020204" pitchFamily="34" charset="0"/>
                  <a:ea typeface="Arial" panose="020B0604020202020204" pitchFamily="34" charset="0"/>
                </a:rPr>
                <a:t>Problem</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Car owners don't understand warning lights or sounds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Hard to find reliable, trusted mechanics nearby</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Fear of being overcharged</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No simple all-in-one     tool for Indian car owners</a:t>
              </a:r>
              <a:endParaRPr lang="en-GB" dirty="0">
                <a:solidFill>
                  <a:schemeClr val="tx1"/>
                </a:solidFill>
              </a:endParaRPr>
            </a:p>
            <a:p>
              <a:r>
                <a:rPr lang="en-GB" b="1" dirty="0">
                  <a:solidFill>
                    <a:schemeClr val="tx1"/>
                  </a:solidFill>
                </a:rPr>
                <a:t>EXISTING ALTERNATIVES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Search — generic, not car-specific</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kumimoji="0" lang="en-IN" sz="1800" b="0" i="0" u="none" strike="noStrike" kern="1200" cap="none" spc="0" normalizeH="0" baseline="0" noProof="0" dirty="0">
                  <a:ln>
                    <a:noFill/>
                  </a:ln>
                  <a:solidFill>
                    <a:srgbClr val="1A1A1A"/>
                  </a:solidFill>
                  <a:effectLst/>
                  <a:uLnTx/>
                  <a:uFillTx/>
                  <a:latin typeface="Arial" panose="020B0604020202020204" pitchFamily="34" charset="0"/>
                  <a:ea typeface="Arial" panose="020B0604020202020204" pitchFamily="34" charset="0"/>
                  <a:cs typeface="+mn-cs"/>
                </a:rPr>
                <a:t>•</a:t>
              </a:r>
              <a:r>
                <a:rPr lang="en-IN" sz="1800" dirty="0">
                  <a:solidFill>
                    <a:srgbClr val="1A1A1A"/>
                  </a:solidFill>
                  <a:effectLst/>
                  <a:latin typeface="Arial" panose="020B0604020202020204" pitchFamily="34" charset="0"/>
                  <a:ea typeface="Arial" panose="020B0604020202020204" pitchFamily="34" charset="0"/>
                </a:rPr>
                <a:t>  </a:t>
              </a:r>
              <a:r>
                <a:rPr lang="en-IN" sz="1800" dirty="0" err="1">
                  <a:solidFill>
                    <a:srgbClr val="1A1A1A"/>
                  </a:solidFill>
                  <a:effectLst/>
                  <a:latin typeface="Arial" panose="020B0604020202020204" pitchFamily="34" charset="0"/>
                  <a:ea typeface="Arial" panose="020B0604020202020204" pitchFamily="34" charset="0"/>
                </a:rPr>
                <a:t>CarDekho</a:t>
              </a:r>
              <a:r>
                <a:rPr lang="en-IN" sz="1800" dirty="0">
                  <a:solidFill>
                    <a:srgbClr val="1A1A1A"/>
                  </a:solidFill>
                  <a:effectLst/>
                  <a:latin typeface="Arial" panose="020B0604020202020204" pitchFamily="34" charset="0"/>
                  <a:ea typeface="Arial" panose="020B0604020202020204" pitchFamily="34" charset="0"/>
                </a:rPr>
                <a:t> — for buying cars not fixing</a:t>
              </a:r>
              <a:endParaRPr lang="en-IN" sz="2000" dirty="0">
                <a:effectLst/>
                <a:latin typeface="Arial" panose="020B0604020202020204" pitchFamily="34" charset="0"/>
                <a:ea typeface="Arial" panose="020B0604020202020204" pitchFamily="34" charset="0"/>
              </a:endParaRPr>
            </a:p>
            <a:p>
              <a:r>
                <a:rPr lang="en-IN" sz="1800" dirty="0">
                  <a:solidFill>
                    <a:srgbClr val="1A1A1A"/>
                  </a:solidFill>
                  <a:effectLst/>
                  <a:latin typeface="Arial" panose="020B0604020202020204" pitchFamily="34" charset="0"/>
                  <a:ea typeface="Arial" panose="020B0604020202020204" pitchFamily="34" charset="0"/>
                </a:rPr>
                <a:t>• OBD devices — costly   hardware, confusing</a:t>
              </a:r>
            </a:p>
            <a:p>
              <a:r>
                <a:rPr lang="en-IN" sz="1800" dirty="0">
                  <a:solidFill>
                    <a:srgbClr val="1A1A1A"/>
                  </a:solidFill>
                  <a:effectLst/>
                  <a:latin typeface="Arial" panose="020B0604020202020204" pitchFamily="34" charset="0"/>
                  <a:ea typeface="Arial" panose="020B0604020202020204" pitchFamily="34" charset="0"/>
                </a:rPr>
                <a:t>codes</a:t>
              </a:r>
              <a:endParaRPr lang="en-GB" dirty="0">
                <a:solidFill>
                  <a:schemeClr val="tx1"/>
                </a:solidFill>
              </a:endParaRPr>
            </a:p>
          </p:txBody>
        </p:sp>
        <p:sp>
          <p:nvSpPr>
            <p:cNvPr id="26" name="Rectangle 25">
              <a:extLst>
                <a:ext uri="{FF2B5EF4-FFF2-40B4-BE49-F238E27FC236}">
                  <a16:creationId xmlns:a16="http://schemas.microsoft.com/office/drawing/2014/main" id="{DA61AF53-C124-49C7-9FFB-00E90C7BD86C}"/>
                </a:ext>
              </a:extLst>
            </p:cNvPr>
            <p:cNvSpPr/>
            <p:nvPr/>
          </p:nvSpPr>
          <p:spPr>
            <a:xfrm>
              <a:off x="3032477" y="2637347"/>
              <a:ext cx="1608198" cy="236883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METRICS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App downloads per 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Daily active users (DAU)</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Garage bookings per 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AI chat questions answered</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Premium subscriber count</a:t>
              </a:r>
              <a:endParaRPr lang="en-US" dirty="0">
                <a:solidFill>
                  <a:schemeClr val="tx1"/>
                </a:solidFill>
              </a:endParaRPr>
            </a:p>
            <a:p>
              <a:endParaRPr lang="en-ZA" b="1" dirty="0">
                <a:solidFill>
                  <a:schemeClr val="tx1"/>
                </a:solidFill>
              </a:endParaRPr>
            </a:p>
          </p:txBody>
        </p:sp>
        <p:sp>
          <p:nvSpPr>
            <p:cNvPr id="27" name="Rectangle 26">
              <a:extLst>
                <a:ext uri="{FF2B5EF4-FFF2-40B4-BE49-F238E27FC236}">
                  <a16:creationId xmlns:a16="http://schemas.microsoft.com/office/drawing/2014/main" id="{8C3C327D-2A6A-43E6-8F62-9A1FFF479CDC}"/>
                </a:ext>
              </a:extLst>
            </p:cNvPr>
            <p:cNvSpPr/>
            <p:nvPr/>
          </p:nvSpPr>
          <p:spPr>
            <a:xfrm>
              <a:off x="3036352" y="956345"/>
              <a:ext cx="1608198"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SOLUTION</a:t>
              </a:r>
            </a:p>
            <a:p>
              <a:r>
                <a:rPr lang="en-US" dirty="0">
                  <a:solidFill>
                    <a:schemeClr val="tx1"/>
                  </a:solidFill>
                  <a:latin typeface="Arial" panose="020B0604020202020204" pitchFamily="34" charset="0"/>
                  <a:cs typeface="Arial" panose="020B0604020202020204" pitchFamily="34" charset="0"/>
                </a:rPr>
                <a:t>Auto Fix AI provides AI-powered vehicle diagnosis through text, voice, and photo analysis, helping users quickly identify car problems</a:t>
              </a:r>
            </a:p>
          </p:txBody>
        </p:sp>
        <p:sp>
          <p:nvSpPr>
            <p:cNvPr id="28" name="Rectangle 27">
              <a:extLst>
                <a:ext uri="{FF2B5EF4-FFF2-40B4-BE49-F238E27FC236}">
                  <a16:creationId xmlns:a16="http://schemas.microsoft.com/office/drawing/2014/main" id="{EB374BDD-612A-4745-8EB3-8C7D069E8146}"/>
                </a:ext>
              </a:extLst>
            </p:cNvPr>
            <p:cNvSpPr/>
            <p:nvPr/>
          </p:nvSpPr>
          <p:spPr>
            <a:xfrm>
              <a:off x="4752681" y="956344"/>
              <a:ext cx="1835913" cy="406161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UNIQUE VALUE PROPOSITION</a:t>
              </a:r>
            </a:p>
            <a:p>
              <a:r>
                <a:rPr lang="en-IN" sz="1800" dirty="0">
                  <a:solidFill>
                    <a:srgbClr val="1A1A1A"/>
                  </a:solidFill>
                  <a:effectLst/>
                  <a:latin typeface="Arial" panose="020B0604020202020204" pitchFamily="34" charset="0"/>
                  <a:ea typeface="Arial" panose="020B0604020202020204" pitchFamily="34" charset="0"/>
                </a:rPr>
                <a:t>Auto Fix AI is the ONLY app that diagnoses your car by sound, photo or voice — connects you to a verified garage nearby with spare part prices — built for India.</a:t>
              </a:r>
            </a:p>
            <a:p>
              <a:endParaRPr lang="en-US" dirty="0">
                <a:solidFill>
                  <a:schemeClr val="tx1"/>
                </a:solidFill>
              </a:endParaRPr>
            </a:p>
            <a:p>
              <a:r>
                <a:rPr lang="en-US" b="1" dirty="0">
                  <a:solidFill>
                    <a:schemeClr val="tx1"/>
                  </a:solidFill>
                </a:rPr>
                <a:t>HIGH-LEVEL CONCEPT</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Just like Zomato finds restaurants and lets you order — Auto Fix AI diagnoses your car, finds garages nearby and shows spare part prices. All in one tap.</a:t>
              </a:r>
              <a:endParaRPr lang="en-US" b="1" dirty="0">
                <a:solidFill>
                  <a:schemeClr val="tx1"/>
                </a:solidFill>
              </a:endParaRPr>
            </a:p>
            <a:p>
              <a:endParaRPr lang="en-US" b="1" dirty="0">
                <a:solidFill>
                  <a:schemeClr val="tx1"/>
                </a:solidFill>
              </a:endParaRPr>
            </a:p>
          </p:txBody>
        </p:sp>
        <p:sp>
          <p:nvSpPr>
            <p:cNvPr id="29" name="Rectangle 28">
              <a:extLst>
                <a:ext uri="{FF2B5EF4-FFF2-40B4-BE49-F238E27FC236}">
                  <a16:creationId xmlns:a16="http://schemas.microsoft.com/office/drawing/2014/main" id="{2BA62365-66A4-404F-8375-01904FBE1169}"/>
                </a:ext>
              </a:extLst>
            </p:cNvPr>
            <p:cNvSpPr/>
            <p:nvPr/>
          </p:nvSpPr>
          <p:spPr>
            <a:xfrm>
              <a:off x="6689796" y="956344"/>
              <a:ext cx="1657072"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UNFAIR ADVANTAGE</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Audio + Image + Text Diagnosis</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Offline Mode</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Data Moat</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Verified Garage Network</a:t>
              </a:r>
            </a:p>
            <a:p>
              <a:endParaRPr lang="en-ZA" dirty="0">
                <a:solidFill>
                  <a:schemeClr val="tx1"/>
                </a:solidFill>
              </a:endParaRPr>
            </a:p>
          </p:txBody>
        </p:sp>
        <p:sp>
          <p:nvSpPr>
            <p:cNvPr id="30" name="Rectangle 29">
              <a:extLst>
                <a:ext uri="{FF2B5EF4-FFF2-40B4-BE49-F238E27FC236}">
                  <a16:creationId xmlns:a16="http://schemas.microsoft.com/office/drawing/2014/main" id="{F7BC84B1-956D-42A5-8672-FCFD7B07D99A}"/>
                </a:ext>
              </a:extLst>
            </p:cNvPr>
            <p:cNvSpPr/>
            <p:nvPr/>
          </p:nvSpPr>
          <p:spPr>
            <a:xfrm>
              <a:off x="6686843" y="2644352"/>
              <a:ext cx="1657072" cy="237360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CHANNELS</a:t>
              </a:r>
            </a:p>
            <a:p>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Google Play Store</a:t>
              </a:r>
              <a:endParaRPr lang="en-US" dirty="0">
                <a:solidFill>
                  <a:schemeClr val="tx1"/>
                </a:solidFill>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Instagram &amp; YouTube reels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WhatsApp community sharing</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College campus campaigns</a:t>
              </a:r>
              <a:endParaRPr lang="en-US" dirty="0">
                <a:solidFill>
                  <a:schemeClr val="tx1"/>
                </a:solidFill>
              </a:endParaRPr>
            </a:p>
            <a:p>
              <a:r>
                <a:rPr lang="en-IN" dirty="0">
                  <a:solidFill>
                    <a:srgbClr val="1A1A1A"/>
                  </a:solidFill>
                  <a:latin typeface="Arial" panose="020B0604020202020204" pitchFamily="34" charset="0"/>
                  <a:ea typeface="Arial" panose="020B0604020202020204" pitchFamily="34" charset="0"/>
                </a:rPr>
                <a:t> • Word </a:t>
              </a:r>
              <a:r>
                <a:rPr lang="en-IN" sz="1800" dirty="0">
                  <a:solidFill>
                    <a:srgbClr val="1A1A1A"/>
                  </a:solidFill>
                  <a:effectLst/>
                  <a:latin typeface="Arial" panose="020B0604020202020204" pitchFamily="34" charset="0"/>
                  <a:ea typeface="Arial" panose="020B0604020202020204" pitchFamily="34" charset="0"/>
                </a:rPr>
                <a:t>of mouth</a:t>
              </a:r>
            </a:p>
            <a:p>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referral program</a:t>
              </a:r>
              <a:endParaRPr lang="en-US" sz="1800" dirty="0">
                <a:solidFill>
                  <a:schemeClr val="tx1"/>
                </a:solidFill>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Petrol station &amp; garage partnerships</a:t>
              </a:r>
              <a:endParaRPr lang="en-US" dirty="0">
                <a:solidFill>
                  <a:schemeClr val="tx1"/>
                </a:solidFill>
              </a:endParaRPr>
            </a:p>
          </p:txBody>
        </p:sp>
        <p:sp>
          <p:nvSpPr>
            <p:cNvPr id="31" name="Rectangle 30">
              <a:extLst>
                <a:ext uri="{FF2B5EF4-FFF2-40B4-BE49-F238E27FC236}">
                  <a16:creationId xmlns:a16="http://schemas.microsoft.com/office/drawing/2014/main" id="{FAC9E9F4-9BD4-4F01-9A69-4B416DF6CD3A}"/>
                </a:ext>
              </a:extLst>
            </p:cNvPr>
            <p:cNvSpPr/>
            <p:nvPr/>
          </p:nvSpPr>
          <p:spPr>
            <a:xfrm>
              <a:off x="5781668" y="5124246"/>
              <a:ext cx="4576890" cy="128738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REVENUE STREAMS</a:t>
              </a:r>
            </a:p>
            <a:p>
              <a:r>
                <a:rPr lang="en-US" dirty="0">
                  <a:solidFill>
                    <a:schemeClr val="tx1"/>
                  </a:solidFill>
                  <a:latin typeface="Arial" panose="020B0604020202020204" pitchFamily="34" charset="0"/>
                  <a:cs typeface="Arial" panose="020B0604020202020204" pitchFamily="34" charset="0"/>
                </a:rPr>
                <a:t>Subscription (₹99/month)</a:t>
              </a:r>
            </a:p>
            <a:p>
              <a:r>
                <a:rPr lang="en-US" dirty="0">
                  <a:solidFill>
                    <a:schemeClr val="tx1"/>
                  </a:solidFill>
                  <a:latin typeface="Arial" panose="020B0604020202020204" pitchFamily="34" charset="0"/>
                  <a:cs typeface="Arial" panose="020B0604020202020204" pitchFamily="34" charset="0"/>
                </a:rPr>
                <a:t>Garage Commission (10–15%)</a:t>
              </a:r>
            </a:p>
            <a:p>
              <a:r>
                <a:rPr lang="en-US" dirty="0">
                  <a:solidFill>
                    <a:schemeClr val="tx1"/>
                  </a:solidFill>
                  <a:latin typeface="Arial" panose="020B0604020202020204" pitchFamily="34" charset="0"/>
                  <a:cs typeface="Arial" panose="020B0604020202020204" pitchFamily="34" charset="0"/>
                </a:rPr>
                <a:t>Spare Parts Affiliate Commission</a:t>
              </a:r>
            </a:p>
            <a:p>
              <a:r>
                <a:rPr lang="en-US" dirty="0">
                  <a:solidFill>
                    <a:schemeClr val="tx1"/>
                  </a:solidFill>
                  <a:latin typeface="Arial" panose="020B0604020202020204" pitchFamily="34" charset="0"/>
                  <a:cs typeface="Arial" panose="020B0604020202020204" pitchFamily="34" charset="0"/>
                </a:rPr>
                <a:t>Google AdMob Advertisements</a:t>
              </a:r>
            </a:p>
            <a:p>
              <a:r>
                <a:rPr lang="en-US" dirty="0">
                  <a:solidFill>
                    <a:schemeClr val="tx1"/>
                  </a:solidFill>
                  <a:latin typeface="Arial" panose="020B0604020202020204" pitchFamily="34" charset="0"/>
                  <a:cs typeface="Arial" panose="020B0604020202020204" pitchFamily="34" charset="0"/>
                </a:rPr>
                <a:t>Premium Garage Listings (₹499–999/month)</a:t>
              </a:r>
            </a:p>
            <a:p>
              <a:endParaRPr lang="en-US" dirty="0">
                <a:solidFill>
                  <a:schemeClr val="tx1"/>
                </a:solidFill>
              </a:endParaRPr>
            </a:p>
          </p:txBody>
        </p:sp>
        <p:sp>
          <p:nvSpPr>
            <p:cNvPr id="32" name="Rectangle 31">
              <a:extLst>
                <a:ext uri="{FF2B5EF4-FFF2-40B4-BE49-F238E27FC236}">
                  <a16:creationId xmlns:a16="http://schemas.microsoft.com/office/drawing/2014/main" id="{009C3843-A5E1-4267-892B-5C21CFF1D0BF}"/>
                </a:ext>
              </a:extLst>
            </p:cNvPr>
            <p:cNvSpPr/>
            <p:nvPr/>
          </p:nvSpPr>
          <p:spPr>
            <a:xfrm>
              <a:off x="8464027" y="956344"/>
              <a:ext cx="1848269" cy="404983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CUSTOMER SEGMENTS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Non-technical car owners (primary)</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Busy working professionals in cities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People in semi-urban and rural areas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First-time car buyers</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Women and elderly car</a:t>
              </a:r>
            </a:p>
            <a:p>
              <a:pPr>
                <a:buNone/>
              </a:pPr>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 owners</a:t>
              </a:r>
              <a:endParaRPr lang="en-US" dirty="0">
                <a:solidFill>
                  <a:schemeClr val="tx1"/>
                </a:solidFill>
              </a:endParaRPr>
            </a:p>
            <a:p>
              <a:r>
                <a:rPr lang="en-US" b="1" dirty="0">
                  <a:solidFill>
                    <a:schemeClr val="tx1"/>
                  </a:solidFill>
                </a:rPr>
                <a:t>EARLY ADOPTERS </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Urban professionals aged 25-40</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College students who own cars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People who recently bought first car</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Car owners who were overcharged before</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Tech-savvy users in Bangalore, Hyderabad. </a:t>
              </a:r>
              <a:endParaRPr lang="en-US" b="1" dirty="0">
                <a:solidFill>
                  <a:schemeClr val="tx1"/>
                </a:solidFill>
              </a:endParaRPr>
            </a:p>
          </p:txBody>
        </p:sp>
        <p:sp>
          <p:nvSpPr>
            <p:cNvPr id="33" name="Rectangle 32">
              <a:extLst>
                <a:ext uri="{FF2B5EF4-FFF2-40B4-BE49-F238E27FC236}">
                  <a16:creationId xmlns:a16="http://schemas.microsoft.com/office/drawing/2014/main" id="{B433AFEF-AAB0-4118-9790-7694BAC47BCE}"/>
                </a:ext>
              </a:extLst>
            </p:cNvPr>
            <p:cNvSpPr/>
            <p:nvPr/>
          </p:nvSpPr>
          <p:spPr>
            <a:xfrm>
              <a:off x="1057033" y="5132637"/>
              <a:ext cx="4599726" cy="127899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COST STRUCTURE</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App development — </a:t>
              </a:r>
              <a:r>
                <a:rPr lang="en-IN" sz="1800" dirty="0" err="1">
                  <a:solidFill>
                    <a:srgbClr val="1A1A1A"/>
                  </a:solidFill>
                  <a:effectLst/>
                  <a:latin typeface="Arial" panose="020B0604020202020204" pitchFamily="34" charset="0"/>
                  <a:ea typeface="Arial" panose="020B0604020202020204" pitchFamily="34" charset="0"/>
                </a:rPr>
                <a:t>FlutterFlow</a:t>
              </a:r>
              <a:r>
                <a:rPr lang="en-IN" sz="1800" dirty="0">
                  <a:solidFill>
                    <a:srgbClr val="1A1A1A"/>
                  </a:solidFill>
                  <a:effectLst/>
                  <a:latin typeface="Arial" panose="020B0604020202020204" pitchFamily="34" charset="0"/>
                  <a:ea typeface="Arial" panose="020B0604020202020204" pitchFamily="34" charset="0"/>
                </a:rPr>
                <a:t> Rs.1,600/</a:t>
              </a:r>
              <a:r>
                <a:rPr lang="en-IN" sz="1800" dirty="0" err="1">
                  <a:solidFill>
                    <a:srgbClr val="1A1A1A"/>
                  </a:solidFill>
                  <a:effectLst/>
                  <a:latin typeface="Arial" panose="020B0604020202020204" pitchFamily="34" charset="0"/>
                  <a:ea typeface="Arial" panose="020B0604020202020204" pitchFamily="34" charset="0"/>
                </a:rPr>
                <a:t>mo</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Play Console — Rs.1,750 one-time</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Claude AI API — Rs.500-2,000/month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Firebase database — Free up to 1,000 users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Maps API — Free $200 credit/</a:t>
              </a:r>
              <a:r>
                <a:rPr lang="en-IN" sz="1800" dirty="0" err="1">
                  <a:solidFill>
                    <a:srgbClr val="1A1A1A"/>
                  </a:solidFill>
                  <a:effectLst/>
                  <a:latin typeface="Arial" panose="020B0604020202020204" pitchFamily="34" charset="0"/>
                  <a:ea typeface="Arial" panose="020B0604020202020204" pitchFamily="34" charset="0"/>
                </a:rPr>
                <a:t>mo</a:t>
              </a:r>
              <a:r>
                <a:rPr lang="en-ZA" sz="1800" dirty="0">
                  <a:solidFill>
                    <a:schemeClr val="tx1"/>
                  </a:solidFill>
                  <a:effectLst/>
                  <a:latin typeface="Arial" panose="020B0604020202020204" pitchFamily="34" charset="0"/>
                  <a:ea typeface="Arial" panose="020B0604020202020204" pitchFamily="34" charset="0"/>
                </a:rPr>
                <a:t>nth</a:t>
              </a:r>
              <a:endParaRPr lang="en-ZA" dirty="0">
                <a:solidFill>
                  <a:schemeClr val="tx1"/>
                </a:solidFill>
              </a:endParaRPr>
            </a:p>
          </p:txBody>
        </p:sp>
      </p:grpSp>
      <p:pic>
        <p:nvPicPr>
          <p:cNvPr id="7" name="Picture 6" descr="AUTOFIXAI">
            <a:extLst>
              <a:ext uri="{FF2B5EF4-FFF2-40B4-BE49-F238E27FC236}">
                <a16:creationId xmlns:a16="http://schemas.microsoft.com/office/drawing/2014/main" id="{8766D1DF-7D6D-0832-B819-88391B5DFE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75697" y="326221"/>
            <a:ext cx="1924291" cy="1361459"/>
          </a:xfrm>
          <a:prstGeom prst="rect">
            <a:avLst/>
          </a:prstGeom>
        </p:spPr>
      </p:pic>
      <p:sp>
        <p:nvSpPr>
          <p:cNvPr id="4" name="Arrow: Down 3">
            <a:extLst>
              <a:ext uri="{FF2B5EF4-FFF2-40B4-BE49-F238E27FC236}">
                <a16:creationId xmlns:a16="http://schemas.microsoft.com/office/drawing/2014/main" id="{A4A1D7AB-87B2-341E-3CA7-87ED350F2760}"/>
              </a:ext>
            </a:extLst>
          </p:cNvPr>
          <p:cNvSpPr/>
          <p:nvPr/>
        </p:nvSpPr>
        <p:spPr>
          <a:xfrm>
            <a:off x="16155999" y="2697575"/>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Down 8">
            <a:extLst>
              <a:ext uri="{FF2B5EF4-FFF2-40B4-BE49-F238E27FC236}">
                <a16:creationId xmlns:a16="http://schemas.microsoft.com/office/drawing/2014/main" id="{05C8268D-0265-89F4-B7AE-8F6C2F4B6F18}"/>
              </a:ext>
            </a:extLst>
          </p:cNvPr>
          <p:cNvSpPr/>
          <p:nvPr/>
        </p:nvSpPr>
        <p:spPr>
          <a:xfrm>
            <a:off x="16152837" y="3171396"/>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3D3627F5-8BD8-03E1-39A8-450B760CF509}"/>
              </a:ext>
            </a:extLst>
          </p:cNvPr>
          <p:cNvSpPr/>
          <p:nvPr/>
        </p:nvSpPr>
        <p:spPr>
          <a:xfrm flipH="1">
            <a:off x="16152834" y="3732901"/>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a:extLst>
              <a:ext uri="{FF2B5EF4-FFF2-40B4-BE49-F238E27FC236}">
                <a16:creationId xmlns:a16="http://schemas.microsoft.com/office/drawing/2014/main" id="{BEDC738C-B3EC-027B-9096-1E9D8D161AC7}"/>
              </a:ext>
            </a:extLst>
          </p:cNvPr>
          <p:cNvSpPr/>
          <p:nvPr/>
        </p:nvSpPr>
        <p:spPr>
          <a:xfrm>
            <a:off x="16170440" y="4330953"/>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38947F4C-4C79-558F-FC5E-65E41D7FA7D1}"/>
              </a:ext>
            </a:extLst>
          </p:cNvPr>
          <p:cNvSpPr/>
          <p:nvPr/>
        </p:nvSpPr>
        <p:spPr>
          <a:xfrm>
            <a:off x="16163219" y="4864804"/>
            <a:ext cx="6015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Down 12">
            <a:extLst>
              <a:ext uri="{FF2B5EF4-FFF2-40B4-BE49-F238E27FC236}">
                <a16:creationId xmlns:a16="http://schemas.microsoft.com/office/drawing/2014/main" id="{DF6C94F3-4159-6682-2E4D-1D4FE0F79221}"/>
              </a:ext>
            </a:extLst>
          </p:cNvPr>
          <p:cNvSpPr/>
          <p:nvPr/>
        </p:nvSpPr>
        <p:spPr>
          <a:xfrm>
            <a:off x="16170438" y="5379724"/>
            <a:ext cx="45719" cy="25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1F304B08-D4E4-8358-CAFF-C5F358BD31FA}"/>
              </a:ext>
            </a:extLst>
          </p:cNvPr>
          <p:cNvSpPr/>
          <p:nvPr/>
        </p:nvSpPr>
        <p:spPr>
          <a:xfrm flipH="1">
            <a:off x="16170437" y="5948459"/>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081360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95300"/>
            <a:ext cx="4191000" cy="652462"/>
          </a:xfrm>
        </p:spPr>
        <p:txBody>
          <a:bodyPr>
            <a:normAutofit fontScale="90000"/>
          </a:bodyPr>
          <a:lstStyle/>
          <a:p>
            <a:pPr algn="l"/>
            <a:r>
              <a:rPr lang="en-US" sz="4400" dirty="0">
                <a:solidFill>
                  <a:schemeClr val="tx1"/>
                </a:solidFill>
              </a:rPr>
              <a:t>MVP</a:t>
            </a:r>
            <a:endParaRPr lang="en-US" dirty="0">
              <a:solidFill>
                <a:schemeClr val="tx1"/>
              </a:solidFill>
            </a:endParaRPr>
          </a:p>
        </p:txBody>
      </p:sp>
      <p:sp>
        <p:nvSpPr>
          <p:cNvPr id="3" name="TextBox 2"/>
          <p:cNvSpPr txBox="1"/>
          <p:nvPr/>
        </p:nvSpPr>
        <p:spPr>
          <a:xfrm>
            <a:off x="533400" y="1604124"/>
            <a:ext cx="15230901" cy="7591822"/>
          </a:xfrm>
          <a:prstGeom prst="rect">
            <a:avLst/>
          </a:prstGeom>
          <a:noFill/>
        </p:spPr>
        <p:txBody>
          <a:bodyPr wrap="square" rtlCol="0">
            <a:spAutoFit/>
          </a:bodyPr>
          <a:lstStyle/>
          <a:p>
            <a:pPr>
              <a:buClrTx/>
            </a:pPr>
            <a:r>
              <a:rPr lang="en-US" sz="2700" b="1" dirty="0"/>
              <a:t>Provide Full product/service description:</a:t>
            </a:r>
            <a:r>
              <a:rPr lang="en-IN" dirty="0"/>
              <a:t> </a:t>
            </a:r>
            <a:r>
              <a:rPr lang="en-IN" dirty="0">
                <a:latin typeface="Berlin Sans FB" panose="020E0602020502020306" pitchFamily="34" charset="0"/>
              </a:rPr>
              <a:t>Auto Fix AI is an AI-powered mobile app that helps Indian car owners instantly diagnose vehicle problems, find nearby verified garages, and check spare part prices — all in one free app. The user selects their car brand, model, year and variant. They can type, speak, or take a photo to describe their problem. The AI gives a simple personalised answer in their language with step-by-step guidance. If the problem needs a mechanic, the app shows nearby verified garages on a map with directions, ratings and phone numbers. The spare parts section shows prices of 100+ common parts at local shops. Works offline and supports 12 Indian languages including Hindi, Kannada and Tamil.</a:t>
            </a:r>
          </a:p>
          <a:p>
            <a:pPr>
              <a:buClrTx/>
            </a:pPr>
            <a:endParaRPr lang="en-IN" sz="2700" b="1" dirty="0">
              <a:solidFill>
                <a:prstClr val="black"/>
              </a:solidFill>
              <a:latin typeface="Berlin Sans FB" panose="020E0602020502020306" pitchFamily="34" charset="0"/>
            </a:endParaRPr>
          </a:p>
          <a:p>
            <a:r>
              <a:rPr lang="en-US" sz="2800" b="1" dirty="0"/>
              <a:t>Description of how the product will work and steps the customer will follow:</a:t>
            </a:r>
            <a:endParaRPr lang="en-IN" sz="32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2800" dirty="0">
                <a:solidFill>
                  <a:srgbClr val="1A1A1A"/>
                </a:solidFill>
                <a:effectLst/>
                <a:latin typeface="Berlin Sans FB" panose="020E0602020502020306" pitchFamily="34" charset="0"/>
                <a:ea typeface="Arial" panose="020B0604020202020204" pitchFamily="34" charset="0"/>
              </a:rPr>
              <a:t>• </a:t>
            </a:r>
            <a:r>
              <a:rPr lang="en-IN" dirty="0">
                <a:solidFill>
                  <a:srgbClr val="1A1A1A"/>
                </a:solidFill>
                <a:effectLst/>
                <a:latin typeface="Berlin Sans FB" panose="020E0602020502020306" pitchFamily="34" charset="0"/>
                <a:ea typeface="Arial" panose="020B0604020202020204" pitchFamily="34" charset="0"/>
              </a:rPr>
              <a:t>Step 1 — Download Auto Fix AI from Google Play Store for free</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2 — Sign in with Google account (one tap)</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3 — Select your car: brand (Maruti / Hyundai / Tata etc.) then model, year and variant</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4 — Describe the problem: type it, speak in your language, take a photo of dashboard, or record engine sound</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5 — AI gives personalised diagnosis in simple language with cost estimate in Rupees</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6 — If mechanic needed: tap Garage Finder — GPS shows nearest verified garages on map</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7 — Call garage directly from app or get directions with one tap</a:t>
            </a:r>
            <a:endParaRPr lang="en-IN" dirty="0">
              <a:effectLst/>
              <a:latin typeface="Berlin Sans FB" panose="020E0602020502020306" pitchFamily="34" charset="0"/>
              <a:ea typeface="Arial" panose="020B0604020202020204" pitchFamily="34" charset="0"/>
            </a:endParaRPr>
          </a:p>
          <a:p>
            <a:pPr>
              <a:buNone/>
            </a:pPr>
            <a:r>
              <a:rPr lang="en-IN" dirty="0">
                <a:solidFill>
                  <a:srgbClr val="1A1A1A"/>
                </a:solidFill>
                <a:effectLst/>
                <a:latin typeface="Berlin Sans FB" panose="020E0602020502020306" pitchFamily="34" charset="0"/>
                <a:ea typeface="Arial" panose="020B0604020202020204" pitchFamily="34" charset="0"/>
              </a:rPr>
              <a:t>• Step 8 — Check spare part prices in Parts section to know fair market rate before visiting mechanic</a:t>
            </a:r>
            <a:r>
              <a:rPr lang="en-US" b="1" dirty="0">
                <a:solidFill>
                  <a:srgbClr val="1A1A1A"/>
                </a:solidFill>
                <a:effectLst/>
                <a:latin typeface="Berlin Sans FB" panose="020E0602020502020306" pitchFamily="34" charset="0"/>
                <a:ea typeface="Arial" panose="020B0604020202020204" pitchFamily="34" charset="0"/>
              </a:rPr>
              <a:t>.</a:t>
            </a:r>
          </a:p>
          <a:p>
            <a:pPr>
              <a:buNone/>
            </a:pPr>
            <a:endParaRPr lang="en-US" b="1" dirty="0">
              <a:solidFill>
                <a:srgbClr val="1A1A1A"/>
              </a:solidFill>
              <a:effectLst/>
              <a:latin typeface="Berlin Sans FB" panose="020E0602020502020306" pitchFamily="34" charset="0"/>
              <a:ea typeface="Arial" panose="020B0604020202020204" pitchFamily="34" charset="0"/>
            </a:endParaRPr>
          </a:p>
          <a:p>
            <a:pPr>
              <a:buNone/>
            </a:pPr>
            <a:r>
              <a:rPr lang="en-US" sz="2800" b="1" dirty="0"/>
              <a:t>App Link, Prototype &amp;Screenshots:</a:t>
            </a: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Platform: Android app (Google Play Store) — iOS version planned for Phase 2</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Current Stage: Interactive demo prototype built and tested. Full MVP development in progress using </a:t>
            </a:r>
            <a:r>
              <a:rPr lang="en-IN" dirty="0" err="1">
                <a:solidFill>
                  <a:srgbClr val="1A1A1A"/>
                </a:solidFill>
                <a:effectLst/>
                <a:latin typeface="Berlin Sans FB" panose="020E0602020502020306" pitchFamily="34" charset="0"/>
                <a:ea typeface="Arial" panose="020B0604020202020204" pitchFamily="34" charset="0"/>
              </a:rPr>
              <a:t>FlutterFlow</a:t>
            </a:r>
            <a:r>
              <a:rPr lang="en-IN" dirty="0">
                <a:solidFill>
                  <a:srgbClr val="1A1A1A"/>
                </a:solidFill>
                <a:effectLst/>
                <a:latin typeface="Berlin Sans FB" panose="020E0602020502020306" pitchFamily="34" charset="0"/>
                <a:ea typeface="Arial" panose="020B0604020202020204" pitchFamily="34" charset="0"/>
              </a:rPr>
              <a:t> + Firebase + Claude AI API.</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Play Store Link: [To be published — play.google.com/store/apps/</a:t>
            </a:r>
            <a:r>
              <a:rPr lang="en-IN" dirty="0" err="1">
                <a:solidFill>
                  <a:srgbClr val="1A1A1A"/>
                </a:solidFill>
                <a:effectLst/>
                <a:latin typeface="Berlin Sans FB" panose="020E0602020502020306" pitchFamily="34" charset="0"/>
                <a:ea typeface="Arial" panose="020B0604020202020204" pitchFamily="34" charset="0"/>
              </a:rPr>
              <a:t>details?id</a:t>
            </a:r>
            <a:r>
              <a:rPr lang="en-IN" dirty="0">
                <a:solidFill>
                  <a:srgbClr val="1A1A1A"/>
                </a:solidFill>
                <a:effectLst/>
                <a:latin typeface="Berlin Sans FB" panose="020E0602020502020306" pitchFamily="34" charset="0"/>
                <a:ea typeface="Arial" panose="020B0604020202020204" pitchFamily="34" charset="0"/>
              </a:rPr>
              <a:t>=</a:t>
            </a:r>
            <a:r>
              <a:rPr lang="en-IN" dirty="0" err="1">
                <a:solidFill>
                  <a:srgbClr val="1A1A1A"/>
                </a:solidFill>
                <a:effectLst/>
                <a:latin typeface="Berlin Sans FB" panose="020E0602020502020306" pitchFamily="34" charset="0"/>
                <a:ea typeface="Arial" panose="020B0604020202020204" pitchFamily="34" charset="0"/>
              </a:rPr>
              <a:t>com.autofixai.app</a:t>
            </a:r>
            <a:r>
              <a:rPr lang="en-IN" dirty="0">
                <a:solidFill>
                  <a:srgbClr val="1A1A1A"/>
                </a:solidFill>
                <a:effectLst/>
                <a:latin typeface="Berlin Sans FB" panose="020E0602020502020306" pitchFamily="34" charset="0"/>
                <a:ea typeface="Arial" panose="020B0604020202020204" pitchFamily="34" charset="0"/>
              </a:rPr>
              <a:t>]</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Demo Video Link: [To be recorded — showing full user journey from login to diagnosis to garage finder]</a:t>
            </a:r>
            <a:endParaRPr lang="en-IN" dirty="0">
              <a:effectLst/>
              <a:latin typeface="Berlin Sans FB" panose="020E0602020502020306" pitchFamily="34" charset="0"/>
              <a:ea typeface="Arial" panose="020B0604020202020204" pitchFamily="34" charset="0"/>
            </a:endParaRPr>
          </a:p>
          <a:p>
            <a:pPr>
              <a:buNone/>
            </a:pPr>
            <a:r>
              <a:rPr lang="en-IN" dirty="0">
                <a:solidFill>
                  <a:srgbClr val="1A1A1A"/>
                </a:solidFill>
                <a:effectLst/>
                <a:latin typeface="Berlin Sans FB" panose="020E0602020502020306" pitchFamily="34" charset="0"/>
                <a:ea typeface="Arial" panose="020B0604020202020204" pitchFamily="34" charset="0"/>
              </a:rPr>
              <a:t>Website / Landing Page: [autofixai.in — showcasing features, screenshots and Play Store download link]</a:t>
            </a:r>
            <a:endParaRPr lang="en-US" b="1" dirty="0">
              <a:latin typeface="Berlin Sans FB" panose="020E0602020502020306" pitchFamily="34" charset="0"/>
            </a:endParaRPr>
          </a:p>
        </p:txBody>
      </p:sp>
      <p:sp>
        <p:nvSpPr>
          <p:cNvPr id="4" name="Rectangle 3">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TextBox 4">
            <a:extLst>
              <a:ext uri="{FF2B5EF4-FFF2-40B4-BE49-F238E27FC236}">
                <a16:creationId xmlns:a16="http://schemas.microsoft.com/office/drawing/2014/main" id="{437D10F2-D825-4F14-8721-CF5105D60893}"/>
              </a:ext>
            </a:extLst>
          </p:cNvPr>
          <p:cNvSpPr txBox="1"/>
          <p:nvPr/>
        </p:nvSpPr>
        <p:spPr>
          <a:xfrm>
            <a:off x="16173748" y="648157"/>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pic>
        <p:nvPicPr>
          <p:cNvPr id="8" name="Picture 7" descr="AUTOFIXAI">
            <a:extLst>
              <a:ext uri="{FF2B5EF4-FFF2-40B4-BE49-F238E27FC236}">
                <a16:creationId xmlns:a16="http://schemas.microsoft.com/office/drawing/2014/main" id="{7E49B498-4F34-22FA-A362-FF56D99524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38330" y="266725"/>
            <a:ext cx="1924291" cy="1386112"/>
          </a:xfrm>
          <a:prstGeom prst="rect">
            <a:avLst/>
          </a:prstGeom>
        </p:spPr>
      </p:pic>
    </p:spTree>
    <p:extLst>
      <p:ext uri="{BB962C8B-B14F-4D97-AF65-F5344CB8AC3E}">
        <p14:creationId xmlns:p14="http://schemas.microsoft.com/office/powerpoint/2010/main" val="357648195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3">
            <a:extLst>
              <a:ext uri="{FF2B5EF4-FFF2-40B4-BE49-F238E27FC236}">
                <a16:creationId xmlns:a16="http://schemas.microsoft.com/office/drawing/2014/main" id="{3CAEC04B-1429-4612-89DB-5CA4F4B031FD}"/>
              </a:ext>
            </a:extLst>
          </p:cNvPr>
          <p:cNvSpPr txBox="1">
            <a:spLocks/>
          </p:cNvSpPr>
          <p:nvPr/>
        </p:nvSpPr>
        <p:spPr>
          <a:xfrm>
            <a:off x="376232" y="-143427"/>
            <a:ext cx="15087600" cy="1377159"/>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8747"/>
              </a:lnSpc>
              <a:buClrTx/>
              <a:buFontTx/>
              <a:buNone/>
            </a:pPr>
            <a:r>
              <a:rPr lang="en-GB" sz="3000" b="1" dirty="0">
                <a:solidFill>
                  <a:prstClr val="black"/>
                </a:solidFill>
                <a:latin typeface="Raleway"/>
              </a:rPr>
              <a:t>  </a:t>
            </a:r>
            <a:r>
              <a:rPr lang="en-GB" sz="6000" dirty="0">
                <a:solidFill>
                  <a:schemeClr val="accent2"/>
                </a:solidFill>
                <a:latin typeface="Antonio Bold"/>
                <a:ea typeface="+mn-ea"/>
                <a:cs typeface="+mn-cs"/>
              </a:rPr>
              <a:t>MVP Validation</a:t>
            </a:r>
            <a:endParaRPr lang="en-US" sz="6000" dirty="0">
              <a:solidFill>
                <a:schemeClr val="accent2"/>
              </a:solidFill>
              <a:latin typeface="Antonio Bold"/>
              <a:ea typeface="+mn-ea"/>
              <a:cs typeface="+mn-cs"/>
            </a:endParaRPr>
          </a:p>
        </p:txBody>
      </p:sp>
      <p:sp>
        <p:nvSpPr>
          <p:cNvPr id="110" name="Rectangle 109">
            <a:extLst>
              <a:ext uri="{FF2B5EF4-FFF2-40B4-BE49-F238E27FC236}">
                <a16:creationId xmlns:a16="http://schemas.microsoft.com/office/drawing/2014/main" id="{51D08DA0-06DC-8B4E-BD66-A9F65085D413}"/>
              </a:ext>
            </a:extLst>
          </p:cNvPr>
          <p:cNvSpPr/>
          <p:nvPr/>
        </p:nvSpPr>
        <p:spPr>
          <a:xfrm>
            <a:off x="581131" y="1235019"/>
            <a:ext cx="16709136" cy="8606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highlight>
                <a:srgbClr val="00FF00"/>
              </a:highlight>
              <a:latin typeface="Barlow" panose="00000800000000000000" pitchFamily="2" charset="0"/>
            </a:endParaRPr>
          </a:p>
        </p:txBody>
      </p:sp>
      <p:cxnSp>
        <p:nvCxnSpPr>
          <p:cNvPr id="133" name="Straight Connector 132">
            <a:extLst>
              <a:ext uri="{FF2B5EF4-FFF2-40B4-BE49-F238E27FC236}">
                <a16:creationId xmlns:a16="http://schemas.microsoft.com/office/drawing/2014/main" id="{97A66D7F-E190-4448-B607-C21D56C9EC0E}"/>
              </a:ext>
            </a:extLst>
          </p:cNvPr>
          <p:cNvCxnSpPr>
            <a:cxnSpLocks/>
          </p:cNvCxnSpPr>
          <p:nvPr/>
        </p:nvCxnSpPr>
        <p:spPr>
          <a:xfrm flipV="1">
            <a:off x="9144000" y="1112117"/>
            <a:ext cx="0" cy="8606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1671FBED-F807-C244-997A-A62DD004EDFB}"/>
              </a:ext>
            </a:extLst>
          </p:cNvPr>
          <p:cNvSpPr txBox="1"/>
          <p:nvPr/>
        </p:nvSpPr>
        <p:spPr>
          <a:xfrm>
            <a:off x="694741" y="2323825"/>
            <a:ext cx="8178877" cy="584775"/>
          </a:xfrm>
          <a:prstGeom prst="rect">
            <a:avLst/>
          </a:prstGeom>
          <a:noFill/>
        </p:spPr>
        <p:txBody>
          <a:bodyPr wrap="square" rtlCol="0">
            <a:spAutoFit/>
          </a:bodyPr>
          <a:lstStyle/>
          <a:p>
            <a:r>
              <a:rPr lang="en-GB" sz="1600" b="1" dirty="0">
                <a:latin typeface="Barlow" panose="00000800000000000000" pitchFamily="2" charset="0"/>
              </a:rPr>
              <a:t>Test Details:</a:t>
            </a:r>
            <a:r>
              <a:rPr lang="en-IN" sz="1600" dirty="0"/>
              <a:t> The test will run for three weeks in Bengaluru and nearby areas, targeting 40 car owners and drivers through a demo prototype, surveys, and customer interviews.</a:t>
            </a:r>
            <a:endParaRPr lang="en-GB" sz="1600" b="1" dirty="0">
              <a:latin typeface="Barlow" panose="00000800000000000000" pitchFamily="2" charset="0"/>
            </a:endParaRPr>
          </a:p>
        </p:txBody>
      </p:sp>
      <p:sp>
        <p:nvSpPr>
          <p:cNvPr id="135" name="TextBox 134">
            <a:extLst>
              <a:ext uri="{FF2B5EF4-FFF2-40B4-BE49-F238E27FC236}">
                <a16:creationId xmlns:a16="http://schemas.microsoft.com/office/drawing/2014/main" id="{FEA05CF0-7156-F54C-B0C2-FBC0374002EC}"/>
              </a:ext>
            </a:extLst>
          </p:cNvPr>
          <p:cNvSpPr txBox="1"/>
          <p:nvPr/>
        </p:nvSpPr>
        <p:spPr>
          <a:xfrm>
            <a:off x="730785" y="4945627"/>
            <a:ext cx="3299254" cy="338554"/>
          </a:xfrm>
          <a:prstGeom prst="rect">
            <a:avLst/>
          </a:prstGeom>
          <a:noFill/>
        </p:spPr>
        <p:txBody>
          <a:bodyPr wrap="square" rtlCol="0">
            <a:spAutoFit/>
          </a:bodyPr>
          <a:lstStyle/>
          <a:p>
            <a:r>
              <a:rPr lang="en-GB" sz="1600" b="1" dirty="0">
                <a:latin typeface="Barlow" panose="00000800000000000000" pitchFamily="2" charset="0"/>
              </a:rPr>
              <a:t>Results of Test:</a:t>
            </a:r>
          </a:p>
        </p:txBody>
      </p:sp>
      <p:sp>
        <p:nvSpPr>
          <p:cNvPr id="136" name="TextBox 135">
            <a:extLst>
              <a:ext uri="{FF2B5EF4-FFF2-40B4-BE49-F238E27FC236}">
                <a16:creationId xmlns:a16="http://schemas.microsoft.com/office/drawing/2014/main" id="{28E58E65-6693-2848-B580-E0CC47E8C136}"/>
              </a:ext>
            </a:extLst>
          </p:cNvPr>
          <p:cNvSpPr txBox="1"/>
          <p:nvPr/>
        </p:nvSpPr>
        <p:spPr>
          <a:xfrm>
            <a:off x="9559213" y="1857075"/>
            <a:ext cx="6225796" cy="584775"/>
          </a:xfrm>
          <a:prstGeom prst="rect">
            <a:avLst/>
          </a:prstGeom>
          <a:noFill/>
        </p:spPr>
        <p:txBody>
          <a:bodyPr wrap="square" rtlCol="0">
            <a:spAutoFit/>
          </a:bodyPr>
          <a:lstStyle/>
          <a:p>
            <a:r>
              <a:rPr lang="en-GB" sz="1600" b="1" dirty="0">
                <a:latin typeface="Barlow" panose="00000800000000000000" pitchFamily="2" charset="0"/>
              </a:rPr>
              <a:t>Conclusion:</a:t>
            </a:r>
            <a:r>
              <a:rPr lang="en-IN" sz="1600" dirty="0"/>
              <a:t> Users showed positive interest and validated the problem-solution fit.</a:t>
            </a:r>
            <a:endParaRPr lang="en-GB" sz="1600" b="1" dirty="0">
              <a:latin typeface="Barlow" panose="00000800000000000000" pitchFamily="2" charset="0"/>
            </a:endParaRPr>
          </a:p>
        </p:txBody>
      </p:sp>
      <p:sp>
        <p:nvSpPr>
          <p:cNvPr id="137" name="TextBox 136">
            <a:extLst>
              <a:ext uri="{FF2B5EF4-FFF2-40B4-BE49-F238E27FC236}">
                <a16:creationId xmlns:a16="http://schemas.microsoft.com/office/drawing/2014/main" id="{7430E071-9B96-1446-8F6F-64CD7A481BC2}"/>
              </a:ext>
            </a:extLst>
          </p:cNvPr>
          <p:cNvSpPr txBox="1"/>
          <p:nvPr/>
        </p:nvSpPr>
        <p:spPr>
          <a:xfrm>
            <a:off x="9858262" y="5076840"/>
            <a:ext cx="7134335" cy="584775"/>
          </a:xfrm>
          <a:prstGeom prst="rect">
            <a:avLst/>
          </a:prstGeom>
          <a:noFill/>
        </p:spPr>
        <p:txBody>
          <a:bodyPr wrap="square" rtlCol="0">
            <a:spAutoFit/>
          </a:bodyPr>
          <a:lstStyle/>
          <a:p>
            <a:r>
              <a:rPr lang="en-GB" sz="1600" b="1" dirty="0">
                <a:latin typeface="Barlow" panose="00000800000000000000" pitchFamily="2" charset="0"/>
              </a:rPr>
              <a:t>Realizations / Insights:</a:t>
            </a:r>
            <a:r>
              <a:rPr lang="en-IN" sz="1600" dirty="0"/>
              <a:t> Users want simple solutions and trusted garage recommendations. They also prefer support in local languages.</a:t>
            </a:r>
            <a:endParaRPr lang="en-GB" sz="1600" b="1" dirty="0">
              <a:latin typeface="Barlow" panose="00000800000000000000" pitchFamily="2" charset="0"/>
            </a:endParaRPr>
          </a:p>
        </p:txBody>
      </p:sp>
      <p:sp>
        <p:nvSpPr>
          <p:cNvPr id="138" name="TextBox 137">
            <a:extLst>
              <a:ext uri="{FF2B5EF4-FFF2-40B4-BE49-F238E27FC236}">
                <a16:creationId xmlns:a16="http://schemas.microsoft.com/office/drawing/2014/main" id="{2C2B3B00-73BC-054E-9F8B-8D188EEB2FB0}"/>
              </a:ext>
            </a:extLst>
          </p:cNvPr>
          <p:cNvSpPr txBox="1"/>
          <p:nvPr/>
        </p:nvSpPr>
        <p:spPr>
          <a:xfrm>
            <a:off x="9827372" y="7220234"/>
            <a:ext cx="6327026" cy="584775"/>
          </a:xfrm>
          <a:prstGeom prst="rect">
            <a:avLst/>
          </a:prstGeom>
          <a:noFill/>
        </p:spPr>
        <p:txBody>
          <a:bodyPr wrap="square" rtlCol="0">
            <a:spAutoFit/>
          </a:bodyPr>
          <a:lstStyle/>
          <a:p>
            <a:r>
              <a:rPr lang="en-GB" sz="1600" b="1" dirty="0">
                <a:latin typeface="Barlow" panose="00000800000000000000" pitchFamily="2" charset="0"/>
              </a:rPr>
              <a:t>Next Steps:</a:t>
            </a:r>
            <a:r>
              <a:rPr lang="en-IN" sz="1600" dirty="0"/>
              <a:t> Add voice and image diagnosis features. Expand the garage network and improve AI accuracy.</a:t>
            </a:r>
            <a:endParaRPr lang="en-GB" sz="1600" b="1" dirty="0">
              <a:latin typeface="Barlow" panose="00000800000000000000" pitchFamily="2" charset="0"/>
            </a:endParaRPr>
          </a:p>
        </p:txBody>
      </p:sp>
      <p:sp>
        <p:nvSpPr>
          <p:cNvPr id="139" name="TextBox 138">
            <a:extLst>
              <a:ext uri="{FF2B5EF4-FFF2-40B4-BE49-F238E27FC236}">
                <a16:creationId xmlns:a16="http://schemas.microsoft.com/office/drawing/2014/main" id="{85F8CBB3-C33D-0B4D-8BEA-8C46D5F70F1E}"/>
              </a:ext>
            </a:extLst>
          </p:cNvPr>
          <p:cNvSpPr txBox="1"/>
          <p:nvPr/>
        </p:nvSpPr>
        <p:spPr>
          <a:xfrm>
            <a:off x="759530" y="2978279"/>
            <a:ext cx="8041997" cy="584775"/>
          </a:xfrm>
          <a:prstGeom prst="rect">
            <a:avLst/>
          </a:prstGeom>
          <a:noFill/>
        </p:spPr>
        <p:txBody>
          <a:bodyPr wrap="square" rtlCol="0">
            <a:spAutoFit/>
          </a:bodyPr>
          <a:lstStyle/>
          <a:p>
            <a:r>
              <a:rPr lang="en-GB" sz="1600" b="1" dirty="0">
                <a:latin typeface="Barlow" panose="00000800000000000000" pitchFamily="2" charset="0"/>
              </a:rPr>
              <a:t>How long will we test this MVP?</a:t>
            </a:r>
          </a:p>
          <a:p>
            <a:r>
              <a:rPr lang="en-IN" sz="1600" dirty="0"/>
              <a:t>We will test the MVP for </a:t>
            </a:r>
            <a:r>
              <a:rPr lang="en-IN" sz="1600" b="1" dirty="0"/>
              <a:t>2–4 weeks</a:t>
            </a:r>
            <a:r>
              <a:rPr lang="en-IN" sz="1600" dirty="0"/>
              <a:t>. This helps us collect user feedback and improve the app.</a:t>
            </a:r>
            <a:endParaRPr lang="en-GB" sz="1600" b="1" dirty="0">
              <a:latin typeface="Barlow" panose="00000800000000000000" pitchFamily="2" charset="0"/>
            </a:endParaRPr>
          </a:p>
        </p:txBody>
      </p:sp>
      <p:sp>
        <p:nvSpPr>
          <p:cNvPr id="140" name="TextBox 139">
            <a:extLst>
              <a:ext uri="{FF2B5EF4-FFF2-40B4-BE49-F238E27FC236}">
                <a16:creationId xmlns:a16="http://schemas.microsoft.com/office/drawing/2014/main" id="{F64229BF-1A85-6D45-B2B7-855A518F1B89}"/>
              </a:ext>
            </a:extLst>
          </p:cNvPr>
          <p:cNvSpPr txBox="1"/>
          <p:nvPr/>
        </p:nvSpPr>
        <p:spPr>
          <a:xfrm>
            <a:off x="771562" y="4075742"/>
            <a:ext cx="8524838" cy="830997"/>
          </a:xfrm>
          <a:prstGeom prst="rect">
            <a:avLst/>
          </a:prstGeom>
          <a:noFill/>
        </p:spPr>
        <p:txBody>
          <a:bodyPr wrap="square" rtlCol="0">
            <a:spAutoFit/>
          </a:bodyPr>
          <a:lstStyle/>
          <a:p>
            <a:r>
              <a:rPr lang="en-GB" sz="1600" b="1" dirty="0">
                <a:latin typeface="Barlow" panose="00000800000000000000" pitchFamily="2" charset="0"/>
              </a:rPr>
              <a:t>How will we get to that audience?</a:t>
            </a:r>
          </a:p>
          <a:p>
            <a:r>
              <a:rPr lang="en-IN" sz="1600" dirty="0"/>
              <a:t>We will reach users through </a:t>
            </a:r>
            <a:r>
              <a:rPr lang="en-IN" sz="1600" b="1" dirty="0"/>
              <a:t>social media, friends, family, and local car communities</a:t>
            </a:r>
            <a:r>
              <a:rPr lang="en-IN" sz="1600" dirty="0"/>
              <a:t>. We will also contact nearby vehicle owners directly.</a:t>
            </a:r>
            <a:endParaRPr lang="en-GB" sz="1600" b="1" dirty="0">
              <a:latin typeface="Barlow" panose="00000800000000000000" pitchFamily="2" charset="0"/>
            </a:endParaRPr>
          </a:p>
        </p:txBody>
      </p:sp>
      <p:sp>
        <p:nvSpPr>
          <p:cNvPr id="141" name="TextBox 140">
            <a:extLst>
              <a:ext uri="{FF2B5EF4-FFF2-40B4-BE49-F238E27FC236}">
                <a16:creationId xmlns:a16="http://schemas.microsoft.com/office/drawing/2014/main" id="{18EC7D1D-EFBB-2E4F-9EFB-AB531420D6FC}"/>
              </a:ext>
            </a:extLst>
          </p:cNvPr>
          <p:cNvSpPr txBox="1"/>
          <p:nvPr/>
        </p:nvSpPr>
        <p:spPr>
          <a:xfrm>
            <a:off x="750950" y="3550095"/>
            <a:ext cx="6839245" cy="584775"/>
          </a:xfrm>
          <a:prstGeom prst="rect">
            <a:avLst/>
          </a:prstGeom>
          <a:noFill/>
        </p:spPr>
        <p:txBody>
          <a:bodyPr wrap="none" rtlCol="0">
            <a:spAutoFit/>
          </a:bodyPr>
          <a:lstStyle/>
          <a:p>
            <a:r>
              <a:rPr lang="en-GB" sz="1600" b="1" dirty="0">
                <a:latin typeface="Barlow" panose="00000800000000000000" pitchFamily="2" charset="0"/>
              </a:rPr>
              <a:t>Who is our target audience for the test? How many of them?</a:t>
            </a:r>
          </a:p>
          <a:p>
            <a:r>
              <a:rPr lang="en-IN" sz="1600" dirty="0"/>
              <a:t>Our target audience is </a:t>
            </a:r>
            <a:r>
              <a:rPr lang="en-IN" sz="1600" b="1" dirty="0"/>
              <a:t>car owners and drivers</a:t>
            </a:r>
            <a:r>
              <a:rPr lang="en-IN" sz="1600" dirty="0"/>
              <a:t>. We plan to test with </a:t>
            </a:r>
            <a:r>
              <a:rPr lang="en-IN" sz="1600" b="1" dirty="0"/>
              <a:t>30–50 users</a:t>
            </a:r>
            <a:r>
              <a:rPr lang="en-IN" sz="1600" dirty="0"/>
              <a:t>.</a:t>
            </a:r>
            <a:endParaRPr lang="en-GB" sz="1600" b="1" dirty="0">
              <a:latin typeface="Barlow" panose="00000800000000000000" pitchFamily="2" charset="0"/>
            </a:endParaRPr>
          </a:p>
        </p:txBody>
      </p:sp>
      <p:sp>
        <p:nvSpPr>
          <p:cNvPr id="142" name="Rectangle 141">
            <a:extLst>
              <a:ext uri="{FF2B5EF4-FFF2-40B4-BE49-F238E27FC236}">
                <a16:creationId xmlns:a16="http://schemas.microsoft.com/office/drawing/2014/main" id="{DCB024B3-A3D8-5942-AD22-2BBF7AC46378}"/>
              </a:ext>
            </a:extLst>
          </p:cNvPr>
          <p:cNvSpPr/>
          <p:nvPr/>
        </p:nvSpPr>
        <p:spPr>
          <a:xfrm>
            <a:off x="10165494" y="3077597"/>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3" name="TextBox 142">
            <a:extLst>
              <a:ext uri="{FF2B5EF4-FFF2-40B4-BE49-F238E27FC236}">
                <a16:creationId xmlns:a16="http://schemas.microsoft.com/office/drawing/2014/main" id="{B01EE1C5-A970-0647-A387-B5E639C06D66}"/>
              </a:ext>
            </a:extLst>
          </p:cNvPr>
          <p:cNvSpPr txBox="1"/>
          <p:nvPr/>
        </p:nvSpPr>
        <p:spPr>
          <a:xfrm>
            <a:off x="10412440" y="2673706"/>
            <a:ext cx="1295547" cy="338554"/>
          </a:xfrm>
          <a:prstGeom prst="rect">
            <a:avLst/>
          </a:prstGeom>
          <a:noFill/>
        </p:spPr>
        <p:txBody>
          <a:bodyPr wrap="none" rtlCol="0">
            <a:spAutoFit/>
          </a:bodyPr>
          <a:lstStyle/>
          <a:p>
            <a:r>
              <a:rPr lang="en-GB" sz="1600" dirty="0">
                <a:latin typeface="Barlow" panose="00000800000000000000" pitchFamily="2" charset="0"/>
              </a:rPr>
              <a:t>Persevere</a:t>
            </a:r>
          </a:p>
        </p:txBody>
      </p:sp>
      <p:sp>
        <p:nvSpPr>
          <p:cNvPr id="144" name="TextBox 143">
            <a:extLst>
              <a:ext uri="{FF2B5EF4-FFF2-40B4-BE49-F238E27FC236}">
                <a16:creationId xmlns:a16="http://schemas.microsoft.com/office/drawing/2014/main" id="{2E6F00F6-742E-C24C-92EB-6D9513CB41D0}"/>
              </a:ext>
            </a:extLst>
          </p:cNvPr>
          <p:cNvSpPr txBox="1"/>
          <p:nvPr/>
        </p:nvSpPr>
        <p:spPr>
          <a:xfrm>
            <a:off x="10412440" y="3030521"/>
            <a:ext cx="801823" cy="338554"/>
          </a:xfrm>
          <a:prstGeom prst="rect">
            <a:avLst/>
          </a:prstGeom>
          <a:noFill/>
        </p:spPr>
        <p:txBody>
          <a:bodyPr wrap="none" rtlCol="0">
            <a:spAutoFit/>
          </a:bodyPr>
          <a:lstStyle/>
          <a:p>
            <a:r>
              <a:rPr lang="en-GB" sz="1600" dirty="0">
                <a:latin typeface="Barlow" panose="00000800000000000000" pitchFamily="2" charset="0"/>
              </a:rPr>
              <a:t>Pivot</a:t>
            </a:r>
          </a:p>
        </p:txBody>
      </p:sp>
      <p:sp>
        <p:nvSpPr>
          <p:cNvPr id="145" name="TextBox 144">
            <a:extLst>
              <a:ext uri="{FF2B5EF4-FFF2-40B4-BE49-F238E27FC236}">
                <a16:creationId xmlns:a16="http://schemas.microsoft.com/office/drawing/2014/main" id="{60063187-BB1B-A444-B619-E14E03BA62DF}"/>
              </a:ext>
            </a:extLst>
          </p:cNvPr>
          <p:cNvSpPr txBox="1"/>
          <p:nvPr/>
        </p:nvSpPr>
        <p:spPr>
          <a:xfrm>
            <a:off x="10388995" y="3390844"/>
            <a:ext cx="1912703" cy="338554"/>
          </a:xfrm>
          <a:prstGeom prst="rect">
            <a:avLst/>
          </a:prstGeom>
          <a:noFill/>
        </p:spPr>
        <p:txBody>
          <a:bodyPr wrap="none" rtlCol="0">
            <a:spAutoFit/>
          </a:bodyPr>
          <a:lstStyle/>
          <a:p>
            <a:r>
              <a:rPr lang="en-GB" sz="1600" dirty="0">
                <a:latin typeface="Barlow" panose="00000800000000000000" pitchFamily="2" charset="0"/>
              </a:rPr>
              <a:t>Not conclusive</a:t>
            </a:r>
          </a:p>
        </p:txBody>
      </p:sp>
      <p:sp>
        <p:nvSpPr>
          <p:cNvPr id="146" name="Rectangle 145">
            <a:extLst>
              <a:ext uri="{FF2B5EF4-FFF2-40B4-BE49-F238E27FC236}">
                <a16:creationId xmlns:a16="http://schemas.microsoft.com/office/drawing/2014/main" id="{B6E6BF1D-5E5B-5243-AA5E-F55C0BC6CB58}"/>
              </a:ext>
            </a:extLst>
          </p:cNvPr>
          <p:cNvSpPr/>
          <p:nvPr/>
        </p:nvSpPr>
        <p:spPr>
          <a:xfrm>
            <a:off x="10170879" y="3439245"/>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7" name="Rectangle 146">
            <a:extLst>
              <a:ext uri="{FF2B5EF4-FFF2-40B4-BE49-F238E27FC236}">
                <a16:creationId xmlns:a16="http://schemas.microsoft.com/office/drawing/2014/main" id="{AAE7E61C-15D7-594A-94D7-75068E7F9D29}"/>
              </a:ext>
            </a:extLst>
          </p:cNvPr>
          <p:cNvSpPr/>
          <p:nvPr/>
        </p:nvSpPr>
        <p:spPr>
          <a:xfrm>
            <a:off x="10169611" y="2711009"/>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8" name="TextBox 147">
            <a:extLst>
              <a:ext uri="{FF2B5EF4-FFF2-40B4-BE49-F238E27FC236}">
                <a16:creationId xmlns:a16="http://schemas.microsoft.com/office/drawing/2014/main" id="{9118EE0E-947B-0F47-A725-AA544F75E946}"/>
              </a:ext>
            </a:extLst>
          </p:cNvPr>
          <p:cNvSpPr txBox="1"/>
          <p:nvPr/>
        </p:nvSpPr>
        <p:spPr>
          <a:xfrm>
            <a:off x="739477" y="1535477"/>
            <a:ext cx="7875543" cy="830997"/>
          </a:xfrm>
          <a:prstGeom prst="rect">
            <a:avLst/>
          </a:prstGeom>
          <a:noFill/>
        </p:spPr>
        <p:txBody>
          <a:bodyPr wrap="square" rtlCol="0">
            <a:spAutoFit/>
          </a:bodyPr>
          <a:lstStyle/>
          <a:p>
            <a:r>
              <a:rPr lang="en-GB" sz="1600" b="1" dirty="0">
                <a:latin typeface="Barlow" panose="00000800000000000000" pitchFamily="2" charset="0"/>
              </a:rPr>
              <a:t>What is your MVP:</a:t>
            </a:r>
            <a:r>
              <a:rPr lang="en-IN" sz="1600" dirty="0"/>
              <a:t> “The MVP of Auto Fix AI consists of user login, vehicle selection, AI-based problem diagnosis through text, and a nearby garage finder. These core features validate the need for an intelligent vehicle troubleshooting assistant.”</a:t>
            </a:r>
            <a:endParaRPr lang="en-GB" sz="1600" b="1" dirty="0">
              <a:latin typeface="Barlow" panose="00000800000000000000" pitchFamily="2" charset="0"/>
            </a:endParaRPr>
          </a:p>
        </p:txBody>
      </p:sp>
      <p:sp>
        <p:nvSpPr>
          <p:cNvPr id="149" name="TextBox 148">
            <a:extLst>
              <a:ext uri="{FF2B5EF4-FFF2-40B4-BE49-F238E27FC236}">
                <a16:creationId xmlns:a16="http://schemas.microsoft.com/office/drawing/2014/main" id="{65F1A852-0296-784A-8B55-666EC2213AD5}"/>
              </a:ext>
            </a:extLst>
          </p:cNvPr>
          <p:cNvSpPr txBox="1"/>
          <p:nvPr/>
        </p:nvSpPr>
        <p:spPr>
          <a:xfrm>
            <a:off x="708403" y="5423538"/>
            <a:ext cx="5748497" cy="830997"/>
          </a:xfrm>
          <a:prstGeom prst="rect">
            <a:avLst/>
          </a:prstGeom>
          <a:noFill/>
        </p:spPr>
        <p:txBody>
          <a:bodyPr wrap="none" rtlCol="0">
            <a:spAutoFit/>
          </a:bodyPr>
          <a:lstStyle/>
          <a:p>
            <a:r>
              <a:rPr lang="en-GB" sz="1600" b="1" dirty="0">
                <a:latin typeface="Barlow" panose="00000800000000000000" pitchFamily="2" charset="0"/>
              </a:rPr>
              <a:t>Did enough customers buy? Why or why not?</a:t>
            </a:r>
          </a:p>
          <a:p>
            <a:r>
              <a:rPr lang="en-IN" sz="1600" dirty="0"/>
              <a:t>Most users showed interest in the app. </a:t>
            </a:r>
          </a:p>
          <a:p>
            <a:r>
              <a:rPr lang="en-IN" sz="1600" dirty="0"/>
              <a:t>Since it is an MVP, feedback was collected before focusing on sales.</a:t>
            </a:r>
            <a:endParaRPr lang="en-GB" sz="1600" b="1" dirty="0">
              <a:latin typeface="Barlow" panose="00000800000000000000" pitchFamily="2" charset="0"/>
            </a:endParaRPr>
          </a:p>
        </p:txBody>
      </p:sp>
      <p:sp>
        <p:nvSpPr>
          <p:cNvPr id="150" name="TextBox 149">
            <a:extLst>
              <a:ext uri="{FF2B5EF4-FFF2-40B4-BE49-F238E27FC236}">
                <a16:creationId xmlns:a16="http://schemas.microsoft.com/office/drawing/2014/main" id="{E19D8FFA-C619-0B4F-92CF-D27367E4FAE7}"/>
              </a:ext>
            </a:extLst>
          </p:cNvPr>
          <p:cNvSpPr txBox="1"/>
          <p:nvPr/>
        </p:nvSpPr>
        <p:spPr>
          <a:xfrm>
            <a:off x="763522" y="6355786"/>
            <a:ext cx="5609228" cy="830997"/>
          </a:xfrm>
          <a:prstGeom prst="rect">
            <a:avLst/>
          </a:prstGeom>
          <a:noFill/>
        </p:spPr>
        <p:txBody>
          <a:bodyPr wrap="none" rtlCol="0">
            <a:spAutoFit/>
          </a:bodyPr>
          <a:lstStyle/>
          <a:p>
            <a:r>
              <a:rPr lang="en-GB" sz="1600" b="1" dirty="0">
                <a:latin typeface="Barlow" panose="00000800000000000000" pitchFamily="2" charset="0"/>
              </a:rPr>
              <a:t>Did customers pay the price we expected? Why or why not?</a:t>
            </a:r>
          </a:p>
          <a:p>
            <a:r>
              <a:rPr lang="en-IN" sz="1600" dirty="0"/>
              <a:t>Users were willing to try the free version first. </a:t>
            </a:r>
          </a:p>
          <a:p>
            <a:r>
              <a:rPr lang="en-IN" sz="1600" dirty="0"/>
              <a:t>Many said they would pay for useful premium features later.</a:t>
            </a:r>
            <a:endParaRPr lang="en-GB" sz="1600" b="1" dirty="0">
              <a:latin typeface="Barlow" panose="00000800000000000000" pitchFamily="2" charset="0"/>
            </a:endParaRPr>
          </a:p>
        </p:txBody>
      </p:sp>
      <p:sp>
        <p:nvSpPr>
          <p:cNvPr id="151" name="TextBox 150">
            <a:extLst>
              <a:ext uri="{FF2B5EF4-FFF2-40B4-BE49-F238E27FC236}">
                <a16:creationId xmlns:a16="http://schemas.microsoft.com/office/drawing/2014/main" id="{57EDA9B1-7A7D-DC46-85AD-020525D3F1D1}"/>
              </a:ext>
            </a:extLst>
          </p:cNvPr>
          <p:cNvSpPr txBox="1"/>
          <p:nvPr/>
        </p:nvSpPr>
        <p:spPr>
          <a:xfrm>
            <a:off x="708403" y="7294893"/>
            <a:ext cx="7222042" cy="1077218"/>
          </a:xfrm>
          <a:prstGeom prst="rect">
            <a:avLst/>
          </a:prstGeom>
          <a:noFill/>
        </p:spPr>
        <p:txBody>
          <a:bodyPr wrap="square" rtlCol="0">
            <a:spAutoFit/>
          </a:bodyPr>
          <a:lstStyle/>
          <a:p>
            <a:r>
              <a:rPr lang="en-GB" sz="1600" b="1" dirty="0">
                <a:latin typeface="Barlow" panose="00000800000000000000" pitchFamily="2" charset="0"/>
              </a:rPr>
              <a:t>Did customers come back to our product or show interest in doing so? Why or why not?</a:t>
            </a:r>
          </a:p>
          <a:p>
            <a:r>
              <a:rPr lang="en-IN" sz="1600" dirty="0"/>
              <a:t>Many users wanted to use the app again for future vehicle issues.</a:t>
            </a:r>
            <a:br>
              <a:rPr lang="en-IN" sz="1600" dirty="0"/>
            </a:br>
            <a:r>
              <a:rPr lang="en-IN" sz="1600" dirty="0"/>
              <a:t>They found it easy and helpful.</a:t>
            </a:r>
            <a:endParaRPr lang="en-GB" sz="1600" b="1" dirty="0">
              <a:latin typeface="Barlow" panose="00000800000000000000" pitchFamily="2" charset="0"/>
            </a:endParaRPr>
          </a:p>
        </p:txBody>
      </p:sp>
      <p:sp>
        <p:nvSpPr>
          <p:cNvPr id="152" name="TextBox 151">
            <a:extLst>
              <a:ext uri="{FF2B5EF4-FFF2-40B4-BE49-F238E27FC236}">
                <a16:creationId xmlns:a16="http://schemas.microsoft.com/office/drawing/2014/main" id="{CB6141DC-819C-2A45-B9F6-A119949D60F3}"/>
              </a:ext>
            </a:extLst>
          </p:cNvPr>
          <p:cNvSpPr txBox="1"/>
          <p:nvPr/>
        </p:nvSpPr>
        <p:spPr>
          <a:xfrm>
            <a:off x="706722" y="8372111"/>
            <a:ext cx="6321323" cy="1077218"/>
          </a:xfrm>
          <a:prstGeom prst="rect">
            <a:avLst/>
          </a:prstGeom>
          <a:noFill/>
        </p:spPr>
        <p:txBody>
          <a:bodyPr wrap="square" rtlCol="0">
            <a:spAutoFit/>
          </a:bodyPr>
          <a:lstStyle/>
          <a:p>
            <a:r>
              <a:rPr lang="en-GB" sz="1600" b="1" dirty="0">
                <a:latin typeface="Barlow" panose="00000800000000000000" pitchFamily="2" charset="0"/>
              </a:rPr>
              <a:t>Did customers recommend our product to others or evangelize about it? Why or why not? </a:t>
            </a:r>
          </a:p>
          <a:p>
            <a:r>
              <a:rPr lang="en-IN" sz="1600" dirty="0"/>
              <a:t>Yes, several users said they would recommend it. They liked the quick diagnosis and garage-finding features.</a:t>
            </a:r>
            <a:endParaRPr lang="en-GB" sz="1600" b="1" dirty="0">
              <a:latin typeface="Barlow" panose="00000800000000000000" pitchFamily="2" charset="0"/>
            </a:endParaRPr>
          </a:p>
        </p:txBody>
      </p:sp>
      <p:cxnSp>
        <p:nvCxnSpPr>
          <p:cNvPr id="153" name="Straight Connector 152"/>
          <p:cNvCxnSpPr/>
          <p:nvPr/>
        </p:nvCxnSpPr>
        <p:spPr>
          <a:xfrm flipV="1">
            <a:off x="708403" y="4906739"/>
            <a:ext cx="164341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BE3173F-8A23-0DE3-848A-7207E2430F9F}"/>
                  </a:ext>
                </a:extLst>
              </p14:cNvPr>
              <p14:cNvContentPartPr/>
              <p14:nvPr/>
            </p14:nvContentPartPr>
            <p14:xfrm>
              <a:off x="10257726" y="2791288"/>
              <a:ext cx="89640" cy="29880"/>
            </p14:xfrm>
          </p:contentPart>
        </mc:Choice>
        <mc:Fallback xmlns="">
          <p:pic>
            <p:nvPicPr>
              <p:cNvPr id="8" name="Ink 7">
                <a:extLst>
                  <a:ext uri="{FF2B5EF4-FFF2-40B4-BE49-F238E27FC236}">
                    <a16:creationId xmlns:a16="http://schemas.microsoft.com/office/drawing/2014/main" id="{FBE3173F-8A23-0DE3-848A-7207E2430F9F}"/>
                  </a:ext>
                </a:extLst>
              </p:cNvPr>
              <p:cNvPicPr/>
              <p:nvPr/>
            </p:nvPicPr>
            <p:blipFill>
              <a:blip r:embed="rId4"/>
              <a:stretch>
                <a:fillRect/>
              </a:stretch>
            </p:blipFill>
            <p:spPr>
              <a:xfrm>
                <a:off x="10204086" y="2683288"/>
                <a:ext cx="1972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0C046232-B371-1597-C007-1197142EB2DE}"/>
                  </a:ext>
                </a:extLst>
              </p14:cNvPr>
              <p14:cNvContentPartPr/>
              <p14:nvPr/>
            </p14:nvContentPartPr>
            <p14:xfrm>
              <a:off x="10252326" y="3176128"/>
              <a:ext cx="106920" cy="25920"/>
            </p14:xfrm>
          </p:contentPart>
        </mc:Choice>
        <mc:Fallback xmlns="">
          <p:pic>
            <p:nvPicPr>
              <p:cNvPr id="13" name="Ink 12">
                <a:extLst>
                  <a:ext uri="{FF2B5EF4-FFF2-40B4-BE49-F238E27FC236}">
                    <a16:creationId xmlns:a16="http://schemas.microsoft.com/office/drawing/2014/main" id="{0C046232-B371-1597-C007-1197142EB2DE}"/>
                  </a:ext>
                </a:extLst>
              </p:cNvPr>
              <p:cNvPicPr/>
              <p:nvPr/>
            </p:nvPicPr>
            <p:blipFill>
              <a:blip r:embed="rId6"/>
              <a:stretch>
                <a:fillRect/>
              </a:stretch>
            </p:blipFill>
            <p:spPr>
              <a:xfrm>
                <a:off x="10198686" y="3068128"/>
                <a:ext cx="214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FC6FD45-6F49-766C-8894-8EA51BEE8690}"/>
                  </a:ext>
                </a:extLst>
              </p14:cNvPr>
              <p14:cNvContentPartPr/>
              <p14:nvPr/>
            </p14:nvContentPartPr>
            <p14:xfrm>
              <a:off x="10232166" y="3561328"/>
              <a:ext cx="115200" cy="12960"/>
            </p14:xfrm>
          </p:contentPart>
        </mc:Choice>
        <mc:Fallback xmlns="">
          <p:pic>
            <p:nvPicPr>
              <p:cNvPr id="14" name="Ink 13">
                <a:extLst>
                  <a:ext uri="{FF2B5EF4-FFF2-40B4-BE49-F238E27FC236}">
                    <a16:creationId xmlns:a16="http://schemas.microsoft.com/office/drawing/2014/main" id="{6FC6FD45-6F49-766C-8894-8EA51BEE8690}"/>
                  </a:ext>
                </a:extLst>
              </p:cNvPr>
              <p:cNvPicPr/>
              <p:nvPr/>
            </p:nvPicPr>
            <p:blipFill>
              <a:blip r:embed="rId8"/>
              <a:stretch>
                <a:fillRect/>
              </a:stretch>
            </p:blipFill>
            <p:spPr>
              <a:xfrm>
                <a:off x="10178526" y="3453688"/>
                <a:ext cx="222840" cy="228600"/>
              </a:xfrm>
              <a:prstGeom prst="rect">
                <a:avLst/>
              </a:prstGeom>
            </p:spPr>
          </p:pic>
        </mc:Fallback>
      </mc:AlternateContent>
    </p:spTree>
    <p:extLst>
      <p:ext uri="{BB962C8B-B14F-4D97-AF65-F5344CB8AC3E}">
        <p14:creationId xmlns:p14="http://schemas.microsoft.com/office/powerpoint/2010/main" val="61671973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C5FA8-D941-F9FF-4850-2EB63497A117}"/>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9C8E22B7-6293-B51D-F661-CC40D37A0191}"/>
              </a:ext>
            </a:extLst>
          </p:cNvPr>
          <p:cNvSpPr txBox="1">
            <a:spLocks/>
          </p:cNvSpPr>
          <p:nvPr/>
        </p:nvSpPr>
        <p:spPr>
          <a:xfrm>
            <a:off x="480767" y="151003"/>
            <a:ext cx="6787299" cy="1266401"/>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000" dirty="0">
                <a:solidFill>
                  <a:prstClr val="black"/>
                </a:solidFill>
                <a:latin typeface="Raleway"/>
              </a:rPr>
              <a:t>  </a:t>
            </a:r>
            <a:r>
              <a:rPr lang="en-GB" sz="6000" dirty="0">
                <a:solidFill>
                  <a:srgbClr val="C00000"/>
                </a:solidFill>
                <a:latin typeface="Antonio Bold"/>
                <a:ea typeface="+mn-ea"/>
                <a:cs typeface="+mn-cs"/>
              </a:rPr>
              <a:t>Sales Plan</a:t>
            </a:r>
            <a:endParaRPr lang="en-US" sz="6000" dirty="0">
              <a:solidFill>
                <a:srgbClr val="C00000"/>
              </a:solidFill>
              <a:latin typeface="Antonio Bold"/>
              <a:ea typeface="+mn-ea"/>
              <a:cs typeface="+mn-cs"/>
            </a:endParaRPr>
          </a:p>
        </p:txBody>
      </p:sp>
      <p:graphicFrame>
        <p:nvGraphicFramePr>
          <p:cNvPr id="8" name="Diagramm 2">
            <a:extLst>
              <a:ext uri="{FF2B5EF4-FFF2-40B4-BE49-F238E27FC236}">
                <a16:creationId xmlns:a16="http://schemas.microsoft.com/office/drawing/2014/main" id="{267029FC-BE5D-39B2-ECAF-26015332CFC6}"/>
              </a:ext>
            </a:extLst>
          </p:cNvPr>
          <p:cNvGraphicFramePr/>
          <p:nvPr>
            <p:extLst>
              <p:ext uri="{D42A27DB-BD31-4B8C-83A1-F6EECF244321}">
                <p14:modId xmlns:p14="http://schemas.microsoft.com/office/powerpoint/2010/main" val="3085557021"/>
              </p:ext>
            </p:extLst>
          </p:nvPr>
        </p:nvGraphicFramePr>
        <p:xfrm>
          <a:off x="202373" y="2924767"/>
          <a:ext cx="5665027" cy="60479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A1EB6970-3C7B-70BB-24CC-591FB763ED52}"/>
              </a:ext>
            </a:extLst>
          </p:cNvPr>
          <p:cNvSpPr/>
          <p:nvPr/>
        </p:nvSpPr>
        <p:spPr>
          <a:xfrm>
            <a:off x="182880" y="1870451"/>
            <a:ext cx="4031873" cy="507831"/>
          </a:xfrm>
          <a:prstGeom prst="rect">
            <a:avLst/>
          </a:prstGeom>
        </p:spPr>
        <p:txBody>
          <a:bodyPr wrap="none">
            <a:spAutoFit/>
          </a:bodyPr>
          <a:lstStyle/>
          <a:p>
            <a:r>
              <a:rPr lang="en-GB" sz="2700" b="1" dirty="0">
                <a:solidFill>
                  <a:prstClr val="black"/>
                </a:solidFill>
                <a:latin typeface="Raleway"/>
              </a:rPr>
              <a:t>Customer Sales Funnel</a:t>
            </a:r>
            <a:endParaRPr lang="en-US" sz="2700" b="1" dirty="0">
              <a:solidFill>
                <a:prstClr val="black"/>
              </a:solidFill>
              <a:latin typeface="Raleway"/>
            </a:endParaRPr>
          </a:p>
        </p:txBody>
      </p:sp>
      <p:sp>
        <p:nvSpPr>
          <p:cNvPr id="19" name="TextBox 18">
            <a:extLst>
              <a:ext uri="{FF2B5EF4-FFF2-40B4-BE49-F238E27FC236}">
                <a16:creationId xmlns:a16="http://schemas.microsoft.com/office/drawing/2014/main" id="{9F08EC94-6538-B45A-FE67-0AA84B405BB2}"/>
              </a:ext>
            </a:extLst>
          </p:cNvPr>
          <p:cNvSpPr txBox="1"/>
          <p:nvPr/>
        </p:nvSpPr>
        <p:spPr>
          <a:xfrm>
            <a:off x="16453578" y="783486"/>
            <a:ext cx="1422954" cy="623248"/>
          </a:xfrm>
          <a:prstGeom prst="rect">
            <a:avLst/>
          </a:prstGeom>
          <a:noFill/>
        </p:spPr>
        <p:txBody>
          <a:bodyPr wrap="square" lIns="68580" tIns="34290" rIns="68580" bIns="34290" rtlCol="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rPr>
              <a:t>Place your logo here</a:t>
            </a:r>
            <a:endParaRPr kumimoji="0" lang="en-ZA" sz="1800" b="1" i="0" u="none" strike="noStrike" kern="0" cap="none" spc="0" normalizeH="0" baseline="0" noProof="0" dirty="0">
              <a:ln>
                <a:noFill/>
              </a:ln>
              <a:solidFill>
                <a:prstClr val="black"/>
              </a:solidFill>
              <a:effectLst/>
              <a:uLnTx/>
              <a:uFillTx/>
            </a:endParaRPr>
          </a:p>
        </p:txBody>
      </p:sp>
      <p:sp>
        <p:nvSpPr>
          <p:cNvPr id="20" name="Rectangle 19">
            <a:extLst>
              <a:ext uri="{FF2B5EF4-FFF2-40B4-BE49-F238E27FC236}">
                <a16:creationId xmlns:a16="http://schemas.microsoft.com/office/drawing/2014/main" id="{070E2D97-2C57-818C-E667-6E70DD764699}"/>
              </a:ext>
            </a:extLst>
          </p:cNvPr>
          <p:cNvSpPr/>
          <p:nvPr/>
        </p:nvSpPr>
        <p:spPr>
          <a:xfrm>
            <a:off x="16257812" y="382666"/>
            <a:ext cx="1695221" cy="1288685"/>
          </a:xfrm>
          <a:prstGeom prst="rect">
            <a:avLst/>
          </a:prstGeom>
          <a:noFill/>
          <a:ln w="25400" cap="flat" cmpd="sng" algn="ctr">
            <a:solidFill>
              <a:srgbClr val="F79646"/>
            </a:solidFill>
            <a:prstDash val="solid"/>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ZA" sz="1100" b="0" i="0" u="none" strike="noStrike" kern="0" cap="none" spc="0" normalizeH="0" baseline="0" noProof="0">
              <a:ln>
                <a:noFill/>
              </a:ln>
              <a:solidFill>
                <a:prstClr val="white"/>
              </a:solidFill>
              <a:effectLst/>
              <a:uLnTx/>
              <a:uFillTx/>
              <a:latin typeface="Calibri"/>
              <a:ea typeface="+mn-ea"/>
              <a:cs typeface="+mn-cs"/>
            </a:endParaRPr>
          </a:p>
        </p:txBody>
      </p:sp>
      <p:graphicFrame>
        <p:nvGraphicFramePr>
          <p:cNvPr id="17" name="Table 16">
            <a:extLst>
              <a:ext uri="{FF2B5EF4-FFF2-40B4-BE49-F238E27FC236}">
                <a16:creationId xmlns:a16="http://schemas.microsoft.com/office/drawing/2014/main" id="{70765C26-C73B-5B97-1D5B-68678D80F4C1}"/>
              </a:ext>
            </a:extLst>
          </p:cNvPr>
          <p:cNvGraphicFramePr>
            <a:graphicFrameLocks noGrp="1"/>
          </p:cNvGraphicFramePr>
          <p:nvPr>
            <p:extLst>
              <p:ext uri="{D42A27DB-BD31-4B8C-83A1-F6EECF244321}">
                <p14:modId xmlns:p14="http://schemas.microsoft.com/office/powerpoint/2010/main" val="3667783062"/>
              </p:ext>
            </p:extLst>
          </p:nvPr>
        </p:nvGraphicFramePr>
        <p:xfrm>
          <a:off x="5943600" y="2884956"/>
          <a:ext cx="11780832" cy="7296126"/>
        </p:xfrm>
        <a:graphic>
          <a:graphicData uri="http://schemas.openxmlformats.org/drawingml/2006/table">
            <a:tbl>
              <a:tblPr firstRow="1" firstCol="1" bandRow="1">
                <a:tableStyleId>{00A15C55-8517-42AA-B614-E9B94910E393}</a:tableStyleId>
              </a:tblPr>
              <a:tblGrid>
                <a:gridCol w="1983509">
                  <a:extLst>
                    <a:ext uri="{9D8B030D-6E8A-4147-A177-3AD203B41FA5}">
                      <a16:colId xmlns:a16="http://schemas.microsoft.com/office/drawing/2014/main" val="20000"/>
                    </a:ext>
                  </a:extLst>
                </a:gridCol>
                <a:gridCol w="2347275">
                  <a:extLst>
                    <a:ext uri="{9D8B030D-6E8A-4147-A177-3AD203B41FA5}">
                      <a16:colId xmlns:a16="http://schemas.microsoft.com/office/drawing/2014/main" val="20001"/>
                    </a:ext>
                  </a:extLst>
                </a:gridCol>
                <a:gridCol w="2653442">
                  <a:extLst>
                    <a:ext uri="{9D8B030D-6E8A-4147-A177-3AD203B41FA5}">
                      <a16:colId xmlns:a16="http://schemas.microsoft.com/office/drawing/2014/main" val="20002"/>
                    </a:ext>
                  </a:extLst>
                </a:gridCol>
                <a:gridCol w="2464574">
                  <a:extLst>
                    <a:ext uri="{9D8B030D-6E8A-4147-A177-3AD203B41FA5}">
                      <a16:colId xmlns:a16="http://schemas.microsoft.com/office/drawing/2014/main" val="20003"/>
                    </a:ext>
                  </a:extLst>
                </a:gridCol>
                <a:gridCol w="2332032">
                  <a:extLst>
                    <a:ext uri="{9D8B030D-6E8A-4147-A177-3AD203B41FA5}">
                      <a16:colId xmlns:a16="http://schemas.microsoft.com/office/drawing/2014/main" val="20004"/>
                    </a:ext>
                  </a:extLst>
                </a:gridCol>
              </a:tblGrid>
              <a:tr h="542645">
                <a:tc>
                  <a:txBody>
                    <a:bodyPr/>
                    <a:lstStyle/>
                    <a:p>
                      <a:pPr marL="0" marR="0">
                        <a:lnSpc>
                          <a:spcPct val="107000"/>
                        </a:lnSpc>
                        <a:spcBef>
                          <a:spcPts val="0"/>
                        </a:spcBef>
                        <a:spcAft>
                          <a:spcPts val="800"/>
                        </a:spcAft>
                      </a:pPr>
                      <a:r>
                        <a:rPr lang="en-US" sz="1800" dirty="0">
                          <a:effectLst/>
                        </a:rPr>
                        <a:t>1</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2</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3</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4</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5</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extLst>
                  <a:ext uri="{0D108BD9-81ED-4DB2-BD59-A6C34878D82A}">
                    <a16:rowId xmlns:a16="http://schemas.microsoft.com/office/drawing/2014/main" val="10000"/>
                  </a:ext>
                </a:extLst>
              </a:tr>
              <a:tr h="1625024">
                <a:tc>
                  <a:txBody>
                    <a:bodyPr/>
                    <a:lstStyle/>
                    <a:p>
                      <a:pPr marL="0" marR="0">
                        <a:lnSpc>
                          <a:spcPct val="107000"/>
                        </a:lnSpc>
                        <a:spcBef>
                          <a:spcPts val="0"/>
                        </a:spcBef>
                        <a:spcAft>
                          <a:spcPts val="800"/>
                        </a:spcAft>
                      </a:pPr>
                      <a:r>
                        <a:rPr lang="en-US" sz="1800" dirty="0">
                          <a:effectLst/>
                        </a:rPr>
                        <a:t>Target Customer Segment (Type)</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Target Customer Segment  (Number)</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Channels to be used to attract the target customer segment</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number of leads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cost to convert these leads to actual customers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extLst>
                  <a:ext uri="{0D108BD9-81ED-4DB2-BD59-A6C34878D82A}">
                    <a16:rowId xmlns:a16="http://schemas.microsoft.com/office/drawing/2014/main" val="10001"/>
                  </a:ext>
                </a:extLst>
              </a:tr>
              <a:tr h="530986">
                <a:tc>
                  <a:txBody>
                    <a:bodyPr/>
                    <a:lstStyle/>
                    <a:p>
                      <a:pPr marL="0" marR="0">
                        <a:lnSpc>
                          <a:spcPct val="107000"/>
                        </a:lnSpc>
                        <a:spcBef>
                          <a:spcPts val="0"/>
                        </a:spcBef>
                        <a:spcAft>
                          <a:spcPts val="800"/>
                        </a:spcAft>
                      </a:pPr>
                      <a:r>
                        <a:rPr lang="en-US" sz="2000" dirty="0">
                          <a:effectLst/>
                        </a:rPr>
                        <a:t>Young</a:t>
                      </a:r>
                      <a:r>
                        <a:rPr lang="en-US" sz="2400" dirty="0">
                          <a:effectLst/>
                        </a:rPr>
                        <a:t> </a:t>
                      </a:r>
                      <a:r>
                        <a:rPr lang="en-US" sz="2000" dirty="0">
                          <a:effectLst/>
                        </a:rPr>
                        <a:t>urban professional (age 22-40)</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dirty="0">
                          <a:effectLst/>
                        </a:rPr>
                        <a:t> </a:t>
                      </a:r>
                      <a:r>
                        <a:rPr lang="en-US" sz="2000" dirty="0">
                          <a:effectLst/>
                        </a:rPr>
                        <a:t>2,00,000</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Instagram &amp; YouTube ads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50,000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₹80 per lead</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2"/>
                  </a:ext>
                </a:extLst>
              </a:tr>
              <a:tr h="718507">
                <a:tc>
                  <a:txBody>
                    <a:bodyPr/>
                    <a:lstStyle/>
                    <a:p>
                      <a:pPr marL="0" marR="0">
                        <a:lnSpc>
                          <a:spcPct val="107000"/>
                        </a:lnSpc>
                        <a:spcBef>
                          <a:spcPts val="0"/>
                        </a:spcBef>
                        <a:spcAft>
                          <a:spcPts val="800"/>
                        </a:spcAft>
                      </a:pPr>
                      <a:r>
                        <a:rPr lang="en-US" sz="2400" dirty="0">
                          <a:effectLst/>
                        </a:rPr>
                        <a:t> F</a:t>
                      </a:r>
                      <a:r>
                        <a:rPr lang="en-US" sz="2000" dirty="0">
                          <a:effectLst/>
                        </a:rPr>
                        <a:t>irst-time car buyers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dirty="0">
                          <a:effectLst/>
                        </a:rPr>
                        <a:t> </a:t>
                      </a:r>
                      <a:r>
                        <a:rPr lang="en-US" sz="2000" dirty="0">
                          <a:effectLst/>
                        </a:rPr>
                        <a:t>1,50,000</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Car Dealership   partnership</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30,000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₹60 per lead</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3"/>
                  </a:ext>
                </a:extLst>
              </a:tr>
              <a:tr h="674815">
                <a:tc>
                  <a:txBody>
                    <a:bodyPr/>
                    <a:lstStyle/>
                    <a:p>
                      <a:pPr marL="0" marR="0">
                        <a:lnSpc>
                          <a:spcPct val="107000"/>
                        </a:lnSpc>
                        <a:spcBef>
                          <a:spcPts val="0"/>
                        </a:spcBef>
                        <a:spcAft>
                          <a:spcPts val="800"/>
                        </a:spcAft>
                      </a:pPr>
                      <a:r>
                        <a:rPr lang="en-US" sz="2000" dirty="0">
                          <a:effectLst/>
                        </a:rPr>
                        <a:t>Tier-2 city car owners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dirty="0">
                          <a:effectLst/>
                        </a:rPr>
                        <a:t> </a:t>
                      </a:r>
                      <a:r>
                        <a:rPr lang="en-US" sz="2000" dirty="0">
                          <a:effectLst/>
                        </a:rPr>
                        <a:t>1,50,000</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WhatsApp groups &amp; regional YouTubers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20,000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₹40 per lead</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4"/>
                  </a:ext>
                </a:extLst>
              </a:tr>
              <a:tr h="792608">
                <a:tc>
                  <a:txBody>
                    <a:bodyPr/>
                    <a:lstStyle/>
                    <a:p>
                      <a:pPr marL="0" marR="0">
                        <a:lnSpc>
                          <a:spcPct val="107000"/>
                        </a:lnSpc>
                        <a:spcBef>
                          <a:spcPts val="0"/>
                        </a:spcBef>
                        <a:spcAft>
                          <a:spcPts val="800"/>
                        </a:spcAft>
                      </a:pPr>
                      <a:r>
                        <a:rPr lang="en-US" sz="2000" dirty="0">
                          <a:effectLst/>
                        </a:rPr>
                        <a:t>Rural &amp; low-literacy owners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dirty="0">
                          <a:effectLst/>
                        </a:rPr>
                        <a:t> </a:t>
                      </a:r>
                      <a:r>
                        <a:rPr lang="en-US" sz="2000" dirty="0">
                          <a:effectLst/>
                        </a:rPr>
                        <a:t>50,00,000</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Voice feature &amp; local FM ads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10,000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₹30 per lead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5"/>
                  </a:ext>
                </a:extLst>
              </a:tr>
              <a:tr h="530986">
                <a:tc>
                  <a:txBody>
                    <a:bodyPr/>
                    <a:lstStyle/>
                    <a:p>
                      <a:pPr marL="0" marR="0">
                        <a:lnSpc>
                          <a:spcPct val="107000"/>
                        </a:lnSpc>
                        <a:spcBef>
                          <a:spcPts val="0"/>
                        </a:spcBef>
                        <a:spcAft>
                          <a:spcPts val="800"/>
                        </a:spcAft>
                      </a:pPr>
                      <a:r>
                        <a:rPr lang="en-US" sz="2000" dirty="0">
                          <a:effectLst/>
                        </a:rPr>
                        <a:t>Small fleet operators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000" dirty="0">
                          <a:effectLst/>
                        </a:rPr>
                        <a:t> 50,000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Direct sales &amp; garage partners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8,000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₹50 per lead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6"/>
                  </a:ext>
                </a:extLst>
              </a:tr>
              <a:tr h="524254">
                <a:tc>
                  <a:txBody>
                    <a:bodyPr/>
                    <a:lstStyle/>
                    <a:p>
                      <a:pPr marL="0" marR="0">
                        <a:lnSpc>
                          <a:spcPct val="107000"/>
                        </a:lnSpc>
                        <a:spcBef>
                          <a:spcPts val="0"/>
                        </a:spcBef>
                        <a:spcAft>
                          <a:spcPts val="800"/>
                        </a:spcAft>
                      </a:pPr>
                      <a:r>
                        <a:rPr lang="en-US" sz="2000" dirty="0">
                          <a:effectLst/>
                        </a:rPr>
                        <a:t>Taxi &amp; cab drivers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000" dirty="0">
                          <a:effectLst/>
                        </a:rPr>
                        <a:t> 1,00,000 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Driver associations &amp; referrals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15,000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₹35 per lead</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7"/>
                  </a:ext>
                </a:extLst>
              </a:tr>
              <a:tr h="530986">
                <a:tc>
                  <a:txBody>
                    <a:bodyPr/>
                    <a:lstStyle/>
                    <a:p>
                      <a:pPr marL="0" marR="0">
                        <a:lnSpc>
                          <a:spcPct val="107000"/>
                        </a:lnSpc>
                        <a:spcBef>
                          <a:spcPts val="0"/>
                        </a:spcBef>
                        <a:spcAft>
                          <a:spcPts val="800"/>
                        </a:spcAft>
                      </a:pPr>
                      <a:r>
                        <a:rPr lang="en-US" sz="2000" dirty="0">
                          <a:effectLst/>
                        </a:rPr>
                        <a:t>Used car owners</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000" dirty="0">
                          <a:effectLst/>
                        </a:rPr>
                        <a:t> 2,50.000 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Facebook Ads &amp; auto forums </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12,000</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000" dirty="0">
                          <a:effectLst/>
                        </a:rPr>
                        <a:t> ₹45 per lead</a:t>
                      </a:r>
                      <a:endParaRPr lang="en-IN"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8"/>
                  </a:ext>
                </a:extLst>
              </a:tr>
            </a:tbl>
          </a:graphicData>
        </a:graphic>
      </p:graphicFrame>
      <p:sp>
        <p:nvSpPr>
          <p:cNvPr id="18" name="Rectangle 17">
            <a:extLst>
              <a:ext uri="{FF2B5EF4-FFF2-40B4-BE49-F238E27FC236}">
                <a16:creationId xmlns:a16="http://schemas.microsoft.com/office/drawing/2014/main" id="{6F9A74A0-5570-5D59-2A52-3596F9C11D86}"/>
              </a:ext>
            </a:extLst>
          </p:cNvPr>
          <p:cNvSpPr/>
          <p:nvPr/>
        </p:nvSpPr>
        <p:spPr>
          <a:xfrm>
            <a:off x="9372600" y="2124366"/>
            <a:ext cx="4596130" cy="507831"/>
          </a:xfrm>
          <a:prstGeom prst="rect">
            <a:avLst/>
          </a:prstGeom>
        </p:spPr>
        <p:txBody>
          <a:bodyPr wrap="none">
            <a:spAutoFit/>
          </a:bodyPr>
          <a:lstStyle/>
          <a:p>
            <a:r>
              <a:rPr lang="en-GB" sz="2700" b="1" dirty="0">
                <a:solidFill>
                  <a:prstClr val="black"/>
                </a:solidFill>
                <a:latin typeface="Raleway"/>
              </a:rPr>
              <a:t>Customer Acquisition Plan</a:t>
            </a:r>
            <a:endParaRPr lang="en-US" sz="2700" b="1" dirty="0">
              <a:solidFill>
                <a:prstClr val="black"/>
              </a:solidFill>
              <a:latin typeface="Raleway"/>
            </a:endParaRPr>
          </a:p>
        </p:txBody>
      </p:sp>
      <p:pic>
        <p:nvPicPr>
          <p:cNvPr id="2" name="Picture 1" descr="AUTOFIXAI">
            <a:extLst>
              <a:ext uri="{FF2B5EF4-FFF2-40B4-BE49-F238E27FC236}">
                <a16:creationId xmlns:a16="http://schemas.microsoft.com/office/drawing/2014/main" id="{91625A19-BB91-F734-37A7-71F6B66D94F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164435" y="236162"/>
            <a:ext cx="1881974" cy="1600200"/>
          </a:xfrm>
          <a:prstGeom prst="rect">
            <a:avLst/>
          </a:prstGeom>
        </p:spPr>
      </p:pic>
    </p:spTree>
    <p:extLst>
      <p:ext uri="{BB962C8B-B14F-4D97-AF65-F5344CB8AC3E}">
        <p14:creationId xmlns:p14="http://schemas.microsoft.com/office/powerpoint/2010/main" val="25486070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randombar(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94247" y="1771809"/>
            <a:ext cx="1377754" cy="76041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15" name="Title 14"/>
          <p:cNvSpPr>
            <a:spLocks noGrp="1"/>
          </p:cNvSpPr>
          <p:nvPr>
            <p:ph type="title"/>
          </p:nvPr>
        </p:nvSpPr>
        <p:spPr>
          <a:xfrm>
            <a:off x="914400" y="478597"/>
            <a:ext cx="15773400" cy="652462"/>
          </a:xfrm>
          <a:noFill/>
        </p:spPr>
        <p:txBody>
          <a:bodyPr>
            <a:normAutofit fontScale="90000"/>
          </a:bodyPr>
          <a:lstStyle/>
          <a:p>
            <a:r>
              <a:rPr lang="en-US" sz="4000" dirty="0"/>
              <a:t>Go-to-Market Strategy</a:t>
            </a:r>
          </a:p>
        </p:txBody>
      </p:sp>
      <p:sp>
        <p:nvSpPr>
          <p:cNvPr id="16" name="TextBox 15"/>
          <p:cNvSpPr txBox="1"/>
          <p:nvPr/>
        </p:nvSpPr>
        <p:spPr>
          <a:xfrm>
            <a:off x="914400" y="1771809"/>
            <a:ext cx="16357600" cy="6740307"/>
          </a:xfrm>
          <a:prstGeom prst="rect">
            <a:avLst/>
          </a:prstGeom>
          <a:noFill/>
        </p:spPr>
        <p:txBody>
          <a:bodyPr wrap="square" rtlCol="0" anchor="t">
            <a:spAutoFit/>
          </a:bodyPr>
          <a:lstStyle/>
          <a:p>
            <a:pPr marL="685800" indent="-685800">
              <a:buFont typeface="Arial" panose="020B0604020202020204" pitchFamily="34" charset="0"/>
              <a:buChar char="•"/>
            </a:pPr>
            <a:r>
              <a:rPr lang="en-US" sz="3600" i="1" dirty="0"/>
              <a:t>Ensure that you have active social media presence on </a:t>
            </a:r>
            <a:r>
              <a:rPr lang="en-US" sz="3600" b="1" i="1" dirty="0"/>
              <a:t>multiple platforms</a:t>
            </a:r>
            <a:r>
              <a:rPr lang="en-US" sz="3600" i="1" dirty="0"/>
              <a:t> – Facebook, LinkedIn, Instagram, Twitter, and others.</a:t>
            </a:r>
            <a:endParaRPr lang="en-US" sz="3600" i="1" dirty="0">
              <a:cs typeface="Calibri"/>
            </a:endParaRPr>
          </a:p>
          <a:p>
            <a:pPr marL="685800" indent="-685800">
              <a:buFont typeface="Arial" panose="020B0604020202020204" pitchFamily="34" charset="0"/>
              <a:buChar char="•"/>
            </a:pPr>
            <a:r>
              <a:rPr lang="en-US" sz="3600" i="1" dirty="0"/>
              <a:t>Show your </a:t>
            </a:r>
            <a:r>
              <a:rPr lang="en-US" sz="3600" b="1" i="1" dirty="0"/>
              <a:t>branding video</a:t>
            </a:r>
            <a:r>
              <a:rPr lang="en-US" sz="3600" i="1" dirty="0"/>
              <a:t>. Ensure that it:</a:t>
            </a:r>
          </a:p>
          <a:p>
            <a:pPr marL="1717040" lvl="1" indent="-685800">
              <a:buFont typeface="Arial" panose="020B0604020202020204" pitchFamily="34" charset="0"/>
              <a:buChar char="•"/>
            </a:pPr>
            <a:r>
              <a:rPr lang="en-US" sz="3600" i="1" dirty="0"/>
              <a:t>Is </a:t>
            </a:r>
            <a:r>
              <a:rPr lang="en-US" sz="3600" b="1" i="1" dirty="0"/>
              <a:t>crisp and engaging</a:t>
            </a:r>
            <a:endParaRPr lang="en-US" sz="3600" b="1" i="1" dirty="0">
              <a:cs typeface="Calibri" panose="020F0502020204030204"/>
            </a:endParaRPr>
          </a:p>
          <a:p>
            <a:pPr marL="1717040" lvl="1" indent="-685800">
              <a:buFont typeface="Arial" panose="020B0604020202020204" pitchFamily="34" charset="0"/>
              <a:buChar char="•"/>
            </a:pPr>
            <a:r>
              <a:rPr lang="en-US" sz="3600" i="1" dirty="0"/>
              <a:t>Clearly explains the brand, the venture, its target customers, and unique value proposition.</a:t>
            </a:r>
            <a:endParaRPr lang="en-US" sz="3600" i="1" dirty="0">
              <a:cs typeface="Calibri" panose="020F0502020204030204"/>
            </a:endParaRPr>
          </a:p>
          <a:p>
            <a:pPr marL="685800" indent="-685800">
              <a:buFont typeface="Arial" panose="020B0604020202020204" pitchFamily="34" charset="0"/>
              <a:buChar char="•"/>
            </a:pPr>
            <a:r>
              <a:rPr lang="en-US" sz="3600" i="1" dirty="0"/>
              <a:t>Show your </a:t>
            </a:r>
            <a:r>
              <a:rPr lang="en-US" sz="3600" b="1" i="1" dirty="0"/>
              <a:t>Positioning Statement</a:t>
            </a:r>
            <a:r>
              <a:rPr lang="en-US" sz="3600" i="1" dirty="0"/>
              <a:t>. Ensure that it </a:t>
            </a:r>
            <a:r>
              <a:rPr lang="en-US" sz="3600" b="1" i="1" dirty="0"/>
              <a:t>clearly states </a:t>
            </a:r>
            <a:r>
              <a:rPr lang="en-US" sz="3600" i="1" dirty="0"/>
              <a:t>what your product is and what value it brings to the customer</a:t>
            </a:r>
          </a:p>
          <a:p>
            <a:pPr marL="685800" indent="-685800">
              <a:buFont typeface="Arial,Sans-Serif" panose="020B0604020202020204" pitchFamily="34" charset="0"/>
              <a:buChar char="•"/>
            </a:pPr>
            <a:r>
              <a:rPr lang="en-US" sz="3600" i="1" dirty="0">
                <a:cs typeface="Calibri" panose="020F0502020204030204"/>
              </a:rPr>
              <a:t>Action plan to reach your sales/customer target for the next one year. </a:t>
            </a:r>
            <a:endParaRPr lang="en-US" sz="3600" dirty="0">
              <a:ea typeface="+mn-lt"/>
              <a:cs typeface="+mn-lt"/>
            </a:endParaRPr>
          </a:p>
          <a:p>
            <a:pPr marL="685800" indent="-685800">
              <a:buFont typeface="Arial,Sans-Serif" panose="020B0604020202020204" pitchFamily="34" charset="0"/>
              <a:buChar char="•"/>
            </a:pPr>
            <a:r>
              <a:rPr lang="en-US" sz="3600" i="1" dirty="0">
                <a:ea typeface="+mn-lt"/>
                <a:cs typeface="+mn-lt"/>
              </a:rPr>
              <a:t>Show your Sales &amp; Distribution model, clearly listing down your channels for both sales and distribution.</a:t>
            </a:r>
            <a:endParaRPr lang="en-US" sz="3600" dirty="0">
              <a:ea typeface="+mn-lt"/>
              <a:cs typeface="+mn-lt"/>
            </a:endParaRPr>
          </a:p>
          <a:p>
            <a:pPr marL="685800" indent="-685800">
              <a:buFont typeface="Arial" panose="020B0604020202020204" pitchFamily="34" charset="0"/>
              <a:buChar char="•"/>
            </a:pPr>
            <a:endParaRPr lang="en-US" sz="3600" i="1" dirty="0">
              <a:cs typeface="Calibri" panose="020F0502020204030204"/>
            </a:endParaRPr>
          </a:p>
        </p:txBody>
      </p:sp>
      <p:sp>
        <p:nvSpPr>
          <p:cNvPr id="6" name="TextBox 5"/>
          <p:cNvSpPr txBox="1"/>
          <p:nvPr/>
        </p:nvSpPr>
        <p:spPr>
          <a:xfrm>
            <a:off x="1120116" y="8298705"/>
            <a:ext cx="15463008" cy="1077218"/>
          </a:xfrm>
          <a:prstGeom prst="rect">
            <a:avLst/>
          </a:prstGeom>
          <a:noFill/>
        </p:spPr>
        <p:txBody>
          <a:bodyPr wrap="square" rtlCol="0">
            <a:spAutoFit/>
          </a:bodyPr>
          <a:lstStyle/>
          <a:p>
            <a:r>
              <a:rPr lang="en-US" sz="3200" b="1" dirty="0">
                <a:solidFill>
                  <a:srgbClr val="C00000"/>
                </a:solidFill>
              </a:rPr>
              <a:t>Note: </a:t>
            </a:r>
            <a:r>
              <a:rPr lang="en-US" sz="3200" dirty="0"/>
              <a:t>You may use any other template of your choice to pitch for your venture as long as you cover all information being sought here.</a:t>
            </a:r>
            <a:endParaRPr lang="en-IN" sz="3600" dirty="0"/>
          </a:p>
        </p:txBody>
      </p:sp>
      <p:sp>
        <p:nvSpPr>
          <p:cNvPr id="7" name="Rectangle 6">
            <a:extLst>
              <a:ext uri="{FF2B5EF4-FFF2-40B4-BE49-F238E27FC236}">
                <a16:creationId xmlns:a16="http://schemas.microsoft.com/office/drawing/2014/main" id="{5DE34494-019C-4AF1-907B-33245967C575}"/>
              </a:ext>
            </a:extLst>
          </p:cNvPr>
          <p:cNvSpPr/>
          <p:nvPr/>
        </p:nvSpPr>
        <p:spPr>
          <a:xfrm>
            <a:off x="16002000" y="419100"/>
            <a:ext cx="1695221" cy="1288685"/>
          </a:xfrm>
          <a:prstGeom prst="rect">
            <a:avLst/>
          </a:prstGeom>
          <a:noFill/>
          <a:ln w="25400" cap="flat" cmpd="sng" algn="ctr">
            <a:solidFill>
              <a:srgbClr val="F79646"/>
            </a:solidFill>
            <a:prstDash val="solid"/>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ZA" sz="1100" b="0" i="0" u="none" strike="noStrike" kern="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37D10F2-D825-4F14-8721-CF5105D60893}"/>
              </a:ext>
            </a:extLst>
          </p:cNvPr>
          <p:cNvSpPr txBox="1"/>
          <p:nvPr/>
        </p:nvSpPr>
        <p:spPr>
          <a:xfrm>
            <a:off x="16478654" y="606868"/>
            <a:ext cx="1370665" cy="623248"/>
          </a:xfrm>
          <a:prstGeom prst="rect">
            <a:avLst/>
          </a:prstGeom>
          <a:noFill/>
        </p:spPr>
        <p:txBody>
          <a:bodyPr wrap="square" lIns="68580" tIns="34290" rIns="68580" bIns="34290" rtlCol="0" anchor="t">
            <a:spAutoFit/>
          </a:bodyPr>
          <a:lstStyle/>
          <a:p>
            <a:pPr algn="ctr">
              <a:defRPr/>
            </a:pPr>
            <a:r>
              <a:rPr lang="en-US" b="1" kern="0" dirty="0">
                <a:solidFill>
                  <a:prstClr val="black"/>
                </a:solidFill>
              </a:rPr>
              <a:t>Place your logo here</a:t>
            </a:r>
            <a:endParaRPr lang="en-ZA" b="1" kern="0" dirty="0">
              <a:solidFill>
                <a:prstClr val="black"/>
              </a:solidFill>
            </a:endParaRPr>
          </a:p>
        </p:txBody>
      </p:sp>
      <p:pic>
        <p:nvPicPr>
          <p:cNvPr id="3" name="Picture 2" descr="AUTOFIXAI">
            <a:extLst>
              <a:ext uri="{FF2B5EF4-FFF2-40B4-BE49-F238E27FC236}">
                <a16:creationId xmlns:a16="http://schemas.microsoft.com/office/drawing/2014/main" id="{DEEF9D90-79B0-0CB0-98BD-C529605F86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85997" y="139597"/>
            <a:ext cx="1881974" cy="1600200"/>
          </a:xfrm>
          <a:prstGeom prst="rect">
            <a:avLst/>
          </a:prstGeom>
        </p:spPr>
      </p:pic>
    </p:spTree>
    <p:extLst>
      <p:ext uri="{BB962C8B-B14F-4D97-AF65-F5344CB8AC3E}">
        <p14:creationId xmlns:p14="http://schemas.microsoft.com/office/powerpoint/2010/main" val="119153521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04800" y="111556"/>
            <a:ext cx="9144000" cy="950976"/>
          </a:xfrm>
          <a:prstGeom prst="rect">
            <a:avLst/>
          </a:prstGeom>
          <a:noFill/>
          <a:ln/>
        </p:spPr>
        <p:txBody>
          <a:bodyPr wrap="square" rtlCol="0" anchor="ctr"/>
          <a:lstStyle/>
          <a:p>
            <a:r>
              <a:rPr lang="en-US" sz="5600" b="1" dirty="0">
                <a:solidFill>
                  <a:srgbClr val="CC0000"/>
                </a:solidFill>
                <a:latin typeface="Arial Black" pitchFamily="34" charset="0"/>
                <a:ea typeface="Arial Black" pitchFamily="34" charset="-122"/>
                <a:cs typeface="Arial Black" pitchFamily="34" charset="-120"/>
              </a:rPr>
              <a:t>FINANCIAL PLAN</a:t>
            </a:r>
            <a:endParaRPr lang="en-US" sz="5600" dirty="0"/>
          </a:p>
        </p:txBody>
      </p:sp>
      <p:sp>
        <p:nvSpPr>
          <p:cNvPr id="4" name="Shape 2"/>
          <p:cNvSpPr/>
          <p:nvPr/>
        </p:nvSpPr>
        <p:spPr>
          <a:xfrm>
            <a:off x="15636240" y="804672"/>
            <a:ext cx="2194560" cy="1280160"/>
          </a:xfrm>
          <a:prstGeom prst="rect">
            <a:avLst/>
          </a:prstGeom>
          <a:solidFill>
            <a:srgbClr val="FFFFFF"/>
          </a:solidFill>
          <a:ln w="12700">
            <a:solidFill>
              <a:srgbClr val="E8891A"/>
            </a:solidFill>
            <a:prstDash val="solid"/>
          </a:ln>
        </p:spPr>
      </p:sp>
      <p:sp>
        <p:nvSpPr>
          <p:cNvPr id="5" name="Text 3"/>
          <p:cNvSpPr/>
          <p:nvPr/>
        </p:nvSpPr>
        <p:spPr>
          <a:xfrm>
            <a:off x="15636240" y="804672"/>
            <a:ext cx="2194560" cy="1280160"/>
          </a:xfrm>
          <a:prstGeom prst="rect">
            <a:avLst/>
          </a:prstGeom>
          <a:noFill/>
          <a:ln/>
        </p:spPr>
        <p:txBody>
          <a:bodyPr wrap="square" rtlCol="0" anchor="ctr"/>
          <a:lstStyle/>
          <a:p>
            <a:pPr algn="ctr"/>
            <a:r>
              <a:rPr lang="en-US" dirty="0">
                <a:solidFill>
                  <a:srgbClr val="666666"/>
                </a:solidFill>
              </a:rPr>
              <a:t>Place your</a:t>
            </a:r>
            <a:endParaRPr lang="en-US" dirty="0"/>
          </a:p>
          <a:p>
            <a:pPr algn="ctr"/>
            <a:r>
              <a:rPr lang="en-US" dirty="0">
                <a:solidFill>
                  <a:srgbClr val="666666"/>
                </a:solidFill>
              </a:rPr>
              <a:t>logo here</a:t>
            </a:r>
            <a:endParaRPr lang="en-US" dirty="0"/>
          </a:p>
        </p:txBody>
      </p:sp>
      <p:sp>
        <p:nvSpPr>
          <p:cNvPr id="6" name="Text 4"/>
          <p:cNvSpPr/>
          <p:nvPr/>
        </p:nvSpPr>
        <p:spPr>
          <a:xfrm>
            <a:off x="502920" y="1136498"/>
            <a:ext cx="7315200" cy="512064"/>
          </a:xfrm>
          <a:prstGeom prst="rect">
            <a:avLst/>
          </a:prstGeom>
          <a:noFill/>
          <a:ln/>
        </p:spPr>
        <p:txBody>
          <a:bodyPr wrap="square" rtlCol="0" anchor="ctr"/>
          <a:lstStyle/>
          <a:p>
            <a:r>
              <a:rPr lang="en-US" sz="2800" b="1" dirty="0">
                <a:solidFill>
                  <a:srgbClr val="111111"/>
                </a:solidFill>
              </a:rPr>
              <a:t>Start-up Costs</a:t>
            </a:r>
            <a:endParaRPr lang="en-US" sz="2800" dirty="0"/>
          </a:p>
        </p:txBody>
      </p:sp>
      <p:sp>
        <p:nvSpPr>
          <p:cNvPr id="7" name="Shape 5"/>
          <p:cNvSpPr/>
          <p:nvPr/>
        </p:nvSpPr>
        <p:spPr>
          <a:xfrm>
            <a:off x="640080" y="1767432"/>
            <a:ext cx="9326880" cy="182880"/>
          </a:xfrm>
          <a:prstGeom prst="rect">
            <a:avLst/>
          </a:prstGeom>
          <a:solidFill>
            <a:srgbClr val="FFE57A"/>
          </a:solidFill>
          <a:ln w="12700">
            <a:solidFill>
              <a:srgbClr val="FFE57A"/>
            </a:solidFill>
            <a:prstDash val="solid"/>
          </a:ln>
        </p:spPr>
      </p:sp>
      <p:sp>
        <p:nvSpPr>
          <p:cNvPr id="8" name="Text 6"/>
          <p:cNvSpPr/>
          <p:nvPr/>
        </p:nvSpPr>
        <p:spPr>
          <a:xfrm>
            <a:off x="477842" y="2492491"/>
            <a:ext cx="9326880" cy="420624"/>
          </a:xfrm>
          <a:prstGeom prst="rect">
            <a:avLst/>
          </a:prstGeom>
          <a:noFill/>
          <a:ln/>
        </p:spPr>
        <p:txBody>
          <a:bodyPr wrap="square" rtlCol="0" anchor="ctr"/>
          <a:lstStyle/>
          <a:p>
            <a:r>
              <a:rPr lang="en-US" b="1" dirty="0">
                <a:solidFill>
                  <a:srgbClr val="111111"/>
                </a:solidFill>
              </a:rPr>
              <a:t>  Setting up the business</a:t>
            </a:r>
            <a:endParaRPr lang="en-US" dirty="0"/>
          </a:p>
        </p:txBody>
      </p:sp>
      <p:sp>
        <p:nvSpPr>
          <p:cNvPr id="9" name="Shape 7"/>
          <p:cNvSpPr/>
          <p:nvPr/>
        </p:nvSpPr>
        <p:spPr>
          <a:xfrm>
            <a:off x="640080" y="3103881"/>
            <a:ext cx="7040880" cy="324714"/>
          </a:xfrm>
          <a:prstGeom prst="rect">
            <a:avLst/>
          </a:prstGeom>
          <a:solidFill>
            <a:srgbClr val="F5C78E"/>
          </a:solidFill>
          <a:ln w="12700">
            <a:solidFill>
              <a:srgbClr val="E0B080"/>
            </a:solidFill>
            <a:prstDash val="solid"/>
          </a:ln>
        </p:spPr>
      </p:sp>
      <p:sp>
        <p:nvSpPr>
          <p:cNvPr id="10" name="Text 8"/>
          <p:cNvSpPr/>
          <p:nvPr/>
        </p:nvSpPr>
        <p:spPr>
          <a:xfrm>
            <a:off x="543560" y="3072383"/>
            <a:ext cx="6858000" cy="387706"/>
          </a:xfrm>
          <a:prstGeom prst="rect">
            <a:avLst/>
          </a:prstGeom>
          <a:noFill/>
          <a:ln/>
        </p:spPr>
        <p:txBody>
          <a:bodyPr wrap="square" rtlCol="0" anchor="ctr"/>
          <a:lstStyle/>
          <a:p>
            <a:r>
              <a:rPr lang="en-US" sz="1600" dirty="0">
                <a:solidFill>
                  <a:srgbClr val="111111"/>
                </a:solidFill>
              </a:rPr>
              <a:t>  Consultant Fees (Accountants, Lawyers etc.)</a:t>
            </a:r>
            <a:endParaRPr lang="en-US" sz="1600" dirty="0"/>
          </a:p>
        </p:txBody>
      </p:sp>
      <p:sp>
        <p:nvSpPr>
          <p:cNvPr id="11" name="Shape 9"/>
          <p:cNvSpPr/>
          <p:nvPr/>
        </p:nvSpPr>
        <p:spPr>
          <a:xfrm>
            <a:off x="7681925" y="3103881"/>
            <a:ext cx="2286000" cy="387706"/>
          </a:xfrm>
          <a:prstGeom prst="rect">
            <a:avLst/>
          </a:prstGeom>
          <a:solidFill>
            <a:srgbClr val="E8891A"/>
          </a:solidFill>
          <a:ln w="12700">
            <a:solidFill>
              <a:srgbClr val="E0A030"/>
            </a:solidFill>
            <a:prstDash val="solid"/>
          </a:ln>
        </p:spPr>
        <p:txBody>
          <a:bodyPr/>
          <a:lstStyle/>
          <a:p>
            <a:r>
              <a:rPr lang="en-IN" dirty="0">
                <a:solidFill>
                  <a:schemeClr val="bg1"/>
                </a:solidFill>
              </a:rPr>
              <a:t>                            </a:t>
            </a:r>
            <a:r>
              <a:rPr lang="en-IN" sz="1600" dirty="0">
                <a:solidFill>
                  <a:schemeClr val="bg1"/>
                </a:solidFill>
              </a:rPr>
              <a:t>₹6,000</a:t>
            </a:r>
          </a:p>
        </p:txBody>
      </p:sp>
      <p:sp>
        <p:nvSpPr>
          <p:cNvPr id="12" name="Text 10"/>
          <p:cNvSpPr/>
          <p:nvPr/>
        </p:nvSpPr>
        <p:spPr>
          <a:xfrm>
            <a:off x="7777480" y="2675535"/>
            <a:ext cx="2286000" cy="387706"/>
          </a:xfrm>
          <a:prstGeom prst="rect">
            <a:avLst/>
          </a:prstGeom>
          <a:noFill/>
          <a:ln/>
        </p:spPr>
        <p:txBody>
          <a:bodyPr wrap="square" lIns="0" tIns="0" rIns="152400" bIns="0" rtlCol="0" anchor="ctr"/>
          <a:lstStyle/>
          <a:p>
            <a:pPr algn="r"/>
            <a:r>
              <a:rPr lang="en-US" sz="1600" b="1" dirty="0">
                <a:solidFill>
                  <a:srgbClr val="FFFFFF"/>
                </a:solidFill>
              </a:rPr>
              <a:t>₹10,000</a:t>
            </a:r>
            <a:endParaRPr lang="en-US" sz="1600" dirty="0"/>
          </a:p>
        </p:txBody>
      </p:sp>
      <p:sp>
        <p:nvSpPr>
          <p:cNvPr id="13" name="Shape 11"/>
          <p:cNvSpPr/>
          <p:nvPr/>
        </p:nvSpPr>
        <p:spPr>
          <a:xfrm>
            <a:off x="640080" y="3441803"/>
            <a:ext cx="7040880" cy="387706"/>
          </a:xfrm>
          <a:prstGeom prst="rect">
            <a:avLst/>
          </a:prstGeom>
          <a:solidFill>
            <a:srgbClr val="FDE9C8"/>
          </a:solidFill>
          <a:ln w="12700">
            <a:solidFill>
              <a:srgbClr val="E0B080"/>
            </a:solidFill>
            <a:prstDash val="solid"/>
          </a:ln>
        </p:spPr>
      </p:sp>
      <p:sp>
        <p:nvSpPr>
          <p:cNvPr id="14" name="Text 12"/>
          <p:cNvSpPr/>
          <p:nvPr/>
        </p:nvSpPr>
        <p:spPr>
          <a:xfrm>
            <a:off x="749808" y="3460091"/>
            <a:ext cx="6858000" cy="387706"/>
          </a:xfrm>
          <a:prstGeom prst="rect">
            <a:avLst/>
          </a:prstGeom>
          <a:noFill/>
          <a:ln/>
        </p:spPr>
        <p:txBody>
          <a:bodyPr wrap="square" rtlCol="0" anchor="ctr"/>
          <a:lstStyle/>
          <a:p>
            <a:r>
              <a:rPr lang="en-US" sz="1600" dirty="0">
                <a:solidFill>
                  <a:srgbClr val="111111"/>
                </a:solidFill>
              </a:rPr>
              <a:t>Business Registration fees</a:t>
            </a:r>
            <a:endParaRPr lang="en-US" sz="1600" dirty="0"/>
          </a:p>
        </p:txBody>
      </p:sp>
      <p:sp>
        <p:nvSpPr>
          <p:cNvPr id="15" name="Shape 13"/>
          <p:cNvSpPr/>
          <p:nvPr/>
        </p:nvSpPr>
        <p:spPr>
          <a:xfrm>
            <a:off x="7680960" y="3491587"/>
            <a:ext cx="2286000" cy="387706"/>
          </a:xfrm>
          <a:prstGeom prst="rect">
            <a:avLst/>
          </a:prstGeom>
          <a:solidFill>
            <a:srgbClr val="E8891A"/>
          </a:solidFill>
          <a:ln w="12700">
            <a:solidFill>
              <a:srgbClr val="E0A030"/>
            </a:solidFill>
            <a:prstDash val="solid"/>
          </a:ln>
        </p:spPr>
      </p:sp>
      <p:sp>
        <p:nvSpPr>
          <p:cNvPr id="16" name="Text 14"/>
          <p:cNvSpPr/>
          <p:nvPr/>
        </p:nvSpPr>
        <p:spPr>
          <a:xfrm>
            <a:off x="7680960" y="3460091"/>
            <a:ext cx="2286000" cy="387706"/>
          </a:xfrm>
          <a:prstGeom prst="rect">
            <a:avLst/>
          </a:prstGeom>
          <a:noFill/>
          <a:ln/>
        </p:spPr>
        <p:txBody>
          <a:bodyPr wrap="square" lIns="0" tIns="0" rIns="152400" bIns="0" rtlCol="0" anchor="ctr"/>
          <a:lstStyle/>
          <a:p>
            <a:pPr algn="r"/>
            <a:r>
              <a:rPr lang="en-US" sz="1600" b="1" dirty="0">
                <a:solidFill>
                  <a:srgbClr val="FFFFFF"/>
                </a:solidFill>
              </a:rPr>
              <a:t>₹5,000</a:t>
            </a:r>
            <a:endParaRPr lang="en-US" sz="1600" dirty="0"/>
          </a:p>
        </p:txBody>
      </p:sp>
      <p:sp>
        <p:nvSpPr>
          <p:cNvPr id="17" name="Shape 15"/>
          <p:cNvSpPr/>
          <p:nvPr/>
        </p:nvSpPr>
        <p:spPr>
          <a:xfrm>
            <a:off x="640080" y="3847797"/>
            <a:ext cx="7040880" cy="387706"/>
          </a:xfrm>
          <a:prstGeom prst="rect">
            <a:avLst/>
          </a:prstGeom>
          <a:solidFill>
            <a:srgbClr val="F5C78E"/>
          </a:solidFill>
          <a:ln w="12700">
            <a:solidFill>
              <a:srgbClr val="E0B080"/>
            </a:solidFill>
            <a:prstDash val="solid"/>
          </a:ln>
        </p:spPr>
      </p:sp>
      <p:sp>
        <p:nvSpPr>
          <p:cNvPr id="18" name="Text 16"/>
          <p:cNvSpPr/>
          <p:nvPr/>
        </p:nvSpPr>
        <p:spPr>
          <a:xfrm>
            <a:off x="749808" y="3847797"/>
            <a:ext cx="6858000" cy="387706"/>
          </a:xfrm>
          <a:prstGeom prst="rect">
            <a:avLst/>
          </a:prstGeom>
          <a:noFill/>
          <a:ln/>
        </p:spPr>
        <p:txBody>
          <a:bodyPr wrap="square" rtlCol="0" anchor="ctr"/>
          <a:lstStyle/>
          <a:p>
            <a:r>
              <a:rPr lang="en-US" sz="1600" dirty="0">
                <a:solidFill>
                  <a:srgbClr val="111111"/>
                </a:solidFill>
              </a:rPr>
              <a:t>Website Related (Domain, Website setup etc.)</a:t>
            </a:r>
            <a:endParaRPr lang="en-US" sz="1600" dirty="0"/>
          </a:p>
        </p:txBody>
      </p:sp>
      <p:sp>
        <p:nvSpPr>
          <p:cNvPr id="19" name="Shape 17"/>
          <p:cNvSpPr/>
          <p:nvPr/>
        </p:nvSpPr>
        <p:spPr>
          <a:xfrm>
            <a:off x="7680960" y="3847797"/>
            <a:ext cx="2286000" cy="387706"/>
          </a:xfrm>
          <a:prstGeom prst="rect">
            <a:avLst/>
          </a:prstGeom>
          <a:solidFill>
            <a:srgbClr val="E8891A"/>
          </a:solidFill>
          <a:ln w="12700">
            <a:solidFill>
              <a:srgbClr val="E0A030"/>
            </a:solidFill>
            <a:prstDash val="solid"/>
          </a:ln>
        </p:spPr>
      </p:sp>
      <p:sp>
        <p:nvSpPr>
          <p:cNvPr id="20" name="Text 18"/>
          <p:cNvSpPr/>
          <p:nvPr/>
        </p:nvSpPr>
        <p:spPr>
          <a:xfrm>
            <a:off x="7680960" y="3847797"/>
            <a:ext cx="2286000" cy="387706"/>
          </a:xfrm>
          <a:prstGeom prst="rect">
            <a:avLst/>
          </a:prstGeom>
          <a:noFill/>
          <a:ln/>
        </p:spPr>
        <p:txBody>
          <a:bodyPr wrap="square" lIns="0" tIns="0" rIns="152400" bIns="0" rtlCol="0" anchor="ctr"/>
          <a:lstStyle/>
          <a:p>
            <a:pPr algn="r"/>
            <a:r>
              <a:rPr lang="en-US" sz="1600" b="1" dirty="0">
                <a:solidFill>
                  <a:srgbClr val="FFFFFF"/>
                </a:solidFill>
              </a:rPr>
              <a:t>₹8,000</a:t>
            </a:r>
            <a:endParaRPr lang="en-US" sz="1600" dirty="0"/>
          </a:p>
        </p:txBody>
      </p:sp>
      <p:sp>
        <p:nvSpPr>
          <p:cNvPr id="21" name="Shape 19"/>
          <p:cNvSpPr/>
          <p:nvPr/>
        </p:nvSpPr>
        <p:spPr>
          <a:xfrm>
            <a:off x="640080" y="4235501"/>
            <a:ext cx="7040880" cy="387706"/>
          </a:xfrm>
          <a:prstGeom prst="rect">
            <a:avLst/>
          </a:prstGeom>
          <a:solidFill>
            <a:srgbClr val="FDE9C8"/>
          </a:solidFill>
          <a:ln w="12700">
            <a:solidFill>
              <a:srgbClr val="E0B080"/>
            </a:solidFill>
            <a:prstDash val="solid"/>
          </a:ln>
        </p:spPr>
      </p:sp>
      <p:sp>
        <p:nvSpPr>
          <p:cNvPr id="22" name="Text 20"/>
          <p:cNvSpPr/>
          <p:nvPr/>
        </p:nvSpPr>
        <p:spPr>
          <a:xfrm>
            <a:off x="749808" y="4235501"/>
            <a:ext cx="6858000" cy="387706"/>
          </a:xfrm>
          <a:prstGeom prst="rect">
            <a:avLst/>
          </a:prstGeom>
          <a:noFill/>
          <a:ln/>
        </p:spPr>
        <p:txBody>
          <a:bodyPr wrap="square" rtlCol="0" anchor="ctr"/>
          <a:lstStyle/>
          <a:p>
            <a:r>
              <a:rPr lang="en-US" sz="1600" dirty="0">
                <a:solidFill>
                  <a:srgbClr val="111111"/>
                </a:solidFill>
              </a:rPr>
              <a:t>Licenses</a:t>
            </a:r>
            <a:endParaRPr lang="en-US" sz="1600" dirty="0"/>
          </a:p>
        </p:txBody>
      </p:sp>
      <p:sp>
        <p:nvSpPr>
          <p:cNvPr id="23" name="Shape 21"/>
          <p:cNvSpPr/>
          <p:nvPr/>
        </p:nvSpPr>
        <p:spPr>
          <a:xfrm>
            <a:off x="7680960" y="4235501"/>
            <a:ext cx="2286000" cy="387706"/>
          </a:xfrm>
          <a:prstGeom prst="rect">
            <a:avLst/>
          </a:prstGeom>
          <a:solidFill>
            <a:srgbClr val="E8891A"/>
          </a:solidFill>
          <a:ln w="12700">
            <a:solidFill>
              <a:srgbClr val="E0A030"/>
            </a:solidFill>
            <a:prstDash val="solid"/>
          </a:ln>
        </p:spPr>
      </p:sp>
      <p:sp>
        <p:nvSpPr>
          <p:cNvPr id="24" name="Text 22"/>
          <p:cNvSpPr/>
          <p:nvPr/>
        </p:nvSpPr>
        <p:spPr>
          <a:xfrm>
            <a:off x="7680960" y="4235501"/>
            <a:ext cx="2286000" cy="387706"/>
          </a:xfrm>
          <a:prstGeom prst="rect">
            <a:avLst/>
          </a:prstGeom>
          <a:noFill/>
          <a:ln/>
        </p:spPr>
        <p:txBody>
          <a:bodyPr wrap="square" lIns="0" tIns="0" rIns="152400" bIns="0" rtlCol="0" anchor="ctr"/>
          <a:lstStyle/>
          <a:p>
            <a:pPr algn="r"/>
            <a:r>
              <a:rPr lang="en-US" sz="1600" b="1" dirty="0">
                <a:solidFill>
                  <a:srgbClr val="FFFFFF"/>
                </a:solidFill>
              </a:rPr>
              <a:t>₹3,000</a:t>
            </a:r>
            <a:endParaRPr lang="en-US" sz="1600" dirty="0"/>
          </a:p>
        </p:txBody>
      </p:sp>
      <p:sp>
        <p:nvSpPr>
          <p:cNvPr id="25" name="Shape 23"/>
          <p:cNvSpPr/>
          <p:nvPr/>
        </p:nvSpPr>
        <p:spPr>
          <a:xfrm>
            <a:off x="640080" y="4623207"/>
            <a:ext cx="7040880" cy="387706"/>
          </a:xfrm>
          <a:prstGeom prst="rect">
            <a:avLst/>
          </a:prstGeom>
          <a:solidFill>
            <a:srgbClr val="F5C78E"/>
          </a:solidFill>
          <a:ln w="12700">
            <a:solidFill>
              <a:srgbClr val="E0B080"/>
            </a:solidFill>
            <a:prstDash val="solid"/>
          </a:ln>
        </p:spPr>
      </p:sp>
      <p:sp>
        <p:nvSpPr>
          <p:cNvPr id="26" name="Text 24"/>
          <p:cNvSpPr/>
          <p:nvPr/>
        </p:nvSpPr>
        <p:spPr>
          <a:xfrm>
            <a:off x="749808" y="4623207"/>
            <a:ext cx="6858000" cy="387706"/>
          </a:xfrm>
          <a:prstGeom prst="rect">
            <a:avLst/>
          </a:prstGeom>
          <a:noFill/>
          <a:ln/>
        </p:spPr>
        <p:txBody>
          <a:bodyPr wrap="square" rtlCol="0" anchor="ctr"/>
          <a:lstStyle/>
          <a:p>
            <a:r>
              <a:rPr lang="en-US" sz="1600" dirty="0">
                <a:solidFill>
                  <a:srgbClr val="111111"/>
                </a:solidFill>
              </a:rPr>
              <a:t>Other Start-Up Costs</a:t>
            </a:r>
            <a:endParaRPr lang="en-US" sz="1600" dirty="0"/>
          </a:p>
        </p:txBody>
      </p:sp>
      <p:sp>
        <p:nvSpPr>
          <p:cNvPr id="27" name="Shape 25"/>
          <p:cNvSpPr/>
          <p:nvPr/>
        </p:nvSpPr>
        <p:spPr>
          <a:xfrm>
            <a:off x="7680960" y="4623207"/>
            <a:ext cx="2286000" cy="387706"/>
          </a:xfrm>
          <a:prstGeom prst="rect">
            <a:avLst/>
          </a:prstGeom>
          <a:solidFill>
            <a:srgbClr val="E8891A"/>
          </a:solidFill>
          <a:ln w="12700">
            <a:solidFill>
              <a:srgbClr val="E0A030"/>
            </a:solidFill>
            <a:prstDash val="solid"/>
          </a:ln>
        </p:spPr>
      </p:sp>
      <p:sp>
        <p:nvSpPr>
          <p:cNvPr id="28" name="Text 26"/>
          <p:cNvSpPr/>
          <p:nvPr/>
        </p:nvSpPr>
        <p:spPr>
          <a:xfrm>
            <a:off x="7680960" y="4623207"/>
            <a:ext cx="2286000" cy="387706"/>
          </a:xfrm>
          <a:prstGeom prst="rect">
            <a:avLst/>
          </a:prstGeom>
          <a:noFill/>
          <a:ln/>
        </p:spPr>
        <p:txBody>
          <a:bodyPr wrap="square" lIns="0" tIns="0" rIns="152400" bIns="0" rtlCol="0" anchor="ctr"/>
          <a:lstStyle/>
          <a:p>
            <a:pPr algn="r"/>
            <a:r>
              <a:rPr lang="en-US" sz="1600" b="1" dirty="0">
                <a:solidFill>
                  <a:srgbClr val="FFFFFF"/>
                </a:solidFill>
              </a:rPr>
              <a:t>₹5,000</a:t>
            </a:r>
            <a:endParaRPr lang="en-US" sz="1600" dirty="0"/>
          </a:p>
        </p:txBody>
      </p:sp>
      <p:sp>
        <p:nvSpPr>
          <p:cNvPr id="29" name="Text 27"/>
          <p:cNvSpPr/>
          <p:nvPr/>
        </p:nvSpPr>
        <p:spPr>
          <a:xfrm>
            <a:off x="640080" y="5065776"/>
            <a:ext cx="9326880" cy="420624"/>
          </a:xfrm>
          <a:prstGeom prst="rect">
            <a:avLst/>
          </a:prstGeom>
          <a:noFill/>
          <a:ln/>
        </p:spPr>
        <p:txBody>
          <a:bodyPr wrap="square" rtlCol="0" anchor="ctr"/>
          <a:lstStyle/>
          <a:p>
            <a:r>
              <a:rPr lang="en-US" b="1" dirty="0">
                <a:solidFill>
                  <a:srgbClr val="111111"/>
                </a:solidFill>
              </a:rPr>
              <a:t>Equipment</a:t>
            </a:r>
            <a:endParaRPr lang="en-US" dirty="0"/>
          </a:p>
        </p:txBody>
      </p:sp>
      <p:sp>
        <p:nvSpPr>
          <p:cNvPr id="30" name="Shape 28"/>
          <p:cNvSpPr/>
          <p:nvPr/>
        </p:nvSpPr>
        <p:spPr>
          <a:xfrm>
            <a:off x="640080" y="5504689"/>
            <a:ext cx="7040880" cy="387706"/>
          </a:xfrm>
          <a:prstGeom prst="rect">
            <a:avLst/>
          </a:prstGeom>
          <a:solidFill>
            <a:srgbClr val="F5C78E"/>
          </a:solidFill>
          <a:ln w="12700">
            <a:solidFill>
              <a:srgbClr val="E0B080"/>
            </a:solidFill>
            <a:prstDash val="solid"/>
          </a:ln>
        </p:spPr>
      </p:sp>
      <p:sp>
        <p:nvSpPr>
          <p:cNvPr id="31" name="Text 29"/>
          <p:cNvSpPr/>
          <p:nvPr/>
        </p:nvSpPr>
        <p:spPr>
          <a:xfrm>
            <a:off x="749808" y="5504689"/>
            <a:ext cx="6858000" cy="387706"/>
          </a:xfrm>
          <a:prstGeom prst="rect">
            <a:avLst/>
          </a:prstGeom>
          <a:noFill/>
          <a:ln/>
        </p:spPr>
        <p:txBody>
          <a:bodyPr wrap="square" rtlCol="0" anchor="ctr"/>
          <a:lstStyle/>
          <a:p>
            <a:r>
              <a:rPr lang="en-US" sz="1600" dirty="0">
                <a:solidFill>
                  <a:srgbClr val="111111"/>
                </a:solidFill>
              </a:rPr>
              <a:t>Equipment (2 Laptops for development)</a:t>
            </a:r>
            <a:endParaRPr lang="en-US" sz="1600" dirty="0"/>
          </a:p>
        </p:txBody>
      </p:sp>
      <p:sp>
        <p:nvSpPr>
          <p:cNvPr id="32" name="Shape 30"/>
          <p:cNvSpPr/>
          <p:nvPr/>
        </p:nvSpPr>
        <p:spPr>
          <a:xfrm>
            <a:off x="7680960" y="5504689"/>
            <a:ext cx="2286000" cy="387706"/>
          </a:xfrm>
          <a:prstGeom prst="rect">
            <a:avLst/>
          </a:prstGeom>
          <a:solidFill>
            <a:srgbClr val="E8891A"/>
          </a:solidFill>
          <a:ln w="12700">
            <a:solidFill>
              <a:srgbClr val="E0A030"/>
            </a:solidFill>
            <a:prstDash val="solid"/>
          </a:ln>
        </p:spPr>
      </p:sp>
      <p:sp>
        <p:nvSpPr>
          <p:cNvPr id="33" name="Text 31"/>
          <p:cNvSpPr/>
          <p:nvPr/>
        </p:nvSpPr>
        <p:spPr>
          <a:xfrm>
            <a:off x="7680960" y="5504689"/>
            <a:ext cx="2286000" cy="387706"/>
          </a:xfrm>
          <a:prstGeom prst="rect">
            <a:avLst/>
          </a:prstGeom>
          <a:noFill/>
          <a:ln/>
        </p:spPr>
        <p:txBody>
          <a:bodyPr wrap="square" lIns="0" tIns="0" rIns="152400" bIns="0" rtlCol="0" anchor="ctr"/>
          <a:lstStyle/>
          <a:p>
            <a:pPr algn="r"/>
            <a:r>
              <a:rPr lang="en-US" sz="1600" b="1" dirty="0">
                <a:solidFill>
                  <a:srgbClr val="FFFFFF"/>
                </a:solidFill>
              </a:rPr>
              <a:t>₹80,000</a:t>
            </a:r>
            <a:endParaRPr lang="en-US" sz="1600" dirty="0"/>
          </a:p>
        </p:txBody>
      </p:sp>
      <p:sp>
        <p:nvSpPr>
          <p:cNvPr id="34" name="Text 32"/>
          <p:cNvSpPr/>
          <p:nvPr/>
        </p:nvSpPr>
        <p:spPr>
          <a:xfrm>
            <a:off x="640080" y="5947258"/>
            <a:ext cx="9326880" cy="420624"/>
          </a:xfrm>
          <a:prstGeom prst="rect">
            <a:avLst/>
          </a:prstGeom>
          <a:noFill/>
          <a:ln/>
        </p:spPr>
        <p:txBody>
          <a:bodyPr wrap="square" rtlCol="0" anchor="ctr"/>
          <a:lstStyle/>
          <a:p>
            <a:r>
              <a:rPr lang="en-US" b="1" dirty="0">
                <a:solidFill>
                  <a:srgbClr val="111111"/>
                </a:solidFill>
              </a:rPr>
              <a:t>Starting operations</a:t>
            </a:r>
            <a:endParaRPr lang="en-US" dirty="0"/>
          </a:p>
        </p:txBody>
      </p:sp>
      <p:sp>
        <p:nvSpPr>
          <p:cNvPr id="35" name="Shape 33"/>
          <p:cNvSpPr/>
          <p:nvPr/>
        </p:nvSpPr>
        <p:spPr>
          <a:xfrm>
            <a:off x="640080" y="6386171"/>
            <a:ext cx="7040880" cy="387706"/>
          </a:xfrm>
          <a:prstGeom prst="rect">
            <a:avLst/>
          </a:prstGeom>
          <a:solidFill>
            <a:srgbClr val="F5C78E"/>
          </a:solidFill>
          <a:ln w="12700">
            <a:solidFill>
              <a:srgbClr val="E0B080"/>
            </a:solidFill>
            <a:prstDash val="solid"/>
          </a:ln>
        </p:spPr>
      </p:sp>
      <p:sp>
        <p:nvSpPr>
          <p:cNvPr id="36" name="Text 34"/>
          <p:cNvSpPr/>
          <p:nvPr/>
        </p:nvSpPr>
        <p:spPr>
          <a:xfrm>
            <a:off x="749808" y="6386171"/>
            <a:ext cx="6858000" cy="387706"/>
          </a:xfrm>
          <a:prstGeom prst="rect">
            <a:avLst/>
          </a:prstGeom>
          <a:noFill/>
          <a:ln/>
        </p:spPr>
        <p:txBody>
          <a:bodyPr wrap="square" rtlCol="0" anchor="ctr"/>
          <a:lstStyle/>
          <a:p>
            <a:r>
              <a:rPr lang="en-US" sz="1600" dirty="0">
                <a:solidFill>
                  <a:srgbClr val="111111"/>
                </a:solidFill>
              </a:rPr>
              <a:t>Marketing and Promotional Costs</a:t>
            </a:r>
            <a:endParaRPr lang="en-US" sz="1600" dirty="0"/>
          </a:p>
        </p:txBody>
      </p:sp>
      <p:sp>
        <p:nvSpPr>
          <p:cNvPr id="37" name="Shape 35"/>
          <p:cNvSpPr/>
          <p:nvPr/>
        </p:nvSpPr>
        <p:spPr>
          <a:xfrm>
            <a:off x="7680960" y="6386171"/>
            <a:ext cx="2286000" cy="387706"/>
          </a:xfrm>
          <a:prstGeom prst="rect">
            <a:avLst/>
          </a:prstGeom>
          <a:solidFill>
            <a:srgbClr val="E8891A"/>
          </a:solidFill>
          <a:ln w="12700">
            <a:solidFill>
              <a:srgbClr val="E0A030"/>
            </a:solidFill>
            <a:prstDash val="solid"/>
          </a:ln>
        </p:spPr>
      </p:sp>
      <p:sp>
        <p:nvSpPr>
          <p:cNvPr id="38" name="Text 36"/>
          <p:cNvSpPr/>
          <p:nvPr/>
        </p:nvSpPr>
        <p:spPr>
          <a:xfrm>
            <a:off x="7680960" y="6386171"/>
            <a:ext cx="2286000" cy="387706"/>
          </a:xfrm>
          <a:prstGeom prst="rect">
            <a:avLst/>
          </a:prstGeom>
          <a:noFill/>
          <a:ln/>
        </p:spPr>
        <p:txBody>
          <a:bodyPr wrap="square" lIns="0" tIns="0" rIns="152400" bIns="0" rtlCol="0" anchor="ctr"/>
          <a:lstStyle/>
          <a:p>
            <a:pPr algn="r"/>
            <a:r>
              <a:rPr lang="en-US" sz="1600" b="1" dirty="0">
                <a:solidFill>
                  <a:srgbClr val="FFFFFF"/>
                </a:solidFill>
              </a:rPr>
              <a:t>₹30,000</a:t>
            </a:r>
            <a:endParaRPr lang="en-US" sz="1600" dirty="0"/>
          </a:p>
        </p:txBody>
      </p:sp>
      <p:sp>
        <p:nvSpPr>
          <p:cNvPr id="39" name="Shape 37"/>
          <p:cNvSpPr/>
          <p:nvPr/>
        </p:nvSpPr>
        <p:spPr>
          <a:xfrm>
            <a:off x="640080" y="6773877"/>
            <a:ext cx="7040880" cy="387706"/>
          </a:xfrm>
          <a:prstGeom prst="rect">
            <a:avLst/>
          </a:prstGeom>
          <a:solidFill>
            <a:srgbClr val="FDE9C8"/>
          </a:solidFill>
          <a:ln w="12700">
            <a:solidFill>
              <a:srgbClr val="E0B080"/>
            </a:solidFill>
            <a:prstDash val="solid"/>
          </a:ln>
        </p:spPr>
      </p:sp>
      <p:sp>
        <p:nvSpPr>
          <p:cNvPr id="40" name="Text 38"/>
          <p:cNvSpPr/>
          <p:nvPr/>
        </p:nvSpPr>
        <p:spPr>
          <a:xfrm>
            <a:off x="749808" y="6773877"/>
            <a:ext cx="6858000" cy="387706"/>
          </a:xfrm>
          <a:prstGeom prst="rect">
            <a:avLst/>
          </a:prstGeom>
          <a:noFill/>
          <a:ln/>
        </p:spPr>
        <p:txBody>
          <a:bodyPr wrap="square" rtlCol="0" anchor="ctr"/>
          <a:lstStyle/>
          <a:p>
            <a:r>
              <a:rPr lang="en-US" sz="1600" dirty="0">
                <a:solidFill>
                  <a:srgbClr val="111111"/>
                </a:solidFill>
              </a:rPr>
              <a:t>Supplies and Raw materials</a:t>
            </a:r>
            <a:endParaRPr lang="en-US" sz="1600" dirty="0"/>
          </a:p>
        </p:txBody>
      </p:sp>
      <p:sp>
        <p:nvSpPr>
          <p:cNvPr id="41" name="Shape 39"/>
          <p:cNvSpPr/>
          <p:nvPr/>
        </p:nvSpPr>
        <p:spPr>
          <a:xfrm>
            <a:off x="7680960" y="6773877"/>
            <a:ext cx="2286000" cy="387706"/>
          </a:xfrm>
          <a:prstGeom prst="rect">
            <a:avLst/>
          </a:prstGeom>
          <a:solidFill>
            <a:srgbClr val="E8891A"/>
          </a:solidFill>
          <a:ln w="12700">
            <a:solidFill>
              <a:srgbClr val="E0A030"/>
            </a:solidFill>
            <a:prstDash val="solid"/>
          </a:ln>
        </p:spPr>
      </p:sp>
      <p:sp>
        <p:nvSpPr>
          <p:cNvPr id="42" name="Text 40"/>
          <p:cNvSpPr/>
          <p:nvPr/>
        </p:nvSpPr>
        <p:spPr>
          <a:xfrm>
            <a:off x="7680960" y="6773877"/>
            <a:ext cx="2286000" cy="387706"/>
          </a:xfrm>
          <a:prstGeom prst="rect">
            <a:avLst/>
          </a:prstGeom>
          <a:noFill/>
          <a:ln/>
        </p:spPr>
        <p:txBody>
          <a:bodyPr wrap="square" lIns="0" tIns="0" rIns="152400" bIns="0" rtlCol="0" anchor="ctr"/>
          <a:lstStyle/>
          <a:p>
            <a:pPr algn="r"/>
            <a:r>
              <a:rPr lang="en-US" sz="1600" b="1" dirty="0">
                <a:solidFill>
                  <a:srgbClr val="FFFFFF"/>
                </a:solidFill>
              </a:rPr>
              <a:t>—</a:t>
            </a:r>
            <a:endParaRPr lang="en-US" sz="1600" dirty="0"/>
          </a:p>
        </p:txBody>
      </p:sp>
      <p:sp>
        <p:nvSpPr>
          <p:cNvPr id="43" name="Shape 41"/>
          <p:cNvSpPr/>
          <p:nvPr/>
        </p:nvSpPr>
        <p:spPr>
          <a:xfrm>
            <a:off x="640080" y="7161581"/>
            <a:ext cx="7040880" cy="387706"/>
          </a:xfrm>
          <a:prstGeom prst="rect">
            <a:avLst/>
          </a:prstGeom>
          <a:solidFill>
            <a:srgbClr val="F5C78E"/>
          </a:solidFill>
          <a:ln w="12700">
            <a:solidFill>
              <a:srgbClr val="E0B080"/>
            </a:solidFill>
            <a:prstDash val="solid"/>
          </a:ln>
        </p:spPr>
      </p:sp>
      <p:sp>
        <p:nvSpPr>
          <p:cNvPr id="44" name="Text 42"/>
          <p:cNvSpPr/>
          <p:nvPr/>
        </p:nvSpPr>
        <p:spPr>
          <a:xfrm>
            <a:off x="749808" y="7161581"/>
            <a:ext cx="6858000" cy="387706"/>
          </a:xfrm>
          <a:prstGeom prst="rect">
            <a:avLst/>
          </a:prstGeom>
          <a:noFill/>
          <a:ln/>
        </p:spPr>
        <p:txBody>
          <a:bodyPr wrap="square" rtlCol="0" anchor="ctr"/>
          <a:lstStyle/>
          <a:p>
            <a:r>
              <a:rPr lang="en-US" sz="1600" dirty="0">
                <a:solidFill>
                  <a:srgbClr val="111111"/>
                </a:solidFill>
              </a:rPr>
              <a:t>Stationery and office supplies</a:t>
            </a:r>
            <a:endParaRPr lang="en-US" sz="1600" dirty="0"/>
          </a:p>
        </p:txBody>
      </p:sp>
      <p:sp>
        <p:nvSpPr>
          <p:cNvPr id="45" name="Shape 43"/>
          <p:cNvSpPr/>
          <p:nvPr/>
        </p:nvSpPr>
        <p:spPr>
          <a:xfrm>
            <a:off x="7680960" y="7161581"/>
            <a:ext cx="2286000" cy="387706"/>
          </a:xfrm>
          <a:prstGeom prst="rect">
            <a:avLst/>
          </a:prstGeom>
          <a:solidFill>
            <a:srgbClr val="E8891A"/>
          </a:solidFill>
          <a:ln w="12700">
            <a:solidFill>
              <a:srgbClr val="E0A030"/>
            </a:solidFill>
            <a:prstDash val="solid"/>
          </a:ln>
        </p:spPr>
      </p:sp>
      <p:sp>
        <p:nvSpPr>
          <p:cNvPr id="46" name="Text 44"/>
          <p:cNvSpPr/>
          <p:nvPr/>
        </p:nvSpPr>
        <p:spPr>
          <a:xfrm>
            <a:off x="7680960" y="7161581"/>
            <a:ext cx="2286000" cy="387706"/>
          </a:xfrm>
          <a:prstGeom prst="rect">
            <a:avLst/>
          </a:prstGeom>
          <a:noFill/>
          <a:ln/>
        </p:spPr>
        <p:txBody>
          <a:bodyPr wrap="square" lIns="0" tIns="0" rIns="152400" bIns="0" rtlCol="0" anchor="ctr"/>
          <a:lstStyle/>
          <a:p>
            <a:pPr algn="r"/>
            <a:r>
              <a:rPr lang="en-US" sz="1600" b="1" dirty="0">
                <a:solidFill>
                  <a:srgbClr val="FFFFFF"/>
                </a:solidFill>
              </a:rPr>
              <a:t>₹2,000</a:t>
            </a:r>
            <a:endParaRPr lang="en-US" sz="1600" dirty="0"/>
          </a:p>
        </p:txBody>
      </p:sp>
      <p:sp>
        <p:nvSpPr>
          <p:cNvPr id="47" name="Shape 45"/>
          <p:cNvSpPr/>
          <p:nvPr/>
        </p:nvSpPr>
        <p:spPr>
          <a:xfrm>
            <a:off x="640080" y="7549287"/>
            <a:ext cx="7040880" cy="387706"/>
          </a:xfrm>
          <a:prstGeom prst="rect">
            <a:avLst/>
          </a:prstGeom>
          <a:solidFill>
            <a:srgbClr val="FDE9C8"/>
          </a:solidFill>
          <a:ln w="12700">
            <a:solidFill>
              <a:srgbClr val="E0B080"/>
            </a:solidFill>
            <a:prstDash val="solid"/>
          </a:ln>
        </p:spPr>
      </p:sp>
      <p:sp>
        <p:nvSpPr>
          <p:cNvPr id="48" name="Text 46"/>
          <p:cNvSpPr/>
          <p:nvPr/>
        </p:nvSpPr>
        <p:spPr>
          <a:xfrm>
            <a:off x="749808" y="7549287"/>
            <a:ext cx="6858000" cy="387706"/>
          </a:xfrm>
          <a:prstGeom prst="rect">
            <a:avLst/>
          </a:prstGeom>
          <a:noFill/>
          <a:ln/>
        </p:spPr>
        <p:txBody>
          <a:bodyPr wrap="square" rtlCol="0" anchor="ctr"/>
          <a:lstStyle/>
          <a:p>
            <a:r>
              <a:rPr lang="en-US" sz="1600" dirty="0">
                <a:solidFill>
                  <a:srgbClr val="111111"/>
                </a:solidFill>
              </a:rPr>
              <a:t>Working capital</a:t>
            </a:r>
            <a:endParaRPr lang="en-US" sz="1600" dirty="0"/>
          </a:p>
        </p:txBody>
      </p:sp>
      <p:sp>
        <p:nvSpPr>
          <p:cNvPr id="49" name="Shape 47"/>
          <p:cNvSpPr/>
          <p:nvPr/>
        </p:nvSpPr>
        <p:spPr>
          <a:xfrm>
            <a:off x="7680960" y="7549287"/>
            <a:ext cx="2286000" cy="387706"/>
          </a:xfrm>
          <a:prstGeom prst="rect">
            <a:avLst/>
          </a:prstGeom>
          <a:solidFill>
            <a:srgbClr val="E8891A"/>
          </a:solidFill>
          <a:ln w="12700">
            <a:solidFill>
              <a:srgbClr val="E0A030"/>
            </a:solidFill>
            <a:prstDash val="solid"/>
          </a:ln>
        </p:spPr>
      </p:sp>
      <p:sp>
        <p:nvSpPr>
          <p:cNvPr id="50" name="Text 48"/>
          <p:cNvSpPr/>
          <p:nvPr/>
        </p:nvSpPr>
        <p:spPr>
          <a:xfrm>
            <a:off x="7680960" y="7549287"/>
            <a:ext cx="2286000" cy="387706"/>
          </a:xfrm>
          <a:prstGeom prst="rect">
            <a:avLst/>
          </a:prstGeom>
          <a:noFill/>
          <a:ln/>
        </p:spPr>
        <p:txBody>
          <a:bodyPr wrap="square" lIns="0" tIns="0" rIns="152400" bIns="0" rtlCol="0" anchor="ctr"/>
          <a:lstStyle/>
          <a:p>
            <a:pPr algn="r"/>
            <a:r>
              <a:rPr lang="en-US" sz="1600" b="1" dirty="0">
                <a:solidFill>
                  <a:srgbClr val="FFFFFF"/>
                </a:solidFill>
              </a:rPr>
              <a:t>₹15,000</a:t>
            </a:r>
            <a:endParaRPr lang="en-US" sz="1600" dirty="0"/>
          </a:p>
        </p:txBody>
      </p:sp>
      <p:sp>
        <p:nvSpPr>
          <p:cNvPr id="51" name="Text 49"/>
          <p:cNvSpPr/>
          <p:nvPr/>
        </p:nvSpPr>
        <p:spPr>
          <a:xfrm>
            <a:off x="640080" y="7991856"/>
            <a:ext cx="9326880" cy="420624"/>
          </a:xfrm>
          <a:prstGeom prst="rect">
            <a:avLst/>
          </a:prstGeom>
          <a:noFill/>
          <a:ln/>
        </p:spPr>
        <p:txBody>
          <a:bodyPr wrap="square" rtlCol="0" anchor="ctr"/>
          <a:lstStyle/>
          <a:p>
            <a:r>
              <a:rPr lang="en-US" b="1" dirty="0">
                <a:solidFill>
                  <a:srgbClr val="111111"/>
                </a:solidFill>
              </a:rPr>
              <a:t>Start-up capital</a:t>
            </a:r>
            <a:endParaRPr lang="en-US" dirty="0"/>
          </a:p>
        </p:txBody>
      </p:sp>
      <p:sp>
        <p:nvSpPr>
          <p:cNvPr id="52" name="Shape 50"/>
          <p:cNvSpPr/>
          <p:nvPr/>
        </p:nvSpPr>
        <p:spPr>
          <a:xfrm>
            <a:off x="640080" y="8430769"/>
            <a:ext cx="7040880" cy="387706"/>
          </a:xfrm>
          <a:prstGeom prst="rect">
            <a:avLst/>
          </a:prstGeom>
          <a:solidFill>
            <a:srgbClr val="F5C78E"/>
          </a:solidFill>
          <a:ln w="12700">
            <a:solidFill>
              <a:srgbClr val="E0B080"/>
            </a:solidFill>
            <a:prstDash val="solid"/>
          </a:ln>
        </p:spPr>
      </p:sp>
      <p:sp>
        <p:nvSpPr>
          <p:cNvPr id="53" name="Text 51"/>
          <p:cNvSpPr/>
          <p:nvPr/>
        </p:nvSpPr>
        <p:spPr>
          <a:xfrm>
            <a:off x="749808" y="8430769"/>
            <a:ext cx="6858000" cy="387706"/>
          </a:xfrm>
          <a:prstGeom prst="rect">
            <a:avLst/>
          </a:prstGeom>
          <a:noFill/>
          <a:ln/>
        </p:spPr>
        <p:txBody>
          <a:bodyPr wrap="square" rtlCol="0" anchor="ctr"/>
          <a:lstStyle/>
          <a:p>
            <a:r>
              <a:rPr lang="en-US" sz="1600" dirty="0">
                <a:solidFill>
                  <a:srgbClr val="111111"/>
                </a:solidFill>
              </a:rPr>
              <a:t>Equity investment (by Team)</a:t>
            </a:r>
            <a:endParaRPr lang="en-US" sz="1600" dirty="0"/>
          </a:p>
        </p:txBody>
      </p:sp>
      <p:sp>
        <p:nvSpPr>
          <p:cNvPr id="54" name="Shape 52"/>
          <p:cNvSpPr/>
          <p:nvPr/>
        </p:nvSpPr>
        <p:spPr>
          <a:xfrm>
            <a:off x="7680960" y="8430769"/>
            <a:ext cx="2286000" cy="387706"/>
          </a:xfrm>
          <a:prstGeom prst="rect">
            <a:avLst/>
          </a:prstGeom>
          <a:solidFill>
            <a:srgbClr val="E8891A"/>
          </a:solidFill>
          <a:ln w="12700">
            <a:solidFill>
              <a:srgbClr val="E0A030"/>
            </a:solidFill>
            <a:prstDash val="solid"/>
          </a:ln>
        </p:spPr>
      </p:sp>
      <p:sp>
        <p:nvSpPr>
          <p:cNvPr id="55" name="Text 53"/>
          <p:cNvSpPr/>
          <p:nvPr/>
        </p:nvSpPr>
        <p:spPr>
          <a:xfrm>
            <a:off x="7680960" y="8430769"/>
            <a:ext cx="2286000" cy="387706"/>
          </a:xfrm>
          <a:prstGeom prst="rect">
            <a:avLst/>
          </a:prstGeom>
          <a:noFill/>
          <a:ln/>
        </p:spPr>
        <p:txBody>
          <a:bodyPr wrap="square" lIns="0" tIns="0" rIns="152400" bIns="0" rtlCol="0" anchor="ctr"/>
          <a:lstStyle/>
          <a:p>
            <a:pPr algn="r"/>
            <a:r>
              <a:rPr lang="en-US" sz="1600" b="1" dirty="0">
                <a:solidFill>
                  <a:srgbClr val="FFFFFF"/>
                </a:solidFill>
              </a:rPr>
              <a:t>₹1,00,000</a:t>
            </a:r>
            <a:endParaRPr lang="en-US" sz="1600" dirty="0"/>
          </a:p>
        </p:txBody>
      </p:sp>
      <p:sp>
        <p:nvSpPr>
          <p:cNvPr id="56" name="Shape 54"/>
          <p:cNvSpPr/>
          <p:nvPr/>
        </p:nvSpPr>
        <p:spPr>
          <a:xfrm>
            <a:off x="640080" y="8818475"/>
            <a:ext cx="7040880" cy="387706"/>
          </a:xfrm>
          <a:prstGeom prst="rect">
            <a:avLst/>
          </a:prstGeom>
          <a:solidFill>
            <a:srgbClr val="FDE9C8"/>
          </a:solidFill>
          <a:ln w="12700">
            <a:solidFill>
              <a:srgbClr val="E0B080"/>
            </a:solidFill>
            <a:prstDash val="solid"/>
          </a:ln>
        </p:spPr>
      </p:sp>
      <p:sp>
        <p:nvSpPr>
          <p:cNvPr id="57" name="Text 55"/>
          <p:cNvSpPr/>
          <p:nvPr/>
        </p:nvSpPr>
        <p:spPr>
          <a:xfrm>
            <a:off x="749808" y="8818475"/>
            <a:ext cx="6858000" cy="387706"/>
          </a:xfrm>
          <a:prstGeom prst="rect">
            <a:avLst/>
          </a:prstGeom>
          <a:noFill/>
          <a:ln/>
        </p:spPr>
        <p:txBody>
          <a:bodyPr wrap="square" rtlCol="0" anchor="ctr"/>
          <a:lstStyle/>
          <a:p>
            <a:r>
              <a:rPr lang="en-US" sz="1600" dirty="0">
                <a:solidFill>
                  <a:srgbClr val="111111"/>
                </a:solidFill>
              </a:rPr>
              <a:t>Loans (from College or Others)</a:t>
            </a:r>
            <a:endParaRPr lang="en-US" sz="1600" dirty="0"/>
          </a:p>
        </p:txBody>
      </p:sp>
      <p:sp>
        <p:nvSpPr>
          <p:cNvPr id="58" name="Shape 56"/>
          <p:cNvSpPr/>
          <p:nvPr/>
        </p:nvSpPr>
        <p:spPr>
          <a:xfrm>
            <a:off x="7680960" y="8818475"/>
            <a:ext cx="2286000" cy="387706"/>
          </a:xfrm>
          <a:prstGeom prst="rect">
            <a:avLst/>
          </a:prstGeom>
          <a:solidFill>
            <a:srgbClr val="E8891A"/>
          </a:solidFill>
          <a:ln w="12700">
            <a:solidFill>
              <a:srgbClr val="E0A030"/>
            </a:solidFill>
            <a:prstDash val="solid"/>
          </a:ln>
        </p:spPr>
      </p:sp>
      <p:sp>
        <p:nvSpPr>
          <p:cNvPr id="59" name="Text 57"/>
          <p:cNvSpPr/>
          <p:nvPr/>
        </p:nvSpPr>
        <p:spPr>
          <a:xfrm>
            <a:off x="7680960" y="8818475"/>
            <a:ext cx="2286000" cy="387706"/>
          </a:xfrm>
          <a:prstGeom prst="rect">
            <a:avLst/>
          </a:prstGeom>
          <a:noFill/>
          <a:ln/>
        </p:spPr>
        <p:txBody>
          <a:bodyPr wrap="square" lIns="0" tIns="0" rIns="152400" bIns="0" rtlCol="0" anchor="ctr"/>
          <a:lstStyle/>
          <a:p>
            <a:pPr algn="r"/>
            <a:r>
              <a:rPr lang="en-US" sz="1600" b="1" dirty="0">
                <a:solidFill>
                  <a:srgbClr val="FFFFFF"/>
                </a:solidFill>
              </a:rPr>
              <a:t>₹60,000</a:t>
            </a:r>
            <a:endParaRPr lang="en-US" sz="1600" dirty="0"/>
          </a:p>
        </p:txBody>
      </p:sp>
      <p:sp>
        <p:nvSpPr>
          <p:cNvPr id="60" name="Shape 58"/>
          <p:cNvSpPr/>
          <p:nvPr/>
        </p:nvSpPr>
        <p:spPr>
          <a:xfrm>
            <a:off x="640080" y="9261044"/>
            <a:ext cx="7040880" cy="457200"/>
          </a:xfrm>
          <a:prstGeom prst="rect">
            <a:avLst/>
          </a:prstGeom>
          <a:solidFill>
            <a:srgbClr val="D0D0D0"/>
          </a:solidFill>
          <a:ln w="12700">
            <a:solidFill>
              <a:srgbClr val="D0D0D0"/>
            </a:solidFill>
            <a:prstDash val="solid"/>
          </a:ln>
        </p:spPr>
        <p:txBody>
          <a:bodyPr/>
          <a:lstStyle/>
          <a:p>
            <a:endParaRPr lang="en-IN" sz="3600" dirty="0"/>
          </a:p>
        </p:txBody>
      </p:sp>
      <p:sp>
        <p:nvSpPr>
          <p:cNvPr id="61" name="Text 59"/>
          <p:cNvSpPr/>
          <p:nvPr/>
        </p:nvSpPr>
        <p:spPr>
          <a:xfrm>
            <a:off x="749808" y="9261044"/>
            <a:ext cx="6858000" cy="457200"/>
          </a:xfrm>
          <a:prstGeom prst="rect">
            <a:avLst/>
          </a:prstGeom>
          <a:noFill/>
          <a:ln/>
        </p:spPr>
        <p:txBody>
          <a:bodyPr wrap="square" rtlCol="0" anchor="ctr"/>
          <a:lstStyle/>
          <a:p>
            <a:r>
              <a:rPr lang="en-US" b="1" dirty="0">
                <a:solidFill>
                  <a:srgbClr val="111111"/>
                </a:solidFill>
              </a:rPr>
              <a:t>Total</a:t>
            </a:r>
            <a:endParaRPr lang="en-US" dirty="0"/>
          </a:p>
        </p:txBody>
      </p:sp>
      <p:sp>
        <p:nvSpPr>
          <p:cNvPr id="62" name="Shape 60"/>
          <p:cNvSpPr/>
          <p:nvPr/>
        </p:nvSpPr>
        <p:spPr>
          <a:xfrm>
            <a:off x="7680960" y="9261044"/>
            <a:ext cx="2286000" cy="457200"/>
          </a:xfrm>
          <a:prstGeom prst="rect">
            <a:avLst/>
          </a:prstGeom>
          <a:solidFill>
            <a:srgbClr val="D0D0D0"/>
          </a:solidFill>
          <a:ln w="12700">
            <a:solidFill>
              <a:srgbClr val="D0D0D0"/>
            </a:solidFill>
            <a:prstDash val="solid"/>
          </a:ln>
        </p:spPr>
      </p:sp>
      <p:sp>
        <p:nvSpPr>
          <p:cNvPr id="63" name="Text 61"/>
          <p:cNvSpPr/>
          <p:nvPr/>
        </p:nvSpPr>
        <p:spPr>
          <a:xfrm>
            <a:off x="7680960" y="9261044"/>
            <a:ext cx="2286000" cy="457200"/>
          </a:xfrm>
          <a:prstGeom prst="rect">
            <a:avLst/>
          </a:prstGeom>
          <a:noFill/>
          <a:ln/>
        </p:spPr>
        <p:txBody>
          <a:bodyPr wrap="square" lIns="0" tIns="0" rIns="152400" bIns="0" rtlCol="0" anchor="ctr"/>
          <a:lstStyle/>
          <a:p>
            <a:pPr algn="r"/>
            <a:r>
              <a:rPr lang="en-US" b="1" dirty="0">
                <a:solidFill>
                  <a:srgbClr val="111111"/>
                </a:solidFill>
              </a:rPr>
              <a:t>₹3,18,000</a:t>
            </a:r>
            <a:endParaRPr lang="en-US" dirty="0"/>
          </a:p>
        </p:txBody>
      </p:sp>
      <p:sp>
        <p:nvSpPr>
          <p:cNvPr id="64" name="Shape 62"/>
          <p:cNvSpPr/>
          <p:nvPr/>
        </p:nvSpPr>
        <p:spPr>
          <a:xfrm>
            <a:off x="640080" y="9736532"/>
            <a:ext cx="7040880" cy="438912"/>
          </a:xfrm>
          <a:prstGeom prst="rect">
            <a:avLst/>
          </a:prstGeom>
          <a:solidFill>
            <a:srgbClr val="F5F5F5"/>
          </a:solidFill>
          <a:ln w="12700">
            <a:solidFill>
              <a:srgbClr val="D0D0D0"/>
            </a:solidFill>
            <a:prstDash val="solid"/>
          </a:ln>
        </p:spPr>
      </p:sp>
      <p:sp>
        <p:nvSpPr>
          <p:cNvPr id="65" name="Text 63"/>
          <p:cNvSpPr/>
          <p:nvPr/>
        </p:nvSpPr>
        <p:spPr>
          <a:xfrm>
            <a:off x="749808" y="9736532"/>
            <a:ext cx="6858000" cy="438912"/>
          </a:xfrm>
          <a:prstGeom prst="rect">
            <a:avLst/>
          </a:prstGeom>
          <a:noFill/>
          <a:ln/>
        </p:spPr>
        <p:txBody>
          <a:bodyPr wrap="square" rtlCol="0" anchor="ctr"/>
          <a:lstStyle/>
          <a:p>
            <a:r>
              <a:rPr lang="en-US" sz="1600" b="1" dirty="0">
                <a:solidFill>
                  <a:srgbClr val="111111"/>
                </a:solidFill>
              </a:rPr>
              <a:t>Total set-up costs</a:t>
            </a:r>
            <a:endParaRPr lang="en-US" sz="1600" dirty="0"/>
          </a:p>
        </p:txBody>
      </p:sp>
      <p:sp>
        <p:nvSpPr>
          <p:cNvPr id="66" name="Shape 64"/>
          <p:cNvSpPr/>
          <p:nvPr/>
        </p:nvSpPr>
        <p:spPr>
          <a:xfrm>
            <a:off x="7680960" y="9736532"/>
            <a:ext cx="2286000" cy="438912"/>
          </a:xfrm>
          <a:prstGeom prst="rect">
            <a:avLst/>
          </a:prstGeom>
          <a:solidFill>
            <a:srgbClr val="F5F5F5"/>
          </a:solidFill>
          <a:ln w="12700">
            <a:solidFill>
              <a:srgbClr val="D0D0D0"/>
            </a:solidFill>
            <a:prstDash val="solid"/>
          </a:ln>
        </p:spPr>
      </p:sp>
      <p:sp>
        <p:nvSpPr>
          <p:cNvPr id="67" name="Text 65"/>
          <p:cNvSpPr/>
          <p:nvPr/>
        </p:nvSpPr>
        <p:spPr>
          <a:xfrm>
            <a:off x="7680960" y="9736532"/>
            <a:ext cx="2286000" cy="438912"/>
          </a:xfrm>
          <a:prstGeom prst="rect">
            <a:avLst/>
          </a:prstGeom>
          <a:noFill/>
          <a:ln/>
        </p:spPr>
        <p:txBody>
          <a:bodyPr wrap="square" lIns="0" tIns="0" rIns="152400" bIns="0" rtlCol="0" anchor="ctr"/>
          <a:lstStyle/>
          <a:p>
            <a:pPr algn="r"/>
            <a:r>
              <a:rPr lang="en-US" sz="1600" dirty="0">
                <a:solidFill>
                  <a:srgbClr val="111111"/>
                </a:solidFill>
              </a:rPr>
              <a:t>₹3,18,000</a:t>
            </a:r>
            <a:endParaRPr lang="en-US" sz="1600" dirty="0"/>
          </a:p>
        </p:txBody>
      </p:sp>
      <p:sp>
        <p:nvSpPr>
          <p:cNvPr id="68" name="Shape 66"/>
          <p:cNvSpPr/>
          <p:nvPr/>
        </p:nvSpPr>
        <p:spPr>
          <a:xfrm>
            <a:off x="640080" y="10175444"/>
            <a:ext cx="7040880" cy="438912"/>
          </a:xfrm>
          <a:prstGeom prst="rect">
            <a:avLst/>
          </a:prstGeom>
          <a:solidFill>
            <a:srgbClr val="F5F5F5"/>
          </a:solidFill>
          <a:ln w="12700">
            <a:solidFill>
              <a:srgbClr val="D0D0D0"/>
            </a:solidFill>
            <a:prstDash val="solid"/>
          </a:ln>
        </p:spPr>
      </p:sp>
      <p:sp>
        <p:nvSpPr>
          <p:cNvPr id="69" name="Text 67"/>
          <p:cNvSpPr/>
          <p:nvPr/>
        </p:nvSpPr>
        <p:spPr>
          <a:xfrm>
            <a:off x="749808" y="10175444"/>
            <a:ext cx="6858000" cy="438912"/>
          </a:xfrm>
          <a:prstGeom prst="rect">
            <a:avLst/>
          </a:prstGeom>
          <a:noFill/>
          <a:ln/>
        </p:spPr>
        <p:txBody>
          <a:bodyPr wrap="square" rtlCol="0" anchor="ctr"/>
          <a:lstStyle/>
          <a:p>
            <a:r>
              <a:rPr lang="en-US" sz="1600" dirty="0">
                <a:solidFill>
                  <a:srgbClr val="111111"/>
                </a:solidFill>
              </a:rPr>
              <a:t>Surplus Funds</a:t>
            </a:r>
            <a:endParaRPr lang="en-US" sz="1600" dirty="0"/>
          </a:p>
        </p:txBody>
      </p:sp>
      <p:sp>
        <p:nvSpPr>
          <p:cNvPr id="70" name="Shape 68"/>
          <p:cNvSpPr/>
          <p:nvPr/>
        </p:nvSpPr>
        <p:spPr>
          <a:xfrm>
            <a:off x="7680960" y="10175444"/>
            <a:ext cx="2286000" cy="438912"/>
          </a:xfrm>
          <a:prstGeom prst="rect">
            <a:avLst/>
          </a:prstGeom>
          <a:solidFill>
            <a:srgbClr val="F5F5F5"/>
          </a:solidFill>
          <a:ln w="12700">
            <a:solidFill>
              <a:srgbClr val="D0D0D0"/>
            </a:solidFill>
            <a:prstDash val="solid"/>
          </a:ln>
        </p:spPr>
      </p:sp>
      <p:sp>
        <p:nvSpPr>
          <p:cNvPr id="71" name="Text 69"/>
          <p:cNvSpPr/>
          <p:nvPr/>
        </p:nvSpPr>
        <p:spPr>
          <a:xfrm>
            <a:off x="7680960" y="10175444"/>
            <a:ext cx="2286000" cy="438912"/>
          </a:xfrm>
          <a:prstGeom prst="rect">
            <a:avLst/>
          </a:prstGeom>
          <a:noFill/>
          <a:ln/>
        </p:spPr>
        <p:txBody>
          <a:bodyPr wrap="square" lIns="0" tIns="0" rIns="152400" bIns="0" rtlCol="0" anchor="ctr"/>
          <a:lstStyle/>
          <a:p>
            <a:pPr algn="r"/>
            <a:r>
              <a:rPr lang="en-US" sz="1600" dirty="0">
                <a:solidFill>
                  <a:srgbClr val="111111"/>
                </a:solidFill>
              </a:rPr>
              <a:t>₹42,000</a:t>
            </a:r>
            <a:endParaRPr lang="en-US" sz="1600" dirty="0"/>
          </a:p>
        </p:txBody>
      </p:sp>
      <p:sp>
        <p:nvSpPr>
          <p:cNvPr id="72" name="Shape 70"/>
          <p:cNvSpPr/>
          <p:nvPr/>
        </p:nvSpPr>
        <p:spPr>
          <a:xfrm>
            <a:off x="640080" y="10614356"/>
            <a:ext cx="7040880" cy="438912"/>
          </a:xfrm>
          <a:prstGeom prst="rect">
            <a:avLst/>
          </a:prstGeom>
          <a:solidFill>
            <a:srgbClr val="F5F5F5"/>
          </a:solidFill>
          <a:ln w="12700">
            <a:solidFill>
              <a:srgbClr val="D0D0D0"/>
            </a:solidFill>
            <a:prstDash val="solid"/>
          </a:ln>
        </p:spPr>
      </p:sp>
      <p:sp>
        <p:nvSpPr>
          <p:cNvPr id="73" name="Text 71"/>
          <p:cNvSpPr/>
          <p:nvPr/>
        </p:nvSpPr>
        <p:spPr>
          <a:xfrm>
            <a:off x="749808" y="10614356"/>
            <a:ext cx="6858000" cy="438912"/>
          </a:xfrm>
          <a:prstGeom prst="rect">
            <a:avLst/>
          </a:prstGeom>
          <a:noFill/>
          <a:ln/>
        </p:spPr>
        <p:txBody>
          <a:bodyPr wrap="square" rtlCol="0" anchor="ctr"/>
          <a:lstStyle/>
          <a:p>
            <a:r>
              <a:rPr lang="en-US" sz="1600" dirty="0">
                <a:solidFill>
                  <a:srgbClr val="111111"/>
                </a:solidFill>
              </a:rPr>
              <a:t>Additional Funds You Need</a:t>
            </a:r>
            <a:endParaRPr lang="en-US" sz="1600" dirty="0"/>
          </a:p>
        </p:txBody>
      </p:sp>
      <p:sp>
        <p:nvSpPr>
          <p:cNvPr id="74" name="Shape 72"/>
          <p:cNvSpPr/>
          <p:nvPr/>
        </p:nvSpPr>
        <p:spPr>
          <a:xfrm>
            <a:off x="7680960" y="10614356"/>
            <a:ext cx="2286000" cy="438912"/>
          </a:xfrm>
          <a:prstGeom prst="rect">
            <a:avLst/>
          </a:prstGeom>
          <a:solidFill>
            <a:srgbClr val="F5F5F5"/>
          </a:solidFill>
          <a:ln w="12700">
            <a:solidFill>
              <a:srgbClr val="D0D0D0"/>
            </a:solidFill>
            <a:prstDash val="solid"/>
          </a:ln>
        </p:spPr>
      </p:sp>
      <p:sp>
        <p:nvSpPr>
          <p:cNvPr id="75" name="Text 73"/>
          <p:cNvSpPr/>
          <p:nvPr/>
        </p:nvSpPr>
        <p:spPr>
          <a:xfrm>
            <a:off x="7680960" y="10614356"/>
            <a:ext cx="2286000" cy="438912"/>
          </a:xfrm>
          <a:prstGeom prst="rect">
            <a:avLst/>
          </a:prstGeom>
          <a:noFill/>
          <a:ln/>
        </p:spPr>
        <p:txBody>
          <a:bodyPr wrap="square" lIns="0" tIns="0" rIns="152400" bIns="0" rtlCol="0" anchor="ctr"/>
          <a:lstStyle/>
          <a:p>
            <a:pPr algn="r"/>
            <a:r>
              <a:rPr lang="en-US" sz="1600" dirty="0">
                <a:solidFill>
                  <a:srgbClr val="111111"/>
                </a:solidFill>
              </a:rPr>
              <a:t>₹0</a:t>
            </a:r>
            <a:endParaRPr lang="en-US" sz="1600" dirty="0"/>
          </a:p>
        </p:txBody>
      </p:sp>
      <p:sp>
        <p:nvSpPr>
          <p:cNvPr id="76" name="Shape 74"/>
          <p:cNvSpPr/>
          <p:nvPr/>
        </p:nvSpPr>
        <p:spPr>
          <a:xfrm>
            <a:off x="10972800" y="2560320"/>
            <a:ext cx="6675120" cy="6949440"/>
          </a:xfrm>
          <a:prstGeom prst="rect">
            <a:avLst/>
          </a:prstGeom>
          <a:solidFill>
            <a:srgbClr val="FFFFFF"/>
          </a:solidFill>
          <a:ln w="12700">
            <a:solidFill>
              <a:srgbClr val="BBBBBB"/>
            </a:solidFill>
            <a:prstDash val="solid"/>
          </a:ln>
        </p:spPr>
      </p:sp>
      <p:sp>
        <p:nvSpPr>
          <p:cNvPr id="77" name="Text 75"/>
          <p:cNvSpPr/>
          <p:nvPr/>
        </p:nvSpPr>
        <p:spPr>
          <a:xfrm>
            <a:off x="11155680" y="2743200"/>
            <a:ext cx="6309360" cy="512064"/>
          </a:xfrm>
          <a:prstGeom prst="rect">
            <a:avLst/>
          </a:prstGeom>
          <a:noFill/>
          <a:ln/>
        </p:spPr>
        <p:txBody>
          <a:bodyPr wrap="square" rtlCol="0" anchor="ctr"/>
          <a:lstStyle/>
          <a:p>
            <a:r>
              <a:rPr lang="en-US" sz="2000" b="1" dirty="0">
                <a:solidFill>
                  <a:srgbClr val="111111"/>
                </a:solidFill>
              </a:rPr>
              <a:t>Explanation:</a:t>
            </a:r>
            <a:endParaRPr lang="en-US" sz="2000" dirty="0"/>
          </a:p>
        </p:txBody>
      </p:sp>
      <p:sp>
        <p:nvSpPr>
          <p:cNvPr id="78" name="Text 76"/>
          <p:cNvSpPr/>
          <p:nvPr/>
        </p:nvSpPr>
        <p:spPr>
          <a:xfrm>
            <a:off x="11155680" y="3328416"/>
            <a:ext cx="6309360" cy="5852160"/>
          </a:xfrm>
          <a:prstGeom prst="rect">
            <a:avLst/>
          </a:prstGeom>
          <a:noFill/>
          <a:ln/>
        </p:spPr>
        <p:txBody>
          <a:bodyPr wrap="square" rtlCol="0" anchor="t"/>
          <a:lstStyle/>
          <a:p>
            <a:r>
              <a:rPr lang="en-US" dirty="0">
                <a:solidFill>
                  <a:srgbClr val="333333"/>
                </a:solidFill>
              </a:rPr>
              <a:t>Auto Fix AI is a software-only startup, so our biggest cost is laptops for development (₹80,000) — no factory, no inventory, no physical store needed.</a:t>
            </a:r>
            <a:endParaRPr lang="en-US" dirty="0"/>
          </a:p>
          <a:p>
            <a:endParaRPr lang="en-US" dirty="0"/>
          </a:p>
          <a:p>
            <a:r>
              <a:rPr lang="en-US" dirty="0">
                <a:solidFill>
                  <a:srgbClr val="333333"/>
                </a:solidFill>
              </a:rPr>
              <a:t>We self-fund ₹1,00,000 from team savings, and apply for a ₹60,000 IGNITE college grant/loan — keeping us completely bootstrapped with zero external debt.</a:t>
            </a:r>
            <a:endParaRPr lang="en-US" dirty="0"/>
          </a:p>
          <a:p>
            <a:endParaRPr lang="en-US" dirty="0"/>
          </a:p>
          <a:p>
            <a:r>
              <a:rPr lang="en-US" dirty="0">
                <a:solidFill>
                  <a:srgbClr val="333333"/>
                </a:solidFill>
              </a:rPr>
              <a:t>Total spend is ₹3,18,000 with ₹42,000 kept as emergency working capital buffer.</a:t>
            </a:r>
            <a:endParaRPr lang="en-US" dirty="0"/>
          </a:p>
        </p:txBody>
      </p:sp>
      <p:sp>
        <p:nvSpPr>
          <p:cNvPr id="80" name="Shape 78"/>
          <p:cNvSpPr/>
          <p:nvPr/>
        </p:nvSpPr>
        <p:spPr>
          <a:xfrm>
            <a:off x="182880" y="11212576"/>
            <a:ext cx="3048000" cy="100584"/>
          </a:xfrm>
          <a:prstGeom prst="rect">
            <a:avLst/>
          </a:prstGeom>
          <a:solidFill>
            <a:srgbClr val="CC0000"/>
          </a:solidFill>
          <a:ln w="12700">
            <a:solidFill>
              <a:srgbClr val="CC0000"/>
            </a:solidFill>
            <a:prstDash val="solid"/>
          </a:ln>
        </p:spPr>
      </p:sp>
      <p:sp>
        <p:nvSpPr>
          <p:cNvPr id="81" name="Shape 79"/>
          <p:cNvSpPr/>
          <p:nvPr/>
        </p:nvSpPr>
        <p:spPr>
          <a:xfrm>
            <a:off x="3230880" y="11212576"/>
            <a:ext cx="3048000" cy="100584"/>
          </a:xfrm>
          <a:prstGeom prst="rect">
            <a:avLst/>
          </a:prstGeom>
          <a:solidFill>
            <a:srgbClr val="E8891A"/>
          </a:solidFill>
          <a:ln w="12700">
            <a:solidFill>
              <a:srgbClr val="E8891A"/>
            </a:solidFill>
            <a:prstDash val="solid"/>
          </a:ln>
        </p:spPr>
      </p:sp>
      <p:sp>
        <p:nvSpPr>
          <p:cNvPr id="82" name="Shape 80"/>
          <p:cNvSpPr/>
          <p:nvPr/>
        </p:nvSpPr>
        <p:spPr>
          <a:xfrm>
            <a:off x="6278880" y="11212576"/>
            <a:ext cx="3048000" cy="100584"/>
          </a:xfrm>
          <a:prstGeom prst="rect">
            <a:avLst/>
          </a:prstGeom>
          <a:solidFill>
            <a:srgbClr val="FFD966"/>
          </a:solidFill>
          <a:ln w="12700">
            <a:solidFill>
              <a:srgbClr val="FFD966"/>
            </a:solidFill>
            <a:prstDash val="solid"/>
          </a:ln>
        </p:spPr>
      </p:sp>
      <p:sp>
        <p:nvSpPr>
          <p:cNvPr id="83" name="Shape 81"/>
          <p:cNvSpPr/>
          <p:nvPr/>
        </p:nvSpPr>
        <p:spPr>
          <a:xfrm>
            <a:off x="9448800" y="11212576"/>
            <a:ext cx="3048000" cy="100584"/>
          </a:xfrm>
          <a:prstGeom prst="rect">
            <a:avLst/>
          </a:prstGeom>
          <a:solidFill>
            <a:srgbClr val="44AA44"/>
          </a:solidFill>
          <a:ln w="12700">
            <a:solidFill>
              <a:srgbClr val="44AA44"/>
            </a:solidFill>
            <a:prstDash val="solid"/>
          </a:ln>
        </p:spPr>
      </p:sp>
      <p:sp>
        <p:nvSpPr>
          <p:cNvPr id="84" name="Shape 82"/>
          <p:cNvSpPr/>
          <p:nvPr/>
        </p:nvSpPr>
        <p:spPr>
          <a:xfrm>
            <a:off x="12496800" y="11217860"/>
            <a:ext cx="3048000" cy="100584"/>
          </a:xfrm>
          <a:prstGeom prst="rect">
            <a:avLst/>
          </a:prstGeom>
          <a:solidFill>
            <a:srgbClr val="3366CC"/>
          </a:solidFill>
          <a:ln w="12700">
            <a:solidFill>
              <a:srgbClr val="3366CC"/>
            </a:solidFill>
            <a:prstDash val="solid"/>
          </a:ln>
        </p:spPr>
      </p:sp>
      <p:sp>
        <p:nvSpPr>
          <p:cNvPr id="85" name="Shape 83"/>
          <p:cNvSpPr/>
          <p:nvPr/>
        </p:nvSpPr>
        <p:spPr>
          <a:xfrm>
            <a:off x="15544800" y="11212576"/>
            <a:ext cx="3048000" cy="100584"/>
          </a:xfrm>
          <a:prstGeom prst="rect">
            <a:avLst/>
          </a:prstGeom>
          <a:solidFill>
            <a:srgbClr val="00AAAA"/>
          </a:solidFill>
          <a:ln w="12700">
            <a:solidFill>
              <a:srgbClr val="00AAAA"/>
            </a:solidFill>
            <a:prstDash val="solid"/>
          </a:ln>
        </p:spPr>
      </p:sp>
      <p:pic>
        <p:nvPicPr>
          <p:cNvPr id="2" name="Picture 1" descr="AUTOFIXAI">
            <a:extLst>
              <a:ext uri="{FF2B5EF4-FFF2-40B4-BE49-F238E27FC236}">
                <a16:creationId xmlns:a16="http://schemas.microsoft.com/office/drawing/2014/main" id="{CB8B90BE-D06E-F987-E013-4CCC0E3832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36240" y="611343"/>
            <a:ext cx="2346960" cy="16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down)">
                                      <p:cBhvr>
                                        <p:cTn id="7" dur="580">
                                          <p:stCondLst>
                                            <p:cond delay="0"/>
                                          </p:stCondLst>
                                        </p:cTn>
                                        <p:tgtEl>
                                          <p:spTgt spid="76"/>
                                        </p:tgtEl>
                                      </p:cBhvr>
                                    </p:animEffect>
                                    <p:anim calcmode="lin" valueType="num">
                                      <p:cBhvr>
                                        <p:cTn id="8" dur="1822" tmFilter="0,0; 0.14,0.36; 0.43,0.73; 0.71,0.91; 1.0,1.0">
                                          <p:stCondLst>
                                            <p:cond delay="0"/>
                                          </p:stCondLst>
                                        </p:cTn>
                                        <p:tgtEl>
                                          <p:spTgt spid="7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6"/>
                                        </p:tgtEl>
                                        <p:attrNameLst>
                                          <p:attrName>ppt_y</p:attrName>
                                        </p:attrNameLst>
                                      </p:cBhvr>
                                      <p:tavLst>
                                        <p:tav tm="0" fmla="#ppt_y-sin(pi*$)/81">
                                          <p:val>
                                            <p:fltVal val="0"/>
                                          </p:val>
                                        </p:tav>
                                        <p:tav tm="100000">
                                          <p:val>
                                            <p:fltVal val="1"/>
                                          </p:val>
                                        </p:tav>
                                      </p:tavLst>
                                    </p:anim>
                                    <p:animScale>
                                      <p:cBhvr>
                                        <p:cTn id="13" dur="26">
                                          <p:stCondLst>
                                            <p:cond delay="650"/>
                                          </p:stCondLst>
                                        </p:cTn>
                                        <p:tgtEl>
                                          <p:spTgt spid="76"/>
                                        </p:tgtEl>
                                      </p:cBhvr>
                                      <p:to x="100000" y="60000"/>
                                    </p:animScale>
                                    <p:animScale>
                                      <p:cBhvr>
                                        <p:cTn id="14" dur="166" decel="50000">
                                          <p:stCondLst>
                                            <p:cond delay="676"/>
                                          </p:stCondLst>
                                        </p:cTn>
                                        <p:tgtEl>
                                          <p:spTgt spid="76"/>
                                        </p:tgtEl>
                                      </p:cBhvr>
                                      <p:to x="100000" y="100000"/>
                                    </p:animScale>
                                    <p:animScale>
                                      <p:cBhvr>
                                        <p:cTn id="15" dur="26">
                                          <p:stCondLst>
                                            <p:cond delay="1312"/>
                                          </p:stCondLst>
                                        </p:cTn>
                                        <p:tgtEl>
                                          <p:spTgt spid="76"/>
                                        </p:tgtEl>
                                      </p:cBhvr>
                                      <p:to x="100000" y="80000"/>
                                    </p:animScale>
                                    <p:animScale>
                                      <p:cBhvr>
                                        <p:cTn id="16" dur="166" decel="50000">
                                          <p:stCondLst>
                                            <p:cond delay="1338"/>
                                          </p:stCondLst>
                                        </p:cTn>
                                        <p:tgtEl>
                                          <p:spTgt spid="76"/>
                                        </p:tgtEl>
                                      </p:cBhvr>
                                      <p:to x="100000" y="100000"/>
                                    </p:animScale>
                                    <p:animScale>
                                      <p:cBhvr>
                                        <p:cTn id="17" dur="26">
                                          <p:stCondLst>
                                            <p:cond delay="1642"/>
                                          </p:stCondLst>
                                        </p:cTn>
                                        <p:tgtEl>
                                          <p:spTgt spid="76"/>
                                        </p:tgtEl>
                                      </p:cBhvr>
                                      <p:to x="100000" y="90000"/>
                                    </p:animScale>
                                    <p:animScale>
                                      <p:cBhvr>
                                        <p:cTn id="18" dur="166" decel="50000">
                                          <p:stCondLst>
                                            <p:cond delay="1668"/>
                                          </p:stCondLst>
                                        </p:cTn>
                                        <p:tgtEl>
                                          <p:spTgt spid="76"/>
                                        </p:tgtEl>
                                      </p:cBhvr>
                                      <p:to x="100000" y="100000"/>
                                    </p:animScale>
                                    <p:animScale>
                                      <p:cBhvr>
                                        <p:cTn id="19" dur="26">
                                          <p:stCondLst>
                                            <p:cond delay="1808"/>
                                          </p:stCondLst>
                                        </p:cTn>
                                        <p:tgtEl>
                                          <p:spTgt spid="76"/>
                                        </p:tgtEl>
                                      </p:cBhvr>
                                      <p:to x="100000" y="95000"/>
                                    </p:animScale>
                                    <p:animScale>
                                      <p:cBhvr>
                                        <p:cTn id="20" dur="166" decel="50000">
                                          <p:stCondLst>
                                            <p:cond delay="1834"/>
                                          </p:stCondLst>
                                        </p:cTn>
                                        <p:tgtEl>
                                          <p:spTgt spid="7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p:cTn id="25" dur="1000" fill="hold"/>
                                        <p:tgtEl>
                                          <p:spTgt spid="78"/>
                                        </p:tgtEl>
                                        <p:attrNameLst>
                                          <p:attrName>ppt_w</p:attrName>
                                        </p:attrNameLst>
                                      </p:cBhvr>
                                      <p:tavLst>
                                        <p:tav tm="0">
                                          <p:val>
                                            <p:fltVal val="0"/>
                                          </p:val>
                                        </p:tav>
                                        <p:tav tm="100000">
                                          <p:val>
                                            <p:strVal val="#ppt_w"/>
                                          </p:val>
                                        </p:tav>
                                      </p:tavLst>
                                    </p:anim>
                                    <p:anim calcmode="lin" valueType="num">
                                      <p:cBhvr>
                                        <p:cTn id="26" dur="1000" fill="hold"/>
                                        <p:tgtEl>
                                          <p:spTgt spid="78"/>
                                        </p:tgtEl>
                                        <p:attrNameLst>
                                          <p:attrName>ppt_h</p:attrName>
                                        </p:attrNameLst>
                                      </p:cBhvr>
                                      <p:tavLst>
                                        <p:tav tm="0">
                                          <p:val>
                                            <p:fltVal val="0"/>
                                          </p:val>
                                        </p:tav>
                                        <p:tav tm="100000">
                                          <p:val>
                                            <p:strVal val="#ppt_h"/>
                                          </p:val>
                                        </p:tav>
                                      </p:tavLst>
                                    </p:anim>
                                    <p:anim calcmode="lin" valueType="num">
                                      <p:cBhvr>
                                        <p:cTn id="27" dur="1000" fill="hold"/>
                                        <p:tgtEl>
                                          <p:spTgt spid="78"/>
                                        </p:tgtEl>
                                        <p:attrNameLst>
                                          <p:attrName>style.rotation</p:attrName>
                                        </p:attrNameLst>
                                      </p:cBhvr>
                                      <p:tavLst>
                                        <p:tav tm="0">
                                          <p:val>
                                            <p:fltVal val="90"/>
                                          </p:val>
                                        </p:tav>
                                        <p:tav tm="100000">
                                          <p:val>
                                            <p:fltVal val="0"/>
                                          </p:val>
                                        </p:tav>
                                      </p:tavLst>
                                    </p:anim>
                                    <p:animEffect transition="in" filter="fade">
                                      <p:cBhvr>
                                        <p:cTn id="28"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694944"/>
          </a:xfrm>
          <a:prstGeom prst="rect">
            <a:avLst/>
          </a:prstGeom>
          <a:solidFill>
            <a:srgbClr val="111111"/>
          </a:solidFill>
          <a:ln w="12700">
            <a:solidFill>
              <a:srgbClr val="111111"/>
            </a:solidFill>
            <a:prstDash val="solid"/>
          </a:ln>
        </p:spPr>
      </p:sp>
      <p:sp>
        <p:nvSpPr>
          <p:cNvPr id="3" name="Text 1"/>
          <p:cNvSpPr/>
          <p:nvPr/>
        </p:nvSpPr>
        <p:spPr>
          <a:xfrm>
            <a:off x="548640" y="768096"/>
            <a:ext cx="9144000" cy="841248"/>
          </a:xfrm>
          <a:prstGeom prst="rect">
            <a:avLst/>
          </a:prstGeom>
          <a:noFill/>
          <a:ln/>
        </p:spPr>
        <p:txBody>
          <a:bodyPr wrap="square" rtlCol="0" anchor="ctr"/>
          <a:lstStyle/>
          <a:p>
            <a:r>
              <a:rPr lang="en-US" sz="4800" b="1" dirty="0">
                <a:solidFill>
                  <a:srgbClr val="111111"/>
                </a:solidFill>
                <a:latin typeface="Arial" pitchFamily="34" charset="0"/>
                <a:ea typeface="Arial" pitchFamily="34" charset="-122"/>
                <a:cs typeface="Arial" pitchFamily="34" charset="-120"/>
              </a:rPr>
              <a:t>Forecast P&amp;L</a:t>
            </a:r>
            <a:endParaRPr lang="en-US" sz="4800" dirty="0"/>
          </a:p>
        </p:txBody>
      </p:sp>
      <p:sp>
        <p:nvSpPr>
          <p:cNvPr id="4" name="Text 2"/>
          <p:cNvSpPr/>
          <p:nvPr/>
        </p:nvSpPr>
        <p:spPr>
          <a:xfrm>
            <a:off x="548640" y="1682496"/>
            <a:ext cx="9144000" cy="457200"/>
          </a:xfrm>
          <a:prstGeom prst="rect">
            <a:avLst/>
          </a:prstGeom>
          <a:noFill/>
          <a:ln/>
        </p:spPr>
        <p:txBody>
          <a:bodyPr wrap="square" rtlCol="0" anchor="ctr"/>
          <a:lstStyle/>
          <a:p>
            <a:r>
              <a:rPr lang="en-US" sz="2200" dirty="0">
                <a:solidFill>
                  <a:srgbClr val="444444"/>
                </a:solidFill>
              </a:rPr>
              <a:t>Profit and loss forecast</a:t>
            </a:r>
            <a:endParaRPr lang="en-US" sz="2200" dirty="0"/>
          </a:p>
        </p:txBody>
      </p:sp>
      <p:sp>
        <p:nvSpPr>
          <p:cNvPr id="5" name="Shape 3"/>
          <p:cNvSpPr/>
          <p:nvPr/>
        </p:nvSpPr>
        <p:spPr>
          <a:xfrm>
            <a:off x="15636240" y="768096"/>
            <a:ext cx="2194560" cy="1280160"/>
          </a:xfrm>
          <a:prstGeom prst="rect">
            <a:avLst/>
          </a:prstGeom>
          <a:solidFill>
            <a:srgbClr val="FFFFFF"/>
          </a:solidFill>
          <a:ln w="12700">
            <a:solidFill>
              <a:srgbClr val="E8891A"/>
            </a:solidFill>
            <a:prstDash val="solid"/>
          </a:ln>
        </p:spPr>
      </p:sp>
      <p:sp>
        <p:nvSpPr>
          <p:cNvPr id="6" name="Text 4"/>
          <p:cNvSpPr/>
          <p:nvPr/>
        </p:nvSpPr>
        <p:spPr>
          <a:xfrm>
            <a:off x="15636240" y="768096"/>
            <a:ext cx="2194560" cy="1280160"/>
          </a:xfrm>
          <a:prstGeom prst="rect">
            <a:avLst/>
          </a:prstGeom>
          <a:noFill/>
          <a:ln/>
        </p:spPr>
        <p:txBody>
          <a:bodyPr wrap="square" rtlCol="0" anchor="ctr"/>
          <a:lstStyle/>
          <a:p>
            <a:pPr algn="ctr"/>
            <a:r>
              <a:rPr lang="en-US" dirty="0">
                <a:solidFill>
                  <a:srgbClr val="666666"/>
                </a:solidFill>
              </a:rPr>
              <a:t>Place your</a:t>
            </a:r>
            <a:endParaRPr lang="en-US" dirty="0"/>
          </a:p>
          <a:p>
            <a:pPr algn="ctr"/>
            <a:r>
              <a:rPr lang="en-US" dirty="0">
                <a:solidFill>
                  <a:srgbClr val="666666"/>
                </a:solidFill>
              </a:rPr>
              <a:t>logo here</a:t>
            </a:r>
            <a:endParaRPr lang="en-US" dirty="0"/>
          </a:p>
        </p:txBody>
      </p:sp>
      <p:sp>
        <p:nvSpPr>
          <p:cNvPr id="7" name="Shape 5"/>
          <p:cNvSpPr/>
          <p:nvPr/>
        </p:nvSpPr>
        <p:spPr>
          <a:xfrm>
            <a:off x="3694176" y="2231136"/>
            <a:ext cx="15215616" cy="475488"/>
          </a:xfrm>
          <a:prstGeom prst="rect">
            <a:avLst/>
          </a:prstGeom>
          <a:solidFill>
            <a:srgbClr val="E8891A"/>
          </a:solidFill>
          <a:ln w="12700">
            <a:solidFill>
              <a:srgbClr val="E8891A"/>
            </a:solidFill>
            <a:prstDash val="solid"/>
          </a:ln>
        </p:spPr>
      </p:sp>
      <p:sp>
        <p:nvSpPr>
          <p:cNvPr id="8" name="Text 6"/>
          <p:cNvSpPr/>
          <p:nvPr/>
        </p:nvSpPr>
        <p:spPr>
          <a:xfrm>
            <a:off x="8375904" y="9281160"/>
            <a:ext cx="1170432" cy="475488"/>
          </a:xfrm>
          <a:prstGeom prst="rect">
            <a:avLst/>
          </a:prstGeom>
          <a:noFill/>
          <a:ln/>
        </p:spPr>
        <p:txBody>
          <a:bodyPr wrap="square" rtlCol="0" anchor="ctr"/>
          <a:lstStyle/>
          <a:p>
            <a:pPr algn="ctr"/>
            <a:r>
              <a:rPr lang="en-US" sz="1300" b="1" dirty="0">
                <a:solidFill>
                  <a:srgbClr val="FFFFFF"/>
                </a:solidFill>
              </a:rPr>
              <a:t>JAN</a:t>
            </a:r>
            <a:endParaRPr lang="en-US" sz="1300" dirty="0"/>
          </a:p>
        </p:txBody>
      </p:sp>
      <p:sp>
        <p:nvSpPr>
          <p:cNvPr id="9" name="Text 7"/>
          <p:cNvSpPr/>
          <p:nvPr/>
        </p:nvSpPr>
        <p:spPr>
          <a:xfrm>
            <a:off x="4864608" y="2231136"/>
            <a:ext cx="1170432" cy="475488"/>
          </a:xfrm>
          <a:prstGeom prst="rect">
            <a:avLst/>
          </a:prstGeom>
          <a:noFill/>
          <a:ln/>
        </p:spPr>
        <p:txBody>
          <a:bodyPr wrap="square" rtlCol="0" anchor="ctr"/>
          <a:lstStyle/>
          <a:p>
            <a:pPr algn="ctr"/>
            <a:r>
              <a:rPr lang="en-US" sz="1300" b="1" dirty="0">
                <a:solidFill>
                  <a:srgbClr val="FFFFFF"/>
                </a:solidFill>
              </a:rPr>
              <a:t>FEB</a:t>
            </a:r>
            <a:endParaRPr lang="en-US" sz="1300" dirty="0"/>
          </a:p>
        </p:txBody>
      </p:sp>
      <p:sp>
        <p:nvSpPr>
          <p:cNvPr id="10" name="Text 8"/>
          <p:cNvSpPr/>
          <p:nvPr/>
        </p:nvSpPr>
        <p:spPr>
          <a:xfrm>
            <a:off x="6035040" y="2231136"/>
            <a:ext cx="1170432" cy="475488"/>
          </a:xfrm>
          <a:prstGeom prst="rect">
            <a:avLst/>
          </a:prstGeom>
          <a:noFill/>
          <a:ln/>
        </p:spPr>
        <p:txBody>
          <a:bodyPr wrap="square" rtlCol="0" anchor="ctr"/>
          <a:lstStyle/>
          <a:p>
            <a:pPr algn="ctr"/>
            <a:r>
              <a:rPr lang="en-US" sz="1300" b="1" dirty="0">
                <a:solidFill>
                  <a:srgbClr val="FFFFFF"/>
                </a:solidFill>
              </a:rPr>
              <a:t>MAR</a:t>
            </a:r>
            <a:endParaRPr lang="en-US" sz="1300" dirty="0"/>
          </a:p>
        </p:txBody>
      </p:sp>
      <p:sp>
        <p:nvSpPr>
          <p:cNvPr id="11" name="Text 9"/>
          <p:cNvSpPr/>
          <p:nvPr/>
        </p:nvSpPr>
        <p:spPr>
          <a:xfrm>
            <a:off x="7205472" y="2231136"/>
            <a:ext cx="1170432" cy="475488"/>
          </a:xfrm>
          <a:prstGeom prst="rect">
            <a:avLst/>
          </a:prstGeom>
          <a:noFill/>
          <a:ln/>
        </p:spPr>
        <p:txBody>
          <a:bodyPr wrap="square" rtlCol="0" anchor="ctr"/>
          <a:lstStyle/>
          <a:p>
            <a:pPr algn="ctr"/>
            <a:r>
              <a:rPr lang="en-US" sz="1300" b="1" dirty="0">
                <a:solidFill>
                  <a:srgbClr val="FFFFFF"/>
                </a:solidFill>
              </a:rPr>
              <a:t>APR</a:t>
            </a:r>
            <a:endParaRPr lang="en-US" sz="1300" dirty="0"/>
          </a:p>
        </p:txBody>
      </p:sp>
      <p:sp>
        <p:nvSpPr>
          <p:cNvPr id="12" name="Text 10"/>
          <p:cNvSpPr/>
          <p:nvPr/>
        </p:nvSpPr>
        <p:spPr>
          <a:xfrm>
            <a:off x="8375904" y="2231136"/>
            <a:ext cx="1170432" cy="475488"/>
          </a:xfrm>
          <a:prstGeom prst="rect">
            <a:avLst/>
          </a:prstGeom>
          <a:noFill/>
          <a:ln/>
        </p:spPr>
        <p:txBody>
          <a:bodyPr wrap="square" rtlCol="0" anchor="ctr"/>
          <a:lstStyle/>
          <a:p>
            <a:pPr algn="ctr"/>
            <a:r>
              <a:rPr lang="en-US" sz="1300" b="1" dirty="0">
                <a:solidFill>
                  <a:srgbClr val="FFFFFF"/>
                </a:solidFill>
              </a:rPr>
              <a:t>MAY</a:t>
            </a:r>
            <a:endParaRPr lang="en-US" sz="1300" dirty="0"/>
          </a:p>
        </p:txBody>
      </p:sp>
      <p:sp>
        <p:nvSpPr>
          <p:cNvPr id="13" name="Text 11"/>
          <p:cNvSpPr/>
          <p:nvPr/>
        </p:nvSpPr>
        <p:spPr>
          <a:xfrm>
            <a:off x="9546336" y="2231136"/>
            <a:ext cx="1170432" cy="475488"/>
          </a:xfrm>
          <a:prstGeom prst="rect">
            <a:avLst/>
          </a:prstGeom>
          <a:noFill/>
          <a:ln/>
        </p:spPr>
        <p:txBody>
          <a:bodyPr wrap="square" rtlCol="0" anchor="ctr"/>
          <a:lstStyle/>
          <a:p>
            <a:pPr algn="ctr"/>
            <a:r>
              <a:rPr lang="en-US" sz="1300" b="1" dirty="0">
                <a:solidFill>
                  <a:srgbClr val="FFFFFF"/>
                </a:solidFill>
              </a:rPr>
              <a:t>JUNE</a:t>
            </a:r>
            <a:endParaRPr lang="en-US" sz="1300" dirty="0"/>
          </a:p>
        </p:txBody>
      </p:sp>
      <p:sp>
        <p:nvSpPr>
          <p:cNvPr id="14" name="Text 12"/>
          <p:cNvSpPr/>
          <p:nvPr/>
        </p:nvSpPr>
        <p:spPr>
          <a:xfrm>
            <a:off x="10716768" y="2231136"/>
            <a:ext cx="1170432" cy="475488"/>
          </a:xfrm>
          <a:prstGeom prst="rect">
            <a:avLst/>
          </a:prstGeom>
          <a:noFill/>
          <a:ln/>
        </p:spPr>
        <p:txBody>
          <a:bodyPr wrap="square" rtlCol="0" anchor="ctr"/>
          <a:lstStyle/>
          <a:p>
            <a:pPr algn="ctr"/>
            <a:r>
              <a:rPr lang="en-US" sz="1300" b="1" dirty="0">
                <a:solidFill>
                  <a:srgbClr val="FFFFFF"/>
                </a:solidFill>
              </a:rPr>
              <a:t>JULY</a:t>
            </a:r>
            <a:endParaRPr lang="en-US" sz="1300" dirty="0"/>
          </a:p>
        </p:txBody>
      </p:sp>
      <p:sp>
        <p:nvSpPr>
          <p:cNvPr id="15" name="Text 13"/>
          <p:cNvSpPr/>
          <p:nvPr/>
        </p:nvSpPr>
        <p:spPr>
          <a:xfrm>
            <a:off x="11887200" y="2231136"/>
            <a:ext cx="1170432" cy="475488"/>
          </a:xfrm>
          <a:prstGeom prst="rect">
            <a:avLst/>
          </a:prstGeom>
          <a:noFill/>
          <a:ln/>
        </p:spPr>
        <p:txBody>
          <a:bodyPr wrap="square" rtlCol="0" anchor="ctr"/>
          <a:lstStyle/>
          <a:p>
            <a:pPr algn="ctr"/>
            <a:r>
              <a:rPr lang="en-US" sz="1300" b="1" dirty="0">
                <a:solidFill>
                  <a:srgbClr val="FFFFFF"/>
                </a:solidFill>
              </a:rPr>
              <a:t>AUG</a:t>
            </a:r>
            <a:endParaRPr lang="en-US" sz="1300" dirty="0"/>
          </a:p>
        </p:txBody>
      </p:sp>
      <p:sp>
        <p:nvSpPr>
          <p:cNvPr id="16" name="Text 14"/>
          <p:cNvSpPr/>
          <p:nvPr/>
        </p:nvSpPr>
        <p:spPr>
          <a:xfrm>
            <a:off x="13057632" y="2231136"/>
            <a:ext cx="1170432" cy="475488"/>
          </a:xfrm>
          <a:prstGeom prst="rect">
            <a:avLst/>
          </a:prstGeom>
          <a:noFill/>
          <a:ln/>
        </p:spPr>
        <p:txBody>
          <a:bodyPr wrap="square" rtlCol="0" anchor="ctr"/>
          <a:lstStyle/>
          <a:p>
            <a:pPr algn="ctr"/>
            <a:r>
              <a:rPr lang="en-US" sz="1300" b="1" dirty="0">
                <a:solidFill>
                  <a:srgbClr val="FFFFFF"/>
                </a:solidFill>
              </a:rPr>
              <a:t>SEP</a:t>
            </a:r>
            <a:endParaRPr lang="en-US" sz="1300" dirty="0"/>
          </a:p>
        </p:txBody>
      </p:sp>
      <p:sp>
        <p:nvSpPr>
          <p:cNvPr id="17" name="Text 15"/>
          <p:cNvSpPr/>
          <p:nvPr/>
        </p:nvSpPr>
        <p:spPr>
          <a:xfrm>
            <a:off x="14228064" y="2231136"/>
            <a:ext cx="1170432" cy="475488"/>
          </a:xfrm>
          <a:prstGeom prst="rect">
            <a:avLst/>
          </a:prstGeom>
          <a:noFill/>
          <a:ln/>
        </p:spPr>
        <p:txBody>
          <a:bodyPr wrap="square" rtlCol="0" anchor="ctr"/>
          <a:lstStyle/>
          <a:p>
            <a:pPr algn="ctr"/>
            <a:r>
              <a:rPr lang="en-US" sz="1300" b="1" dirty="0">
                <a:solidFill>
                  <a:srgbClr val="FFFFFF"/>
                </a:solidFill>
              </a:rPr>
              <a:t>OCT</a:t>
            </a:r>
            <a:endParaRPr lang="en-US" sz="1300" dirty="0"/>
          </a:p>
        </p:txBody>
      </p:sp>
      <p:sp>
        <p:nvSpPr>
          <p:cNvPr id="18" name="Text 16"/>
          <p:cNvSpPr/>
          <p:nvPr/>
        </p:nvSpPr>
        <p:spPr>
          <a:xfrm>
            <a:off x="15398496" y="2231136"/>
            <a:ext cx="1170432" cy="475488"/>
          </a:xfrm>
          <a:prstGeom prst="rect">
            <a:avLst/>
          </a:prstGeom>
          <a:noFill/>
          <a:ln/>
        </p:spPr>
        <p:txBody>
          <a:bodyPr wrap="square" rtlCol="0" anchor="ctr"/>
          <a:lstStyle/>
          <a:p>
            <a:pPr algn="ctr"/>
            <a:r>
              <a:rPr lang="en-US" sz="1300" b="1" dirty="0">
                <a:solidFill>
                  <a:srgbClr val="FFFFFF"/>
                </a:solidFill>
              </a:rPr>
              <a:t>NOV</a:t>
            </a:r>
            <a:endParaRPr lang="en-US" sz="1300" dirty="0"/>
          </a:p>
        </p:txBody>
      </p:sp>
      <p:sp>
        <p:nvSpPr>
          <p:cNvPr id="19" name="Text 17"/>
          <p:cNvSpPr/>
          <p:nvPr/>
        </p:nvSpPr>
        <p:spPr>
          <a:xfrm>
            <a:off x="16568928" y="2231136"/>
            <a:ext cx="1170432" cy="475488"/>
          </a:xfrm>
          <a:prstGeom prst="rect">
            <a:avLst/>
          </a:prstGeom>
          <a:noFill/>
          <a:ln/>
        </p:spPr>
        <p:txBody>
          <a:bodyPr wrap="square" rtlCol="0" anchor="ctr"/>
          <a:lstStyle/>
          <a:p>
            <a:pPr algn="ctr"/>
            <a:r>
              <a:rPr lang="en-US" sz="1300" b="1" dirty="0">
                <a:solidFill>
                  <a:srgbClr val="FFFFFF"/>
                </a:solidFill>
              </a:rPr>
              <a:t>DEC</a:t>
            </a:r>
            <a:endParaRPr lang="en-US" sz="1300" dirty="0"/>
          </a:p>
        </p:txBody>
      </p:sp>
      <p:sp>
        <p:nvSpPr>
          <p:cNvPr id="20" name="Text 18"/>
          <p:cNvSpPr/>
          <p:nvPr/>
        </p:nvSpPr>
        <p:spPr>
          <a:xfrm>
            <a:off x="17739360" y="2231136"/>
            <a:ext cx="1170432" cy="475488"/>
          </a:xfrm>
          <a:prstGeom prst="rect">
            <a:avLst/>
          </a:prstGeom>
          <a:noFill/>
          <a:ln/>
        </p:spPr>
        <p:txBody>
          <a:bodyPr wrap="square" rtlCol="0" anchor="ctr"/>
          <a:lstStyle/>
          <a:p>
            <a:pPr algn="ctr"/>
            <a:r>
              <a:rPr lang="en-US" sz="1300" b="1" dirty="0">
                <a:solidFill>
                  <a:srgbClr val="FFFFFF"/>
                </a:solidFill>
              </a:rPr>
              <a:t>Totals</a:t>
            </a:r>
            <a:endParaRPr lang="en-US" sz="1300" dirty="0"/>
          </a:p>
        </p:txBody>
      </p:sp>
      <p:sp>
        <p:nvSpPr>
          <p:cNvPr id="21" name="Text 19"/>
          <p:cNvSpPr/>
          <p:nvPr/>
        </p:nvSpPr>
        <p:spPr>
          <a:xfrm>
            <a:off x="548640" y="2706624"/>
            <a:ext cx="18361152" cy="402336"/>
          </a:xfrm>
          <a:prstGeom prst="rect">
            <a:avLst/>
          </a:prstGeom>
          <a:noFill/>
          <a:ln/>
        </p:spPr>
        <p:txBody>
          <a:bodyPr wrap="square" rtlCol="0" anchor="ctr"/>
          <a:lstStyle/>
          <a:p>
            <a:r>
              <a:rPr lang="en-US" sz="1600" b="1" dirty="0">
                <a:solidFill>
                  <a:srgbClr val="111111"/>
                </a:solidFill>
              </a:rPr>
              <a:t>Sales</a:t>
            </a:r>
            <a:endParaRPr lang="en-US" sz="1600" dirty="0"/>
          </a:p>
        </p:txBody>
      </p:sp>
      <p:sp>
        <p:nvSpPr>
          <p:cNvPr id="22" name="Shape 20"/>
          <p:cNvSpPr/>
          <p:nvPr/>
        </p:nvSpPr>
        <p:spPr>
          <a:xfrm>
            <a:off x="548640" y="3108960"/>
            <a:ext cx="3145536" cy="384048"/>
          </a:xfrm>
          <a:prstGeom prst="rect">
            <a:avLst/>
          </a:prstGeom>
          <a:solidFill>
            <a:srgbClr val="F5C78E"/>
          </a:solidFill>
          <a:ln w="12700">
            <a:solidFill>
              <a:srgbClr val="E0B080"/>
            </a:solidFill>
            <a:prstDash val="solid"/>
          </a:ln>
        </p:spPr>
      </p:sp>
      <p:sp>
        <p:nvSpPr>
          <p:cNvPr id="23" name="Text 21"/>
          <p:cNvSpPr/>
          <p:nvPr/>
        </p:nvSpPr>
        <p:spPr>
          <a:xfrm>
            <a:off x="621792" y="3108960"/>
            <a:ext cx="3035808" cy="384048"/>
          </a:xfrm>
          <a:prstGeom prst="rect">
            <a:avLst/>
          </a:prstGeom>
          <a:noFill/>
          <a:ln/>
        </p:spPr>
        <p:txBody>
          <a:bodyPr wrap="square" rtlCol="0" anchor="ctr"/>
          <a:lstStyle/>
          <a:p>
            <a:r>
              <a:rPr lang="en-US" sz="1300" dirty="0">
                <a:solidFill>
                  <a:srgbClr val="111111"/>
                </a:solidFill>
              </a:rPr>
              <a:t>Cash sales (Premium subs)</a:t>
            </a:r>
            <a:endParaRPr lang="en-US" sz="1300" dirty="0"/>
          </a:p>
        </p:txBody>
      </p:sp>
      <p:sp>
        <p:nvSpPr>
          <p:cNvPr id="24" name="Shape 22"/>
          <p:cNvSpPr/>
          <p:nvPr/>
        </p:nvSpPr>
        <p:spPr>
          <a:xfrm>
            <a:off x="3694176" y="3108960"/>
            <a:ext cx="1170432" cy="384048"/>
          </a:xfrm>
          <a:prstGeom prst="rect">
            <a:avLst/>
          </a:prstGeom>
          <a:solidFill>
            <a:srgbClr val="F5C78E"/>
          </a:solidFill>
          <a:ln w="12700">
            <a:solidFill>
              <a:srgbClr val="E0B080"/>
            </a:solidFill>
            <a:prstDash val="solid"/>
          </a:ln>
        </p:spPr>
      </p:sp>
      <p:sp>
        <p:nvSpPr>
          <p:cNvPr id="25" name="Text 23"/>
          <p:cNvSpPr/>
          <p:nvPr/>
        </p:nvSpPr>
        <p:spPr>
          <a:xfrm>
            <a:off x="3694176" y="31089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6" name="Shape 24"/>
          <p:cNvSpPr/>
          <p:nvPr/>
        </p:nvSpPr>
        <p:spPr>
          <a:xfrm>
            <a:off x="4864608" y="3108960"/>
            <a:ext cx="1170432" cy="384048"/>
          </a:xfrm>
          <a:prstGeom prst="rect">
            <a:avLst/>
          </a:prstGeom>
          <a:solidFill>
            <a:srgbClr val="F5C78E"/>
          </a:solidFill>
          <a:ln w="12700">
            <a:solidFill>
              <a:srgbClr val="E0B080"/>
            </a:solidFill>
            <a:prstDash val="solid"/>
          </a:ln>
        </p:spPr>
      </p:sp>
      <p:sp>
        <p:nvSpPr>
          <p:cNvPr id="27" name="Text 25"/>
          <p:cNvSpPr/>
          <p:nvPr/>
        </p:nvSpPr>
        <p:spPr>
          <a:xfrm>
            <a:off x="4864608" y="31089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 name="Shape 26"/>
          <p:cNvSpPr/>
          <p:nvPr/>
        </p:nvSpPr>
        <p:spPr>
          <a:xfrm>
            <a:off x="6035040" y="3108960"/>
            <a:ext cx="1170432" cy="384048"/>
          </a:xfrm>
          <a:prstGeom prst="rect">
            <a:avLst/>
          </a:prstGeom>
          <a:solidFill>
            <a:srgbClr val="F5C78E"/>
          </a:solidFill>
          <a:ln w="12700">
            <a:solidFill>
              <a:srgbClr val="E0B080"/>
            </a:solidFill>
            <a:prstDash val="solid"/>
          </a:ln>
        </p:spPr>
      </p:sp>
      <p:sp>
        <p:nvSpPr>
          <p:cNvPr id="29" name="Text 27"/>
          <p:cNvSpPr/>
          <p:nvPr/>
        </p:nvSpPr>
        <p:spPr>
          <a:xfrm>
            <a:off x="6035040" y="31089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0" name="Shape 28"/>
          <p:cNvSpPr/>
          <p:nvPr/>
        </p:nvSpPr>
        <p:spPr>
          <a:xfrm>
            <a:off x="7205472" y="3108960"/>
            <a:ext cx="1170432" cy="384048"/>
          </a:xfrm>
          <a:prstGeom prst="rect">
            <a:avLst/>
          </a:prstGeom>
          <a:solidFill>
            <a:srgbClr val="F5C78E"/>
          </a:solidFill>
          <a:ln w="12700">
            <a:solidFill>
              <a:srgbClr val="E0B080"/>
            </a:solidFill>
            <a:prstDash val="solid"/>
          </a:ln>
        </p:spPr>
      </p:sp>
      <p:sp>
        <p:nvSpPr>
          <p:cNvPr id="31" name="Text 29"/>
          <p:cNvSpPr/>
          <p:nvPr/>
        </p:nvSpPr>
        <p:spPr>
          <a:xfrm>
            <a:off x="7205472" y="3108960"/>
            <a:ext cx="1170432" cy="384048"/>
          </a:xfrm>
          <a:prstGeom prst="rect">
            <a:avLst/>
          </a:prstGeom>
          <a:noFill/>
          <a:ln/>
        </p:spPr>
        <p:txBody>
          <a:bodyPr wrap="square" lIns="0" tIns="0" rIns="50800" bIns="0" rtlCol="0" anchor="ctr"/>
          <a:lstStyle/>
          <a:p>
            <a:pPr algn="r"/>
            <a:r>
              <a:rPr lang="en-US" sz="1200" dirty="0">
                <a:solidFill>
                  <a:srgbClr val="111111"/>
                </a:solidFill>
              </a:rPr>
              <a:t>50K</a:t>
            </a:r>
            <a:endParaRPr lang="en-US" sz="1200" dirty="0"/>
          </a:p>
        </p:txBody>
      </p:sp>
      <p:sp>
        <p:nvSpPr>
          <p:cNvPr id="32" name="Shape 30"/>
          <p:cNvSpPr/>
          <p:nvPr/>
        </p:nvSpPr>
        <p:spPr>
          <a:xfrm>
            <a:off x="8375904" y="3108960"/>
            <a:ext cx="1170432" cy="384048"/>
          </a:xfrm>
          <a:prstGeom prst="rect">
            <a:avLst/>
          </a:prstGeom>
          <a:solidFill>
            <a:srgbClr val="F5C78E"/>
          </a:solidFill>
          <a:ln w="12700">
            <a:solidFill>
              <a:srgbClr val="E0B080"/>
            </a:solidFill>
            <a:prstDash val="solid"/>
          </a:ln>
        </p:spPr>
      </p:sp>
      <p:sp>
        <p:nvSpPr>
          <p:cNvPr id="33" name="Text 31"/>
          <p:cNvSpPr/>
          <p:nvPr/>
        </p:nvSpPr>
        <p:spPr>
          <a:xfrm>
            <a:off x="8375904" y="3108960"/>
            <a:ext cx="1170432" cy="384048"/>
          </a:xfrm>
          <a:prstGeom prst="rect">
            <a:avLst/>
          </a:prstGeom>
          <a:noFill/>
          <a:ln/>
        </p:spPr>
        <p:txBody>
          <a:bodyPr wrap="square" lIns="0" tIns="0" rIns="50800" bIns="0" rtlCol="0" anchor="ctr"/>
          <a:lstStyle/>
          <a:p>
            <a:pPr algn="r"/>
            <a:r>
              <a:rPr lang="en-US" sz="1200" dirty="0">
                <a:solidFill>
                  <a:srgbClr val="111111"/>
                </a:solidFill>
              </a:rPr>
              <a:t>80K</a:t>
            </a:r>
            <a:endParaRPr lang="en-US" sz="1200" dirty="0"/>
          </a:p>
        </p:txBody>
      </p:sp>
      <p:sp>
        <p:nvSpPr>
          <p:cNvPr id="34" name="Shape 32"/>
          <p:cNvSpPr/>
          <p:nvPr/>
        </p:nvSpPr>
        <p:spPr>
          <a:xfrm>
            <a:off x="9546336" y="3108960"/>
            <a:ext cx="1170432" cy="384048"/>
          </a:xfrm>
          <a:prstGeom prst="rect">
            <a:avLst/>
          </a:prstGeom>
          <a:solidFill>
            <a:srgbClr val="F5C78E"/>
          </a:solidFill>
          <a:ln w="12700">
            <a:solidFill>
              <a:srgbClr val="E0B080"/>
            </a:solidFill>
            <a:prstDash val="solid"/>
          </a:ln>
        </p:spPr>
      </p:sp>
      <p:sp>
        <p:nvSpPr>
          <p:cNvPr id="35" name="Text 33"/>
          <p:cNvSpPr/>
          <p:nvPr/>
        </p:nvSpPr>
        <p:spPr>
          <a:xfrm>
            <a:off x="9546336" y="3108960"/>
            <a:ext cx="1170432" cy="384048"/>
          </a:xfrm>
          <a:prstGeom prst="rect">
            <a:avLst/>
          </a:prstGeom>
          <a:noFill/>
          <a:ln/>
        </p:spPr>
        <p:txBody>
          <a:bodyPr wrap="square" lIns="0" tIns="0" rIns="50800" bIns="0" rtlCol="0" anchor="ctr"/>
          <a:lstStyle/>
          <a:p>
            <a:pPr algn="r"/>
            <a:r>
              <a:rPr lang="en-US" sz="1200" dirty="0">
                <a:solidFill>
                  <a:srgbClr val="111111"/>
                </a:solidFill>
              </a:rPr>
              <a:t>1.2L</a:t>
            </a:r>
            <a:endParaRPr lang="en-US" sz="1200" dirty="0"/>
          </a:p>
        </p:txBody>
      </p:sp>
      <p:sp>
        <p:nvSpPr>
          <p:cNvPr id="36" name="Shape 34"/>
          <p:cNvSpPr/>
          <p:nvPr/>
        </p:nvSpPr>
        <p:spPr>
          <a:xfrm>
            <a:off x="10716768" y="3108960"/>
            <a:ext cx="1170432" cy="384048"/>
          </a:xfrm>
          <a:prstGeom prst="rect">
            <a:avLst/>
          </a:prstGeom>
          <a:solidFill>
            <a:srgbClr val="F5C78E"/>
          </a:solidFill>
          <a:ln w="12700">
            <a:solidFill>
              <a:srgbClr val="E0B080"/>
            </a:solidFill>
            <a:prstDash val="solid"/>
          </a:ln>
        </p:spPr>
      </p:sp>
      <p:sp>
        <p:nvSpPr>
          <p:cNvPr id="37" name="Text 35"/>
          <p:cNvSpPr/>
          <p:nvPr/>
        </p:nvSpPr>
        <p:spPr>
          <a:xfrm>
            <a:off x="10716768" y="3108960"/>
            <a:ext cx="1170432" cy="384048"/>
          </a:xfrm>
          <a:prstGeom prst="rect">
            <a:avLst/>
          </a:prstGeom>
          <a:noFill/>
          <a:ln/>
        </p:spPr>
        <p:txBody>
          <a:bodyPr wrap="square" lIns="0" tIns="0" rIns="50800" bIns="0" rtlCol="0" anchor="ctr"/>
          <a:lstStyle/>
          <a:p>
            <a:pPr algn="r"/>
            <a:r>
              <a:rPr lang="en-US" sz="1200" dirty="0">
                <a:solidFill>
                  <a:srgbClr val="111111"/>
                </a:solidFill>
              </a:rPr>
              <a:t>1.8L</a:t>
            </a:r>
            <a:endParaRPr lang="en-US" sz="1200" dirty="0"/>
          </a:p>
        </p:txBody>
      </p:sp>
      <p:sp>
        <p:nvSpPr>
          <p:cNvPr id="38" name="Shape 36"/>
          <p:cNvSpPr/>
          <p:nvPr/>
        </p:nvSpPr>
        <p:spPr>
          <a:xfrm>
            <a:off x="11887200" y="3108960"/>
            <a:ext cx="1170432" cy="384048"/>
          </a:xfrm>
          <a:prstGeom prst="rect">
            <a:avLst/>
          </a:prstGeom>
          <a:solidFill>
            <a:srgbClr val="F5C78E"/>
          </a:solidFill>
          <a:ln w="12700">
            <a:solidFill>
              <a:srgbClr val="E0B080"/>
            </a:solidFill>
            <a:prstDash val="solid"/>
          </a:ln>
        </p:spPr>
      </p:sp>
      <p:sp>
        <p:nvSpPr>
          <p:cNvPr id="39" name="Text 37"/>
          <p:cNvSpPr/>
          <p:nvPr/>
        </p:nvSpPr>
        <p:spPr>
          <a:xfrm>
            <a:off x="11887200" y="3108960"/>
            <a:ext cx="1170432" cy="384048"/>
          </a:xfrm>
          <a:prstGeom prst="rect">
            <a:avLst/>
          </a:prstGeom>
          <a:noFill/>
          <a:ln/>
        </p:spPr>
        <p:txBody>
          <a:bodyPr wrap="square" lIns="0" tIns="0" rIns="50800" bIns="0" rtlCol="0" anchor="ctr"/>
          <a:lstStyle/>
          <a:p>
            <a:pPr algn="r"/>
            <a:r>
              <a:rPr lang="en-US" sz="1200" dirty="0">
                <a:solidFill>
                  <a:srgbClr val="111111"/>
                </a:solidFill>
              </a:rPr>
              <a:t>2.5L</a:t>
            </a:r>
            <a:endParaRPr lang="en-US" sz="1200" dirty="0"/>
          </a:p>
        </p:txBody>
      </p:sp>
      <p:sp>
        <p:nvSpPr>
          <p:cNvPr id="40" name="Shape 38"/>
          <p:cNvSpPr/>
          <p:nvPr/>
        </p:nvSpPr>
        <p:spPr>
          <a:xfrm>
            <a:off x="13057632" y="3108960"/>
            <a:ext cx="1170432" cy="384048"/>
          </a:xfrm>
          <a:prstGeom prst="rect">
            <a:avLst/>
          </a:prstGeom>
          <a:solidFill>
            <a:srgbClr val="F5C78E"/>
          </a:solidFill>
          <a:ln w="12700">
            <a:solidFill>
              <a:srgbClr val="E0B080"/>
            </a:solidFill>
            <a:prstDash val="solid"/>
          </a:ln>
        </p:spPr>
      </p:sp>
      <p:sp>
        <p:nvSpPr>
          <p:cNvPr id="41" name="Text 39"/>
          <p:cNvSpPr/>
          <p:nvPr/>
        </p:nvSpPr>
        <p:spPr>
          <a:xfrm>
            <a:off x="13057632" y="3108960"/>
            <a:ext cx="1170432" cy="384048"/>
          </a:xfrm>
          <a:prstGeom prst="rect">
            <a:avLst/>
          </a:prstGeom>
          <a:noFill/>
          <a:ln/>
        </p:spPr>
        <p:txBody>
          <a:bodyPr wrap="square" lIns="0" tIns="0" rIns="50800" bIns="0" rtlCol="0" anchor="ctr"/>
          <a:lstStyle/>
          <a:p>
            <a:pPr algn="r"/>
            <a:r>
              <a:rPr lang="en-US" sz="1200" dirty="0">
                <a:solidFill>
                  <a:srgbClr val="111111"/>
                </a:solidFill>
              </a:rPr>
              <a:t>3.5L</a:t>
            </a:r>
            <a:endParaRPr lang="en-US" sz="1200" dirty="0"/>
          </a:p>
        </p:txBody>
      </p:sp>
      <p:sp>
        <p:nvSpPr>
          <p:cNvPr id="42" name="Shape 40"/>
          <p:cNvSpPr/>
          <p:nvPr/>
        </p:nvSpPr>
        <p:spPr>
          <a:xfrm>
            <a:off x="14228064" y="3108960"/>
            <a:ext cx="1170432" cy="384048"/>
          </a:xfrm>
          <a:prstGeom prst="rect">
            <a:avLst/>
          </a:prstGeom>
          <a:solidFill>
            <a:srgbClr val="F5C78E"/>
          </a:solidFill>
          <a:ln w="12700">
            <a:solidFill>
              <a:srgbClr val="E0B080"/>
            </a:solidFill>
            <a:prstDash val="solid"/>
          </a:ln>
        </p:spPr>
      </p:sp>
      <p:sp>
        <p:nvSpPr>
          <p:cNvPr id="43" name="Text 41"/>
          <p:cNvSpPr/>
          <p:nvPr/>
        </p:nvSpPr>
        <p:spPr>
          <a:xfrm>
            <a:off x="14228064" y="3108960"/>
            <a:ext cx="1170432" cy="384048"/>
          </a:xfrm>
          <a:prstGeom prst="rect">
            <a:avLst/>
          </a:prstGeom>
          <a:noFill/>
          <a:ln/>
        </p:spPr>
        <p:txBody>
          <a:bodyPr wrap="square" lIns="0" tIns="0" rIns="50800" bIns="0" rtlCol="0" anchor="ctr"/>
          <a:lstStyle/>
          <a:p>
            <a:pPr algn="r"/>
            <a:r>
              <a:rPr lang="en-US" sz="1200" dirty="0">
                <a:solidFill>
                  <a:srgbClr val="111111"/>
                </a:solidFill>
              </a:rPr>
              <a:t>4.3L</a:t>
            </a:r>
            <a:endParaRPr lang="en-US" sz="1200" dirty="0"/>
          </a:p>
        </p:txBody>
      </p:sp>
      <p:sp>
        <p:nvSpPr>
          <p:cNvPr id="44" name="Shape 42"/>
          <p:cNvSpPr/>
          <p:nvPr/>
        </p:nvSpPr>
        <p:spPr>
          <a:xfrm>
            <a:off x="15398496" y="3108960"/>
            <a:ext cx="1170432" cy="384048"/>
          </a:xfrm>
          <a:prstGeom prst="rect">
            <a:avLst/>
          </a:prstGeom>
          <a:solidFill>
            <a:srgbClr val="F5C78E"/>
          </a:solidFill>
          <a:ln w="12700">
            <a:solidFill>
              <a:srgbClr val="E0B080"/>
            </a:solidFill>
            <a:prstDash val="solid"/>
          </a:ln>
        </p:spPr>
      </p:sp>
      <p:sp>
        <p:nvSpPr>
          <p:cNvPr id="45" name="Text 43"/>
          <p:cNvSpPr/>
          <p:nvPr/>
        </p:nvSpPr>
        <p:spPr>
          <a:xfrm>
            <a:off x="15398496" y="3108960"/>
            <a:ext cx="1170432" cy="384048"/>
          </a:xfrm>
          <a:prstGeom prst="rect">
            <a:avLst/>
          </a:prstGeom>
          <a:noFill/>
          <a:ln/>
        </p:spPr>
        <p:txBody>
          <a:bodyPr wrap="square" lIns="0" tIns="0" rIns="50800" bIns="0" rtlCol="0" anchor="ctr"/>
          <a:lstStyle/>
          <a:p>
            <a:pPr algn="r"/>
            <a:r>
              <a:rPr lang="en-US" sz="1200" dirty="0">
                <a:solidFill>
                  <a:srgbClr val="111111"/>
                </a:solidFill>
              </a:rPr>
              <a:t>5.0L</a:t>
            </a:r>
            <a:endParaRPr lang="en-US" sz="1200" dirty="0"/>
          </a:p>
        </p:txBody>
      </p:sp>
      <p:sp>
        <p:nvSpPr>
          <p:cNvPr id="46" name="Shape 44"/>
          <p:cNvSpPr/>
          <p:nvPr/>
        </p:nvSpPr>
        <p:spPr>
          <a:xfrm>
            <a:off x="16568928" y="3108960"/>
            <a:ext cx="1170432" cy="384048"/>
          </a:xfrm>
          <a:prstGeom prst="rect">
            <a:avLst/>
          </a:prstGeom>
          <a:solidFill>
            <a:srgbClr val="F5C78E"/>
          </a:solidFill>
          <a:ln w="12700">
            <a:solidFill>
              <a:srgbClr val="E0B080"/>
            </a:solidFill>
            <a:prstDash val="solid"/>
          </a:ln>
        </p:spPr>
      </p:sp>
      <p:sp>
        <p:nvSpPr>
          <p:cNvPr id="47" name="Text 45"/>
          <p:cNvSpPr/>
          <p:nvPr/>
        </p:nvSpPr>
        <p:spPr>
          <a:xfrm>
            <a:off x="16568928" y="3108960"/>
            <a:ext cx="1170432" cy="384048"/>
          </a:xfrm>
          <a:prstGeom prst="rect">
            <a:avLst/>
          </a:prstGeom>
          <a:noFill/>
          <a:ln/>
        </p:spPr>
        <p:txBody>
          <a:bodyPr wrap="square" lIns="0" tIns="0" rIns="50800" bIns="0" rtlCol="0" anchor="ctr"/>
          <a:lstStyle/>
          <a:p>
            <a:pPr algn="r"/>
            <a:r>
              <a:rPr lang="en-US" sz="1200" dirty="0">
                <a:solidFill>
                  <a:srgbClr val="111111"/>
                </a:solidFill>
              </a:rPr>
              <a:t>6.0L</a:t>
            </a:r>
            <a:endParaRPr lang="en-US" sz="1200" dirty="0"/>
          </a:p>
        </p:txBody>
      </p:sp>
      <p:sp>
        <p:nvSpPr>
          <p:cNvPr id="48" name="Shape 46"/>
          <p:cNvSpPr/>
          <p:nvPr/>
        </p:nvSpPr>
        <p:spPr>
          <a:xfrm>
            <a:off x="17739360" y="3108960"/>
            <a:ext cx="1170432" cy="384048"/>
          </a:xfrm>
          <a:prstGeom prst="rect">
            <a:avLst/>
          </a:prstGeom>
          <a:solidFill>
            <a:srgbClr val="F5C78E"/>
          </a:solidFill>
          <a:ln w="12700">
            <a:solidFill>
              <a:srgbClr val="E0B080"/>
            </a:solidFill>
            <a:prstDash val="solid"/>
          </a:ln>
        </p:spPr>
      </p:sp>
      <p:sp>
        <p:nvSpPr>
          <p:cNvPr id="49" name="Text 47"/>
          <p:cNvSpPr/>
          <p:nvPr/>
        </p:nvSpPr>
        <p:spPr>
          <a:xfrm>
            <a:off x="17739360" y="3108960"/>
            <a:ext cx="1170432" cy="384048"/>
          </a:xfrm>
          <a:prstGeom prst="rect">
            <a:avLst/>
          </a:prstGeom>
          <a:noFill/>
          <a:ln/>
        </p:spPr>
        <p:txBody>
          <a:bodyPr wrap="square" lIns="0" tIns="0" rIns="50800" bIns="0" rtlCol="0" anchor="ctr"/>
          <a:lstStyle/>
          <a:p>
            <a:pPr algn="r"/>
            <a:r>
              <a:rPr lang="en-US" sz="1200" dirty="0">
                <a:solidFill>
                  <a:srgbClr val="111111"/>
                </a:solidFill>
              </a:rPr>
              <a:t>25.6L</a:t>
            </a:r>
            <a:endParaRPr lang="en-US" sz="1200" dirty="0"/>
          </a:p>
        </p:txBody>
      </p:sp>
      <p:sp>
        <p:nvSpPr>
          <p:cNvPr id="50" name="Shape 48"/>
          <p:cNvSpPr/>
          <p:nvPr/>
        </p:nvSpPr>
        <p:spPr>
          <a:xfrm>
            <a:off x="548640" y="3493008"/>
            <a:ext cx="3145536" cy="384048"/>
          </a:xfrm>
          <a:prstGeom prst="rect">
            <a:avLst/>
          </a:prstGeom>
          <a:solidFill>
            <a:srgbClr val="FDE9C8"/>
          </a:solidFill>
          <a:ln w="12700">
            <a:solidFill>
              <a:srgbClr val="E0B080"/>
            </a:solidFill>
            <a:prstDash val="solid"/>
          </a:ln>
        </p:spPr>
      </p:sp>
      <p:sp>
        <p:nvSpPr>
          <p:cNvPr id="51" name="Text 49"/>
          <p:cNvSpPr/>
          <p:nvPr/>
        </p:nvSpPr>
        <p:spPr>
          <a:xfrm>
            <a:off x="621792" y="3493008"/>
            <a:ext cx="3035808" cy="384048"/>
          </a:xfrm>
          <a:prstGeom prst="rect">
            <a:avLst/>
          </a:prstGeom>
          <a:noFill/>
          <a:ln/>
        </p:spPr>
        <p:txBody>
          <a:bodyPr wrap="square" rtlCol="0" anchor="ctr"/>
          <a:lstStyle/>
          <a:p>
            <a:r>
              <a:rPr lang="en-US" sz="1300" dirty="0">
                <a:solidFill>
                  <a:srgbClr val="111111"/>
                </a:solidFill>
              </a:rPr>
              <a:t>Collections – accounts receivable</a:t>
            </a:r>
            <a:endParaRPr lang="en-US" sz="1300" dirty="0"/>
          </a:p>
        </p:txBody>
      </p:sp>
      <p:sp>
        <p:nvSpPr>
          <p:cNvPr id="52" name="Shape 50"/>
          <p:cNvSpPr/>
          <p:nvPr/>
        </p:nvSpPr>
        <p:spPr>
          <a:xfrm>
            <a:off x="3694176" y="3493008"/>
            <a:ext cx="1170432" cy="384048"/>
          </a:xfrm>
          <a:prstGeom prst="rect">
            <a:avLst/>
          </a:prstGeom>
          <a:solidFill>
            <a:srgbClr val="FDE9C8"/>
          </a:solidFill>
          <a:ln w="12700">
            <a:solidFill>
              <a:srgbClr val="E0B080"/>
            </a:solidFill>
            <a:prstDash val="solid"/>
          </a:ln>
        </p:spPr>
      </p:sp>
      <p:sp>
        <p:nvSpPr>
          <p:cNvPr id="53" name="Text 51"/>
          <p:cNvSpPr/>
          <p:nvPr/>
        </p:nvSpPr>
        <p:spPr>
          <a:xfrm>
            <a:off x="3694176"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54" name="Shape 52"/>
          <p:cNvSpPr/>
          <p:nvPr/>
        </p:nvSpPr>
        <p:spPr>
          <a:xfrm>
            <a:off x="4864608" y="3493008"/>
            <a:ext cx="1170432" cy="384048"/>
          </a:xfrm>
          <a:prstGeom prst="rect">
            <a:avLst/>
          </a:prstGeom>
          <a:solidFill>
            <a:srgbClr val="FDE9C8"/>
          </a:solidFill>
          <a:ln w="12700">
            <a:solidFill>
              <a:srgbClr val="E0B080"/>
            </a:solidFill>
            <a:prstDash val="solid"/>
          </a:ln>
        </p:spPr>
      </p:sp>
      <p:sp>
        <p:nvSpPr>
          <p:cNvPr id="55" name="Text 53"/>
          <p:cNvSpPr/>
          <p:nvPr/>
        </p:nvSpPr>
        <p:spPr>
          <a:xfrm>
            <a:off x="4864608"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56" name="Shape 54"/>
          <p:cNvSpPr/>
          <p:nvPr/>
        </p:nvSpPr>
        <p:spPr>
          <a:xfrm>
            <a:off x="6035040" y="3493008"/>
            <a:ext cx="1170432" cy="384048"/>
          </a:xfrm>
          <a:prstGeom prst="rect">
            <a:avLst/>
          </a:prstGeom>
          <a:solidFill>
            <a:srgbClr val="FDE9C8"/>
          </a:solidFill>
          <a:ln w="12700">
            <a:solidFill>
              <a:srgbClr val="E0B080"/>
            </a:solidFill>
            <a:prstDash val="solid"/>
          </a:ln>
        </p:spPr>
      </p:sp>
      <p:sp>
        <p:nvSpPr>
          <p:cNvPr id="57" name="Text 55"/>
          <p:cNvSpPr/>
          <p:nvPr/>
        </p:nvSpPr>
        <p:spPr>
          <a:xfrm>
            <a:off x="6035040"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58" name="Shape 56"/>
          <p:cNvSpPr/>
          <p:nvPr/>
        </p:nvSpPr>
        <p:spPr>
          <a:xfrm>
            <a:off x="7205472" y="3493008"/>
            <a:ext cx="1170432" cy="384048"/>
          </a:xfrm>
          <a:prstGeom prst="rect">
            <a:avLst/>
          </a:prstGeom>
          <a:solidFill>
            <a:srgbClr val="FDE9C8"/>
          </a:solidFill>
          <a:ln w="12700">
            <a:solidFill>
              <a:srgbClr val="E0B080"/>
            </a:solidFill>
            <a:prstDash val="solid"/>
          </a:ln>
        </p:spPr>
      </p:sp>
      <p:sp>
        <p:nvSpPr>
          <p:cNvPr id="59" name="Text 57"/>
          <p:cNvSpPr/>
          <p:nvPr/>
        </p:nvSpPr>
        <p:spPr>
          <a:xfrm>
            <a:off x="7205472"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60" name="Shape 58"/>
          <p:cNvSpPr/>
          <p:nvPr/>
        </p:nvSpPr>
        <p:spPr>
          <a:xfrm>
            <a:off x="8375904" y="3493008"/>
            <a:ext cx="1170432" cy="384048"/>
          </a:xfrm>
          <a:prstGeom prst="rect">
            <a:avLst/>
          </a:prstGeom>
          <a:solidFill>
            <a:srgbClr val="FDE9C8"/>
          </a:solidFill>
          <a:ln w="12700">
            <a:solidFill>
              <a:srgbClr val="E0B080"/>
            </a:solidFill>
            <a:prstDash val="solid"/>
          </a:ln>
        </p:spPr>
      </p:sp>
      <p:sp>
        <p:nvSpPr>
          <p:cNvPr id="61" name="Text 59"/>
          <p:cNvSpPr/>
          <p:nvPr/>
        </p:nvSpPr>
        <p:spPr>
          <a:xfrm>
            <a:off x="8375904"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62" name="Shape 60"/>
          <p:cNvSpPr/>
          <p:nvPr/>
        </p:nvSpPr>
        <p:spPr>
          <a:xfrm>
            <a:off x="9546336" y="3493008"/>
            <a:ext cx="1170432" cy="384048"/>
          </a:xfrm>
          <a:prstGeom prst="rect">
            <a:avLst/>
          </a:prstGeom>
          <a:solidFill>
            <a:srgbClr val="FDE9C8"/>
          </a:solidFill>
          <a:ln w="12700">
            <a:solidFill>
              <a:srgbClr val="E0B080"/>
            </a:solidFill>
            <a:prstDash val="solid"/>
          </a:ln>
        </p:spPr>
      </p:sp>
      <p:sp>
        <p:nvSpPr>
          <p:cNvPr id="63" name="Text 61"/>
          <p:cNvSpPr/>
          <p:nvPr/>
        </p:nvSpPr>
        <p:spPr>
          <a:xfrm>
            <a:off x="9546336"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64" name="Shape 62"/>
          <p:cNvSpPr/>
          <p:nvPr/>
        </p:nvSpPr>
        <p:spPr>
          <a:xfrm>
            <a:off x="10716768" y="3493008"/>
            <a:ext cx="1170432" cy="384048"/>
          </a:xfrm>
          <a:prstGeom prst="rect">
            <a:avLst/>
          </a:prstGeom>
          <a:solidFill>
            <a:srgbClr val="FDE9C8"/>
          </a:solidFill>
          <a:ln w="12700">
            <a:solidFill>
              <a:srgbClr val="E0B080"/>
            </a:solidFill>
            <a:prstDash val="solid"/>
          </a:ln>
        </p:spPr>
      </p:sp>
      <p:sp>
        <p:nvSpPr>
          <p:cNvPr id="65" name="Text 63"/>
          <p:cNvSpPr/>
          <p:nvPr/>
        </p:nvSpPr>
        <p:spPr>
          <a:xfrm>
            <a:off x="10716768"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66" name="Shape 64"/>
          <p:cNvSpPr/>
          <p:nvPr/>
        </p:nvSpPr>
        <p:spPr>
          <a:xfrm>
            <a:off x="11887200" y="3493008"/>
            <a:ext cx="1170432" cy="384048"/>
          </a:xfrm>
          <a:prstGeom prst="rect">
            <a:avLst/>
          </a:prstGeom>
          <a:solidFill>
            <a:srgbClr val="FDE9C8"/>
          </a:solidFill>
          <a:ln w="12700">
            <a:solidFill>
              <a:srgbClr val="E0B080"/>
            </a:solidFill>
            <a:prstDash val="solid"/>
          </a:ln>
        </p:spPr>
      </p:sp>
      <p:sp>
        <p:nvSpPr>
          <p:cNvPr id="67" name="Text 65"/>
          <p:cNvSpPr/>
          <p:nvPr/>
        </p:nvSpPr>
        <p:spPr>
          <a:xfrm>
            <a:off x="11887200"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68" name="Shape 66"/>
          <p:cNvSpPr/>
          <p:nvPr/>
        </p:nvSpPr>
        <p:spPr>
          <a:xfrm>
            <a:off x="13057632" y="3493008"/>
            <a:ext cx="1170432" cy="384048"/>
          </a:xfrm>
          <a:prstGeom prst="rect">
            <a:avLst/>
          </a:prstGeom>
          <a:solidFill>
            <a:srgbClr val="FDE9C8"/>
          </a:solidFill>
          <a:ln w="12700">
            <a:solidFill>
              <a:srgbClr val="E0B080"/>
            </a:solidFill>
            <a:prstDash val="solid"/>
          </a:ln>
        </p:spPr>
      </p:sp>
      <p:sp>
        <p:nvSpPr>
          <p:cNvPr id="69" name="Text 67"/>
          <p:cNvSpPr/>
          <p:nvPr/>
        </p:nvSpPr>
        <p:spPr>
          <a:xfrm>
            <a:off x="13057632"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70" name="Shape 68"/>
          <p:cNvSpPr/>
          <p:nvPr/>
        </p:nvSpPr>
        <p:spPr>
          <a:xfrm>
            <a:off x="14228064" y="3493008"/>
            <a:ext cx="1170432" cy="384048"/>
          </a:xfrm>
          <a:prstGeom prst="rect">
            <a:avLst/>
          </a:prstGeom>
          <a:solidFill>
            <a:srgbClr val="FDE9C8"/>
          </a:solidFill>
          <a:ln w="12700">
            <a:solidFill>
              <a:srgbClr val="E0B080"/>
            </a:solidFill>
            <a:prstDash val="solid"/>
          </a:ln>
        </p:spPr>
      </p:sp>
      <p:sp>
        <p:nvSpPr>
          <p:cNvPr id="71" name="Text 69"/>
          <p:cNvSpPr/>
          <p:nvPr/>
        </p:nvSpPr>
        <p:spPr>
          <a:xfrm>
            <a:off x="14228064"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72" name="Shape 70"/>
          <p:cNvSpPr/>
          <p:nvPr/>
        </p:nvSpPr>
        <p:spPr>
          <a:xfrm>
            <a:off x="15398496" y="3493008"/>
            <a:ext cx="1170432" cy="384048"/>
          </a:xfrm>
          <a:prstGeom prst="rect">
            <a:avLst/>
          </a:prstGeom>
          <a:solidFill>
            <a:srgbClr val="FDE9C8"/>
          </a:solidFill>
          <a:ln w="12700">
            <a:solidFill>
              <a:srgbClr val="E0B080"/>
            </a:solidFill>
            <a:prstDash val="solid"/>
          </a:ln>
        </p:spPr>
      </p:sp>
      <p:sp>
        <p:nvSpPr>
          <p:cNvPr id="73" name="Text 71"/>
          <p:cNvSpPr/>
          <p:nvPr/>
        </p:nvSpPr>
        <p:spPr>
          <a:xfrm>
            <a:off x="15398496"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74" name="Shape 72"/>
          <p:cNvSpPr/>
          <p:nvPr/>
        </p:nvSpPr>
        <p:spPr>
          <a:xfrm>
            <a:off x="16568928" y="3493008"/>
            <a:ext cx="1170432" cy="384048"/>
          </a:xfrm>
          <a:prstGeom prst="rect">
            <a:avLst/>
          </a:prstGeom>
          <a:solidFill>
            <a:srgbClr val="FDE9C8"/>
          </a:solidFill>
          <a:ln w="12700">
            <a:solidFill>
              <a:srgbClr val="E0B080"/>
            </a:solidFill>
            <a:prstDash val="solid"/>
          </a:ln>
        </p:spPr>
      </p:sp>
      <p:sp>
        <p:nvSpPr>
          <p:cNvPr id="75" name="Text 73"/>
          <p:cNvSpPr/>
          <p:nvPr/>
        </p:nvSpPr>
        <p:spPr>
          <a:xfrm>
            <a:off x="16568928"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76" name="Shape 74"/>
          <p:cNvSpPr/>
          <p:nvPr/>
        </p:nvSpPr>
        <p:spPr>
          <a:xfrm>
            <a:off x="17739360" y="3493008"/>
            <a:ext cx="1170432" cy="384048"/>
          </a:xfrm>
          <a:prstGeom prst="rect">
            <a:avLst/>
          </a:prstGeom>
          <a:solidFill>
            <a:srgbClr val="FDE9C8"/>
          </a:solidFill>
          <a:ln w="12700">
            <a:solidFill>
              <a:srgbClr val="E0B080"/>
            </a:solidFill>
            <a:prstDash val="solid"/>
          </a:ln>
        </p:spPr>
      </p:sp>
      <p:sp>
        <p:nvSpPr>
          <p:cNvPr id="77" name="Text 75"/>
          <p:cNvSpPr/>
          <p:nvPr/>
        </p:nvSpPr>
        <p:spPr>
          <a:xfrm>
            <a:off x="17739360" y="34930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78" name="Shape 76"/>
          <p:cNvSpPr/>
          <p:nvPr/>
        </p:nvSpPr>
        <p:spPr>
          <a:xfrm>
            <a:off x="548640" y="3877056"/>
            <a:ext cx="3145536" cy="384048"/>
          </a:xfrm>
          <a:prstGeom prst="rect">
            <a:avLst/>
          </a:prstGeom>
          <a:solidFill>
            <a:srgbClr val="F5C78E"/>
          </a:solidFill>
          <a:ln w="12700">
            <a:solidFill>
              <a:srgbClr val="E0B080"/>
            </a:solidFill>
            <a:prstDash val="solid"/>
          </a:ln>
        </p:spPr>
      </p:sp>
      <p:sp>
        <p:nvSpPr>
          <p:cNvPr id="79" name="Text 77"/>
          <p:cNvSpPr/>
          <p:nvPr/>
        </p:nvSpPr>
        <p:spPr>
          <a:xfrm>
            <a:off x="621792" y="3877056"/>
            <a:ext cx="3035808" cy="384048"/>
          </a:xfrm>
          <a:prstGeom prst="rect">
            <a:avLst/>
          </a:prstGeom>
          <a:noFill/>
          <a:ln/>
        </p:spPr>
        <p:txBody>
          <a:bodyPr wrap="square" rtlCol="0" anchor="ctr"/>
          <a:lstStyle/>
          <a:p>
            <a:r>
              <a:rPr lang="en-US" sz="1300" dirty="0">
                <a:solidFill>
                  <a:srgbClr val="111111"/>
                </a:solidFill>
              </a:rPr>
              <a:t>Other cash receipts (Garage B2B)</a:t>
            </a:r>
            <a:endParaRPr lang="en-US" sz="1300" dirty="0"/>
          </a:p>
        </p:txBody>
      </p:sp>
      <p:sp>
        <p:nvSpPr>
          <p:cNvPr id="80" name="Shape 78"/>
          <p:cNvSpPr/>
          <p:nvPr/>
        </p:nvSpPr>
        <p:spPr>
          <a:xfrm>
            <a:off x="3694176" y="3877056"/>
            <a:ext cx="1170432" cy="384048"/>
          </a:xfrm>
          <a:prstGeom prst="rect">
            <a:avLst/>
          </a:prstGeom>
          <a:solidFill>
            <a:srgbClr val="F5C78E"/>
          </a:solidFill>
          <a:ln w="12700">
            <a:solidFill>
              <a:srgbClr val="E0B080"/>
            </a:solidFill>
            <a:prstDash val="solid"/>
          </a:ln>
        </p:spPr>
      </p:sp>
      <p:sp>
        <p:nvSpPr>
          <p:cNvPr id="81" name="Text 79"/>
          <p:cNvSpPr/>
          <p:nvPr/>
        </p:nvSpPr>
        <p:spPr>
          <a:xfrm>
            <a:off x="3694176" y="387705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82" name="Shape 80"/>
          <p:cNvSpPr/>
          <p:nvPr/>
        </p:nvSpPr>
        <p:spPr>
          <a:xfrm>
            <a:off x="4864608" y="3877056"/>
            <a:ext cx="1170432" cy="384048"/>
          </a:xfrm>
          <a:prstGeom prst="rect">
            <a:avLst/>
          </a:prstGeom>
          <a:solidFill>
            <a:srgbClr val="F5C78E"/>
          </a:solidFill>
          <a:ln w="12700">
            <a:solidFill>
              <a:srgbClr val="E0B080"/>
            </a:solidFill>
            <a:prstDash val="solid"/>
          </a:ln>
        </p:spPr>
      </p:sp>
      <p:sp>
        <p:nvSpPr>
          <p:cNvPr id="83" name="Text 81"/>
          <p:cNvSpPr/>
          <p:nvPr/>
        </p:nvSpPr>
        <p:spPr>
          <a:xfrm>
            <a:off x="4864608" y="387705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84" name="Shape 82"/>
          <p:cNvSpPr/>
          <p:nvPr/>
        </p:nvSpPr>
        <p:spPr>
          <a:xfrm>
            <a:off x="6035040" y="3877056"/>
            <a:ext cx="1170432" cy="384048"/>
          </a:xfrm>
          <a:prstGeom prst="rect">
            <a:avLst/>
          </a:prstGeom>
          <a:solidFill>
            <a:srgbClr val="F5C78E"/>
          </a:solidFill>
          <a:ln w="12700">
            <a:solidFill>
              <a:srgbClr val="E0B080"/>
            </a:solidFill>
            <a:prstDash val="solid"/>
          </a:ln>
        </p:spPr>
      </p:sp>
      <p:sp>
        <p:nvSpPr>
          <p:cNvPr id="85" name="Text 83"/>
          <p:cNvSpPr/>
          <p:nvPr/>
        </p:nvSpPr>
        <p:spPr>
          <a:xfrm>
            <a:off x="6035040" y="387705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86" name="Shape 84"/>
          <p:cNvSpPr/>
          <p:nvPr/>
        </p:nvSpPr>
        <p:spPr>
          <a:xfrm>
            <a:off x="7205472" y="3877056"/>
            <a:ext cx="1170432" cy="384048"/>
          </a:xfrm>
          <a:prstGeom prst="rect">
            <a:avLst/>
          </a:prstGeom>
          <a:solidFill>
            <a:srgbClr val="F5C78E"/>
          </a:solidFill>
          <a:ln w="12700">
            <a:solidFill>
              <a:srgbClr val="E0B080"/>
            </a:solidFill>
            <a:prstDash val="solid"/>
          </a:ln>
        </p:spPr>
      </p:sp>
      <p:sp>
        <p:nvSpPr>
          <p:cNvPr id="87" name="Text 85"/>
          <p:cNvSpPr/>
          <p:nvPr/>
        </p:nvSpPr>
        <p:spPr>
          <a:xfrm>
            <a:off x="7205472" y="3877056"/>
            <a:ext cx="1170432" cy="384048"/>
          </a:xfrm>
          <a:prstGeom prst="rect">
            <a:avLst/>
          </a:prstGeom>
          <a:noFill/>
          <a:ln/>
        </p:spPr>
        <p:txBody>
          <a:bodyPr wrap="square" lIns="0" tIns="0" rIns="50800" bIns="0" rtlCol="0" anchor="ctr"/>
          <a:lstStyle/>
          <a:p>
            <a:pPr algn="r"/>
            <a:r>
              <a:rPr lang="en-US" sz="1200" dirty="0">
                <a:solidFill>
                  <a:srgbClr val="111111"/>
                </a:solidFill>
              </a:rPr>
              <a:t>13K</a:t>
            </a:r>
            <a:endParaRPr lang="en-US" sz="1200" dirty="0"/>
          </a:p>
        </p:txBody>
      </p:sp>
      <p:sp>
        <p:nvSpPr>
          <p:cNvPr id="88" name="Shape 86"/>
          <p:cNvSpPr/>
          <p:nvPr/>
        </p:nvSpPr>
        <p:spPr>
          <a:xfrm>
            <a:off x="8375904" y="3877056"/>
            <a:ext cx="1170432" cy="384048"/>
          </a:xfrm>
          <a:prstGeom prst="rect">
            <a:avLst/>
          </a:prstGeom>
          <a:solidFill>
            <a:srgbClr val="F5C78E"/>
          </a:solidFill>
          <a:ln w="12700">
            <a:solidFill>
              <a:srgbClr val="E0B080"/>
            </a:solidFill>
            <a:prstDash val="solid"/>
          </a:ln>
        </p:spPr>
      </p:sp>
      <p:sp>
        <p:nvSpPr>
          <p:cNvPr id="89" name="Text 87"/>
          <p:cNvSpPr/>
          <p:nvPr/>
        </p:nvSpPr>
        <p:spPr>
          <a:xfrm>
            <a:off x="8375904" y="3877056"/>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90" name="Shape 88"/>
          <p:cNvSpPr/>
          <p:nvPr/>
        </p:nvSpPr>
        <p:spPr>
          <a:xfrm>
            <a:off x="9546336" y="3877056"/>
            <a:ext cx="1170432" cy="384048"/>
          </a:xfrm>
          <a:prstGeom prst="rect">
            <a:avLst/>
          </a:prstGeom>
          <a:solidFill>
            <a:srgbClr val="F5C78E"/>
          </a:solidFill>
          <a:ln w="12700">
            <a:solidFill>
              <a:srgbClr val="E0B080"/>
            </a:solidFill>
            <a:prstDash val="solid"/>
          </a:ln>
        </p:spPr>
      </p:sp>
      <p:sp>
        <p:nvSpPr>
          <p:cNvPr id="91" name="Text 89"/>
          <p:cNvSpPr/>
          <p:nvPr/>
        </p:nvSpPr>
        <p:spPr>
          <a:xfrm>
            <a:off x="9546336" y="3877056"/>
            <a:ext cx="1170432" cy="384048"/>
          </a:xfrm>
          <a:prstGeom prst="rect">
            <a:avLst/>
          </a:prstGeom>
          <a:noFill/>
          <a:ln/>
        </p:spPr>
        <p:txBody>
          <a:bodyPr wrap="square" lIns="0" tIns="0" rIns="50800" bIns="0" rtlCol="0" anchor="ctr"/>
          <a:lstStyle/>
          <a:p>
            <a:pPr algn="r"/>
            <a:r>
              <a:rPr lang="en-US" sz="1200" dirty="0">
                <a:solidFill>
                  <a:srgbClr val="111111"/>
                </a:solidFill>
              </a:rPr>
              <a:t>30K</a:t>
            </a:r>
            <a:endParaRPr lang="en-US" sz="1200" dirty="0"/>
          </a:p>
        </p:txBody>
      </p:sp>
      <p:sp>
        <p:nvSpPr>
          <p:cNvPr id="92" name="Shape 90"/>
          <p:cNvSpPr/>
          <p:nvPr/>
        </p:nvSpPr>
        <p:spPr>
          <a:xfrm>
            <a:off x="10716768" y="3877056"/>
            <a:ext cx="1170432" cy="384048"/>
          </a:xfrm>
          <a:prstGeom prst="rect">
            <a:avLst/>
          </a:prstGeom>
          <a:solidFill>
            <a:srgbClr val="F5C78E"/>
          </a:solidFill>
          <a:ln w="12700">
            <a:solidFill>
              <a:srgbClr val="E0B080"/>
            </a:solidFill>
            <a:prstDash val="solid"/>
          </a:ln>
        </p:spPr>
      </p:sp>
      <p:sp>
        <p:nvSpPr>
          <p:cNvPr id="93" name="Text 91"/>
          <p:cNvSpPr/>
          <p:nvPr/>
        </p:nvSpPr>
        <p:spPr>
          <a:xfrm>
            <a:off x="10716768" y="3877056"/>
            <a:ext cx="1170432" cy="384048"/>
          </a:xfrm>
          <a:prstGeom prst="rect">
            <a:avLst/>
          </a:prstGeom>
          <a:noFill/>
          <a:ln/>
        </p:spPr>
        <p:txBody>
          <a:bodyPr wrap="square" lIns="0" tIns="0" rIns="50800" bIns="0" rtlCol="0" anchor="ctr"/>
          <a:lstStyle/>
          <a:p>
            <a:pPr algn="r"/>
            <a:r>
              <a:rPr lang="en-US" sz="1200" dirty="0">
                <a:solidFill>
                  <a:srgbClr val="111111"/>
                </a:solidFill>
              </a:rPr>
              <a:t>45K</a:t>
            </a:r>
            <a:endParaRPr lang="en-US" sz="1200" dirty="0"/>
          </a:p>
        </p:txBody>
      </p:sp>
      <p:sp>
        <p:nvSpPr>
          <p:cNvPr id="94" name="Shape 92"/>
          <p:cNvSpPr/>
          <p:nvPr/>
        </p:nvSpPr>
        <p:spPr>
          <a:xfrm>
            <a:off x="11887200" y="3877056"/>
            <a:ext cx="1170432" cy="384048"/>
          </a:xfrm>
          <a:prstGeom prst="rect">
            <a:avLst/>
          </a:prstGeom>
          <a:solidFill>
            <a:srgbClr val="F5C78E"/>
          </a:solidFill>
          <a:ln w="12700">
            <a:solidFill>
              <a:srgbClr val="E0B080"/>
            </a:solidFill>
            <a:prstDash val="solid"/>
          </a:ln>
        </p:spPr>
      </p:sp>
      <p:sp>
        <p:nvSpPr>
          <p:cNvPr id="95" name="Text 93"/>
          <p:cNvSpPr/>
          <p:nvPr/>
        </p:nvSpPr>
        <p:spPr>
          <a:xfrm>
            <a:off x="11887200" y="3877056"/>
            <a:ext cx="1170432" cy="384048"/>
          </a:xfrm>
          <a:prstGeom prst="rect">
            <a:avLst/>
          </a:prstGeom>
          <a:noFill/>
          <a:ln/>
        </p:spPr>
        <p:txBody>
          <a:bodyPr wrap="square" lIns="0" tIns="0" rIns="50800" bIns="0" rtlCol="0" anchor="ctr"/>
          <a:lstStyle/>
          <a:p>
            <a:pPr algn="r"/>
            <a:r>
              <a:rPr lang="en-US" sz="1200" dirty="0">
                <a:solidFill>
                  <a:srgbClr val="111111"/>
                </a:solidFill>
              </a:rPr>
              <a:t>63K</a:t>
            </a:r>
            <a:endParaRPr lang="en-US" sz="1200" dirty="0"/>
          </a:p>
        </p:txBody>
      </p:sp>
      <p:sp>
        <p:nvSpPr>
          <p:cNvPr id="96" name="Shape 94"/>
          <p:cNvSpPr/>
          <p:nvPr/>
        </p:nvSpPr>
        <p:spPr>
          <a:xfrm>
            <a:off x="13057632" y="3877056"/>
            <a:ext cx="1170432" cy="384048"/>
          </a:xfrm>
          <a:prstGeom prst="rect">
            <a:avLst/>
          </a:prstGeom>
          <a:solidFill>
            <a:srgbClr val="F5C78E"/>
          </a:solidFill>
          <a:ln w="12700">
            <a:solidFill>
              <a:srgbClr val="E0B080"/>
            </a:solidFill>
            <a:prstDash val="solid"/>
          </a:ln>
        </p:spPr>
      </p:sp>
      <p:sp>
        <p:nvSpPr>
          <p:cNvPr id="97" name="Text 95"/>
          <p:cNvSpPr/>
          <p:nvPr/>
        </p:nvSpPr>
        <p:spPr>
          <a:xfrm>
            <a:off x="13057632" y="3877056"/>
            <a:ext cx="1170432" cy="384048"/>
          </a:xfrm>
          <a:prstGeom prst="rect">
            <a:avLst/>
          </a:prstGeom>
          <a:noFill/>
          <a:ln/>
        </p:spPr>
        <p:txBody>
          <a:bodyPr wrap="square" lIns="0" tIns="0" rIns="50800" bIns="0" rtlCol="0" anchor="ctr"/>
          <a:lstStyle/>
          <a:p>
            <a:pPr algn="r"/>
            <a:r>
              <a:rPr lang="en-US" sz="1200" dirty="0">
                <a:solidFill>
                  <a:srgbClr val="111111"/>
                </a:solidFill>
              </a:rPr>
              <a:t>88K</a:t>
            </a:r>
            <a:endParaRPr lang="en-US" sz="1200" dirty="0"/>
          </a:p>
        </p:txBody>
      </p:sp>
      <p:sp>
        <p:nvSpPr>
          <p:cNvPr id="98" name="Shape 96"/>
          <p:cNvSpPr/>
          <p:nvPr/>
        </p:nvSpPr>
        <p:spPr>
          <a:xfrm>
            <a:off x="14228064" y="3877056"/>
            <a:ext cx="1170432" cy="384048"/>
          </a:xfrm>
          <a:prstGeom prst="rect">
            <a:avLst/>
          </a:prstGeom>
          <a:solidFill>
            <a:srgbClr val="F5C78E"/>
          </a:solidFill>
          <a:ln w="12700">
            <a:solidFill>
              <a:srgbClr val="E0B080"/>
            </a:solidFill>
            <a:prstDash val="solid"/>
          </a:ln>
        </p:spPr>
      </p:sp>
      <p:sp>
        <p:nvSpPr>
          <p:cNvPr id="99" name="Text 97"/>
          <p:cNvSpPr/>
          <p:nvPr/>
        </p:nvSpPr>
        <p:spPr>
          <a:xfrm>
            <a:off x="14228064" y="3877056"/>
            <a:ext cx="1170432" cy="384048"/>
          </a:xfrm>
          <a:prstGeom prst="rect">
            <a:avLst/>
          </a:prstGeom>
          <a:noFill/>
          <a:ln/>
        </p:spPr>
        <p:txBody>
          <a:bodyPr wrap="square" lIns="0" tIns="0" rIns="50800" bIns="0" rtlCol="0" anchor="ctr"/>
          <a:lstStyle/>
          <a:p>
            <a:pPr algn="r"/>
            <a:r>
              <a:rPr lang="en-US" sz="1200" dirty="0">
                <a:solidFill>
                  <a:srgbClr val="111111"/>
                </a:solidFill>
              </a:rPr>
              <a:t>1.1L</a:t>
            </a:r>
            <a:endParaRPr lang="en-US" sz="1200" dirty="0"/>
          </a:p>
        </p:txBody>
      </p:sp>
      <p:sp>
        <p:nvSpPr>
          <p:cNvPr id="100" name="Shape 98"/>
          <p:cNvSpPr/>
          <p:nvPr/>
        </p:nvSpPr>
        <p:spPr>
          <a:xfrm>
            <a:off x="15398496" y="3877056"/>
            <a:ext cx="1170432" cy="384048"/>
          </a:xfrm>
          <a:prstGeom prst="rect">
            <a:avLst/>
          </a:prstGeom>
          <a:solidFill>
            <a:srgbClr val="F5C78E"/>
          </a:solidFill>
          <a:ln w="12700">
            <a:solidFill>
              <a:srgbClr val="E0B080"/>
            </a:solidFill>
            <a:prstDash val="solid"/>
          </a:ln>
        </p:spPr>
      </p:sp>
      <p:sp>
        <p:nvSpPr>
          <p:cNvPr id="101" name="Text 99"/>
          <p:cNvSpPr/>
          <p:nvPr/>
        </p:nvSpPr>
        <p:spPr>
          <a:xfrm>
            <a:off x="15398496" y="3877056"/>
            <a:ext cx="1170432" cy="384048"/>
          </a:xfrm>
          <a:prstGeom prst="rect">
            <a:avLst/>
          </a:prstGeom>
          <a:noFill/>
          <a:ln/>
        </p:spPr>
        <p:txBody>
          <a:bodyPr wrap="square" lIns="0" tIns="0" rIns="50800" bIns="0" rtlCol="0" anchor="ctr"/>
          <a:lstStyle/>
          <a:p>
            <a:pPr algn="r"/>
            <a:r>
              <a:rPr lang="en-US" sz="1200" dirty="0">
                <a:solidFill>
                  <a:srgbClr val="111111"/>
                </a:solidFill>
              </a:rPr>
              <a:t>1.3L</a:t>
            </a:r>
            <a:endParaRPr lang="en-US" sz="1200" dirty="0"/>
          </a:p>
        </p:txBody>
      </p:sp>
      <p:sp>
        <p:nvSpPr>
          <p:cNvPr id="102" name="Shape 100"/>
          <p:cNvSpPr/>
          <p:nvPr/>
        </p:nvSpPr>
        <p:spPr>
          <a:xfrm>
            <a:off x="16568928" y="3877056"/>
            <a:ext cx="1170432" cy="384048"/>
          </a:xfrm>
          <a:prstGeom prst="rect">
            <a:avLst/>
          </a:prstGeom>
          <a:solidFill>
            <a:srgbClr val="F5C78E"/>
          </a:solidFill>
          <a:ln w="12700">
            <a:solidFill>
              <a:srgbClr val="E0B080"/>
            </a:solidFill>
            <a:prstDash val="solid"/>
          </a:ln>
        </p:spPr>
      </p:sp>
      <p:sp>
        <p:nvSpPr>
          <p:cNvPr id="103" name="Text 101"/>
          <p:cNvSpPr/>
          <p:nvPr/>
        </p:nvSpPr>
        <p:spPr>
          <a:xfrm>
            <a:off x="16568928" y="3877056"/>
            <a:ext cx="1170432" cy="384048"/>
          </a:xfrm>
          <a:prstGeom prst="rect">
            <a:avLst/>
          </a:prstGeom>
          <a:noFill/>
          <a:ln/>
        </p:spPr>
        <p:txBody>
          <a:bodyPr wrap="square" lIns="0" tIns="0" rIns="50800" bIns="0" rtlCol="0" anchor="ctr"/>
          <a:lstStyle/>
          <a:p>
            <a:pPr algn="r"/>
            <a:r>
              <a:rPr lang="en-US" sz="1200" dirty="0">
                <a:solidFill>
                  <a:srgbClr val="111111"/>
                </a:solidFill>
              </a:rPr>
              <a:t>1.5L</a:t>
            </a:r>
            <a:endParaRPr lang="en-US" sz="1200" dirty="0"/>
          </a:p>
        </p:txBody>
      </p:sp>
      <p:sp>
        <p:nvSpPr>
          <p:cNvPr id="104" name="Shape 102"/>
          <p:cNvSpPr/>
          <p:nvPr/>
        </p:nvSpPr>
        <p:spPr>
          <a:xfrm>
            <a:off x="17739360" y="3877056"/>
            <a:ext cx="1170432" cy="384048"/>
          </a:xfrm>
          <a:prstGeom prst="rect">
            <a:avLst/>
          </a:prstGeom>
          <a:solidFill>
            <a:srgbClr val="F5C78E"/>
          </a:solidFill>
          <a:ln w="12700">
            <a:solidFill>
              <a:srgbClr val="E0B080"/>
            </a:solidFill>
            <a:prstDash val="solid"/>
          </a:ln>
        </p:spPr>
      </p:sp>
      <p:sp>
        <p:nvSpPr>
          <p:cNvPr id="105" name="Text 103"/>
          <p:cNvSpPr/>
          <p:nvPr/>
        </p:nvSpPr>
        <p:spPr>
          <a:xfrm>
            <a:off x="17739360" y="3877056"/>
            <a:ext cx="1170432" cy="384048"/>
          </a:xfrm>
          <a:prstGeom prst="rect">
            <a:avLst/>
          </a:prstGeom>
          <a:noFill/>
          <a:ln/>
        </p:spPr>
        <p:txBody>
          <a:bodyPr wrap="square" lIns="0" tIns="0" rIns="50800" bIns="0" rtlCol="0" anchor="ctr"/>
          <a:lstStyle/>
          <a:p>
            <a:pPr algn="r"/>
            <a:r>
              <a:rPr lang="en-US" sz="1200" dirty="0">
                <a:solidFill>
                  <a:srgbClr val="111111"/>
                </a:solidFill>
              </a:rPr>
              <a:t>6.4L</a:t>
            </a:r>
            <a:endParaRPr lang="en-US" sz="1200" dirty="0"/>
          </a:p>
        </p:txBody>
      </p:sp>
      <p:sp>
        <p:nvSpPr>
          <p:cNvPr id="106" name="Shape 104"/>
          <p:cNvSpPr/>
          <p:nvPr/>
        </p:nvSpPr>
        <p:spPr>
          <a:xfrm>
            <a:off x="548640" y="4261104"/>
            <a:ext cx="3145536" cy="384048"/>
          </a:xfrm>
          <a:prstGeom prst="rect">
            <a:avLst/>
          </a:prstGeom>
          <a:solidFill>
            <a:srgbClr val="FFD966"/>
          </a:solidFill>
          <a:ln w="12700">
            <a:solidFill>
              <a:srgbClr val="E0B080"/>
            </a:solidFill>
            <a:prstDash val="solid"/>
          </a:ln>
        </p:spPr>
      </p:sp>
      <p:sp>
        <p:nvSpPr>
          <p:cNvPr id="107" name="Text 105"/>
          <p:cNvSpPr/>
          <p:nvPr/>
        </p:nvSpPr>
        <p:spPr>
          <a:xfrm>
            <a:off x="621792" y="4261104"/>
            <a:ext cx="3035808" cy="384048"/>
          </a:xfrm>
          <a:prstGeom prst="rect">
            <a:avLst/>
          </a:prstGeom>
          <a:noFill/>
          <a:ln/>
        </p:spPr>
        <p:txBody>
          <a:bodyPr wrap="square" rtlCol="0" anchor="ctr"/>
          <a:lstStyle/>
          <a:p>
            <a:r>
              <a:rPr lang="en-US" sz="1300" b="1" dirty="0">
                <a:solidFill>
                  <a:srgbClr val="111111"/>
                </a:solidFill>
              </a:rPr>
              <a:t>Total Sales</a:t>
            </a:r>
            <a:endParaRPr lang="en-US" sz="1300" dirty="0"/>
          </a:p>
        </p:txBody>
      </p:sp>
      <p:sp>
        <p:nvSpPr>
          <p:cNvPr id="108" name="Shape 106"/>
          <p:cNvSpPr/>
          <p:nvPr/>
        </p:nvSpPr>
        <p:spPr>
          <a:xfrm>
            <a:off x="3694176" y="4261104"/>
            <a:ext cx="1170432" cy="384048"/>
          </a:xfrm>
          <a:prstGeom prst="rect">
            <a:avLst/>
          </a:prstGeom>
          <a:solidFill>
            <a:srgbClr val="FFD966"/>
          </a:solidFill>
          <a:ln w="12700">
            <a:solidFill>
              <a:srgbClr val="E0B080"/>
            </a:solidFill>
            <a:prstDash val="solid"/>
          </a:ln>
        </p:spPr>
      </p:sp>
      <p:sp>
        <p:nvSpPr>
          <p:cNvPr id="109" name="Text 107"/>
          <p:cNvSpPr/>
          <p:nvPr/>
        </p:nvSpPr>
        <p:spPr>
          <a:xfrm>
            <a:off x="3694176" y="4261104"/>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10" name="Shape 108"/>
          <p:cNvSpPr/>
          <p:nvPr/>
        </p:nvSpPr>
        <p:spPr>
          <a:xfrm>
            <a:off x="4864608" y="4261104"/>
            <a:ext cx="1170432" cy="384048"/>
          </a:xfrm>
          <a:prstGeom prst="rect">
            <a:avLst/>
          </a:prstGeom>
          <a:solidFill>
            <a:srgbClr val="FFD966"/>
          </a:solidFill>
          <a:ln w="12700">
            <a:solidFill>
              <a:srgbClr val="E0B080"/>
            </a:solidFill>
            <a:prstDash val="solid"/>
          </a:ln>
        </p:spPr>
      </p:sp>
      <p:sp>
        <p:nvSpPr>
          <p:cNvPr id="111" name="Text 109"/>
          <p:cNvSpPr/>
          <p:nvPr/>
        </p:nvSpPr>
        <p:spPr>
          <a:xfrm>
            <a:off x="4864608" y="4261104"/>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12" name="Shape 110"/>
          <p:cNvSpPr/>
          <p:nvPr/>
        </p:nvSpPr>
        <p:spPr>
          <a:xfrm>
            <a:off x="6035040" y="4261104"/>
            <a:ext cx="1170432" cy="384048"/>
          </a:xfrm>
          <a:prstGeom prst="rect">
            <a:avLst/>
          </a:prstGeom>
          <a:solidFill>
            <a:srgbClr val="FFD966"/>
          </a:solidFill>
          <a:ln w="12700">
            <a:solidFill>
              <a:srgbClr val="E0B080"/>
            </a:solidFill>
            <a:prstDash val="solid"/>
          </a:ln>
        </p:spPr>
      </p:sp>
      <p:sp>
        <p:nvSpPr>
          <p:cNvPr id="113" name="Text 111"/>
          <p:cNvSpPr/>
          <p:nvPr/>
        </p:nvSpPr>
        <p:spPr>
          <a:xfrm>
            <a:off x="6035040" y="4261104"/>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14" name="Shape 112"/>
          <p:cNvSpPr/>
          <p:nvPr/>
        </p:nvSpPr>
        <p:spPr>
          <a:xfrm>
            <a:off x="7205472" y="4261104"/>
            <a:ext cx="1170432" cy="384048"/>
          </a:xfrm>
          <a:prstGeom prst="rect">
            <a:avLst/>
          </a:prstGeom>
          <a:solidFill>
            <a:srgbClr val="FFD966"/>
          </a:solidFill>
          <a:ln w="12700">
            <a:solidFill>
              <a:srgbClr val="E0B080"/>
            </a:solidFill>
            <a:prstDash val="solid"/>
          </a:ln>
        </p:spPr>
      </p:sp>
      <p:sp>
        <p:nvSpPr>
          <p:cNvPr id="115" name="Text 113"/>
          <p:cNvSpPr/>
          <p:nvPr/>
        </p:nvSpPr>
        <p:spPr>
          <a:xfrm>
            <a:off x="7205472" y="4261104"/>
            <a:ext cx="1170432" cy="384048"/>
          </a:xfrm>
          <a:prstGeom prst="rect">
            <a:avLst/>
          </a:prstGeom>
          <a:noFill/>
          <a:ln/>
        </p:spPr>
        <p:txBody>
          <a:bodyPr wrap="square" lIns="0" tIns="0" rIns="50800" bIns="0" rtlCol="0" anchor="ctr"/>
          <a:lstStyle/>
          <a:p>
            <a:pPr algn="r"/>
            <a:r>
              <a:rPr lang="en-US" sz="1200" b="1" dirty="0">
                <a:solidFill>
                  <a:srgbClr val="111111"/>
                </a:solidFill>
              </a:rPr>
              <a:t>50K</a:t>
            </a:r>
            <a:endParaRPr lang="en-US" sz="1200" dirty="0"/>
          </a:p>
        </p:txBody>
      </p:sp>
      <p:sp>
        <p:nvSpPr>
          <p:cNvPr id="116" name="Shape 114"/>
          <p:cNvSpPr/>
          <p:nvPr/>
        </p:nvSpPr>
        <p:spPr>
          <a:xfrm>
            <a:off x="8375904" y="4261104"/>
            <a:ext cx="1170432" cy="384048"/>
          </a:xfrm>
          <a:prstGeom prst="rect">
            <a:avLst/>
          </a:prstGeom>
          <a:solidFill>
            <a:srgbClr val="FFD966"/>
          </a:solidFill>
          <a:ln w="12700">
            <a:solidFill>
              <a:srgbClr val="E0B080"/>
            </a:solidFill>
            <a:prstDash val="solid"/>
          </a:ln>
        </p:spPr>
      </p:sp>
      <p:sp>
        <p:nvSpPr>
          <p:cNvPr id="117" name="Text 115"/>
          <p:cNvSpPr/>
          <p:nvPr/>
        </p:nvSpPr>
        <p:spPr>
          <a:xfrm>
            <a:off x="8375904" y="4261104"/>
            <a:ext cx="1170432" cy="384048"/>
          </a:xfrm>
          <a:prstGeom prst="rect">
            <a:avLst/>
          </a:prstGeom>
          <a:noFill/>
          <a:ln/>
        </p:spPr>
        <p:txBody>
          <a:bodyPr wrap="square" lIns="0" tIns="0" rIns="50800" bIns="0" rtlCol="0" anchor="ctr"/>
          <a:lstStyle/>
          <a:p>
            <a:pPr algn="r"/>
            <a:r>
              <a:rPr lang="en-US" sz="1200" b="1" dirty="0">
                <a:solidFill>
                  <a:srgbClr val="111111"/>
                </a:solidFill>
              </a:rPr>
              <a:t>80K</a:t>
            </a:r>
            <a:endParaRPr lang="en-US" sz="1200" dirty="0"/>
          </a:p>
        </p:txBody>
      </p:sp>
      <p:sp>
        <p:nvSpPr>
          <p:cNvPr id="118" name="Shape 116"/>
          <p:cNvSpPr/>
          <p:nvPr/>
        </p:nvSpPr>
        <p:spPr>
          <a:xfrm>
            <a:off x="9546336" y="4261104"/>
            <a:ext cx="1170432" cy="384048"/>
          </a:xfrm>
          <a:prstGeom prst="rect">
            <a:avLst/>
          </a:prstGeom>
          <a:solidFill>
            <a:srgbClr val="FFD966"/>
          </a:solidFill>
          <a:ln w="12700">
            <a:solidFill>
              <a:srgbClr val="E0B080"/>
            </a:solidFill>
            <a:prstDash val="solid"/>
          </a:ln>
        </p:spPr>
      </p:sp>
      <p:sp>
        <p:nvSpPr>
          <p:cNvPr id="119" name="Text 117"/>
          <p:cNvSpPr/>
          <p:nvPr/>
        </p:nvSpPr>
        <p:spPr>
          <a:xfrm>
            <a:off x="9546336" y="4261104"/>
            <a:ext cx="1170432" cy="384048"/>
          </a:xfrm>
          <a:prstGeom prst="rect">
            <a:avLst/>
          </a:prstGeom>
          <a:noFill/>
          <a:ln/>
        </p:spPr>
        <p:txBody>
          <a:bodyPr wrap="square" lIns="0" tIns="0" rIns="50800" bIns="0" rtlCol="0" anchor="ctr"/>
          <a:lstStyle/>
          <a:p>
            <a:pPr algn="r"/>
            <a:r>
              <a:rPr lang="en-US" sz="1200" b="1" dirty="0">
                <a:solidFill>
                  <a:srgbClr val="111111"/>
                </a:solidFill>
              </a:rPr>
              <a:t>1.2L</a:t>
            </a:r>
            <a:endParaRPr lang="en-US" sz="1200" dirty="0"/>
          </a:p>
        </p:txBody>
      </p:sp>
      <p:sp>
        <p:nvSpPr>
          <p:cNvPr id="120" name="Shape 118"/>
          <p:cNvSpPr/>
          <p:nvPr/>
        </p:nvSpPr>
        <p:spPr>
          <a:xfrm>
            <a:off x="10716768" y="4261104"/>
            <a:ext cx="1170432" cy="384048"/>
          </a:xfrm>
          <a:prstGeom prst="rect">
            <a:avLst/>
          </a:prstGeom>
          <a:solidFill>
            <a:srgbClr val="FFD966"/>
          </a:solidFill>
          <a:ln w="12700">
            <a:solidFill>
              <a:srgbClr val="E0B080"/>
            </a:solidFill>
            <a:prstDash val="solid"/>
          </a:ln>
        </p:spPr>
      </p:sp>
      <p:sp>
        <p:nvSpPr>
          <p:cNvPr id="121" name="Text 119"/>
          <p:cNvSpPr/>
          <p:nvPr/>
        </p:nvSpPr>
        <p:spPr>
          <a:xfrm>
            <a:off x="10716768" y="4261104"/>
            <a:ext cx="1170432" cy="384048"/>
          </a:xfrm>
          <a:prstGeom prst="rect">
            <a:avLst/>
          </a:prstGeom>
          <a:noFill/>
          <a:ln/>
        </p:spPr>
        <p:txBody>
          <a:bodyPr wrap="square" lIns="0" tIns="0" rIns="50800" bIns="0" rtlCol="0" anchor="ctr"/>
          <a:lstStyle/>
          <a:p>
            <a:pPr algn="r"/>
            <a:r>
              <a:rPr lang="en-US" sz="1200" b="1" dirty="0">
                <a:solidFill>
                  <a:srgbClr val="111111"/>
                </a:solidFill>
              </a:rPr>
              <a:t>1.8L</a:t>
            </a:r>
            <a:endParaRPr lang="en-US" sz="1200" dirty="0"/>
          </a:p>
        </p:txBody>
      </p:sp>
      <p:sp>
        <p:nvSpPr>
          <p:cNvPr id="122" name="Shape 120"/>
          <p:cNvSpPr/>
          <p:nvPr/>
        </p:nvSpPr>
        <p:spPr>
          <a:xfrm>
            <a:off x="11887200" y="4261104"/>
            <a:ext cx="1170432" cy="384048"/>
          </a:xfrm>
          <a:prstGeom prst="rect">
            <a:avLst/>
          </a:prstGeom>
          <a:solidFill>
            <a:srgbClr val="FFD966"/>
          </a:solidFill>
          <a:ln w="12700">
            <a:solidFill>
              <a:srgbClr val="E0B080"/>
            </a:solidFill>
            <a:prstDash val="solid"/>
          </a:ln>
        </p:spPr>
      </p:sp>
      <p:sp>
        <p:nvSpPr>
          <p:cNvPr id="123" name="Text 121"/>
          <p:cNvSpPr/>
          <p:nvPr/>
        </p:nvSpPr>
        <p:spPr>
          <a:xfrm>
            <a:off x="11887200" y="4261104"/>
            <a:ext cx="1170432" cy="384048"/>
          </a:xfrm>
          <a:prstGeom prst="rect">
            <a:avLst/>
          </a:prstGeom>
          <a:noFill/>
          <a:ln/>
        </p:spPr>
        <p:txBody>
          <a:bodyPr wrap="square" lIns="0" tIns="0" rIns="50800" bIns="0" rtlCol="0" anchor="ctr"/>
          <a:lstStyle/>
          <a:p>
            <a:pPr algn="r"/>
            <a:r>
              <a:rPr lang="en-US" sz="1200" b="1" dirty="0">
                <a:solidFill>
                  <a:srgbClr val="111111"/>
                </a:solidFill>
              </a:rPr>
              <a:t>2.5L</a:t>
            </a:r>
            <a:endParaRPr lang="en-US" sz="1200" dirty="0"/>
          </a:p>
        </p:txBody>
      </p:sp>
      <p:sp>
        <p:nvSpPr>
          <p:cNvPr id="124" name="Shape 122"/>
          <p:cNvSpPr/>
          <p:nvPr/>
        </p:nvSpPr>
        <p:spPr>
          <a:xfrm>
            <a:off x="13057632" y="4261104"/>
            <a:ext cx="1170432" cy="384048"/>
          </a:xfrm>
          <a:prstGeom prst="rect">
            <a:avLst/>
          </a:prstGeom>
          <a:solidFill>
            <a:srgbClr val="FFD966"/>
          </a:solidFill>
          <a:ln w="12700">
            <a:solidFill>
              <a:srgbClr val="E0B080"/>
            </a:solidFill>
            <a:prstDash val="solid"/>
          </a:ln>
        </p:spPr>
      </p:sp>
      <p:sp>
        <p:nvSpPr>
          <p:cNvPr id="125" name="Text 123"/>
          <p:cNvSpPr/>
          <p:nvPr/>
        </p:nvSpPr>
        <p:spPr>
          <a:xfrm>
            <a:off x="13057632" y="4261104"/>
            <a:ext cx="1170432" cy="384048"/>
          </a:xfrm>
          <a:prstGeom prst="rect">
            <a:avLst/>
          </a:prstGeom>
          <a:noFill/>
          <a:ln/>
        </p:spPr>
        <p:txBody>
          <a:bodyPr wrap="square" lIns="0" tIns="0" rIns="50800" bIns="0" rtlCol="0" anchor="ctr"/>
          <a:lstStyle/>
          <a:p>
            <a:pPr algn="r"/>
            <a:r>
              <a:rPr lang="en-US" sz="1200" b="1" dirty="0">
                <a:solidFill>
                  <a:srgbClr val="111111"/>
                </a:solidFill>
              </a:rPr>
              <a:t>3.5L</a:t>
            </a:r>
            <a:endParaRPr lang="en-US" sz="1200" dirty="0"/>
          </a:p>
        </p:txBody>
      </p:sp>
      <p:sp>
        <p:nvSpPr>
          <p:cNvPr id="126" name="Shape 124"/>
          <p:cNvSpPr/>
          <p:nvPr/>
        </p:nvSpPr>
        <p:spPr>
          <a:xfrm>
            <a:off x="14228064" y="4261104"/>
            <a:ext cx="1170432" cy="384048"/>
          </a:xfrm>
          <a:prstGeom prst="rect">
            <a:avLst/>
          </a:prstGeom>
          <a:solidFill>
            <a:srgbClr val="FFD966"/>
          </a:solidFill>
          <a:ln w="12700">
            <a:solidFill>
              <a:srgbClr val="E0B080"/>
            </a:solidFill>
            <a:prstDash val="solid"/>
          </a:ln>
        </p:spPr>
      </p:sp>
      <p:sp>
        <p:nvSpPr>
          <p:cNvPr id="127" name="Text 125"/>
          <p:cNvSpPr/>
          <p:nvPr/>
        </p:nvSpPr>
        <p:spPr>
          <a:xfrm>
            <a:off x="14228064" y="4261104"/>
            <a:ext cx="1170432" cy="384048"/>
          </a:xfrm>
          <a:prstGeom prst="rect">
            <a:avLst/>
          </a:prstGeom>
          <a:noFill/>
          <a:ln/>
        </p:spPr>
        <p:txBody>
          <a:bodyPr wrap="square" lIns="0" tIns="0" rIns="50800" bIns="0" rtlCol="0" anchor="ctr"/>
          <a:lstStyle/>
          <a:p>
            <a:pPr algn="r"/>
            <a:r>
              <a:rPr lang="en-US" sz="1200" b="1" dirty="0">
                <a:solidFill>
                  <a:srgbClr val="111111"/>
                </a:solidFill>
              </a:rPr>
              <a:t>4.3L</a:t>
            </a:r>
            <a:endParaRPr lang="en-US" sz="1200" dirty="0"/>
          </a:p>
        </p:txBody>
      </p:sp>
      <p:sp>
        <p:nvSpPr>
          <p:cNvPr id="128" name="Shape 126"/>
          <p:cNvSpPr/>
          <p:nvPr/>
        </p:nvSpPr>
        <p:spPr>
          <a:xfrm>
            <a:off x="15398496" y="4261104"/>
            <a:ext cx="1170432" cy="384048"/>
          </a:xfrm>
          <a:prstGeom prst="rect">
            <a:avLst/>
          </a:prstGeom>
          <a:solidFill>
            <a:srgbClr val="FFD966"/>
          </a:solidFill>
          <a:ln w="12700">
            <a:solidFill>
              <a:srgbClr val="E0B080"/>
            </a:solidFill>
            <a:prstDash val="solid"/>
          </a:ln>
        </p:spPr>
      </p:sp>
      <p:sp>
        <p:nvSpPr>
          <p:cNvPr id="129" name="Text 127"/>
          <p:cNvSpPr/>
          <p:nvPr/>
        </p:nvSpPr>
        <p:spPr>
          <a:xfrm>
            <a:off x="15398496" y="4261104"/>
            <a:ext cx="1170432" cy="384048"/>
          </a:xfrm>
          <a:prstGeom prst="rect">
            <a:avLst/>
          </a:prstGeom>
          <a:noFill/>
          <a:ln/>
        </p:spPr>
        <p:txBody>
          <a:bodyPr wrap="square" lIns="0" tIns="0" rIns="50800" bIns="0" rtlCol="0" anchor="ctr"/>
          <a:lstStyle/>
          <a:p>
            <a:pPr algn="r"/>
            <a:r>
              <a:rPr lang="en-US" sz="1200" b="1" dirty="0">
                <a:solidFill>
                  <a:srgbClr val="111111"/>
                </a:solidFill>
              </a:rPr>
              <a:t>5.0L</a:t>
            </a:r>
            <a:endParaRPr lang="en-US" sz="1200" dirty="0"/>
          </a:p>
        </p:txBody>
      </p:sp>
      <p:sp>
        <p:nvSpPr>
          <p:cNvPr id="130" name="Shape 128"/>
          <p:cNvSpPr/>
          <p:nvPr/>
        </p:nvSpPr>
        <p:spPr>
          <a:xfrm>
            <a:off x="16568928" y="4261104"/>
            <a:ext cx="1170432" cy="384048"/>
          </a:xfrm>
          <a:prstGeom prst="rect">
            <a:avLst/>
          </a:prstGeom>
          <a:solidFill>
            <a:srgbClr val="FFD966"/>
          </a:solidFill>
          <a:ln w="12700">
            <a:solidFill>
              <a:srgbClr val="E0B080"/>
            </a:solidFill>
            <a:prstDash val="solid"/>
          </a:ln>
        </p:spPr>
      </p:sp>
      <p:sp>
        <p:nvSpPr>
          <p:cNvPr id="131" name="Text 129"/>
          <p:cNvSpPr/>
          <p:nvPr/>
        </p:nvSpPr>
        <p:spPr>
          <a:xfrm>
            <a:off x="16568928" y="4261104"/>
            <a:ext cx="1170432" cy="384048"/>
          </a:xfrm>
          <a:prstGeom prst="rect">
            <a:avLst/>
          </a:prstGeom>
          <a:noFill/>
          <a:ln/>
        </p:spPr>
        <p:txBody>
          <a:bodyPr wrap="square" lIns="0" tIns="0" rIns="50800" bIns="0" rtlCol="0" anchor="ctr"/>
          <a:lstStyle/>
          <a:p>
            <a:pPr algn="r"/>
            <a:r>
              <a:rPr lang="en-US" sz="1200" b="1" dirty="0">
                <a:solidFill>
                  <a:srgbClr val="111111"/>
                </a:solidFill>
              </a:rPr>
              <a:t>6.0L</a:t>
            </a:r>
            <a:endParaRPr lang="en-US" sz="1200" dirty="0"/>
          </a:p>
        </p:txBody>
      </p:sp>
      <p:sp>
        <p:nvSpPr>
          <p:cNvPr id="132" name="Shape 130"/>
          <p:cNvSpPr/>
          <p:nvPr/>
        </p:nvSpPr>
        <p:spPr>
          <a:xfrm>
            <a:off x="17739360" y="4261104"/>
            <a:ext cx="1170432" cy="384048"/>
          </a:xfrm>
          <a:prstGeom prst="rect">
            <a:avLst/>
          </a:prstGeom>
          <a:solidFill>
            <a:srgbClr val="FFD966"/>
          </a:solidFill>
          <a:ln w="12700">
            <a:solidFill>
              <a:srgbClr val="E0B080"/>
            </a:solidFill>
            <a:prstDash val="solid"/>
          </a:ln>
        </p:spPr>
      </p:sp>
      <p:sp>
        <p:nvSpPr>
          <p:cNvPr id="133" name="Text 131"/>
          <p:cNvSpPr/>
          <p:nvPr/>
        </p:nvSpPr>
        <p:spPr>
          <a:xfrm>
            <a:off x="17739360" y="4261104"/>
            <a:ext cx="1170432" cy="384048"/>
          </a:xfrm>
          <a:prstGeom prst="rect">
            <a:avLst/>
          </a:prstGeom>
          <a:noFill/>
          <a:ln/>
        </p:spPr>
        <p:txBody>
          <a:bodyPr wrap="square" lIns="0" tIns="0" rIns="50800" bIns="0" rtlCol="0" anchor="ctr"/>
          <a:lstStyle/>
          <a:p>
            <a:pPr algn="r"/>
            <a:r>
              <a:rPr lang="en-US" sz="1200" b="1" dirty="0">
                <a:solidFill>
                  <a:srgbClr val="111111"/>
                </a:solidFill>
              </a:rPr>
              <a:t>25.6L</a:t>
            </a:r>
            <a:endParaRPr lang="en-US" sz="1200" dirty="0"/>
          </a:p>
        </p:txBody>
      </p:sp>
      <p:sp>
        <p:nvSpPr>
          <p:cNvPr id="134" name="Text 132"/>
          <p:cNvSpPr/>
          <p:nvPr/>
        </p:nvSpPr>
        <p:spPr>
          <a:xfrm>
            <a:off x="548640" y="4718304"/>
            <a:ext cx="18361152" cy="402336"/>
          </a:xfrm>
          <a:prstGeom prst="rect">
            <a:avLst/>
          </a:prstGeom>
          <a:noFill/>
          <a:ln/>
        </p:spPr>
        <p:txBody>
          <a:bodyPr wrap="square" rtlCol="0" anchor="ctr"/>
          <a:lstStyle/>
          <a:p>
            <a:r>
              <a:rPr lang="en-US" sz="1600" b="1" dirty="0">
                <a:solidFill>
                  <a:srgbClr val="111111"/>
                </a:solidFill>
              </a:rPr>
              <a:t>COGS</a:t>
            </a:r>
            <a:endParaRPr lang="en-US" sz="1600" dirty="0"/>
          </a:p>
        </p:txBody>
      </p:sp>
      <p:sp>
        <p:nvSpPr>
          <p:cNvPr id="135" name="Shape 133"/>
          <p:cNvSpPr/>
          <p:nvPr/>
        </p:nvSpPr>
        <p:spPr>
          <a:xfrm>
            <a:off x="548640" y="5120640"/>
            <a:ext cx="3145536" cy="384048"/>
          </a:xfrm>
          <a:prstGeom prst="rect">
            <a:avLst/>
          </a:prstGeom>
          <a:solidFill>
            <a:srgbClr val="F5C78E"/>
          </a:solidFill>
          <a:ln w="12700">
            <a:solidFill>
              <a:srgbClr val="E0B080"/>
            </a:solidFill>
            <a:prstDash val="solid"/>
          </a:ln>
        </p:spPr>
      </p:sp>
      <p:sp>
        <p:nvSpPr>
          <p:cNvPr id="136" name="Text 134"/>
          <p:cNvSpPr/>
          <p:nvPr/>
        </p:nvSpPr>
        <p:spPr>
          <a:xfrm>
            <a:off x="621792" y="5120640"/>
            <a:ext cx="3035808" cy="384048"/>
          </a:xfrm>
          <a:prstGeom prst="rect">
            <a:avLst/>
          </a:prstGeom>
          <a:noFill/>
          <a:ln/>
        </p:spPr>
        <p:txBody>
          <a:bodyPr wrap="square" rtlCol="0" anchor="ctr"/>
          <a:lstStyle/>
          <a:p>
            <a:r>
              <a:rPr lang="en-US" sz="1300" dirty="0">
                <a:solidFill>
                  <a:srgbClr val="111111"/>
                </a:solidFill>
              </a:rPr>
              <a:t>Cost of goods sold (AI API calls 20%)</a:t>
            </a:r>
            <a:endParaRPr lang="en-US" sz="1300" dirty="0"/>
          </a:p>
        </p:txBody>
      </p:sp>
      <p:sp>
        <p:nvSpPr>
          <p:cNvPr id="137" name="Shape 135"/>
          <p:cNvSpPr/>
          <p:nvPr/>
        </p:nvSpPr>
        <p:spPr>
          <a:xfrm>
            <a:off x="3694176" y="5120640"/>
            <a:ext cx="1170432" cy="384048"/>
          </a:xfrm>
          <a:prstGeom prst="rect">
            <a:avLst/>
          </a:prstGeom>
          <a:solidFill>
            <a:srgbClr val="F5C78E"/>
          </a:solidFill>
          <a:ln w="12700">
            <a:solidFill>
              <a:srgbClr val="E0B080"/>
            </a:solidFill>
            <a:prstDash val="solid"/>
          </a:ln>
        </p:spPr>
      </p:sp>
      <p:sp>
        <p:nvSpPr>
          <p:cNvPr id="138" name="Text 136"/>
          <p:cNvSpPr/>
          <p:nvPr/>
        </p:nvSpPr>
        <p:spPr>
          <a:xfrm>
            <a:off x="3694176" y="512064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139" name="Shape 137"/>
          <p:cNvSpPr/>
          <p:nvPr/>
        </p:nvSpPr>
        <p:spPr>
          <a:xfrm>
            <a:off x="4864608" y="5120640"/>
            <a:ext cx="1170432" cy="384048"/>
          </a:xfrm>
          <a:prstGeom prst="rect">
            <a:avLst/>
          </a:prstGeom>
          <a:solidFill>
            <a:srgbClr val="F5C78E"/>
          </a:solidFill>
          <a:ln w="12700">
            <a:solidFill>
              <a:srgbClr val="E0B080"/>
            </a:solidFill>
            <a:prstDash val="solid"/>
          </a:ln>
        </p:spPr>
      </p:sp>
      <p:sp>
        <p:nvSpPr>
          <p:cNvPr id="140" name="Text 138"/>
          <p:cNvSpPr/>
          <p:nvPr/>
        </p:nvSpPr>
        <p:spPr>
          <a:xfrm>
            <a:off x="4864608" y="512064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141" name="Shape 139"/>
          <p:cNvSpPr/>
          <p:nvPr/>
        </p:nvSpPr>
        <p:spPr>
          <a:xfrm>
            <a:off x="6035040" y="5120640"/>
            <a:ext cx="1170432" cy="384048"/>
          </a:xfrm>
          <a:prstGeom prst="rect">
            <a:avLst/>
          </a:prstGeom>
          <a:solidFill>
            <a:srgbClr val="F5C78E"/>
          </a:solidFill>
          <a:ln w="12700">
            <a:solidFill>
              <a:srgbClr val="E0B080"/>
            </a:solidFill>
            <a:prstDash val="solid"/>
          </a:ln>
        </p:spPr>
      </p:sp>
      <p:sp>
        <p:nvSpPr>
          <p:cNvPr id="142" name="Text 140"/>
          <p:cNvSpPr/>
          <p:nvPr/>
        </p:nvSpPr>
        <p:spPr>
          <a:xfrm>
            <a:off x="6035040" y="512064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143" name="Shape 141"/>
          <p:cNvSpPr/>
          <p:nvPr/>
        </p:nvSpPr>
        <p:spPr>
          <a:xfrm>
            <a:off x="7205472" y="5120640"/>
            <a:ext cx="1170432" cy="384048"/>
          </a:xfrm>
          <a:prstGeom prst="rect">
            <a:avLst/>
          </a:prstGeom>
          <a:solidFill>
            <a:srgbClr val="F5C78E"/>
          </a:solidFill>
          <a:ln w="12700">
            <a:solidFill>
              <a:srgbClr val="E0B080"/>
            </a:solidFill>
            <a:prstDash val="solid"/>
          </a:ln>
        </p:spPr>
      </p:sp>
      <p:sp>
        <p:nvSpPr>
          <p:cNvPr id="144" name="Text 142"/>
          <p:cNvSpPr/>
          <p:nvPr/>
        </p:nvSpPr>
        <p:spPr>
          <a:xfrm>
            <a:off x="7205472" y="5120640"/>
            <a:ext cx="1170432" cy="384048"/>
          </a:xfrm>
          <a:prstGeom prst="rect">
            <a:avLst/>
          </a:prstGeom>
          <a:noFill/>
          <a:ln/>
        </p:spPr>
        <p:txBody>
          <a:bodyPr wrap="square" lIns="0" tIns="0" rIns="50800" bIns="0" rtlCol="0" anchor="ctr"/>
          <a:lstStyle/>
          <a:p>
            <a:pPr algn="r"/>
            <a:r>
              <a:rPr lang="en-US" sz="1200" dirty="0">
                <a:solidFill>
                  <a:srgbClr val="111111"/>
                </a:solidFill>
              </a:rPr>
              <a:t>10K</a:t>
            </a:r>
            <a:endParaRPr lang="en-US" sz="1200" dirty="0"/>
          </a:p>
        </p:txBody>
      </p:sp>
      <p:sp>
        <p:nvSpPr>
          <p:cNvPr id="145" name="Shape 143"/>
          <p:cNvSpPr/>
          <p:nvPr/>
        </p:nvSpPr>
        <p:spPr>
          <a:xfrm>
            <a:off x="8375904" y="5120640"/>
            <a:ext cx="1170432" cy="384048"/>
          </a:xfrm>
          <a:prstGeom prst="rect">
            <a:avLst/>
          </a:prstGeom>
          <a:solidFill>
            <a:srgbClr val="F5C78E"/>
          </a:solidFill>
          <a:ln w="12700">
            <a:solidFill>
              <a:srgbClr val="E0B080"/>
            </a:solidFill>
            <a:prstDash val="solid"/>
          </a:ln>
        </p:spPr>
      </p:sp>
      <p:sp>
        <p:nvSpPr>
          <p:cNvPr id="146" name="Text 144"/>
          <p:cNvSpPr/>
          <p:nvPr/>
        </p:nvSpPr>
        <p:spPr>
          <a:xfrm>
            <a:off x="8375904" y="5120640"/>
            <a:ext cx="1170432" cy="384048"/>
          </a:xfrm>
          <a:prstGeom prst="rect">
            <a:avLst/>
          </a:prstGeom>
          <a:noFill/>
          <a:ln/>
        </p:spPr>
        <p:txBody>
          <a:bodyPr wrap="square" lIns="0" tIns="0" rIns="50800" bIns="0" rtlCol="0" anchor="ctr"/>
          <a:lstStyle/>
          <a:p>
            <a:pPr algn="r"/>
            <a:r>
              <a:rPr lang="en-US" sz="1200" dirty="0">
                <a:solidFill>
                  <a:srgbClr val="111111"/>
                </a:solidFill>
              </a:rPr>
              <a:t>16K</a:t>
            </a:r>
            <a:endParaRPr lang="en-US" sz="1200" dirty="0"/>
          </a:p>
        </p:txBody>
      </p:sp>
      <p:sp>
        <p:nvSpPr>
          <p:cNvPr id="147" name="Shape 145"/>
          <p:cNvSpPr/>
          <p:nvPr/>
        </p:nvSpPr>
        <p:spPr>
          <a:xfrm>
            <a:off x="9546336" y="5120640"/>
            <a:ext cx="1170432" cy="384048"/>
          </a:xfrm>
          <a:prstGeom prst="rect">
            <a:avLst/>
          </a:prstGeom>
          <a:solidFill>
            <a:srgbClr val="F5C78E"/>
          </a:solidFill>
          <a:ln w="12700">
            <a:solidFill>
              <a:srgbClr val="E0B080"/>
            </a:solidFill>
            <a:prstDash val="solid"/>
          </a:ln>
        </p:spPr>
      </p:sp>
      <p:sp>
        <p:nvSpPr>
          <p:cNvPr id="148" name="Text 146"/>
          <p:cNvSpPr/>
          <p:nvPr/>
        </p:nvSpPr>
        <p:spPr>
          <a:xfrm>
            <a:off x="9546336" y="5120640"/>
            <a:ext cx="1170432" cy="384048"/>
          </a:xfrm>
          <a:prstGeom prst="rect">
            <a:avLst/>
          </a:prstGeom>
          <a:noFill/>
          <a:ln/>
        </p:spPr>
        <p:txBody>
          <a:bodyPr wrap="square" lIns="0" tIns="0" rIns="50800" bIns="0" rtlCol="0" anchor="ctr"/>
          <a:lstStyle/>
          <a:p>
            <a:pPr algn="r"/>
            <a:r>
              <a:rPr lang="en-US" sz="1200" dirty="0">
                <a:solidFill>
                  <a:srgbClr val="111111"/>
                </a:solidFill>
              </a:rPr>
              <a:t>24K</a:t>
            </a:r>
            <a:endParaRPr lang="en-US" sz="1200" dirty="0"/>
          </a:p>
        </p:txBody>
      </p:sp>
      <p:sp>
        <p:nvSpPr>
          <p:cNvPr id="149" name="Shape 147"/>
          <p:cNvSpPr/>
          <p:nvPr/>
        </p:nvSpPr>
        <p:spPr>
          <a:xfrm>
            <a:off x="10716768" y="5120640"/>
            <a:ext cx="1170432" cy="384048"/>
          </a:xfrm>
          <a:prstGeom prst="rect">
            <a:avLst/>
          </a:prstGeom>
          <a:solidFill>
            <a:srgbClr val="F5C78E"/>
          </a:solidFill>
          <a:ln w="12700">
            <a:solidFill>
              <a:srgbClr val="E0B080"/>
            </a:solidFill>
            <a:prstDash val="solid"/>
          </a:ln>
        </p:spPr>
      </p:sp>
      <p:sp>
        <p:nvSpPr>
          <p:cNvPr id="150" name="Text 148"/>
          <p:cNvSpPr/>
          <p:nvPr/>
        </p:nvSpPr>
        <p:spPr>
          <a:xfrm>
            <a:off x="10716768" y="5120640"/>
            <a:ext cx="1170432" cy="384048"/>
          </a:xfrm>
          <a:prstGeom prst="rect">
            <a:avLst/>
          </a:prstGeom>
          <a:noFill/>
          <a:ln/>
        </p:spPr>
        <p:txBody>
          <a:bodyPr wrap="square" lIns="0" tIns="0" rIns="50800" bIns="0" rtlCol="0" anchor="ctr"/>
          <a:lstStyle/>
          <a:p>
            <a:pPr algn="r"/>
            <a:r>
              <a:rPr lang="en-US" sz="1200" dirty="0">
                <a:solidFill>
                  <a:srgbClr val="111111"/>
                </a:solidFill>
              </a:rPr>
              <a:t>36K</a:t>
            </a:r>
            <a:endParaRPr lang="en-US" sz="1200" dirty="0"/>
          </a:p>
        </p:txBody>
      </p:sp>
      <p:sp>
        <p:nvSpPr>
          <p:cNvPr id="151" name="Shape 149"/>
          <p:cNvSpPr/>
          <p:nvPr/>
        </p:nvSpPr>
        <p:spPr>
          <a:xfrm>
            <a:off x="11887200" y="5120640"/>
            <a:ext cx="1170432" cy="384048"/>
          </a:xfrm>
          <a:prstGeom prst="rect">
            <a:avLst/>
          </a:prstGeom>
          <a:solidFill>
            <a:srgbClr val="F5C78E"/>
          </a:solidFill>
          <a:ln w="12700">
            <a:solidFill>
              <a:srgbClr val="E0B080"/>
            </a:solidFill>
            <a:prstDash val="solid"/>
          </a:ln>
        </p:spPr>
      </p:sp>
      <p:sp>
        <p:nvSpPr>
          <p:cNvPr id="152" name="Text 150"/>
          <p:cNvSpPr/>
          <p:nvPr/>
        </p:nvSpPr>
        <p:spPr>
          <a:xfrm>
            <a:off x="11887200" y="5120640"/>
            <a:ext cx="1170432" cy="384048"/>
          </a:xfrm>
          <a:prstGeom prst="rect">
            <a:avLst/>
          </a:prstGeom>
          <a:noFill/>
          <a:ln/>
        </p:spPr>
        <p:txBody>
          <a:bodyPr wrap="square" lIns="0" tIns="0" rIns="50800" bIns="0" rtlCol="0" anchor="ctr"/>
          <a:lstStyle/>
          <a:p>
            <a:pPr algn="r"/>
            <a:r>
              <a:rPr lang="en-US" sz="1200" dirty="0">
                <a:solidFill>
                  <a:srgbClr val="111111"/>
                </a:solidFill>
              </a:rPr>
              <a:t>50K</a:t>
            </a:r>
            <a:endParaRPr lang="en-US" sz="1200" dirty="0"/>
          </a:p>
        </p:txBody>
      </p:sp>
      <p:sp>
        <p:nvSpPr>
          <p:cNvPr id="153" name="Shape 151"/>
          <p:cNvSpPr/>
          <p:nvPr/>
        </p:nvSpPr>
        <p:spPr>
          <a:xfrm>
            <a:off x="13057632" y="5120640"/>
            <a:ext cx="1170432" cy="384048"/>
          </a:xfrm>
          <a:prstGeom prst="rect">
            <a:avLst/>
          </a:prstGeom>
          <a:solidFill>
            <a:srgbClr val="F5C78E"/>
          </a:solidFill>
          <a:ln w="12700">
            <a:solidFill>
              <a:srgbClr val="E0B080"/>
            </a:solidFill>
            <a:prstDash val="solid"/>
          </a:ln>
        </p:spPr>
      </p:sp>
      <p:sp>
        <p:nvSpPr>
          <p:cNvPr id="154" name="Text 152"/>
          <p:cNvSpPr/>
          <p:nvPr/>
        </p:nvSpPr>
        <p:spPr>
          <a:xfrm>
            <a:off x="13057632" y="5120640"/>
            <a:ext cx="1170432" cy="384048"/>
          </a:xfrm>
          <a:prstGeom prst="rect">
            <a:avLst/>
          </a:prstGeom>
          <a:noFill/>
          <a:ln/>
        </p:spPr>
        <p:txBody>
          <a:bodyPr wrap="square" lIns="0" tIns="0" rIns="50800" bIns="0" rtlCol="0" anchor="ctr"/>
          <a:lstStyle/>
          <a:p>
            <a:pPr algn="r"/>
            <a:r>
              <a:rPr lang="en-US" sz="1200" dirty="0">
                <a:solidFill>
                  <a:srgbClr val="111111"/>
                </a:solidFill>
              </a:rPr>
              <a:t>70K</a:t>
            </a:r>
            <a:endParaRPr lang="en-US" sz="1200" dirty="0"/>
          </a:p>
        </p:txBody>
      </p:sp>
      <p:sp>
        <p:nvSpPr>
          <p:cNvPr id="155" name="Shape 153"/>
          <p:cNvSpPr/>
          <p:nvPr/>
        </p:nvSpPr>
        <p:spPr>
          <a:xfrm>
            <a:off x="14228064" y="5120640"/>
            <a:ext cx="1170432" cy="384048"/>
          </a:xfrm>
          <a:prstGeom prst="rect">
            <a:avLst/>
          </a:prstGeom>
          <a:solidFill>
            <a:srgbClr val="F5C78E"/>
          </a:solidFill>
          <a:ln w="12700">
            <a:solidFill>
              <a:srgbClr val="E0B080"/>
            </a:solidFill>
            <a:prstDash val="solid"/>
          </a:ln>
        </p:spPr>
      </p:sp>
      <p:sp>
        <p:nvSpPr>
          <p:cNvPr id="156" name="Text 154"/>
          <p:cNvSpPr/>
          <p:nvPr/>
        </p:nvSpPr>
        <p:spPr>
          <a:xfrm>
            <a:off x="14228064" y="5120640"/>
            <a:ext cx="1170432" cy="384048"/>
          </a:xfrm>
          <a:prstGeom prst="rect">
            <a:avLst/>
          </a:prstGeom>
          <a:noFill/>
          <a:ln/>
        </p:spPr>
        <p:txBody>
          <a:bodyPr wrap="square" lIns="0" tIns="0" rIns="50800" bIns="0" rtlCol="0" anchor="ctr"/>
          <a:lstStyle/>
          <a:p>
            <a:pPr algn="r"/>
            <a:r>
              <a:rPr lang="en-US" sz="1200" dirty="0">
                <a:solidFill>
                  <a:srgbClr val="111111"/>
                </a:solidFill>
              </a:rPr>
              <a:t>86K</a:t>
            </a:r>
            <a:endParaRPr lang="en-US" sz="1200" dirty="0"/>
          </a:p>
        </p:txBody>
      </p:sp>
      <p:sp>
        <p:nvSpPr>
          <p:cNvPr id="157" name="Shape 155"/>
          <p:cNvSpPr/>
          <p:nvPr/>
        </p:nvSpPr>
        <p:spPr>
          <a:xfrm>
            <a:off x="15398496" y="5120640"/>
            <a:ext cx="1170432" cy="384048"/>
          </a:xfrm>
          <a:prstGeom prst="rect">
            <a:avLst/>
          </a:prstGeom>
          <a:solidFill>
            <a:srgbClr val="F5C78E"/>
          </a:solidFill>
          <a:ln w="12700">
            <a:solidFill>
              <a:srgbClr val="E0B080"/>
            </a:solidFill>
            <a:prstDash val="solid"/>
          </a:ln>
        </p:spPr>
      </p:sp>
      <p:sp>
        <p:nvSpPr>
          <p:cNvPr id="158" name="Text 156"/>
          <p:cNvSpPr/>
          <p:nvPr/>
        </p:nvSpPr>
        <p:spPr>
          <a:xfrm>
            <a:off x="15398496" y="5120640"/>
            <a:ext cx="1170432" cy="384048"/>
          </a:xfrm>
          <a:prstGeom prst="rect">
            <a:avLst/>
          </a:prstGeom>
          <a:noFill/>
          <a:ln/>
        </p:spPr>
        <p:txBody>
          <a:bodyPr wrap="square" lIns="0" tIns="0" rIns="50800" bIns="0" rtlCol="0" anchor="ctr"/>
          <a:lstStyle/>
          <a:p>
            <a:pPr algn="r"/>
            <a:r>
              <a:rPr lang="en-US" sz="1200" dirty="0">
                <a:solidFill>
                  <a:srgbClr val="111111"/>
                </a:solidFill>
              </a:rPr>
              <a:t>1.0L</a:t>
            </a:r>
            <a:endParaRPr lang="en-US" sz="1200" dirty="0"/>
          </a:p>
        </p:txBody>
      </p:sp>
      <p:sp>
        <p:nvSpPr>
          <p:cNvPr id="159" name="Shape 157"/>
          <p:cNvSpPr/>
          <p:nvPr/>
        </p:nvSpPr>
        <p:spPr>
          <a:xfrm>
            <a:off x="16568928" y="5120640"/>
            <a:ext cx="1170432" cy="384048"/>
          </a:xfrm>
          <a:prstGeom prst="rect">
            <a:avLst/>
          </a:prstGeom>
          <a:solidFill>
            <a:srgbClr val="F5C78E"/>
          </a:solidFill>
          <a:ln w="12700">
            <a:solidFill>
              <a:srgbClr val="E0B080"/>
            </a:solidFill>
            <a:prstDash val="solid"/>
          </a:ln>
        </p:spPr>
      </p:sp>
      <p:sp>
        <p:nvSpPr>
          <p:cNvPr id="160" name="Text 158"/>
          <p:cNvSpPr/>
          <p:nvPr/>
        </p:nvSpPr>
        <p:spPr>
          <a:xfrm>
            <a:off x="16568928" y="5120640"/>
            <a:ext cx="1170432" cy="384048"/>
          </a:xfrm>
          <a:prstGeom prst="rect">
            <a:avLst/>
          </a:prstGeom>
          <a:noFill/>
          <a:ln/>
        </p:spPr>
        <p:txBody>
          <a:bodyPr wrap="square" lIns="0" tIns="0" rIns="50800" bIns="0" rtlCol="0" anchor="ctr"/>
          <a:lstStyle/>
          <a:p>
            <a:pPr algn="r"/>
            <a:r>
              <a:rPr lang="en-US" sz="1200" dirty="0">
                <a:solidFill>
                  <a:srgbClr val="111111"/>
                </a:solidFill>
              </a:rPr>
              <a:t>1.2L</a:t>
            </a:r>
            <a:endParaRPr lang="en-US" sz="1200" dirty="0"/>
          </a:p>
        </p:txBody>
      </p:sp>
      <p:sp>
        <p:nvSpPr>
          <p:cNvPr id="161" name="Shape 159"/>
          <p:cNvSpPr/>
          <p:nvPr/>
        </p:nvSpPr>
        <p:spPr>
          <a:xfrm>
            <a:off x="17739360" y="5120640"/>
            <a:ext cx="1170432" cy="384048"/>
          </a:xfrm>
          <a:prstGeom prst="rect">
            <a:avLst/>
          </a:prstGeom>
          <a:solidFill>
            <a:srgbClr val="F5C78E"/>
          </a:solidFill>
          <a:ln w="12700">
            <a:solidFill>
              <a:srgbClr val="E0B080"/>
            </a:solidFill>
            <a:prstDash val="solid"/>
          </a:ln>
        </p:spPr>
      </p:sp>
      <p:sp>
        <p:nvSpPr>
          <p:cNvPr id="162" name="Text 160"/>
          <p:cNvSpPr/>
          <p:nvPr/>
        </p:nvSpPr>
        <p:spPr>
          <a:xfrm>
            <a:off x="17739360" y="5120640"/>
            <a:ext cx="1170432" cy="384048"/>
          </a:xfrm>
          <a:prstGeom prst="rect">
            <a:avLst/>
          </a:prstGeom>
          <a:noFill/>
          <a:ln/>
        </p:spPr>
        <p:txBody>
          <a:bodyPr wrap="square" lIns="0" tIns="0" rIns="50800" bIns="0" rtlCol="0" anchor="ctr"/>
          <a:lstStyle/>
          <a:p>
            <a:pPr algn="r"/>
            <a:r>
              <a:rPr lang="en-US" sz="1200" dirty="0">
                <a:solidFill>
                  <a:srgbClr val="111111"/>
                </a:solidFill>
              </a:rPr>
              <a:t>5.1L</a:t>
            </a:r>
            <a:endParaRPr lang="en-US" sz="1200" dirty="0"/>
          </a:p>
        </p:txBody>
      </p:sp>
      <p:sp>
        <p:nvSpPr>
          <p:cNvPr id="163" name="Shape 161"/>
          <p:cNvSpPr/>
          <p:nvPr/>
        </p:nvSpPr>
        <p:spPr>
          <a:xfrm>
            <a:off x="548640" y="5504688"/>
            <a:ext cx="3145536" cy="384048"/>
          </a:xfrm>
          <a:prstGeom prst="rect">
            <a:avLst/>
          </a:prstGeom>
          <a:solidFill>
            <a:srgbClr val="FFD966"/>
          </a:solidFill>
          <a:ln w="12700">
            <a:solidFill>
              <a:srgbClr val="E0B080"/>
            </a:solidFill>
            <a:prstDash val="solid"/>
          </a:ln>
        </p:spPr>
      </p:sp>
      <p:sp>
        <p:nvSpPr>
          <p:cNvPr id="164" name="Text 162"/>
          <p:cNvSpPr/>
          <p:nvPr/>
        </p:nvSpPr>
        <p:spPr>
          <a:xfrm>
            <a:off x="621792" y="5504688"/>
            <a:ext cx="3035808" cy="384048"/>
          </a:xfrm>
          <a:prstGeom prst="rect">
            <a:avLst/>
          </a:prstGeom>
          <a:noFill/>
          <a:ln/>
        </p:spPr>
        <p:txBody>
          <a:bodyPr wrap="square" rtlCol="0" anchor="ctr"/>
          <a:lstStyle/>
          <a:p>
            <a:r>
              <a:rPr lang="en-US" sz="1300" b="1" dirty="0">
                <a:solidFill>
                  <a:srgbClr val="111111"/>
                </a:solidFill>
              </a:rPr>
              <a:t>Gross profit</a:t>
            </a:r>
            <a:endParaRPr lang="en-US" sz="1300" dirty="0"/>
          </a:p>
        </p:txBody>
      </p:sp>
      <p:sp>
        <p:nvSpPr>
          <p:cNvPr id="165" name="Shape 163"/>
          <p:cNvSpPr/>
          <p:nvPr/>
        </p:nvSpPr>
        <p:spPr>
          <a:xfrm>
            <a:off x="3694176" y="5504688"/>
            <a:ext cx="1170432" cy="384048"/>
          </a:xfrm>
          <a:prstGeom prst="rect">
            <a:avLst/>
          </a:prstGeom>
          <a:solidFill>
            <a:srgbClr val="FFD966"/>
          </a:solidFill>
          <a:ln w="12700">
            <a:solidFill>
              <a:srgbClr val="E0B080"/>
            </a:solidFill>
            <a:prstDash val="solid"/>
          </a:ln>
        </p:spPr>
      </p:sp>
      <p:sp>
        <p:nvSpPr>
          <p:cNvPr id="166" name="Text 164"/>
          <p:cNvSpPr/>
          <p:nvPr/>
        </p:nvSpPr>
        <p:spPr>
          <a:xfrm>
            <a:off x="3694176" y="5504688"/>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67" name="Shape 165"/>
          <p:cNvSpPr/>
          <p:nvPr/>
        </p:nvSpPr>
        <p:spPr>
          <a:xfrm>
            <a:off x="4864608" y="5504688"/>
            <a:ext cx="1170432" cy="384048"/>
          </a:xfrm>
          <a:prstGeom prst="rect">
            <a:avLst/>
          </a:prstGeom>
          <a:solidFill>
            <a:srgbClr val="FFD966"/>
          </a:solidFill>
          <a:ln w="12700">
            <a:solidFill>
              <a:srgbClr val="E0B080"/>
            </a:solidFill>
            <a:prstDash val="solid"/>
          </a:ln>
        </p:spPr>
      </p:sp>
      <p:sp>
        <p:nvSpPr>
          <p:cNvPr id="168" name="Text 166"/>
          <p:cNvSpPr/>
          <p:nvPr/>
        </p:nvSpPr>
        <p:spPr>
          <a:xfrm>
            <a:off x="4864608" y="5504688"/>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69" name="Shape 167"/>
          <p:cNvSpPr/>
          <p:nvPr/>
        </p:nvSpPr>
        <p:spPr>
          <a:xfrm>
            <a:off x="6035040" y="5504688"/>
            <a:ext cx="1170432" cy="384048"/>
          </a:xfrm>
          <a:prstGeom prst="rect">
            <a:avLst/>
          </a:prstGeom>
          <a:solidFill>
            <a:srgbClr val="FFD966"/>
          </a:solidFill>
          <a:ln w="12700">
            <a:solidFill>
              <a:srgbClr val="E0B080"/>
            </a:solidFill>
            <a:prstDash val="solid"/>
          </a:ln>
        </p:spPr>
      </p:sp>
      <p:sp>
        <p:nvSpPr>
          <p:cNvPr id="170" name="Text 168"/>
          <p:cNvSpPr/>
          <p:nvPr/>
        </p:nvSpPr>
        <p:spPr>
          <a:xfrm>
            <a:off x="6035040" y="5504688"/>
            <a:ext cx="1170432" cy="384048"/>
          </a:xfrm>
          <a:prstGeom prst="rect">
            <a:avLst/>
          </a:prstGeom>
          <a:noFill/>
          <a:ln/>
        </p:spPr>
        <p:txBody>
          <a:bodyPr wrap="square" lIns="0" tIns="0" rIns="50800" bIns="0" rtlCol="0" anchor="ctr"/>
          <a:lstStyle/>
          <a:p>
            <a:pPr algn="r"/>
            <a:r>
              <a:rPr lang="en-US" sz="1200" b="1" dirty="0">
                <a:solidFill>
                  <a:srgbClr val="111111"/>
                </a:solidFill>
              </a:rPr>
              <a:t>0</a:t>
            </a:r>
            <a:endParaRPr lang="en-US" sz="1200" dirty="0"/>
          </a:p>
        </p:txBody>
      </p:sp>
      <p:sp>
        <p:nvSpPr>
          <p:cNvPr id="171" name="Shape 169"/>
          <p:cNvSpPr/>
          <p:nvPr/>
        </p:nvSpPr>
        <p:spPr>
          <a:xfrm>
            <a:off x="7205472" y="5504688"/>
            <a:ext cx="1170432" cy="384048"/>
          </a:xfrm>
          <a:prstGeom prst="rect">
            <a:avLst/>
          </a:prstGeom>
          <a:solidFill>
            <a:srgbClr val="FFD966"/>
          </a:solidFill>
          <a:ln w="12700">
            <a:solidFill>
              <a:srgbClr val="E0B080"/>
            </a:solidFill>
            <a:prstDash val="solid"/>
          </a:ln>
        </p:spPr>
      </p:sp>
      <p:sp>
        <p:nvSpPr>
          <p:cNvPr id="172" name="Text 170"/>
          <p:cNvSpPr/>
          <p:nvPr/>
        </p:nvSpPr>
        <p:spPr>
          <a:xfrm>
            <a:off x="7205472" y="5504688"/>
            <a:ext cx="1170432" cy="384048"/>
          </a:xfrm>
          <a:prstGeom prst="rect">
            <a:avLst/>
          </a:prstGeom>
          <a:noFill/>
          <a:ln/>
        </p:spPr>
        <p:txBody>
          <a:bodyPr wrap="square" lIns="0" tIns="0" rIns="50800" bIns="0" rtlCol="0" anchor="ctr"/>
          <a:lstStyle/>
          <a:p>
            <a:pPr algn="r"/>
            <a:r>
              <a:rPr lang="en-US" sz="1200" b="1" dirty="0">
                <a:solidFill>
                  <a:srgbClr val="111111"/>
                </a:solidFill>
              </a:rPr>
              <a:t>40K</a:t>
            </a:r>
            <a:endParaRPr lang="en-US" sz="1200" dirty="0"/>
          </a:p>
        </p:txBody>
      </p:sp>
      <p:sp>
        <p:nvSpPr>
          <p:cNvPr id="173" name="Shape 171"/>
          <p:cNvSpPr/>
          <p:nvPr/>
        </p:nvSpPr>
        <p:spPr>
          <a:xfrm>
            <a:off x="8375904" y="5504688"/>
            <a:ext cx="1170432" cy="384048"/>
          </a:xfrm>
          <a:prstGeom prst="rect">
            <a:avLst/>
          </a:prstGeom>
          <a:solidFill>
            <a:srgbClr val="FFD966"/>
          </a:solidFill>
          <a:ln w="12700">
            <a:solidFill>
              <a:srgbClr val="E0B080"/>
            </a:solidFill>
            <a:prstDash val="solid"/>
          </a:ln>
        </p:spPr>
      </p:sp>
      <p:sp>
        <p:nvSpPr>
          <p:cNvPr id="174" name="Text 172"/>
          <p:cNvSpPr/>
          <p:nvPr/>
        </p:nvSpPr>
        <p:spPr>
          <a:xfrm>
            <a:off x="8375904" y="5504688"/>
            <a:ext cx="1170432" cy="384048"/>
          </a:xfrm>
          <a:prstGeom prst="rect">
            <a:avLst/>
          </a:prstGeom>
          <a:noFill/>
          <a:ln/>
        </p:spPr>
        <p:txBody>
          <a:bodyPr wrap="square" lIns="0" tIns="0" rIns="50800" bIns="0" rtlCol="0" anchor="ctr"/>
          <a:lstStyle/>
          <a:p>
            <a:pPr algn="r"/>
            <a:r>
              <a:rPr lang="en-US" sz="1200" b="1" dirty="0">
                <a:solidFill>
                  <a:srgbClr val="111111"/>
                </a:solidFill>
              </a:rPr>
              <a:t>64K</a:t>
            </a:r>
            <a:endParaRPr lang="en-US" sz="1200" dirty="0"/>
          </a:p>
        </p:txBody>
      </p:sp>
      <p:sp>
        <p:nvSpPr>
          <p:cNvPr id="175" name="Shape 173"/>
          <p:cNvSpPr/>
          <p:nvPr/>
        </p:nvSpPr>
        <p:spPr>
          <a:xfrm>
            <a:off x="9546336" y="5504688"/>
            <a:ext cx="1170432" cy="384048"/>
          </a:xfrm>
          <a:prstGeom prst="rect">
            <a:avLst/>
          </a:prstGeom>
          <a:solidFill>
            <a:srgbClr val="FFD966"/>
          </a:solidFill>
          <a:ln w="12700">
            <a:solidFill>
              <a:srgbClr val="E0B080"/>
            </a:solidFill>
            <a:prstDash val="solid"/>
          </a:ln>
        </p:spPr>
      </p:sp>
      <p:sp>
        <p:nvSpPr>
          <p:cNvPr id="176" name="Text 174"/>
          <p:cNvSpPr/>
          <p:nvPr/>
        </p:nvSpPr>
        <p:spPr>
          <a:xfrm>
            <a:off x="9546336" y="5504688"/>
            <a:ext cx="1170432" cy="384048"/>
          </a:xfrm>
          <a:prstGeom prst="rect">
            <a:avLst/>
          </a:prstGeom>
          <a:noFill/>
          <a:ln/>
        </p:spPr>
        <p:txBody>
          <a:bodyPr wrap="square" lIns="0" tIns="0" rIns="50800" bIns="0" rtlCol="0" anchor="ctr"/>
          <a:lstStyle/>
          <a:p>
            <a:pPr algn="r"/>
            <a:r>
              <a:rPr lang="en-US" sz="1200" b="1" dirty="0">
                <a:solidFill>
                  <a:srgbClr val="111111"/>
                </a:solidFill>
              </a:rPr>
              <a:t>96K</a:t>
            </a:r>
            <a:endParaRPr lang="en-US" sz="1200" dirty="0"/>
          </a:p>
        </p:txBody>
      </p:sp>
      <p:sp>
        <p:nvSpPr>
          <p:cNvPr id="177" name="Shape 175"/>
          <p:cNvSpPr/>
          <p:nvPr/>
        </p:nvSpPr>
        <p:spPr>
          <a:xfrm>
            <a:off x="10716768" y="5504688"/>
            <a:ext cx="1170432" cy="384048"/>
          </a:xfrm>
          <a:prstGeom prst="rect">
            <a:avLst/>
          </a:prstGeom>
          <a:solidFill>
            <a:srgbClr val="FFD966"/>
          </a:solidFill>
          <a:ln w="12700">
            <a:solidFill>
              <a:srgbClr val="E0B080"/>
            </a:solidFill>
            <a:prstDash val="solid"/>
          </a:ln>
        </p:spPr>
      </p:sp>
      <p:sp>
        <p:nvSpPr>
          <p:cNvPr id="178" name="Text 176"/>
          <p:cNvSpPr/>
          <p:nvPr/>
        </p:nvSpPr>
        <p:spPr>
          <a:xfrm>
            <a:off x="10716768" y="5504688"/>
            <a:ext cx="1170432" cy="384048"/>
          </a:xfrm>
          <a:prstGeom prst="rect">
            <a:avLst/>
          </a:prstGeom>
          <a:noFill/>
          <a:ln/>
        </p:spPr>
        <p:txBody>
          <a:bodyPr wrap="square" lIns="0" tIns="0" rIns="50800" bIns="0" rtlCol="0" anchor="ctr"/>
          <a:lstStyle/>
          <a:p>
            <a:pPr algn="r"/>
            <a:r>
              <a:rPr lang="en-US" sz="1200" b="1" dirty="0">
                <a:solidFill>
                  <a:srgbClr val="111111"/>
                </a:solidFill>
              </a:rPr>
              <a:t>1.4L</a:t>
            </a:r>
            <a:endParaRPr lang="en-US" sz="1200" dirty="0"/>
          </a:p>
        </p:txBody>
      </p:sp>
      <p:sp>
        <p:nvSpPr>
          <p:cNvPr id="179" name="Shape 177"/>
          <p:cNvSpPr/>
          <p:nvPr/>
        </p:nvSpPr>
        <p:spPr>
          <a:xfrm>
            <a:off x="11887200" y="5504688"/>
            <a:ext cx="1170432" cy="384048"/>
          </a:xfrm>
          <a:prstGeom prst="rect">
            <a:avLst/>
          </a:prstGeom>
          <a:solidFill>
            <a:srgbClr val="FFD966"/>
          </a:solidFill>
          <a:ln w="12700">
            <a:solidFill>
              <a:srgbClr val="E0B080"/>
            </a:solidFill>
            <a:prstDash val="solid"/>
          </a:ln>
        </p:spPr>
      </p:sp>
      <p:sp>
        <p:nvSpPr>
          <p:cNvPr id="180" name="Text 178"/>
          <p:cNvSpPr/>
          <p:nvPr/>
        </p:nvSpPr>
        <p:spPr>
          <a:xfrm>
            <a:off x="11887200" y="5504688"/>
            <a:ext cx="1170432" cy="384048"/>
          </a:xfrm>
          <a:prstGeom prst="rect">
            <a:avLst/>
          </a:prstGeom>
          <a:noFill/>
          <a:ln/>
        </p:spPr>
        <p:txBody>
          <a:bodyPr wrap="square" lIns="0" tIns="0" rIns="50800" bIns="0" rtlCol="0" anchor="ctr"/>
          <a:lstStyle/>
          <a:p>
            <a:pPr algn="r"/>
            <a:r>
              <a:rPr lang="en-US" sz="1200" b="1" dirty="0">
                <a:solidFill>
                  <a:srgbClr val="111111"/>
                </a:solidFill>
              </a:rPr>
              <a:t>2.0L</a:t>
            </a:r>
            <a:endParaRPr lang="en-US" sz="1200" dirty="0"/>
          </a:p>
        </p:txBody>
      </p:sp>
      <p:sp>
        <p:nvSpPr>
          <p:cNvPr id="181" name="Shape 179"/>
          <p:cNvSpPr/>
          <p:nvPr/>
        </p:nvSpPr>
        <p:spPr>
          <a:xfrm>
            <a:off x="13057632" y="5504688"/>
            <a:ext cx="1170432" cy="384048"/>
          </a:xfrm>
          <a:prstGeom prst="rect">
            <a:avLst/>
          </a:prstGeom>
          <a:solidFill>
            <a:srgbClr val="FFD966"/>
          </a:solidFill>
          <a:ln w="12700">
            <a:solidFill>
              <a:srgbClr val="E0B080"/>
            </a:solidFill>
            <a:prstDash val="solid"/>
          </a:ln>
        </p:spPr>
      </p:sp>
      <p:sp>
        <p:nvSpPr>
          <p:cNvPr id="182" name="Text 180"/>
          <p:cNvSpPr/>
          <p:nvPr/>
        </p:nvSpPr>
        <p:spPr>
          <a:xfrm>
            <a:off x="13057632" y="5504688"/>
            <a:ext cx="1170432" cy="384048"/>
          </a:xfrm>
          <a:prstGeom prst="rect">
            <a:avLst/>
          </a:prstGeom>
          <a:noFill/>
          <a:ln/>
        </p:spPr>
        <p:txBody>
          <a:bodyPr wrap="square" lIns="0" tIns="0" rIns="50800" bIns="0" rtlCol="0" anchor="ctr"/>
          <a:lstStyle/>
          <a:p>
            <a:pPr algn="r"/>
            <a:r>
              <a:rPr lang="en-US" sz="1200" b="1" dirty="0">
                <a:solidFill>
                  <a:srgbClr val="111111"/>
                </a:solidFill>
              </a:rPr>
              <a:t>2.8L</a:t>
            </a:r>
            <a:endParaRPr lang="en-US" sz="1200" dirty="0"/>
          </a:p>
        </p:txBody>
      </p:sp>
      <p:sp>
        <p:nvSpPr>
          <p:cNvPr id="183" name="Shape 181"/>
          <p:cNvSpPr/>
          <p:nvPr/>
        </p:nvSpPr>
        <p:spPr>
          <a:xfrm>
            <a:off x="14228064" y="5504688"/>
            <a:ext cx="1170432" cy="384048"/>
          </a:xfrm>
          <a:prstGeom prst="rect">
            <a:avLst/>
          </a:prstGeom>
          <a:solidFill>
            <a:srgbClr val="FFD966"/>
          </a:solidFill>
          <a:ln w="12700">
            <a:solidFill>
              <a:srgbClr val="E0B080"/>
            </a:solidFill>
            <a:prstDash val="solid"/>
          </a:ln>
        </p:spPr>
      </p:sp>
      <p:sp>
        <p:nvSpPr>
          <p:cNvPr id="184" name="Text 182"/>
          <p:cNvSpPr/>
          <p:nvPr/>
        </p:nvSpPr>
        <p:spPr>
          <a:xfrm>
            <a:off x="14228064" y="5504688"/>
            <a:ext cx="1170432" cy="384048"/>
          </a:xfrm>
          <a:prstGeom prst="rect">
            <a:avLst/>
          </a:prstGeom>
          <a:noFill/>
          <a:ln/>
        </p:spPr>
        <p:txBody>
          <a:bodyPr wrap="square" lIns="0" tIns="0" rIns="50800" bIns="0" rtlCol="0" anchor="ctr"/>
          <a:lstStyle/>
          <a:p>
            <a:pPr algn="r"/>
            <a:r>
              <a:rPr lang="en-US" sz="1200" b="1" dirty="0">
                <a:solidFill>
                  <a:srgbClr val="111111"/>
                </a:solidFill>
              </a:rPr>
              <a:t>3.4L</a:t>
            </a:r>
            <a:endParaRPr lang="en-US" sz="1200" dirty="0"/>
          </a:p>
        </p:txBody>
      </p:sp>
      <p:sp>
        <p:nvSpPr>
          <p:cNvPr id="185" name="Shape 183"/>
          <p:cNvSpPr/>
          <p:nvPr/>
        </p:nvSpPr>
        <p:spPr>
          <a:xfrm>
            <a:off x="15398496" y="5504688"/>
            <a:ext cx="1170432" cy="384048"/>
          </a:xfrm>
          <a:prstGeom prst="rect">
            <a:avLst/>
          </a:prstGeom>
          <a:solidFill>
            <a:srgbClr val="FFD966"/>
          </a:solidFill>
          <a:ln w="12700">
            <a:solidFill>
              <a:srgbClr val="E0B080"/>
            </a:solidFill>
            <a:prstDash val="solid"/>
          </a:ln>
        </p:spPr>
      </p:sp>
      <p:sp>
        <p:nvSpPr>
          <p:cNvPr id="186" name="Text 184"/>
          <p:cNvSpPr/>
          <p:nvPr/>
        </p:nvSpPr>
        <p:spPr>
          <a:xfrm>
            <a:off x="15398496" y="5504688"/>
            <a:ext cx="1170432" cy="384048"/>
          </a:xfrm>
          <a:prstGeom prst="rect">
            <a:avLst/>
          </a:prstGeom>
          <a:noFill/>
          <a:ln/>
        </p:spPr>
        <p:txBody>
          <a:bodyPr wrap="square" lIns="0" tIns="0" rIns="50800" bIns="0" rtlCol="0" anchor="ctr"/>
          <a:lstStyle/>
          <a:p>
            <a:pPr algn="r"/>
            <a:r>
              <a:rPr lang="en-US" sz="1200" b="1" dirty="0">
                <a:solidFill>
                  <a:srgbClr val="111111"/>
                </a:solidFill>
              </a:rPr>
              <a:t>4.0L</a:t>
            </a:r>
            <a:endParaRPr lang="en-US" sz="1200" dirty="0"/>
          </a:p>
        </p:txBody>
      </p:sp>
      <p:sp>
        <p:nvSpPr>
          <p:cNvPr id="187" name="Shape 185"/>
          <p:cNvSpPr/>
          <p:nvPr/>
        </p:nvSpPr>
        <p:spPr>
          <a:xfrm>
            <a:off x="16568928" y="5504688"/>
            <a:ext cx="1170432" cy="384048"/>
          </a:xfrm>
          <a:prstGeom prst="rect">
            <a:avLst/>
          </a:prstGeom>
          <a:solidFill>
            <a:srgbClr val="FFD966"/>
          </a:solidFill>
          <a:ln w="12700">
            <a:solidFill>
              <a:srgbClr val="E0B080"/>
            </a:solidFill>
            <a:prstDash val="solid"/>
          </a:ln>
        </p:spPr>
      </p:sp>
      <p:sp>
        <p:nvSpPr>
          <p:cNvPr id="188" name="Text 186"/>
          <p:cNvSpPr/>
          <p:nvPr/>
        </p:nvSpPr>
        <p:spPr>
          <a:xfrm>
            <a:off x="16568928" y="5504688"/>
            <a:ext cx="1170432" cy="384048"/>
          </a:xfrm>
          <a:prstGeom prst="rect">
            <a:avLst/>
          </a:prstGeom>
          <a:noFill/>
          <a:ln/>
        </p:spPr>
        <p:txBody>
          <a:bodyPr wrap="square" lIns="0" tIns="0" rIns="50800" bIns="0" rtlCol="0" anchor="ctr"/>
          <a:lstStyle/>
          <a:p>
            <a:pPr algn="r"/>
            <a:r>
              <a:rPr lang="en-US" sz="1200" b="1" dirty="0">
                <a:solidFill>
                  <a:srgbClr val="111111"/>
                </a:solidFill>
              </a:rPr>
              <a:t>4.8L</a:t>
            </a:r>
            <a:endParaRPr lang="en-US" sz="1200" dirty="0"/>
          </a:p>
        </p:txBody>
      </p:sp>
      <p:sp>
        <p:nvSpPr>
          <p:cNvPr id="189" name="Shape 187"/>
          <p:cNvSpPr/>
          <p:nvPr/>
        </p:nvSpPr>
        <p:spPr>
          <a:xfrm>
            <a:off x="17739360" y="5504688"/>
            <a:ext cx="1170432" cy="384048"/>
          </a:xfrm>
          <a:prstGeom prst="rect">
            <a:avLst/>
          </a:prstGeom>
          <a:solidFill>
            <a:srgbClr val="FFD966"/>
          </a:solidFill>
          <a:ln w="12700">
            <a:solidFill>
              <a:srgbClr val="E0B080"/>
            </a:solidFill>
            <a:prstDash val="solid"/>
          </a:ln>
        </p:spPr>
      </p:sp>
      <p:sp>
        <p:nvSpPr>
          <p:cNvPr id="190" name="Text 188"/>
          <p:cNvSpPr/>
          <p:nvPr/>
        </p:nvSpPr>
        <p:spPr>
          <a:xfrm>
            <a:off x="17739360" y="5504688"/>
            <a:ext cx="1170432" cy="384048"/>
          </a:xfrm>
          <a:prstGeom prst="rect">
            <a:avLst/>
          </a:prstGeom>
          <a:noFill/>
          <a:ln/>
        </p:spPr>
        <p:txBody>
          <a:bodyPr wrap="square" lIns="0" tIns="0" rIns="50800" bIns="0" rtlCol="0" anchor="ctr"/>
          <a:lstStyle/>
          <a:p>
            <a:pPr algn="r"/>
            <a:r>
              <a:rPr lang="en-US" sz="1200" b="1" dirty="0">
                <a:solidFill>
                  <a:srgbClr val="111111"/>
                </a:solidFill>
              </a:rPr>
              <a:t>20.5L</a:t>
            </a:r>
            <a:endParaRPr lang="en-US" sz="1200" dirty="0"/>
          </a:p>
        </p:txBody>
      </p:sp>
      <p:sp>
        <p:nvSpPr>
          <p:cNvPr id="191" name="Text 189"/>
          <p:cNvSpPr/>
          <p:nvPr/>
        </p:nvSpPr>
        <p:spPr>
          <a:xfrm>
            <a:off x="548640" y="5961888"/>
            <a:ext cx="18361152" cy="402336"/>
          </a:xfrm>
          <a:prstGeom prst="rect">
            <a:avLst/>
          </a:prstGeom>
          <a:noFill/>
          <a:ln/>
        </p:spPr>
        <p:txBody>
          <a:bodyPr wrap="square" rtlCol="0" anchor="ctr"/>
          <a:lstStyle/>
          <a:p>
            <a:r>
              <a:rPr lang="en-US" sz="1600" b="1" dirty="0">
                <a:solidFill>
                  <a:srgbClr val="111111"/>
                </a:solidFill>
              </a:rPr>
              <a:t>Operating Expenses</a:t>
            </a:r>
            <a:endParaRPr lang="en-US" sz="1600" dirty="0"/>
          </a:p>
        </p:txBody>
      </p:sp>
      <p:sp>
        <p:nvSpPr>
          <p:cNvPr id="192" name="Shape 190"/>
          <p:cNvSpPr/>
          <p:nvPr/>
        </p:nvSpPr>
        <p:spPr>
          <a:xfrm>
            <a:off x="548640" y="6364224"/>
            <a:ext cx="3145536" cy="384048"/>
          </a:xfrm>
          <a:prstGeom prst="rect">
            <a:avLst/>
          </a:prstGeom>
          <a:solidFill>
            <a:srgbClr val="F5C78E"/>
          </a:solidFill>
          <a:ln w="12700">
            <a:solidFill>
              <a:srgbClr val="E0B080"/>
            </a:solidFill>
            <a:prstDash val="solid"/>
          </a:ln>
        </p:spPr>
      </p:sp>
      <p:sp>
        <p:nvSpPr>
          <p:cNvPr id="193" name="Text 191"/>
          <p:cNvSpPr/>
          <p:nvPr/>
        </p:nvSpPr>
        <p:spPr>
          <a:xfrm>
            <a:off x="621792" y="6364224"/>
            <a:ext cx="3035808" cy="384048"/>
          </a:xfrm>
          <a:prstGeom prst="rect">
            <a:avLst/>
          </a:prstGeom>
          <a:noFill/>
          <a:ln/>
        </p:spPr>
        <p:txBody>
          <a:bodyPr wrap="square" rtlCol="0" anchor="ctr"/>
          <a:lstStyle/>
          <a:p>
            <a:r>
              <a:rPr lang="en-US" sz="1300" dirty="0">
                <a:solidFill>
                  <a:srgbClr val="111111"/>
                </a:solidFill>
              </a:rPr>
              <a:t>Salaries and Consultant Fees</a:t>
            </a:r>
            <a:endParaRPr lang="en-US" sz="1300" dirty="0"/>
          </a:p>
        </p:txBody>
      </p:sp>
      <p:sp>
        <p:nvSpPr>
          <p:cNvPr id="194" name="Shape 192"/>
          <p:cNvSpPr/>
          <p:nvPr/>
        </p:nvSpPr>
        <p:spPr>
          <a:xfrm>
            <a:off x="3694176" y="6364224"/>
            <a:ext cx="1170432" cy="384048"/>
          </a:xfrm>
          <a:prstGeom prst="rect">
            <a:avLst/>
          </a:prstGeom>
          <a:solidFill>
            <a:srgbClr val="F5C78E"/>
          </a:solidFill>
          <a:ln w="12700">
            <a:solidFill>
              <a:srgbClr val="E0B080"/>
            </a:solidFill>
            <a:prstDash val="solid"/>
          </a:ln>
        </p:spPr>
      </p:sp>
      <p:sp>
        <p:nvSpPr>
          <p:cNvPr id="195" name="Text 193"/>
          <p:cNvSpPr/>
          <p:nvPr/>
        </p:nvSpPr>
        <p:spPr>
          <a:xfrm>
            <a:off x="3694176"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196" name="Shape 194"/>
          <p:cNvSpPr/>
          <p:nvPr/>
        </p:nvSpPr>
        <p:spPr>
          <a:xfrm>
            <a:off x="4864608" y="6364224"/>
            <a:ext cx="1170432" cy="384048"/>
          </a:xfrm>
          <a:prstGeom prst="rect">
            <a:avLst/>
          </a:prstGeom>
          <a:solidFill>
            <a:srgbClr val="F5C78E"/>
          </a:solidFill>
          <a:ln w="12700">
            <a:solidFill>
              <a:srgbClr val="E0B080"/>
            </a:solidFill>
            <a:prstDash val="solid"/>
          </a:ln>
        </p:spPr>
      </p:sp>
      <p:sp>
        <p:nvSpPr>
          <p:cNvPr id="197" name="Text 195"/>
          <p:cNvSpPr/>
          <p:nvPr/>
        </p:nvSpPr>
        <p:spPr>
          <a:xfrm>
            <a:off x="4864608"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198" name="Shape 196"/>
          <p:cNvSpPr/>
          <p:nvPr/>
        </p:nvSpPr>
        <p:spPr>
          <a:xfrm>
            <a:off x="6035040" y="6364224"/>
            <a:ext cx="1170432" cy="384048"/>
          </a:xfrm>
          <a:prstGeom prst="rect">
            <a:avLst/>
          </a:prstGeom>
          <a:solidFill>
            <a:srgbClr val="F5C78E"/>
          </a:solidFill>
          <a:ln w="12700">
            <a:solidFill>
              <a:srgbClr val="E0B080"/>
            </a:solidFill>
            <a:prstDash val="solid"/>
          </a:ln>
        </p:spPr>
      </p:sp>
      <p:sp>
        <p:nvSpPr>
          <p:cNvPr id="199" name="Text 197"/>
          <p:cNvSpPr/>
          <p:nvPr/>
        </p:nvSpPr>
        <p:spPr>
          <a:xfrm>
            <a:off x="6035040"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00" name="Shape 198"/>
          <p:cNvSpPr/>
          <p:nvPr/>
        </p:nvSpPr>
        <p:spPr>
          <a:xfrm>
            <a:off x="7205472" y="6364224"/>
            <a:ext cx="1170432" cy="384048"/>
          </a:xfrm>
          <a:prstGeom prst="rect">
            <a:avLst/>
          </a:prstGeom>
          <a:solidFill>
            <a:srgbClr val="F5C78E"/>
          </a:solidFill>
          <a:ln w="12700">
            <a:solidFill>
              <a:srgbClr val="E0B080"/>
            </a:solidFill>
            <a:prstDash val="solid"/>
          </a:ln>
        </p:spPr>
      </p:sp>
      <p:sp>
        <p:nvSpPr>
          <p:cNvPr id="201" name="Text 199"/>
          <p:cNvSpPr/>
          <p:nvPr/>
        </p:nvSpPr>
        <p:spPr>
          <a:xfrm>
            <a:off x="7205472"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02" name="Shape 200"/>
          <p:cNvSpPr/>
          <p:nvPr/>
        </p:nvSpPr>
        <p:spPr>
          <a:xfrm>
            <a:off x="8375904" y="6364224"/>
            <a:ext cx="1170432" cy="384048"/>
          </a:xfrm>
          <a:prstGeom prst="rect">
            <a:avLst/>
          </a:prstGeom>
          <a:solidFill>
            <a:srgbClr val="F5C78E"/>
          </a:solidFill>
          <a:ln w="12700">
            <a:solidFill>
              <a:srgbClr val="E0B080"/>
            </a:solidFill>
            <a:prstDash val="solid"/>
          </a:ln>
        </p:spPr>
      </p:sp>
      <p:sp>
        <p:nvSpPr>
          <p:cNvPr id="203" name="Text 201"/>
          <p:cNvSpPr/>
          <p:nvPr/>
        </p:nvSpPr>
        <p:spPr>
          <a:xfrm>
            <a:off x="8375904"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04" name="Shape 202"/>
          <p:cNvSpPr/>
          <p:nvPr/>
        </p:nvSpPr>
        <p:spPr>
          <a:xfrm>
            <a:off x="9546336" y="6364224"/>
            <a:ext cx="1170432" cy="384048"/>
          </a:xfrm>
          <a:prstGeom prst="rect">
            <a:avLst/>
          </a:prstGeom>
          <a:solidFill>
            <a:srgbClr val="F5C78E"/>
          </a:solidFill>
          <a:ln w="12700">
            <a:solidFill>
              <a:srgbClr val="E0B080"/>
            </a:solidFill>
            <a:prstDash val="solid"/>
          </a:ln>
        </p:spPr>
      </p:sp>
      <p:sp>
        <p:nvSpPr>
          <p:cNvPr id="205" name="Text 203"/>
          <p:cNvSpPr/>
          <p:nvPr/>
        </p:nvSpPr>
        <p:spPr>
          <a:xfrm>
            <a:off x="9546336"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06" name="Shape 204"/>
          <p:cNvSpPr/>
          <p:nvPr/>
        </p:nvSpPr>
        <p:spPr>
          <a:xfrm>
            <a:off x="10716768" y="6364224"/>
            <a:ext cx="1170432" cy="384048"/>
          </a:xfrm>
          <a:prstGeom prst="rect">
            <a:avLst/>
          </a:prstGeom>
          <a:solidFill>
            <a:srgbClr val="F5C78E"/>
          </a:solidFill>
          <a:ln w="12700">
            <a:solidFill>
              <a:srgbClr val="E0B080"/>
            </a:solidFill>
            <a:prstDash val="solid"/>
          </a:ln>
        </p:spPr>
      </p:sp>
      <p:sp>
        <p:nvSpPr>
          <p:cNvPr id="207" name="Text 205"/>
          <p:cNvSpPr/>
          <p:nvPr/>
        </p:nvSpPr>
        <p:spPr>
          <a:xfrm>
            <a:off x="10716768"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08" name="Shape 206"/>
          <p:cNvSpPr/>
          <p:nvPr/>
        </p:nvSpPr>
        <p:spPr>
          <a:xfrm>
            <a:off x="11887200" y="6364224"/>
            <a:ext cx="1170432" cy="384048"/>
          </a:xfrm>
          <a:prstGeom prst="rect">
            <a:avLst/>
          </a:prstGeom>
          <a:solidFill>
            <a:srgbClr val="F5C78E"/>
          </a:solidFill>
          <a:ln w="12700">
            <a:solidFill>
              <a:srgbClr val="E0B080"/>
            </a:solidFill>
            <a:prstDash val="solid"/>
          </a:ln>
        </p:spPr>
      </p:sp>
      <p:sp>
        <p:nvSpPr>
          <p:cNvPr id="209" name="Text 207"/>
          <p:cNvSpPr/>
          <p:nvPr/>
        </p:nvSpPr>
        <p:spPr>
          <a:xfrm>
            <a:off x="11887200"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10" name="Shape 208"/>
          <p:cNvSpPr/>
          <p:nvPr/>
        </p:nvSpPr>
        <p:spPr>
          <a:xfrm>
            <a:off x="13057632" y="6364224"/>
            <a:ext cx="1170432" cy="384048"/>
          </a:xfrm>
          <a:prstGeom prst="rect">
            <a:avLst/>
          </a:prstGeom>
          <a:solidFill>
            <a:srgbClr val="F5C78E"/>
          </a:solidFill>
          <a:ln w="12700">
            <a:solidFill>
              <a:srgbClr val="E0B080"/>
            </a:solidFill>
            <a:prstDash val="solid"/>
          </a:ln>
        </p:spPr>
      </p:sp>
      <p:sp>
        <p:nvSpPr>
          <p:cNvPr id="211" name="Text 209"/>
          <p:cNvSpPr/>
          <p:nvPr/>
        </p:nvSpPr>
        <p:spPr>
          <a:xfrm>
            <a:off x="13057632"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12" name="Shape 210"/>
          <p:cNvSpPr/>
          <p:nvPr/>
        </p:nvSpPr>
        <p:spPr>
          <a:xfrm>
            <a:off x="14228064" y="6364224"/>
            <a:ext cx="1170432" cy="384048"/>
          </a:xfrm>
          <a:prstGeom prst="rect">
            <a:avLst/>
          </a:prstGeom>
          <a:solidFill>
            <a:srgbClr val="F5C78E"/>
          </a:solidFill>
          <a:ln w="12700">
            <a:solidFill>
              <a:srgbClr val="E0B080"/>
            </a:solidFill>
            <a:prstDash val="solid"/>
          </a:ln>
        </p:spPr>
      </p:sp>
      <p:sp>
        <p:nvSpPr>
          <p:cNvPr id="213" name="Text 211"/>
          <p:cNvSpPr/>
          <p:nvPr/>
        </p:nvSpPr>
        <p:spPr>
          <a:xfrm>
            <a:off x="14228064"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14" name="Shape 212"/>
          <p:cNvSpPr/>
          <p:nvPr/>
        </p:nvSpPr>
        <p:spPr>
          <a:xfrm>
            <a:off x="15398496" y="6364224"/>
            <a:ext cx="1170432" cy="384048"/>
          </a:xfrm>
          <a:prstGeom prst="rect">
            <a:avLst/>
          </a:prstGeom>
          <a:solidFill>
            <a:srgbClr val="F5C78E"/>
          </a:solidFill>
          <a:ln w="12700">
            <a:solidFill>
              <a:srgbClr val="E0B080"/>
            </a:solidFill>
            <a:prstDash val="solid"/>
          </a:ln>
        </p:spPr>
      </p:sp>
      <p:sp>
        <p:nvSpPr>
          <p:cNvPr id="215" name="Text 213"/>
          <p:cNvSpPr/>
          <p:nvPr/>
        </p:nvSpPr>
        <p:spPr>
          <a:xfrm>
            <a:off x="15398496"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16" name="Shape 214"/>
          <p:cNvSpPr/>
          <p:nvPr/>
        </p:nvSpPr>
        <p:spPr>
          <a:xfrm>
            <a:off x="16568928" y="6364224"/>
            <a:ext cx="1170432" cy="384048"/>
          </a:xfrm>
          <a:prstGeom prst="rect">
            <a:avLst/>
          </a:prstGeom>
          <a:solidFill>
            <a:srgbClr val="F5C78E"/>
          </a:solidFill>
          <a:ln w="12700">
            <a:solidFill>
              <a:srgbClr val="E0B080"/>
            </a:solidFill>
            <a:prstDash val="solid"/>
          </a:ln>
        </p:spPr>
      </p:sp>
      <p:sp>
        <p:nvSpPr>
          <p:cNvPr id="217" name="Text 215"/>
          <p:cNvSpPr/>
          <p:nvPr/>
        </p:nvSpPr>
        <p:spPr>
          <a:xfrm>
            <a:off x="16568928"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18" name="Shape 216"/>
          <p:cNvSpPr/>
          <p:nvPr/>
        </p:nvSpPr>
        <p:spPr>
          <a:xfrm>
            <a:off x="17739360" y="6364224"/>
            <a:ext cx="1170432" cy="384048"/>
          </a:xfrm>
          <a:prstGeom prst="rect">
            <a:avLst/>
          </a:prstGeom>
          <a:solidFill>
            <a:srgbClr val="F5C78E"/>
          </a:solidFill>
          <a:ln w="12700">
            <a:solidFill>
              <a:srgbClr val="E0B080"/>
            </a:solidFill>
            <a:prstDash val="solid"/>
          </a:ln>
        </p:spPr>
      </p:sp>
      <p:sp>
        <p:nvSpPr>
          <p:cNvPr id="219" name="Text 217"/>
          <p:cNvSpPr/>
          <p:nvPr/>
        </p:nvSpPr>
        <p:spPr>
          <a:xfrm>
            <a:off x="17739360" y="636422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20" name="Shape 218"/>
          <p:cNvSpPr/>
          <p:nvPr/>
        </p:nvSpPr>
        <p:spPr>
          <a:xfrm>
            <a:off x="548640" y="6748272"/>
            <a:ext cx="3145536" cy="384048"/>
          </a:xfrm>
          <a:prstGeom prst="rect">
            <a:avLst/>
          </a:prstGeom>
          <a:solidFill>
            <a:srgbClr val="FDE9C8"/>
          </a:solidFill>
          <a:ln w="12700">
            <a:solidFill>
              <a:srgbClr val="E0B080"/>
            </a:solidFill>
            <a:prstDash val="solid"/>
          </a:ln>
        </p:spPr>
      </p:sp>
      <p:sp>
        <p:nvSpPr>
          <p:cNvPr id="221" name="Text 219"/>
          <p:cNvSpPr/>
          <p:nvPr/>
        </p:nvSpPr>
        <p:spPr>
          <a:xfrm>
            <a:off x="621792" y="6748272"/>
            <a:ext cx="3035808" cy="384048"/>
          </a:xfrm>
          <a:prstGeom prst="rect">
            <a:avLst/>
          </a:prstGeom>
          <a:noFill/>
          <a:ln/>
        </p:spPr>
        <p:txBody>
          <a:bodyPr wrap="square" rtlCol="0" anchor="ctr"/>
          <a:lstStyle/>
          <a:p>
            <a:r>
              <a:rPr lang="en-US" sz="1300" dirty="0">
                <a:solidFill>
                  <a:srgbClr val="111111"/>
                </a:solidFill>
              </a:rPr>
              <a:t>Marketing and Promotion</a:t>
            </a:r>
            <a:endParaRPr lang="en-US" sz="1300" dirty="0"/>
          </a:p>
        </p:txBody>
      </p:sp>
      <p:sp>
        <p:nvSpPr>
          <p:cNvPr id="222" name="Shape 220"/>
          <p:cNvSpPr/>
          <p:nvPr/>
        </p:nvSpPr>
        <p:spPr>
          <a:xfrm>
            <a:off x="3694176" y="6748272"/>
            <a:ext cx="1170432" cy="384048"/>
          </a:xfrm>
          <a:prstGeom prst="rect">
            <a:avLst/>
          </a:prstGeom>
          <a:solidFill>
            <a:srgbClr val="FDE9C8"/>
          </a:solidFill>
          <a:ln w="12700">
            <a:solidFill>
              <a:srgbClr val="E0B080"/>
            </a:solidFill>
            <a:prstDash val="solid"/>
          </a:ln>
        </p:spPr>
      </p:sp>
      <p:sp>
        <p:nvSpPr>
          <p:cNvPr id="223" name="Text 221"/>
          <p:cNvSpPr/>
          <p:nvPr/>
        </p:nvSpPr>
        <p:spPr>
          <a:xfrm>
            <a:off x="3694176" y="6748272"/>
            <a:ext cx="1170432" cy="384048"/>
          </a:xfrm>
          <a:prstGeom prst="rect">
            <a:avLst/>
          </a:prstGeom>
          <a:noFill/>
          <a:ln/>
        </p:spPr>
        <p:txBody>
          <a:bodyPr wrap="square" lIns="0" tIns="0" rIns="50800" bIns="0" rtlCol="0" anchor="ctr"/>
          <a:lstStyle/>
          <a:p>
            <a:pPr algn="r"/>
            <a:r>
              <a:rPr lang="en-US" sz="1200" dirty="0">
                <a:solidFill>
                  <a:srgbClr val="111111"/>
                </a:solidFill>
              </a:rPr>
              <a:t>5K</a:t>
            </a:r>
            <a:endParaRPr lang="en-US" sz="1200" dirty="0"/>
          </a:p>
        </p:txBody>
      </p:sp>
      <p:sp>
        <p:nvSpPr>
          <p:cNvPr id="224" name="Shape 222"/>
          <p:cNvSpPr/>
          <p:nvPr/>
        </p:nvSpPr>
        <p:spPr>
          <a:xfrm>
            <a:off x="4864608" y="6748272"/>
            <a:ext cx="1170432" cy="384048"/>
          </a:xfrm>
          <a:prstGeom prst="rect">
            <a:avLst/>
          </a:prstGeom>
          <a:solidFill>
            <a:srgbClr val="FDE9C8"/>
          </a:solidFill>
          <a:ln w="12700">
            <a:solidFill>
              <a:srgbClr val="E0B080"/>
            </a:solidFill>
            <a:prstDash val="solid"/>
          </a:ln>
        </p:spPr>
      </p:sp>
      <p:sp>
        <p:nvSpPr>
          <p:cNvPr id="225" name="Text 223"/>
          <p:cNvSpPr/>
          <p:nvPr/>
        </p:nvSpPr>
        <p:spPr>
          <a:xfrm>
            <a:off x="4864608" y="6748272"/>
            <a:ext cx="1170432" cy="384048"/>
          </a:xfrm>
          <a:prstGeom prst="rect">
            <a:avLst/>
          </a:prstGeom>
          <a:noFill/>
          <a:ln/>
        </p:spPr>
        <p:txBody>
          <a:bodyPr wrap="square" lIns="0" tIns="0" rIns="50800" bIns="0" rtlCol="0" anchor="ctr"/>
          <a:lstStyle/>
          <a:p>
            <a:pPr algn="r"/>
            <a:r>
              <a:rPr lang="en-US" sz="1200" dirty="0">
                <a:solidFill>
                  <a:srgbClr val="111111"/>
                </a:solidFill>
              </a:rPr>
              <a:t>5K</a:t>
            </a:r>
            <a:endParaRPr lang="en-US" sz="1200" dirty="0"/>
          </a:p>
        </p:txBody>
      </p:sp>
      <p:sp>
        <p:nvSpPr>
          <p:cNvPr id="226" name="Shape 224"/>
          <p:cNvSpPr/>
          <p:nvPr/>
        </p:nvSpPr>
        <p:spPr>
          <a:xfrm>
            <a:off x="6035040" y="6748272"/>
            <a:ext cx="1170432" cy="384048"/>
          </a:xfrm>
          <a:prstGeom prst="rect">
            <a:avLst/>
          </a:prstGeom>
          <a:solidFill>
            <a:srgbClr val="FDE9C8"/>
          </a:solidFill>
          <a:ln w="12700">
            <a:solidFill>
              <a:srgbClr val="E0B080"/>
            </a:solidFill>
            <a:prstDash val="solid"/>
          </a:ln>
        </p:spPr>
      </p:sp>
      <p:sp>
        <p:nvSpPr>
          <p:cNvPr id="227" name="Text 225"/>
          <p:cNvSpPr/>
          <p:nvPr/>
        </p:nvSpPr>
        <p:spPr>
          <a:xfrm>
            <a:off x="6035040" y="6748272"/>
            <a:ext cx="1170432" cy="384048"/>
          </a:xfrm>
          <a:prstGeom prst="rect">
            <a:avLst/>
          </a:prstGeom>
          <a:noFill/>
          <a:ln/>
        </p:spPr>
        <p:txBody>
          <a:bodyPr wrap="square" lIns="0" tIns="0" rIns="50800" bIns="0" rtlCol="0" anchor="ctr"/>
          <a:lstStyle/>
          <a:p>
            <a:pPr algn="r"/>
            <a:r>
              <a:rPr lang="en-US" sz="1200" dirty="0">
                <a:solidFill>
                  <a:srgbClr val="111111"/>
                </a:solidFill>
              </a:rPr>
              <a:t>5K</a:t>
            </a:r>
            <a:endParaRPr lang="en-US" sz="1200" dirty="0"/>
          </a:p>
        </p:txBody>
      </p:sp>
      <p:sp>
        <p:nvSpPr>
          <p:cNvPr id="228" name="Shape 226"/>
          <p:cNvSpPr/>
          <p:nvPr/>
        </p:nvSpPr>
        <p:spPr>
          <a:xfrm>
            <a:off x="7205472" y="6748272"/>
            <a:ext cx="1170432" cy="384048"/>
          </a:xfrm>
          <a:prstGeom prst="rect">
            <a:avLst/>
          </a:prstGeom>
          <a:solidFill>
            <a:srgbClr val="FDE9C8"/>
          </a:solidFill>
          <a:ln w="12700">
            <a:solidFill>
              <a:srgbClr val="E0B080"/>
            </a:solidFill>
            <a:prstDash val="solid"/>
          </a:ln>
        </p:spPr>
      </p:sp>
      <p:sp>
        <p:nvSpPr>
          <p:cNvPr id="229" name="Text 227"/>
          <p:cNvSpPr/>
          <p:nvPr/>
        </p:nvSpPr>
        <p:spPr>
          <a:xfrm>
            <a:off x="7205472"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30" name="Shape 228"/>
          <p:cNvSpPr/>
          <p:nvPr/>
        </p:nvSpPr>
        <p:spPr>
          <a:xfrm>
            <a:off x="8375904" y="6748272"/>
            <a:ext cx="1170432" cy="384048"/>
          </a:xfrm>
          <a:prstGeom prst="rect">
            <a:avLst/>
          </a:prstGeom>
          <a:solidFill>
            <a:srgbClr val="FDE9C8"/>
          </a:solidFill>
          <a:ln w="12700">
            <a:solidFill>
              <a:srgbClr val="E0B080"/>
            </a:solidFill>
            <a:prstDash val="solid"/>
          </a:ln>
        </p:spPr>
      </p:sp>
      <p:sp>
        <p:nvSpPr>
          <p:cNvPr id="231" name="Text 229"/>
          <p:cNvSpPr/>
          <p:nvPr/>
        </p:nvSpPr>
        <p:spPr>
          <a:xfrm>
            <a:off x="8375904"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32" name="Shape 230"/>
          <p:cNvSpPr/>
          <p:nvPr/>
        </p:nvSpPr>
        <p:spPr>
          <a:xfrm>
            <a:off x="9546336" y="6748272"/>
            <a:ext cx="1170432" cy="384048"/>
          </a:xfrm>
          <a:prstGeom prst="rect">
            <a:avLst/>
          </a:prstGeom>
          <a:solidFill>
            <a:srgbClr val="FDE9C8"/>
          </a:solidFill>
          <a:ln w="12700">
            <a:solidFill>
              <a:srgbClr val="E0B080"/>
            </a:solidFill>
            <a:prstDash val="solid"/>
          </a:ln>
        </p:spPr>
      </p:sp>
      <p:sp>
        <p:nvSpPr>
          <p:cNvPr id="233" name="Text 231"/>
          <p:cNvSpPr/>
          <p:nvPr/>
        </p:nvSpPr>
        <p:spPr>
          <a:xfrm>
            <a:off x="9546336"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34" name="Shape 232"/>
          <p:cNvSpPr/>
          <p:nvPr/>
        </p:nvSpPr>
        <p:spPr>
          <a:xfrm>
            <a:off x="10716768" y="6748272"/>
            <a:ext cx="1170432" cy="384048"/>
          </a:xfrm>
          <a:prstGeom prst="rect">
            <a:avLst/>
          </a:prstGeom>
          <a:solidFill>
            <a:srgbClr val="FDE9C8"/>
          </a:solidFill>
          <a:ln w="12700">
            <a:solidFill>
              <a:srgbClr val="E0B080"/>
            </a:solidFill>
            <a:prstDash val="solid"/>
          </a:ln>
        </p:spPr>
      </p:sp>
      <p:sp>
        <p:nvSpPr>
          <p:cNvPr id="235" name="Text 233"/>
          <p:cNvSpPr/>
          <p:nvPr/>
        </p:nvSpPr>
        <p:spPr>
          <a:xfrm>
            <a:off x="10716768"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36" name="Shape 234"/>
          <p:cNvSpPr/>
          <p:nvPr/>
        </p:nvSpPr>
        <p:spPr>
          <a:xfrm>
            <a:off x="11887200" y="6748272"/>
            <a:ext cx="1170432" cy="384048"/>
          </a:xfrm>
          <a:prstGeom prst="rect">
            <a:avLst/>
          </a:prstGeom>
          <a:solidFill>
            <a:srgbClr val="FDE9C8"/>
          </a:solidFill>
          <a:ln w="12700">
            <a:solidFill>
              <a:srgbClr val="E0B080"/>
            </a:solidFill>
            <a:prstDash val="solid"/>
          </a:ln>
        </p:spPr>
      </p:sp>
      <p:sp>
        <p:nvSpPr>
          <p:cNvPr id="237" name="Text 235"/>
          <p:cNvSpPr/>
          <p:nvPr/>
        </p:nvSpPr>
        <p:spPr>
          <a:xfrm>
            <a:off x="11887200"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38" name="Shape 236"/>
          <p:cNvSpPr/>
          <p:nvPr/>
        </p:nvSpPr>
        <p:spPr>
          <a:xfrm>
            <a:off x="13057632" y="6748272"/>
            <a:ext cx="1170432" cy="384048"/>
          </a:xfrm>
          <a:prstGeom prst="rect">
            <a:avLst/>
          </a:prstGeom>
          <a:solidFill>
            <a:srgbClr val="FDE9C8"/>
          </a:solidFill>
          <a:ln w="12700">
            <a:solidFill>
              <a:srgbClr val="E0B080"/>
            </a:solidFill>
            <a:prstDash val="solid"/>
          </a:ln>
        </p:spPr>
      </p:sp>
      <p:sp>
        <p:nvSpPr>
          <p:cNvPr id="239" name="Text 237"/>
          <p:cNvSpPr/>
          <p:nvPr/>
        </p:nvSpPr>
        <p:spPr>
          <a:xfrm>
            <a:off x="13057632"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40" name="Shape 238"/>
          <p:cNvSpPr/>
          <p:nvPr/>
        </p:nvSpPr>
        <p:spPr>
          <a:xfrm>
            <a:off x="14228064" y="6748272"/>
            <a:ext cx="1170432" cy="384048"/>
          </a:xfrm>
          <a:prstGeom prst="rect">
            <a:avLst/>
          </a:prstGeom>
          <a:solidFill>
            <a:srgbClr val="FDE9C8"/>
          </a:solidFill>
          <a:ln w="12700">
            <a:solidFill>
              <a:srgbClr val="E0B080"/>
            </a:solidFill>
            <a:prstDash val="solid"/>
          </a:ln>
        </p:spPr>
      </p:sp>
      <p:sp>
        <p:nvSpPr>
          <p:cNvPr id="241" name="Text 239"/>
          <p:cNvSpPr/>
          <p:nvPr/>
        </p:nvSpPr>
        <p:spPr>
          <a:xfrm>
            <a:off x="14228064"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42" name="Shape 240"/>
          <p:cNvSpPr/>
          <p:nvPr/>
        </p:nvSpPr>
        <p:spPr>
          <a:xfrm>
            <a:off x="15398496" y="6748272"/>
            <a:ext cx="1170432" cy="384048"/>
          </a:xfrm>
          <a:prstGeom prst="rect">
            <a:avLst/>
          </a:prstGeom>
          <a:solidFill>
            <a:srgbClr val="FDE9C8"/>
          </a:solidFill>
          <a:ln w="12700">
            <a:solidFill>
              <a:srgbClr val="E0B080"/>
            </a:solidFill>
            <a:prstDash val="solid"/>
          </a:ln>
        </p:spPr>
      </p:sp>
      <p:sp>
        <p:nvSpPr>
          <p:cNvPr id="243" name="Text 241"/>
          <p:cNvSpPr/>
          <p:nvPr/>
        </p:nvSpPr>
        <p:spPr>
          <a:xfrm>
            <a:off x="15398496"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44" name="Shape 242"/>
          <p:cNvSpPr/>
          <p:nvPr/>
        </p:nvSpPr>
        <p:spPr>
          <a:xfrm>
            <a:off x="16568928" y="6748272"/>
            <a:ext cx="1170432" cy="384048"/>
          </a:xfrm>
          <a:prstGeom prst="rect">
            <a:avLst/>
          </a:prstGeom>
          <a:solidFill>
            <a:srgbClr val="FDE9C8"/>
          </a:solidFill>
          <a:ln w="12700">
            <a:solidFill>
              <a:srgbClr val="E0B080"/>
            </a:solidFill>
            <a:prstDash val="solid"/>
          </a:ln>
        </p:spPr>
      </p:sp>
      <p:sp>
        <p:nvSpPr>
          <p:cNvPr id="245" name="Text 243"/>
          <p:cNvSpPr/>
          <p:nvPr/>
        </p:nvSpPr>
        <p:spPr>
          <a:xfrm>
            <a:off x="16568928" y="6748272"/>
            <a:ext cx="1170432" cy="384048"/>
          </a:xfrm>
          <a:prstGeom prst="rect">
            <a:avLst/>
          </a:prstGeom>
          <a:noFill/>
          <a:ln/>
        </p:spPr>
        <p:txBody>
          <a:bodyPr wrap="square" lIns="0" tIns="0" rIns="50800" bIns="0" rtlCol="0" anchor="ctr"/>
          <a:lstStyle/>
          <a:p>
            <a:pPr algn="r"/>
            <a:r>
              <a:rPr lang="en-US" sz="1200" dirty="0">
                <a:solidFill>
                  <a:srgbClr val="111111"/>
                </a:solidFill>
              </a:rPr>
              <a:t>20K</a:t>
            </a:r>
            <a:endParaRPr lang="en-US" sz="1200" dirty="0"/>
          </a:p>
        </p:txBody>
      </p:sp>
      <p:sp>
        <p:nvSpPr>
          <p:cNvPr id="246" name="Shape 244"/>
          <p:cNvSpPr/>
          <p:nvPr/>
        </p:nvSpPr>
        <p:spPr>
          <a:xfrm>
            <a:off x="17739360" y="6748272"/>
            <a:ext cx="1170432" cy="384048"/>
          </a:xfrm>
          <a:prstGeom prst="rect">
            <a:avLst/>
          </a:prstGeom>
          <a:solidFill>
            <a:srgbClr val="FDE9C8"/>
          </a:solidFill>
          <a:ln w="12700">
            <a:solidFill>
              <a:srgbClr val="E0B080"/>
            </a:solidFill>
            <a:prstDash val="solid"/>
          </a:ln>
        </p:spPr>
      </p:sp>
      <p:sp>
        <p:nvSpPr>
          <p:cNvPr id="247" name="Text 245"/>
          <p:cNvSpPr/>
          <p:nvPr/>
        </p:nvSpPr>
        <p:spPr>
          <a:xfrm>
            <a:off x="17739360" y="6748272"/>
            <a:ext cx="1170432" cy="384048"/>
          </a:xfrm>
          <a:prstGeom prst="rect">
            <a:avLst/>
          </a:prstGeom>
          <a:noFill/>
          <a:ln/>
        </p:spPr>
        <p:txBody>
          <a:bodyPr wrap="square" lIns="0" tIns="0" rIns="50800" bIns="0" rtlCol="0" anchor="ctr"/>
          <a:lstStyle/>
          <a:p>
            <a:pPr algn="r"/>
            <a:r>
              <a:rPr lang="en-US" sz="1200" dirty="0">
                <a:solidFill>
                  <a:srgbClr val="111111"/>
                </a:solidFill>
              </a:rPr>
              <a:t>1.9L</a:t>
            </a:r>
            <a:endParaRPr lang="en-US" sz="1200" dirty="0"/>
          </a:p>
        </p:txBody>
      </p:sp>
      <p:sp>
        <p:nvSpPr>
          <p:cNvPr id="248" name="Shape 246"/>
          <p:cNvSpPr/>
          <p:nvPr/>
        </p:nvSpPr>
        <p:spPr>
          <a:xfrm>
            <a:off x="548640" y="7132320"/>
            <a:ext cx="3145536" cy="384048"/>
          </a:xfrm>
          <a:prstGeom prst="rect">
            <a:avLst/>
          </a:prstGeom>
          <a:solidFill>
            <a:srgbClr val="F5C78E"/>
          </a:solidFill>
          <a:ln w="12700">
            <a:solidFill>
              <a:srgbClr val="E0B080"/>
            </a:solidFill>
            <a:prstDash val="solid"/>
          </a:ln>
        </p:spPr>
      </p:sp>
      <p:sp>
        <p:nvSpPr>
          <p:cNvPr id="249" name="Text 247"/>
          <p:cNvSpPr/>
          <p:nvPr/>
        </p:nvSpPr>
        <p:spPr>
          <a:xfrm>
            <a:off x="621792" y="7132320"/>
            <a:ext cx="3035808" cy="384048"/>
          </a:xfrm>
          <a:prstGeom prst="rect">
            <a:avLst/>
          </a:prstGeom>
          <a:noFill/>
          <a:ln/>
        </p:spPr>
        <p:txBody>
          <a:bodyPr wrap="square" rtlCol="0" anchor="ctr"/>
          <a:lstStyle/>
          <a:p>
            <a:r>
              <a:rPr lang="en-US" sz="1300" dirty="0">
                <a:solidFill>
                  <a:srgbClr val="111111"/>
                </a:solidFill>
              </a:rPr>
              <a:t>Utilities (Cloud / Firebase)</a:t>
            </a:r>
            <a:endParaRPr lang="en-US" sz="1300" dirty="0"/>
          </a:p>
        </p:txBody>
      </p:sp>
      <p:sp>
        <p:nvSpPr>
          <p:cNvPr id="250" name="Shape 248"/>
          <p:cNvSpPr/>
          <p:nvPr/>
        </p:nvSpPr>
        <p:spPr>
          <a:xfrm>
            <a:off x="3694176" y="7132320"/>
            <a:ext cx="1170432" cy="384048"/>
          </a:xfrm>
          <a:prstGeom prst="rect">
            <a:avLst/>
          </a:prstGeom>
          <a:solidFill>
            <a:srgbClr val="F5C78E"/>
          </a:solidFill>
          <a:ln w="12700">
            <a:solidFill>
              <a:srgbClr val="E0B080"/>
            </a:solidFill>
            <a:prstDash val="solid"/>
          </a:ln>
        </p:spPr>
      </p:sp>
      <p:sp>
        <p:nvSpPr>
          <p:cNvPr id="251" name="Text 249"/>
          <p:cNvSpPr/>
          <p:nvPr/>
        </p:nvSpPr>
        <p:spPr>
          <a:xfrm>
            <a:off x="3694176" y="7132320"/>
            <a:ext cx="1170432" cy="384048"/>
          </a:xfrm>
          <a:prstGeom prst="rect">
            <a:avLst/>
          </a:prstGeom>
          <a:noFill/>
          <a:ln/>
        </p:spPr>
        <p:txBody>
          <a:bodyPr wrap="square" lIns="0" tIns="0" rIns="50800" bIns="0" rtlCol="0" anchor="ctr"/>
          <a:lstStyle/>
          <a:p>
            <a:pPr algn="r"/>
            <a:r>
              <a:rPr lang="en-US" sz="1200" dirty="0">
                <a:solidFill>
                  <a:srgbClr val="111111"/>
                </a:solidFill>
              </a:rPr>
              <a:t>3K</a:t>
            </a:r>
            <a:endParaRPr lang="en-US" sz="1200" dirty="0"/>
          </a:p>
        </p:txBody>
      </p:sp>
      <p:sp>
        <p:nvSpPr>
          <p:cNvPr id="252" name="Shape 250"/>
          <p:cNvSpPr/>
          <p:nvPr/>
        </p:nvSpPr>
        <p:spPr>
          <a:xfrm>
            <a:off x="4864608" y="7132320"/>
            <a:ext cx="1170432" cy="384048"/>
          </a:xfrm>
          <a:prstGeom prst="rect">
            <a:avLst/>
          </a:prstGeom>
          <a:solidFill>
            <a:srgbClr val="F5C78E"/>
          </a:solidFill>
          <a:ln w="12700">
            <a:solidFill>
              <a:srgbClr val="E0B080"/>
            </a:solidFill>
            <a:prstDash val="solid"/>
          </a:ln>
        </p:spPr>
      </p:sp>
      <p:sp>
        <p:nvSpPr>
          <p:cNvPr id="253" name="Text 251"/>
          <p:cNvSpPr/>
          <p:nvPr/>
        </p:nvSpPr>
        <p:spPr>
          <a:xfrm>
            <a:off x="4864608" y="7132320"/>
            <a:ext cx="1170432" cy="384048"/>
          </a:xfrm>
          <a:prstGeom prst="rect">
            <a:avLst/>
          </a:prstGeom>
          <a:noFill/>
          <a:ln/>
        </p:spPr>
        <p:txBody>
          <a:bodyPr wrap="square" lIns="0" tIns="0" rIns="50800" bIns="0" rtlCol="0" anchor="ctr"/>
          <a:lstStyle/>
          <a:p>
            <a:pPr algn="r"/>
            <a:r>
              <a:rPr lang="en-US" sz="1200" dirty="0">
                <a:solidFill>
                  <a:srgbClr val="111111"/>
                </a:solidFill>
              </a:rPr>
              <a:t>3K</a:t>
            </a:r>
            <a:endParaRPr lang="en-US" sz="1200" dirty="0"/>
          </a:p>
        </p:txBody>
      </p:sp>
      <p:sp>
        <p:nvSpPr>
          <p:cNvPr id="254" name="Shape 252"/>
          <p:cNvSpPr/>
          <p:nvPr/>
        </p:nvSpPr>
        <p:spPr>
          <a:xfrm>
            <a:off x="6035040" y="7132320"/>
            <a:ext cx="1170432" cy="384048"/>
          </a:xfrm>
          <a:prstGeom prst="rect">
            <a:avLst/>
          </a:prstGeom>
          <a:solidFill>
            <a:srgbClr val="F5C78E"/>
          </a:solidFill>
          <a:ln w="12700">
            <a:solidFill>
              <a:srgbClr val="E0B080"/>
            </a:solidFill>
            <a:prstDash val="solid"/>
          </a:ln>
        </p:spPr>
      </p:sp>
      <p:sp>
        <p:nvSpPr>
          <p:cNvPr id="255" name="Text 253"/>
          <p:cNvSpPr/>
          <p:nvPr/>
        </p:nvSpPr>
        <p:spPr>
          <a:xfrm>
            <a:off x="6035040" y="7132320"/>
            <a:ext cx="1170432" cy="384048"/>
          </a:xfrm>
          <a:prstGeom prst="rect">
            <a:avLst/>
          </a:prstGeom>
          <a:noFill/>
          <a:ln/>
        </p:spPr>
        <p:txBody>
          <a:bodyPr wrap="square" lIns="0" tIns="0" rIns="50800" bIns="0" rtlCol="0" anchor="ctr"/>
          <a:lstStyle/>
          <a:p>
            <a:pPr algn="r"/>
            <a:r>
              <a:rPr lang="en-US" sz="1200" dirty="0">
                <a:solidFill>
                  <a:srgbClr val="111111"/>
                </a:solidFill>
              </a:rPr>
              <a:t>3K</a:t>
            </a:r>
            <a:endParaRPr lang="en-US" sz="1200" dirty="0"/>
          </a:p>
        </p:txBody>
      </p:sp>
      <p:sp>
        <p:nvSpPr>
          <p:cNvPr id="256" name="Shape 254"/>
          <p:cNvSpPr/>
          <p:nvPr/>
        </p:nvSpPr>
        <p:spPr>
          <a:xfrm>
            <a:off x="7205472" y="7132320"/>
            <a:ext cx="1170432" cy="384048"/>
          </a:xfrm>
          <a:prstGeom prst="rect">
            <a:avLst/>
          </a:prstGeom>
          <a:solidFill>
            <a:srgbClr val="F5C78E"/>
          </a:solidFill>
          <a:ln w="12700">
            <a:solidFill>
              <a:srgbClr val="E0B080"/>
            </a:solidFill>
            <a:prstDash val="solid"/>
          </a:ln>
        </p:spPr>
      </p:sp>
      <p:sp>
        <p:nvSpPr>
          <p:cNvPr id="257" name="Text 255"/>
          <p:cNvSpPr/>
          <p:nvPr/>
        </p:nvSpPr>
        <p:spPr>
          <a:xfrm>
            <a:off x="7205472" y="7132320"/>
            <a:ext cx="1170432" cy="384048"/>
          </a:xfrm>
          <a:prstGeom prst="rect">
            <a:avLst/>
          </a:prstGeom>
          <a:noFill/>
          <a:ln/>
        </p:spPr>
        <p:txBody>
          <a:bodyPr wrap="square" lIns="0" tIns="0" rIns="50800" bIns="0" rtlCol="0" anchor="ctr"/>
          <a:lstStyle/>
          <a:p>
            <a:pPr algn="r"/>
            <a:r>
              <a:rPr lang="en-US" sz="1200" dirty="0">
                <a:solidFill>
                  <a:srgbClr val="111111"/>
                </a:solidFill>
              </a:rPr>
              <a:t>5K</a:t>
            </a:r>
            <a:endParaRPr lang="en-US" sz="1200" dirty="0"/>
          </a:p>
        </p:txBody>
      </p:sp>
      <p:sp>
        <p:nvSpPr>
          <p:cNvPr id="258" name="Shape 256"/>
          <p:cNvSpPr/>
          <p:nvPr/>
        </p:nvSpPr>
        <p:spPr>
          <a:xfrm>
            <a:off x="8375904" y="7132320"/>
            <a:ext cx="1170432" cy="384048"/>
          </a:xfrm>
          <a:prstGeom prst="rect">
            <a:avLst/>
          </a:prstGeom>
          <a:solidFill>
            <a:srgbClr val="F5C78E"/>
          </a:solidFill>
          <a:ln w="12700">
            <a:solidFill>
              <a:srgbClr val="E0B080"/>
            </a:solidFill>
            <a:prstDash val="solid"/>
          </a:ln>
        </p:spPr>
      </p:sp>
      <p:sp>
        <p:nvSpPr>
          <p:cNvPr id="259" name="Text 257"/>
          <p:cNvSpPr/>
          <p:nvPr/>
        </p:nvSpPr>
        <p:spPr>
          <a:xfrm>
            <a:off x="8375904" y="7132320"/>
            <a:ext cx="1170432" cy="384048"/>
          </a:xfrm>
          <a:prstGeom prst="rect">
            <a:avLst/>
          </a:prstGeom>
          <a:noFill/>
          <a:ln/>
        </p:spPr>
        <p:txBody>
          <a:bodyPr wrap="square" lIns="0" tIns="0" rIns="50800" bIns="0" rtlCol="0" anchor="ctr"/>
          <a:lstStyle/>
          <a:p>
            <a:pPr algn="r"/>
            <a:r>
              <a:rPr lang="en-US" sz="1200" dirty="0">
                <a:solidFill>
                  <a:srgbClr val="111111"/>
                </a:solidFill>
              </a:rPr>
              <a:t>5K</a:t>
            </a:r>
            <a:endParaRPr lang="en-US" sz="1200" dirty="0"/>
          </a:p>
        </p:txBody>
      </p:sp>
      <p:sp>
        <p:nvSpPr>
          <p:cNvPr id="260" name="Shape 258"/>
          <p:cNvSpPr/>
          <p:nvPr/>
        </p:nvSpPr>
        <p:spPr>
          <a:xfrm>
            <a:off x="9546336" y="7132320"/>
            <a:ext cx="1170432" cy="384048"/>
          </a:xfrm>
          <a:prstGeom prst="rect">
            <a:avLst/>
          </a:prstGeom>
          <a:solidFill>
            <a:srgbClr val="F5C78E"/>
          </a:solidFill>
          <a:ln w="12700">
            <a:solidFill>
              <a:srgbClr val="E0B080"/>
            </a:solidFill>
            <a:prstDash val="solid"/>
          </a:ln>
        </p:spPr>
      </p:sp>
      <p:sp>
        <p:nvSpPr>
          <p:cNvPr id="261" name="Text 259"/>
          <p:cNvSpPr/>
          <p:nvPr/>
        </p:nvSpPr>
        <p:spPr>
          <a:xfrm>
            <a:off x="9546336" y="7132320"/>
            <a:ext cx="1170432" cy="384048"/>
          </a:xfrm>
          <a:prstGeom prst="rect">
            <a:avLst/>
          </a:prstGeom>
          <a:noFill/>
          <a:ln/>
        </p:spPr>
        <p:txBody>
          <a:bodyPr wrap="square" lIns="0" tIns="0" rIns="50800" bIns="0" rtlCol="0" anchor="ctr"/>
          <a:lstStyle/>
          <a:p>
            <a:pPr algn="r"/>
            <a:r>
              <a:rPr lang="en-US" sz="1200" dirty="0">
                <a:solidFill>
                  <a:srgbClr val="111111"/>
                </a:solidFill>
              </a:rPr>
              <a:t>6K</a:t>
            </a:r>
            <a:endParaRPr lang="en-US" sz="1200" dirty="0"/>
          </a:p>
        </p:txBody>
      </p:sp>
      <p:sp>
        <p:nvSpPr>
          <p:cNvPr id="262" name="Shape 260"/>
          <p:cNvSpPr/>
          <p:nvPr/>
        </p:nvSpPr>
        <p:spPr>
          <a:xfrm>
            <a:off x="10716768" y="7132320"/>
            <a:ext cx="1170432" cy="384048"/>
          </a:xfrm>
          <a:prstGeom prst="rect">
            <a:avLst/>
          </a:prstGeom>
          <a:solidFill>
            <a:srgbClr val="F5C78E"/>
          </a:solidFill>
          <a:ln w="12700">
            <a:solidFill>
              <a:srgbClr val="E0B080"/>
            </a:solidFill>
            <a:prstDash val="solid"/>
          </a:ln>
        </p:spPr>
      </p:sp>
      <p:sp>
        <p:nvSpPr>
          <p:cNvPr id="263" name="Text 261"/>
          <p:cNvSpPr/>
          <p:nvPr/>
        </p:nvSpPr>
        <p:spPr>
          <a:xfrm>
            <a:off x="10716768" y="7132320"/>
            <a:ext cx="1170432" cy="384048"/>
          </a:xfrm>
          <a:prstGeom prst="rect">
            <a:avLst/>
          </a:prstGeom>
          <a:noFill/>
          <a:ln/>
        </p:spPr>
        <p:txBody>
          <a:bodyPr wrap="square" lIns="0" tIns="0" rIns="50800" bIns="0" rtlCol="0" anchor="ctr"/>
          <a:lstStyle/>
          <a:p>
            <a:pPr algn="r"/>
            <a:r>
              <a:rPr lang="en-US" sz="1200" dirty="0">
                <a:solidFill>
                  <a:srgbClr val="111111"/>
                </a:solidFill>
              </a:rPr>
              <a:t>7K</a:t>
            </a:r>
            <a:endParaRPr lang="en-US" sz="1200" dirty="0"/>
          </a:p>
        </p:txBody>
      </p:sp>
      <p:sp>
        <p:nvSpPr>
          <p:cNvPr id="264" name="Shape 262"/>
          <p:cNvSpPr/>
          <p:nvPr/>
        </p:nvSpPr>
        <p:spPr>
          <a:xfrm>
            <a:off x="11887200" y="7132320"/>
            <a:ext cx="1170432" cy="384048"/>
          </a:xfrm>
          <a:prstGeom prst="rect">
            <a:avLst/>
          </a:prstGeom>
          <a:solidFill>
            <a:srgbClr val="F5C78E"/>
          </a:solidFill>
          <a:ln w="12700">
            <a:solidFill>
              <a:srgbClr val="E0B080"/>
            </a:solidFill>
            <a:prstDash val="solid"/>
          </a:ln>
        </p:spPr>
      </p:sp>
      <p:sp>
        <p:nvSpPr>
          <p:cNvPr id="265" name="Text 263"/>
          <p:cNvSpPr/>
          <p:nvPr/>
        </p:nvSpPr>
        <p:spPr>
          <a:xfrm>
            <a:off x="11887200" y="7132320"/>
            <a:ext cx="1170432" cy="384048"/>
          </a:xfrm>
          <a:prstGeom prst="rect">
            <a:avLst/>
          </a:prstGeom>
          <a:noFill/>
          <a:ln/>
        </p:spPr>
        <p:txBody>
          <a:bodyPr wrap="square" lIns="0" tIns="0" rIns="50800" bIns="0" rtlCol="0" anchor="ctr"/>
          <a:lstStyle/>
          <a:p>
            <a:pPr algn="r"/>
            <a:r>
              <a:rPr lang="en-US" sz="1200" dirty="0">
                <a:solidFill>
                  <a:srgbClr val="111111"/>
                </a:solidFill>
              </a:rPr>
              <a:t>8K</a:t>
            </a:r>
            <a:endParaRPr lang="en-US" sz="1200" dirty="0"/>
          </a:p>
        </p:txBody>
      </p:sp>
      <p:sp>
        <p:nvSpPr>
          <p:cNvPr id="266" name="Shape 264"/>
          <p:cNvSpPr/>
          <p:nvPr/>
        </p:nvSpPr>
        <p:spPr>
          <a:xfrm>
            <a:off x="13057632" y="7132320"/>
            <a:ext cx="1170432" cy="384048"/>
          </a:xfrm>
          <a:prstGeom prst="rect">
            <a:avLst/>
          </a:prstGeom>
          <a:solidFill>
            <a:srgbClr val="F5C78E"/>
          </a:solidFill>
          <a:ln w="12700">
            <a:solidFill>
              <a:srgbClr val="E0B080"/>
            </a:solidFill>
            <a:prstDash val="solid"/>
          </a:ln>
        </p:spPr>
      </p:sp>
      <p:sp>
        <p:nvSpPr>
          <p:cNvPr id="267" name="Text 265"/>
          <p:cNvSpPr/>
          <p:nvPr/>
        </p:nvSpPr>
        <p:spPr>
          <a:xfrm>
            <a:off x="13057632" y="7132320"/>
            <a:ext cx="1170432" cy="384048"/>
          </a:xfrm>
          <a:prstGeom prst="rect">
            <a:avLst/>
          </a:prstGeom>
          <a:noFill/>
          <a:ln/>
        </p:spPr>
        <p:txBody>
          <a:bodyPr wrap="square" lIns="0" tIns="0" rIns="50800" bIns="0" rtlCol="0" anchor="ctr"/>
          <a:lstStyle/>
          <a:p>
            <a:pPr algn="r"/>
            <a:r>
              <a:rPr lang="en-US" sz="1200" dirty="0">
                <a:solidFill>
                  <a:srgbClr val="111111"/>
                </a:solidFill>
              </a:rPr>
              <a:t>8K</a:t>
            </a:r>
            <a:endParaRPr lang="en-US" sz="1200" dirty="0"/>
          </a:p>
        </p:txBody>
      </p:sp>
      <p:sp>
        <p:nvSpPr>
          <p:cNvPr id="268" name="Shape 266"/>
          <p:cNvSpPr/>
          <p:nvPr/>
        </p:nvSpPr>
        <p:spPr>
          <a:xfrm>
            <a:off x="14228064" y="7132320"/>
            <a:ext cx="1170432" cy="384048"/>
          </a:xfrm>
          <a:prstGeom prst="rect">
            <a:avLst/>
          </a:prstGeom>
          <a:solidFill>
            <a:srgbClr val="F5C78E"/>
          </a:solidFill>
          <a:ln w="12700">
            <a:solidFill>
              <a:srgbClr val="E0B080"/>
            </a:solidFill>
            <a:prstDash val="solid"/>
          </a:ln>
        </p:spPr>
      </p:sp>
      <p:sp>
        <p:nvSpPr>
          <p:cNvPr id="269" name="Text 267"/>
          <p:cNvSpPr/>
          <p:nvPr/>
        </p:nvSpPr>
        <p:spPr>
          <a:xfrm>
            <a:off x="14228064" y="7132320"/>
            <a:ext cx="1170432" cy="384048"/>
          </a:xfrm>
          <a:prstGeom prst="rect">
            <a:avLst/>
          </a:prstGeom>
          <a:noFill/>
          <a:ln/>
        </p:spPr>
        <p:txBody>
          <a:bodyPr wrap="square" lIns="0" tIns="0" rIns="50800" bIns="0" rtlCol="0" anchor="ctr"/>
          <a:lstStyle/>
          <a:p>
            <a:pPr algn="r"/>
            <a:r>
              <a:rPr lang="en-US" sz="1200" dirty="0">
                <a:solidFill>
                  <a:srgbClr val="111111"/>
                </a:solidFill>
              </a:rPr>
              <a:t>8K</a:t>
            </a:r>
            <a:endParaRPr lang="en-US" sz="1200" dirty="0"/>
          </a:p>
        </p:txBody>
      </p:sp>
      <p:sp>
        <p:nvSpPr>
          <p:cNvPr id="270" name="Shape 268"/>
          <p:cNvSpPr/>
          <p:nvPr/>
        </p:nvSpPr>
        <p:spPr>
          <a:xfrm>
            <a:off x="15398496" y="7132320"/>
            <a:ext cx="1170432" cy="384048"/>
          </a:xfrm>
          <a:prstGeom prst="rect">
            <a:avLst/>
          </a:prstGeom>
          <a:solidFill>
            <a:srgbClr val="F5C78E"/>
          </a:solidFill>
          <a:ln w="12700">
            <a:solidFill>
              <a:srgbClr val="E0B080"/>
            </a:solidFill>
            <a:prstDash val="solid"/>
          </a:ln>
        </p:spPr>
      </p:sp>
      <p:sp>
        <p:nvSpPr>
          <p:cNvPr id="271" name="Text 269"/>
          <p:cNvSpPr/>
          <p:nvPr/>
        </p:nvSpPr>
        <p:spPr>
          <a:xfrm>
            <a:off x="15398496" y="7132320"/>
            <a:ext cx="1170432" cy="384048"/>
          </a:xfrm>
          <a:prstGeom prst="rect">
            <a:avLst/>
          </a:prstGeom>
          <a:noFill/>
          <a:ln/>
        </p:spPr>
        <p:txBody>
          <a:bodyPr wrap="square" lIns="0" tIns="0" rIns="50800" bIns="0" rtlCol="0" anchor="ctr"/>
          <a:lstStyle/>
          <a:p>
            <a:pPr algn="r"/>
            <a:r>
              <a:rPr lang="en-US" sz="1200" dirty="0">
                <a:solidFill>
                  <a:srgbClr val="111111"/>
                </a:solidFill>
              </a:rPr>
              <a:t>8K</a:t>
            </a:r>
            <a:endParaRPr lang="en-US" sz="1200" dirty="0"/>
          </a:p>
        </p:txBody>
      </p:sp>
      <p:sp>
        <p:nvSpPr>
          <p:cNvPr id="272" name="Shape 270"/>
          <p:cNvSpPr/>
          <p:nvPr/>
        </p:nvSpPr>
        <p:spPr>
          <a:xfrm>
            <a:off x="16568928" y="7132320"/>
            <a:ext cx="1170432" cy="384048"/>
          </a:xfrm>
          <a:prstGeom prst="rect">
            <a:avLst/>
          </a:prstGeom>
          <a:solidFill>
            <a:srgbClr val="F5C78E"/>
          </a:solidFill>
          <a:ln w="12700">
            <a:solidFill>
              <a:srgbClr val="E0B080"/>
            </a:solidFill>
            <a:prstDash val="solid"/>
          </a:ln>
        </p:spPr>
      </p:sp>
      <p:sp>
        <p:nvSpPr>
          <p:cNvPr id="273" name="Text 271"/>
          <p:cNvSpPr/>
          <p:nvPr/>
        </p:nvSpPr>
        <p:spPr>
          <a:xfrm>
            <a:off x="16568928" y="7132320"/>
            <a:ext cx="1170432" cy="384048"/>
          </a:xfrm>
          <a:prstGeom prst="rect">
            <a:avLst/>
          </a:prstGeom>
          <a:noFill/>
          <a:ln/>
        </p:spPr>
        <p:txBody>
          <a:bodyPr wrap="square" lIns="0" tIns="0" rIns="50800" bIns="0" rtlCol="0" anchor="ctr"/>
          <a:lstStyle/>
          <a:p>
            <a:pPr algn="r"/>
            <a:r>
              <a:rPr lang="en-US" sz="1200" dirty="0">
                <a:solidFill>
                  <a:srgbClr val="111111"/>
                </a:solidFill>
              </a:rPr>
              <a:t>8K</a:t>
            </a:r>
            <a:endParaRPr lang="en-US" sz="1200" dirty="0"/>
          </a:p>
        </p:txBody>
      </p:sp>
      <p:sp>
        <p:nvSpPr>
          <p:cNvPr id="274" name="Shape 272"/>
          <p:cNvSpPr/>
          <p:nvPr/>
        </p:nvSpPr>
        <p:spPr>
          <a:xfrm>
            <a:off x="17739360" y="7132320"/>
            <a:ext cx="1170432" cy="384048"/>
          </a:xfrm>
          <a:prstGeom prst="rect">
            <a:avLst/>
          </a:prstGeom>
          <a:solidFill>
            <a:srgbClr val="F5C78E"/>
          </a:solidFill>
          <a:ln w="12700">
            <a:solidFill>
              <a:srgbClr val="E0B080"/>
            </a:solidFill>
            <a:prstDash val="solid"/>
          </a:ln>
        </p:spPr>
      </p:sp>
      <p:sp>
        <p:nvSpPr>
          <p:cNvPr id="275" name="Text 273"/>
          <p:cNvSpPr/>
          <p:nvPr/>
        </p:nvSpPr>
        <p:spPr>
          <a:xfrm>
            <a:off x="17739360" y="7132320"/>
            <a:ext cx="1170432" cy="384048"/>
          </a:xfrm>
          <a:prstGeom prst="rect">
            <a:avLst/>
          </a:prstGeom>
          <a:noFill/>
          <a:ln/>
        </p:spPr>
        <p:txBody>
          <a:bodyPr wrap="square" lIns="0" tIns="0" rIns="50800" bIns="0" rtlCol="0" anchor="ctr"/>
          <a:lstStyle/>
          <a:p>
            <a:pPr algn="r"/>
            <a:r>
              <a:rPr lang="en-US" sz="1200" dirty="0">
                <a:solidFill>
                  <a:srgbClr val="111111"/>
                </a:solidFill>
              </a:rPr>
              <a:t>72K</a:t>
            </a:r>
            <a:endParaRPr lang="en-US" sz="1200" dirty="0"/>
          </a:p>
        </p:txBody>
      </p:sp>
      <p:sp>
        <p:nvSpPr>
          <p:cNvPr id="276" name="Shape 274"/>
          <p:cNvSpPr/>
          <p:nvPr/>
        </p:nvSpPr>
        <p:spPr>
          <a:xfrm>
            <a:off x="548640" y="7516368"/>
            <a:ext cx="3145536" cy="384048"/>
          </a:xfrm>
          <a:prstGeom prst="rect">
            <a:avLst/>
          </a:prstGeom>
          <a:solidFill>
            <a:srgbClr val="FDE9C8"/>
          </a:solidFill>
          <a:ln w="12700">
            <a:solidFill>
              <a:srgbClr val="E0B080"/>
            </a:solidFill>
            <a:prstDash val="solid"/>
          </a:ln>
        </p:spPr>
      </p:sp>
      <p:sp>
        <p:nvSpPr>
          <p:cNvPr id="277" name="Text 275"/>
          <p:cNvSpPr/>
          <p:nvPr/>
        </p:nvSpPr>
        <p:spPr>
          <a:xfrm>
            <a:off x="621792" y="7516368"/>
            <a:ext cx="3035808" cy="384048"/>
          </a:xfrm>
          <a:prstGeom prst="rect">
            <a:avLst/>
          </a:prstGeom>
          <a:noFill/>
          <a:ln/>
        </p:spPr>
        <p:txBody>
          <a:bodyPr wrap="square" rtlCol="0" anchor="ctr"/>
          <a:lstStyle/>
          <a:p>
            <a:r>
              <a:rPr lang="en-US" sz="1300" dirty="0">
                <a:solidFill>
                  <a:srgbClr val="111111"/>
                </a:solidFill>
              </a:rPr>
              <a:t>Transportation</a:t>
            </a:r>
            <a:endParaRPr lang="en-US" sz="1300" dirty="0"/>
          </a:p>
        </p:txBody>
      </p:sp>
      <p:sp>
        <p:nvSpPr>
          <p:cNvPr id="278" name="Shape 276"/>
          <p:cNvSpPr/>
          <p:nvPr/>
        </p:nvSpPr>
        <p:spPr>
          <a:xfrm>
            <a:off x="3694176" y="7516368"/>
            <a:ext cx="1170432" cy="384048"/>
          </a:xfrm>
          <a:prstGeom prst="rect">
            <a:avLst/>
          </a:prstGeom>
          <a:solidFill>
            <a:srgbClr val="FDE9C8"/>
          </a:solidFill>
          <a:ln w="12700">
            <a:solidFill>
              <a:srgbClr val="E0B080"/>
            </a:solidFill>
            <a:prstDash val="solid"/>
          </a:ln>
        </p:spPr>
      </p:sp>
      <p:sp>
        <p:nvSpPr>
          <p:cNvPr id="279" name="Text 277"/>
          <p:cNvSpPr/>
          <p:nvPr/>
        </p:nvSpPr>
        <p:spPr>
          <a:xfrm>
            <a:off x="3694176"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0" name="Shape 278"/>
          <p:cNvSpPr/>
          <p:nvPr/>
        </p:nvSpPr>
        <p:spPr>
          <a:xfrm>
            <a:off x="4864608" y="7516368"/>
            <a:ext cx="1170432" cy="384048"/>
          </a:xfrm>
          <a:prstGeom prst="rect">
            <a:avLst/>
          </a:prstGeom>
          <a:solidFill>
            <a:srgbClr val="FDE9C8"/>
          </a:solidFill>
          <a:ln w="12700">
            <a:solidFill>
              <a:srgbClr val="E0B080"/>
            </a:solidFill>
            <a:prstDash val="solid"/>
          </a:ln>
        </p:spPr>
      </p:sp>
      <p:sp>
        <p:nvSpPr>
          <p:cNvPr id="281" name="Text 279"/>
          <p:cNvSpPr/>
          <p:nvPr/>
        </p:nvSpPr>
        <p:spPr>
          <a:xfrm>
            <a:off x="4864608"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2" name="Shape 280"/>
          <p:cNvSpPr/>
          <p:nvPr/>
        </p:nvSpPr>
        <p:spPr>
          <a:xfrm>
            <a:off x="6035040" y="7516368"/>
            <a:ext cx="1170432" cy="384048"/>
          </a:xfrm>
          <a:prstGeom prst="rect">
            <a:avLst/>
          </a:prstGeom>
          <a:solidFill>
            <a:srgbClr val="FDE9C8"/>
          </a:solidFill>
          <a:ln w="12700">
            <a:solidFill>
              <a:srgbClr val="E0B080"/>
            </a:solidFill>
            <a:prstDash val="solid"/>
          </a:ln>
        </p:spPr>
      </p:sp>
      <p:sp>
        <p:nvSpPr>
          <p:cNvPr id="283" name="Text 281"/>
          <p:cNvSpPr/>
          <p:nvPr/>
        </p:nvSpPr>
        <p:spPr>
          <a:xfrm>
            <a:off x="6035040"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4" name="Shape 282"/>
          <p:cNvSpPr/>
          <p:nvPr/>
        </p:nvSpPr>
        <p:spPr>
          <a:xfrm>
            <a:off x="7205472" y="7516368"/>
            <a:ext cx="1170432" cy="384048"/>
          </a:xfrm>
          <a:prstGeom prst="rect">
            <a:avLst/>
          </a:prstGeom>
          <a:solidFill>
            <a:srgbClr val="FDE9C8"/>
          </a:solidFill>
          <a:ln w="12700">
            <a:solidFill>
              <a:srgbClr val="E0B080"/>
            </a:solidFill>
            <a:prstDash val="solid"/>
          </a:ln>
        </p:spPr>
      </p:sp>
      <p:sp>
        <p:nvSpPr>
          <p:cNvPr id="285" name="Text 283"/>
          <p:cNvSpPr/>
          <p:nvPr/>
        </p:nvSpPr>
        <p:spPr>
          <a:xfrm>
            <a:off x="7205472"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6" name="Shape 284"/>
          <p:cNvSpPr/>
          <p:nvPr/>
        </p:nvSpPr>
        <p:spPr>
          <a:xfrm>
            <a:off x="8375904" y="7516368"/>
            <a:ext cx="1170432" cy="384048"/>
          </a:xfrm>
          <a:prstGeom prst="rect">
            <a:avLst/>
          </a:prstGeom>
          <a:solidFill>
            <a:srgbClr val="FDE9C8"/>
          </a:solidFill>
          <a:ln w="12700">
            <a:solidFill>
              <a:srgbClr val="E0B080"/>
            </a:solidFill>
            <a:prstDash val="solid"/>
          </a:ln>
        </p:spPr>
      </p:sp>
      <p:sp>
        <p:nvSpPr>
          <p:cNvPr id="287" name="Text 285"/>
          <p:cNvSpPr/>
          <p:nvPr/>
        </p:nvSpPr>
        <p:spPr>
          <a:xfrm>
            <a:off x="8375904"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88" name="Shape 286"/>
          <p:cNvSpPr/>
          <p:nvPr/>
        </p:nvSpPr>
        <p:spPr>
          <a:xfrm>
            <a:off x="9546336" y="7516368"/>
            <a:ext cx="1170432" cy="384048"/>
          </a:xfrm>
          <a:prstGeom prst="rect">
            <a:avLst/>
          </a:prstGeom>
          <a:solidFill>
            <a:srgbClr val="FDE9C8"/>
          </a:solidFill>
          <a:ln w="12700">
            <a:solidFill>
              <a:srgbClr val="E0B080"/>
            </a:solidFill>
            <a:prstDash val="solid"/>
          </a:ln>
        </p:spPr>
      </p:sp>
      <p:sp>
        <p:nvSpPr>
          <p:cNvPr id="289" name="Text 287"/>
          <p:cNvSpPr/>
          <p:nvPr/>
        </p:nvSpPr>
        <p:spPr>
          <a:xfrm>
            <a:off x="9546336"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90" name="Shape 288"/>
          <p:cNvSpPr/>
          <p:nvPr/>
        </p:nvSpPr>
        <p:spPr>
          <a:xfrm>
            <a:off x="10716768" y="7516368"/>
            <a:ext cx="1170432" cy="384048"/>
          </a:xfrm>
          <a:prstGeom prst="rect">
            <a:avLst/>
          </a:prstGeom>
          <a:solidFill>
            <a:srgbClr val="FDE9C8"/>
          </a:solidFill>
          <a:ln w="12700">
            <a:solidFill>
              <a:srgbClr val="E0B080"/>
            </a:solidFill>
            <a:prstDash val="solid"/>
          </a:ln>
        </p:spPr>
      </p:sp>
      <p:sp>
        <p:nvSpPr>
          <p:cNvPr id="291" name="Text 289"/>
          <p:cNvSpPr/>
          <p:nvPr/>
        </p:nvSpPr>
        <p:spPr>
          <a:xfrm>
            <a:off x="10716768"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92" name="Shape 290"/>
          <p:cNvSpPr/>
          <p:nvPr/>
        </p:nvSpPr>
        <p:spPr>
          <a:xfrm>
            <a:off x="11887200" y="7516368"/>
            <a:ext cx="1170432" cy="384048"/>
          </a:xfrm>
          <a:prstGeom prst="rect">
            <a:avLst/>
          </a:prstGeom>
          <a:solidFill>
            <a:srgbClr val="FDE9C8"/>
          </a:solidFill>
          <a:ln w="12700">
            <a:solidFill>
              <a:srgbClr val="E0B080"/>
            </a:solidFill>
            <a:prstDash val="solid"/>
          </a:ln>
        </p:spPr>
      </p:sp>
      <p:sp>
        <p:nvSpPr>
          <p:cNvPr id="293" name="Text 291"/>
          <p:cNvSpPr/>
          <p:nvPr/>
        </p:nvSpPr>
        <p:spPr>
          <a:xfrm>
            <a:off x="11887200"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94" name="Shape 292"/>
          <p:cNvSpPr/>
          <p:nvPr/>
        </p:nvSpPr>
        <p:spPr>
          <a:xfrm>
            <a:off x="13057632" y="7516368"/>
            <a:ext cx="1170432" cy="384048"/>
          </a:xfrm>
          <a:prstGeom prst="rect">
            <a:avLst/>
          </a:prstGeom>
          <a:solidFill>
            <a:srgbClr val="FDE9C8"/>
          </a:solidFill>
          <a:ln w="12700">
            <a:solidFill>
              <a:srgbClr val="E0B080"/>
            </a:solidFill>
            <a:prstDash val="solid"/>
          </a:ln>
        </p:spPr>
      </p:sp>
      <p:sp>
        <p:nvSpPr>
          <p:cNvPr id="295" name="Text 293"/>
          <p:cNvSpPr/>
          <p:nvPr/>
        </p:nvSpPr>
        <p:spPr>
          <a:xfrm>
            <a:off x="13057632"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96" name="Shape 294"/>
          <p:cNvSpPr/>
          <p:nvPr/>
        </p:nvSpPr>
        <p:spPr>
          <a:xfrm>
            <a:off x="14228064" y="7516368"/>
            <a:ext cx="1170432" cy="384048"/>
          </a:xfrm>
          <a:prstGeom prst="rect">
            <a:avLst/>
          </a:prstGeom>
          <a:solidFill>
            <a:srgbClr val="FDE9C8"/>
          </a:solidFill>
          <a:ln w="12700">
            <a:solidFill>
              <a:srgbClr val="E0B080"/>
            </a:solidFill>
            <a:prstDash val="solid"/>
          </a:ln>
        </p:spPr>
      </p:sp>
      <p:sp>
        <p:nvSpPr>
          <p:cNvPr id="297" name="Text 295"/>
          <p:cNvSpPr/>
          <p:nvPr/>
        </p:nvSpPr>
        <p:spPr>
          <a:xfrm>
            <a:off x="14228064"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298" name="Shape 296"/>
          <p:cNvSpPr/>
          <p:nvPr/>
        </p:nvSpPr>
        <p:spPr>
          <a:xfrm>
            <a:off x="15398496" y="7516368"/>
            <a:ext cx="1170432" cy="384048"/>
          </a:xfrm>
          <a:prstGeom prst="rect">
            <a:avLst/>
          </a:prstGeom>
          <a:solidFill>
            <a:srgbClr val="FDE9C8"/>
          </a:solidFill>
          <a:ln w="12700">
            <a:solidFill>
              <a:srgbClr val="E0B080"/>
            </a:solidFill>
            <a:prstDash val="solid"/>
          </a:ln>
        </p:spPr>
      </p:sp>
      <p:sp>
        <p:nvSpPr>
          <p:cNvPr id="299" name="Text 297"/>
          <p:cNvSpPr/>
          <p:nvPr/>
        </p:nvSpPr>
        <p:spPr>
          <a:xfrm>
            <a:off x="15398496"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00" name="Shape 298"/>
          <p:cNvSpPr/>
          <p:nvPr/>
        </p:nvSpPr>
        <p:spPr>
          <a:xfrm>
            <a:off x="16568928" y="7516368"/>
            <a:ext cx="1170432" cy="384048"/>
          </a:xfrm>
          <a:prstGeom prst="rect">
            <a:avLst/>
          </a:prstGeom>
          <a:solidFill>
            <a:srgbClr val="FDE9C8"/>
          </a:solidFill>
          <a:ln w="12700">
            <a:solidFill>
              <a:srgbClr val="E0B080"/>
            </a:solidFill>
            <a:prstDash val="solid"/>
          </a:ln>
        </p:spPr>
      </p:sp>
      <p:sp>
        <p:nvSpPr>
          <p:cNvPr id="301" name="Text 299"/>
          <p:cNvSpPr/>
          <p:nvPr/>
        </p:nvSpPr>
        <p:spPr>
          <a:xfrm>
            <a:off x="16568928"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02" name="Shape 300"/>
          <p:cNvSpPr/>
          <p:nvPr/>
        </p:nvSpPr>
        <p:spPr>
          <a:xfrm>
            <a:off x="17739360" y="7516368"/>
            <a:ext cx="1170432" cy="384048"/>
          </a:xfrm>
          <a:prstGeom prst="rect">
            <a:avLst/>
          </a:prstGeom>
          <a:solidFill>
            <a:srgbClr val="FDE9C8"/>
          </a:solidFill>
          <a:ln w="12700">
            <a:solidFill>
              <a:srgbClr val="E0B080"/>
            </a:solidFill>
            <a:prstDash val="solid"/>
          </a:ln>
        </p:spPr>
      </p:sp>
      <p:sp>
        <p:nvSpPr>
          <p:cNvPr id="303" name="Text 301"/>
          <p:cNvSpPr/>
          <p:nvPr/>
        </p:nvSpPr>
        <p:spPr>
          <a:xfrm>
            <a:off x="17739360" y="751636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04" name="Shape 302"/>
          <p:cNvSpPr/>
          <p:nvPr/>
        </p:nvSpPr>
        <p:spPr>
          <a:xfrm>
            <a:off x="548640" y="7900416"/>
            <a:ext cx="3145536" cy="384048"/>
          </a:xfrm>
          <a:prstGeom prst="rect">
            <a:avLst/>
          </a:prstGeom>
          <a:solidFill>
            <a:srgbClr val="F5C78E"/>
          </a:solidFill>
          <a:ln w="12700">
            <a:solidFill>
              <a:srgbClr val="E0B080"/>
            </a:solidFill>
            <a:prstDash val="solid"/>
          </a:ln>
        </p:spPr>
      </p:sp>
      <p:sp>
        <p:nvSpPr>
          <p:cNvPr id="305" name="Text 303"/>
          <p:cNvSpPr/>
          <p:nvPr/>
        </p:nvSpPr>
        <p:spPr>
          <a:xfrm>
            <a:off x="621792" y="7900416"/>
            <a:ext cx="3035808" cy="384048"/>
          </a:xfrm>
          <a:prstGeom prst="rect">
            <a:avLst/>
          </a:prstGeom>
          <a:noFill/>
          <a:ln/>
        </p:spPr>
        <p:txBody>
          <a:bodyPr wrap="square" rtlCol="0" anchor="ctr"/>
          <a:lstStyle/>
          <a:p>
            <a:r>
              <a:rPr lang="en-US" sz="1300" dirty="0">
                <a:solidFill>
                  <a:srgbClr val="111111"/>
                </a:solidFill>
              </a:rPr>
              <a:t>Office Supplies</a:t>
            </a:r>
            <a:endParaRPr lang="en-US" sz="1300" dirty="0"/>
          </a:p>
        </p:txBody>
      </p:sp>
      <p:sp>
        <p:nvSpPr>
          <p:cNvPr id="306" name="Shape 304"/>
          <p:cNvSpPr/>
          <p:nvPr/>
        </p:nvSpPr>
        <p:spPr>
          <a:xfrm>
            <a:off x="3694176" y="7900416"/>
            <a:ext cx="1170432" cy="384048"/>
          </a:xfrm>
          <a:prstGeom prst="rect">
            <a:avLst/>
          </a:prstGeom>
          <a:solidFill>
            <a:srgbClr val="F5C78E"/>
          </a:solidFill>
          <a:ln w="12700">
            <a:solidFill>
              <a:srgbClr val="E0B080"/>
            </a:solidFill>
            <a:prstDash val="solid"/>
          </a:ln>
        </p:spPr>
      </p:sp>
      <p:sp>
        <p:nvSpPr>
          <p:cNvPr id="307" name="Text 305"/>
          <p:cNvSpPr/>
          <p:nvPr/>
        </p:nvSpPr>
        <p:spPr>
          <a:xfrm>
            <a:off x="3694176"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08" name="Shape 306"/>
          <p:cNvSpPr/>
          <p:nvPr/>
        </p:nvSpPr>
        <p:spPr>
          <a:xfrm>
            <a:off x="4864608" y="7900416"/>
            <a:ext cx="1170432" cy="384048"/>
          </a:xfrm>
          <a:prstGeom prst="rect">
            <a:avLst/>
          </a:prstGeom>
          <a:solidFill>
            <a:srgbClr val="F5C78E"/>
          </a:solidFill>
          <a:ln w="12700">
            <a:solidFill>
              <a:srgbClr val="E0B080"/>
            </a:solidFill>
            <a:prstDash val="solid"/>
          </a:ln>
        </p:spPr>
      </p:sp>
      <p:sp>
        <p:nvSpPr>
          <p:cNvPr id="309" name="Text 307"/>
          <p:cNvSpPr/>
          <p:nvPr/>
        </p:nvSpPr>
        <p:spPr>
          <a:xfrm>
            <a:off x="4864608"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10" name="Shape 308"/>
          <p:cNvSpPr/>
          <p:nvPr/>
        </p:nvSpPr>
        <p:spPr>
          <a:xfrm>
            <a:off x="6035040" y="7900416"/>
            <a:ext cx="1170432" cy="384048"/>
          </a:xfrm>
          <a:prstGeom prst="rect">
            <a:avLst/>
          </a:prstGeom>
          <a:solidFill>
            <a:srgbClr val="F5C78E"/>
          </a:solidFill>
          <a:ln w="12700">
            <a:solidFill>
              <a:srgbClr val="E0B080"/>
            </a:solidFill>
            <a:prstDash val="solid"/>
          </a:ln>
        </p:spPr>
      </p:sp>
      <p:sp>
        <p:nvSpPr>
          <p:cNvPr id="311" name="Text 309"/>
          <p:cNvSpPr/>
          <p:nvPr/>
        </p:nvSpPr>
        <p:spPr>
          <a:xfrm>
            <a:off x="6035040"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12" name="Shape 310"/>
          <p:cNvSpPr/>
          <p:nvPr/>
        </p:nvSpPr>
        <p:spPr>
          <a:xfrm>
            <a:off x="7205472" y="7900416"/>
            <a:ext cx="1170432" cy="384048"/>
          </a:xfrm>
          <a:prstGeom prst="rect">
            <a:avLst/>
          </a:prstGeom>
          <a:solidFill>
            <a:srgbClr val="F5C78E"/>
          </a:solidFill>
          <a:ln w="12700">
            <a:solidFill>
              <a:srgbClr val="E0B080"/>
            </a:solidFill>
            <a:prstDash val="solid"/>
          </a:ln>
        </p:spPr>
      </p:sp>
      <p:sp>
        <p:nvSpPr>
          <p:cNvPr id="313" name="Text 311"/>
          <p:cNvSpPr/>
          <p:nvPr/>
        </p:nvSpPr>
        <p:spPr>
          <a:xfrm>
            <a:off x="7205472"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14" name="Shape 312"/>
          <p:cNvSpPr/>
          <p:nvPr/>
        </p:nvSpPr>
        <p:spPr>
          <a:xfrm>
            <a:off x="8375904" y="7900416"/>
            <a:ext cx="1170432" cy="384048"/>
          </a:xfrm>
          <a:prstGeom prst="rect">
            <a:avLst/>
          </a:prstGeom>
          <a:solidFill>
            <a:srgbClr val="F5C78E"/>
          </a:solidFill>
          <a:ln w="12700">
            <a:solidFill>
              <a:srgbClr val="E0B080"/>
            </a:solidFill>
            <a:prstDash val="solid"/>
          </a:ln>
        </p:spPr>
      </p:sp>
      <p:sp>
        <p:nvSpPr>
          <p:cNvPr id="315" name="Text 313"/>
          <p:cNvSpPr/>
          <p:nvPr/>
        </p:nvSpPr>
        <p:spPr>
          <a:xfrm>
            <a:off x="8375904"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16" name="Shape 314"/>
          <p:cNvSpPr/>
          <p:nvPr/>
        </p:nvSpPr>
        <p:spPr>
          <a:xfrm>
            <a:off x="9546336" y="7900416"/>
            <a:ext cx="1170432" cy="384048"/>
          </a:xfrm>
          <a:prstGeom prst="rect">
            <a:avLst/>
          </a:prstGeom>
          <a:solidFill>
            <a:srgbClr val="F5C78E"/>
          </a:solidFill>
          <a:ln w="12700">
            <a:solidFill>
              <a:srgbClr val="E0B080"/>
            </a:solidFill>
            <a:prstDash val="solid"/>
          </a:ln>
        </p:spPr>
      </p:sp>
      <p:sp>
        <p:nvSpPr>
          <p:cNvPr id="317" name="Text 315"/>
          <p:cNvSpPr/>
          <p:nvPr/>
        </p:nvSpPr>
        <p:spPr>
          <a:xfrm>
            <a:off x="9546336"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18" name="Shape 316"/>
          <p:cNvSpPr/>
          <p:nvPr/>
        </p:nvSpPr>
        <p:spPr>
          <a:xfrm>
            <a:off x="10716768" y="7900416"/>
            <a:ext cx="1170432" cy="384048"/>
          </a:xfrm>
          <a:prstGeom prst="rect">
            <a:avLst/>
          </a:prstGeom>
          <a:solidFill>
            <a:srgbClr val="F5C78E"/>
          </a:solidFill>
          <a:ln w="12700">
            <a:solidFill>
              <a:srgbClr val="E0B080"/>
            </a:solidFill>
            <a:prstDash val="solid"/>
          </a:ln>
        </p:spPr>
      </p:sp>
      <p:sp>
        <p:nvSpPr>
          <p:cNvPr id="319" name="Text 317"/>
          <p:cNvSpPr/>
          <p:nvPr/>
        </p:nvSpPr>
        <p:spPr>
          <a:xfrm>
            <a:off x="10716768"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20" name="Shape 318"/>
          <p:cNvSpPr/>
          <p:nvPr/>
        </p:nvSpPr>
        <p:spPr>
          <a:xfrm>
            <a:off x="11887200" y="7900416"/>
            <a:ext cx="1170432" cy="384048"/>
          </a:xfrm>
          <a:prstGeom prst="rect">
            <a:avLst/>
          </a:prstGeom>
          <a:solidFill>
            <a:srgbClr val="F5C78E"/>
          </a:solidFill>
          <a:ln w="12700">
            <a:solidFill>
              <a:srgbClr val="E0B080"/>
            </a:solidFill>
            <a:prstDash val="solid"/>
          </a:ln>
        </p:spPr>
      </p:sp>
      <p:sp>
        <p:nvSpPr>
          <p:cNvPr id="321" name="Text 319"/>
          <p:cNvSpPr/>
          <p:nvPr/>
        </p:nvSpPr>
        <p:spPr>
          <a:xfrm>
            <a:off x="11887200"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22" name="Shape 320"/>
          <p:cNvSpPr/>
          <p:nvPr/>
        </p:nvSpPr>
        <p:spPr>
          <a:xfrm>
            <a:off x="13057632" y="7900416"/>
            <a:ext cx="1170432" cy="384048"/>
          </a:xfrm>
          <a:prstGeom prst="rect">
            <a:avLst/>
          </a:prstGeom>
          <a:solidFill>
            <a:srgbClr val="F5C78E"/>
          </a:solidFill>
          <a:ln w="12700">
            <a:solidFill>
              <a:srgbClr val="E0B080"/>
            </a:solidFill>
            <a:prstDash val="solid"/>
          </a:ln>
        </p:spPr>
      </p:sp>
      <p:sp>
        <p:nvSpPr>
          <p:cNvPr id="323" name="Text 321"/>
          <p:cNvSpPr/>
          <p:nvPr/>
        </p:nvSpPr>
        <p:spPr>
          <a:xfrm>
            <a:off x="13057632"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24" name="Shape 322"/>
          <p:cNvSpPr/>
          <p:nvPr/>
        </p:nvSpPr>
        <p:spPr>
          <a:xfrm>
            <a:off x="14228064" y="7900416"/>
            <a:ext cx="1170432" cy="384048"/>
          </a:xfrm>
          <a:prstGeom prst="rect">
            <a:avLst/>
          </a:prstGeom>
          <a:solidFill>
            <a:srgbClr val="F5C78E"/>
          </a:solidFill>
          <a:ln w="12700">
            <a:solidFill>
              <a:srgbClr val="E0B080"/>
            </a:solidFill>
            <a:prstDash val="solid"/>
          </a:ln>
        </p:spPr>
      </p:sp>
      <p:sp>
        <p:nvSpPr>
          <p:cNvPr id="325" name="Text 323"/>
          <p:cNvSpPr/>
          <p:nvPr/>
        </p:nvSpPr>
        <p:spPr>
          <a:xfrm>
            <a:off x="14228064"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26" name="Shape 324"/>
          <p:cNvSpPr/>
          <p:nvPr/>
        </p:nvSpPr>
        <p:spPr>
          <a:xfrm>
            <a:off x="15398496" y="7900416"/>
            <a:ext cx="1170432" cy="384048"/>
          </a:xfrm>
          <a:prstGeom prst="rect">
            <a:avLst/>
          </a:prstGeom>
          <a:solidFill>
            <a:srgbClr val="F5C78E"/>
          </a:solidFill>
          <a:ln w="12700">
            <a:solidFill>
              <a:srgbClr val="E0B080"/>
            </a:solidFill>
            <a:prstDash val="solid"/>
          </a:ln>
        </p:spPr>
      </p:sp>
      <p:sp>
        <p:nvSpPr>
          <p:cNvPr id="327" name="Text 325"/>
          <p:cNvSpPr/>
          <p:nvPr/>
        </p:nvSpPr>
        <p:spPr>
          <a:xfrm>
            <a:off x="15398496"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28" name="Shape 326"/>
          <p:cNvSpPr/>
          <p:nvPr/>
        </p:nvSpPr>
        <p:spPr>
          <a:xfrm>
            <a:off x="16568928" y="7900416"/>
            <a:ext cx="1170432" cy="384048"/>
          </a:xfrm>
          <a:prstGeom prst="rect">
            <a:avLst/>
          </a:prstGeom>
          <a:solidFill>
            <a:srgbClr val="F5C78E"/>
          </a:solidFill>
          <a:ln w="12700">
            <a:solidFill>
              <a:srgbClr val="E0B080"/>
            </a:solidFill>
            <a:prstDash val="solid"/>
          </a:ln>
        </p:spPr>
      </p:sp>
      <p:sp>
        <p:nvSpPr>
          <p:cNvPr id="329" name="Text 327"/>
          <p:cNvSpPr/>
          <p:nvPr/>
        </p:nvSpPr>
        <p:spPr>
          <a:xfrm>
            <a:off x="16568928"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30" name="Shape 328"/>
          <p:cNvSpPr/>
          <p:nvPr/>
        </p:nvSpPr>
        <p:spPr>
          <a:xfrm>
            <a:off x="17739360" y="7900416"/>
            <a:ext cx="1170432" cy="384048"/>
          </a:xfrm>
          <a:prstGeom prst="rect">
            <a:avLst/>
          </a:prstGeom>
          <a:solidFill>
            <a:srgbClr val="F5C78E"/>
          </a:solidFill>
          <a:ln w="12700">
            <a:solidFill>
              <a:srgbClr val="E0B080"/>
            </a:solidFill>
            <a:prstDash val="solid"/>
          </a:ln>
        </p:spPr>
      </p:sp>
      <p:sp>
        <p:nvSpPr>
          <p:cNvPr id="331" name="Text 329"/>
          <p:cNvSpPr/>
          <p:nvPr/>
        </p:nvSpPr>
        <p:spPr>
          <a:xfrm>
            <a:off x="17739360" y="7900416"/>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32" name="Shape 330"/>
          <p:cNvSpPr/>
          <p:nvPr/>
        </p:nvSpPr>
        <p:spPr>
          <a:xfrm>
            <a:off x="548640" y="8284464"/>
            <a:ext cx="3145536" cy="384048"/>
          </a:xfrm>
          <a:prstGeom prst="rect">
            <a:avLst/>
          </a:prstGeom>
          <a:solidFill>
            <a:srgbClr val="FDE9C8"/>
          </a:solidFill>
          <a:ln w="12700">
            <a:solidFill>
              <a:srgbClr val="E0B080"/>
            </a:solidFill>
            <a:prstDash val="solid"/>
          </a:ln>
        </p:spPr>
      </p:sp>
      <p:sp>
        <p:nvSpPr>
          <p:cNvPr id="333" name="Text 331"/>
          <p:cNvSpPr/>
          <p:nvPr/>
        </p:nvSpPr>
        <p:spPr>
          <a:xfrm>
            <a:off x="621792" y="8284464"/>
            <a:ext cx="3035808" cy="384048"/>
          </a:xfrm>
          <a:prstGeom prst="rect">
            <a:avLst/>
          </a:prstGeom>
          <a:noFill/>
          <a:ln/>
        </p:spPr>
        <p:txBody>
          <a:bodyPr wrap="square" rtlCol="0" anchor="ctr"/>
          <a:lstStyle/>
          <a:p>
            <a:r>
              <a:rPr lang="en-US" sz="1300" dirty="0">
                <a:solidFill>
                  <a:srgbClr val="111111"/>
                </a:solidFill>
              </a:rPr>
              <a:t>Repairs and Maintenance</a:t>
            </a:r>
            <a:endParaRPr lang="en-US" sz="1300" dirty="0"/>
          </a:p>
        </p:txBody>
      </p:sp>
      <p:sp>
        <p:nvSpPr>
          <p:cNvPr id="334" name="Shape 332"/>
          <p:cNvSpPr/>
          <p:nvPr/>
        </p:nvSpPr>
        <p:spPr>
          <a:xfrm>
            <a:off x="3694176" y="8284464"/>
            <a:ext cx="1170432" cy="384048"/>
          </a:xfrm>
          <a:prstGeom prst="rect">
            <a:avLst/>
          </a:prstGeom>
          <a:solidFill>
            <a:srgbClr val="FDE9C8"/>
          </a:solidFill>
          <a:ln w="12700">
            <a:solidFill>
              <a:srgbClr val="E0B080"/>
            </a:solidFill>
            <a:prstDash val="solid"/>
          </a:ln>
        </p:spPr>
      </p:sp>
      <p:sp>
        <p:nvSpPr>
          <p:cNvPr id="335" name="Text 333"/>
          <p:cNvSpPr/>
          <p:nvPr/>
        </p:nvSpPr>
        <p:spPr>
          <a:xfrm>
            <a:off x="3694176"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36" name="Shape 334"/>
          <p:cNvSpPr/>
          <p:nvPr/>
        </p:nvSpPr>
        <p:spPr>
          <a:xfrm>
            <a:off x="4864608" y="8284464"/>
            <a:ext cx="1170432" cy="384048"/>
          </a:xfrm>
          <a:prstGeom prst="rect">
            <a:avLst/>
          </a:prstGeom>
          <a:solidFill>
            <a:srgbClr val="FDE9C8"/>
          </a:solidFill>
          <a:ln w="12700">
            <a:solidFill>
              <a:srgbClr val="E0B080"/>
            </a:solidFill>
            <a:prstDash val="solid"/>
          </a:ln>
        </p:spPr>
      </p:sp>
      <p:sp>
        <p:nvSpPr>
          <p:cNvPr id="337" name="Text 335"/>
          <p:cNvSpPr/>
          <p:nvPr/>
        </p:nvSpPr>
        <p:spPr>
          <a:xfrm>
            <a:off x="4864608"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38" name="Shape 336"/>
          <p:cNvSpPr/>
          <p:nvPr/>
        </p:nvSpPr>
        <p:spPr>
          <a:xfrm>
            <a:off x="6035040" y="8284464"/>
            <a:ext cx="1170432" cy="384048"/>
          </a:xfrm>
          <a:prstGeom prst="rect">
            <a:avLst/>
          </a:prstGeom>
          <a:solidFill>
            <a:srgbClr val="FDE9C8"/>
          </a:solidFill>
          <a:ln w="12700">
            <a:solidFill>
              <a:srgbClr val="E0B080"/>
            </a:solidFill>
            <a:prstDash val="solid"/>
          </a:ln>
        </p:spPr>
      </p:sp>
      <p:sp>
        <p:nvSpPr>
          <p:cNvPr id="339" name="Text 337"/>
          <p:cNvSpPr/>
          <p:nvPr/>
        </p:nvSpPr>
        <p:spPr>
          <a:xfrm>
            <a:off x="6035040"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40" name="Shape 338"/>
          <p:cNvSpPr/>
          <p:nvPr/>
        </p:nvSpPr>
        <p:spPr>
          <a:xfrm>
            <a:off x="7205472" y="8284464"/>
            <a:ext cx="1170432" cy="384048"/>
          </a:xfrm>
          <a:prstGeom prst="rect">
            <a:avLst/>
          </a:prstGeom>
          <a:solidFill>
            <a:srgbClr val="FDE9C8"/>
          </a:solidFill>
          <a:ln w="12700">
            <a:solidFill>
              <a:srgbClr val="E0B080"/>
            </a:solidFill>
            <a:prstDash val="solid"/>
          </a:ln>
        </p:spPr>
      </p:sp>
      <p:sp>
        <p:nvSpPr>
          <p:cNvPr id="341" name="Text 339"/>
          <p:cNvSpPr/>
          <p:nvPr/>
        </p:nvSpPr>
        <p:spPr>
          <a:xfrm>
            <a:off x="7205472"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42" name="Shape 340"/>
          <p:cNvSpPr/>
          <p:nvPr/>
        </p:nvSpPr>
        <p:spPr>
          <a:xfrm>
            <a:off x="8375904" y="8284464"/>
            <a:ext cx="1170432" cy="384048"/>
          </a:xfrm>
          <a:prstGeom prst="rect">
            <a:avLst/>
          </a:prstGeom>
          <a:solidFill>
            <a:srgbClr val="FDE9C8"/>
          </a:solidFill>
          <a:ln w="12700">
            <a:solidFill>
              <a:srgbClr val="E0B080"/>
            </a:solidFill>
            <a:prstDash val="solid"/>
          </a:ln>
        </p:spPr>
      </p:sp>
      <p:sp>
        <p:nvSpPr>
          <p:cNvPr id="343" name="Text 341"/>
          <p:cNvSpPr/>
          <p:nvPr/>
        </p:nvSpPr>
        <p:spPr>
          <a:xfrm>
            <a:off x="8375904"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44" name="Shape 342"/>
          <p:cNvSpPr/>
          <p:nvPr/>
        </p:nvSpPr>
        <p:spPr>
          <a:xfrm>
            <a:off x="9546336" y="8284464"/>
            <a:ext cx="1170432" cy="384048"/>
          </a:xfrm>
          <a:prstGeom prst="rect">
            <a:avLst/>
          </a:prstGeom>
          <a:solidFill>
            <a:srgbClr val="FDE9C8"/>
          </a:solidFill>
          <a:ln w="12700">
            <a:solidFill>
              <a:srgbClr val="E0B080"/>
            </a:solidFill>
            <a:prstDash val="solid"/>
          </a:ln>
        </p:spPr>
      </p:sp>
      <p:sp>
        <p:nvSpPr>
          <p:cNvPr id="345" name="Text 343"/>
          <p:cNvSpPr/>
          <p:nvPr/>
        </p:nvSpPr>
        <p:spPr>
          <a:xfrm>
            <a:off x="9546336"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46" name="Shape 344"/>
          <p:cNvSpPr/>
          <p:nvPr/>
        </p:nvSpPr>
        <p:spPr>
          <a:xfrm>
            <a:off x="10716768" y="8284464"/>
            <a:ext cx="1170432" cy="384048"/>
          </a:xfrm>
          <a:prstGeom prst="rect">
            <a:avLst/>
          </a:prstGeom>
          <a:solidFill>
            <a:srgbClr val="FDE9C8"/>
          </a:solidFill>
          <a:ln w="12700">
            <a:solidFill>
              <a:srgbClr val="E0B080"/>
            </a:solidFill>
            <a:prstDash val="solid"/>
          </a:ln>
        </p:spPr>
      </p:sp>
      <p:sp>
        <p:nvSpPr>
          <p:cNvPr id="347" name="Text 345"/>
          <p:cNvSpPr/>
          <p:nvPr/>
        </p:nvSpPr>
        <p:spPr>
          <a:xfrm>
            <a:off x="10716768"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48" name="Shape 346"/>
          <p:cNvSpPr/>
          <p:nvPr/>
        </p:nvSpPr>
        <p:spPr>
          <a:xfrm>
            <a:off x="11887200" y="8284464"/>
            <a:ext cx="1170432" cy="384048"/>
          </a:xfrm>
          <a:prstGeom prst="rect">
            <a:avLst/>
          </a:prstGeom>
          <a:solidFill>
            <a:srgbClr val="FDE9C8"/>
          </a:solidFill>
          <a:ln w="12700">
            <a:solidFill>
              <a:srgbClr val="E0B080"/>
            </a:solidFill>
            <a:prstDash val="solid"/>
          </a:ln>
        </p:spPr>
      </p:sp>
      <p:sp>
        <p:nvSpPr>
          <p:cNvPr id="349" name="Text 347"/>
          <p:cNvSpPr/>
          <p:nvPr/>
        </p:nvSpPr>
        <p:spPr>
          <a:xfrm>
            <a:off x="11887200"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50" name="Shape 348"/>
          <p:cNvSpPr/>
          <p:nvPr/>
        </p:nvSpPr>
        <p:spPr>
          <a:xfrm>
            <a:off x="13057632" y="8284464"/>
            <a:ext cx="1170432" cy="384048"/>
          </a:xfrm>
          <a:prstGeom prst="rect">
            <a:avLst/>
          </a:prstGeom>
          <a:solidFill>
            <a:srgbClr val="FDE9C8"/>
          </a:solidFill>
          <a:ln w="12700">
            <a:solidFill>
              <a:srgbClr val="E0B080"/>
            </a:solidFill>
            <a:prstDash val="solid"/>
          </a:ln>
        </p:spPr>
      </p:sp>
      <p:sp>
        <p:nvSpPr>
          <p:cNvPr id="351" name="Text 349"/>
          <p:cNvSpPr/>
          <p:nvPr/>
        </p:nvSpPr>
        <p:spPr>
          <a:xfrm>
            <a:off x="13057632"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52" name="Shape 350"/>
          <p:cNvSpPr/>
          <p:nvPr/>
        </p:nvSpPr>
        <p:spPr>
          <a:xfrm>
            <a:off x="14228064" y="8284464"/>
            <a:ext cx="1170432" cy="384048"/>
          </a:xfrm>
          <a:prstGeom prst="rect">
            <a:avLst/>
          </a:prstGeom>
          <a:solidFill>
            <a:srgbClr val="FDE9C8"/>
          </a:solidFill>
          <a:ln w="12700">
            <a:solidFill>
              <a:srgbClr val="E0B080"/>
            </a:solidFill>
            <a:prstDash val="solid"/>
          </a:ln>
        </p:spPr>
      </p:sp>
      <p:sp>
        <p:nvSpPr>
          <p:cNvPr id="353" name="Text 351"/>
          <p:cNvSpPr/>
          <p:nvPr/>
        </p:nvSpPr>
        <p:spPr>
          <a:xfrm>
            <a:off x="14228064"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54" name="Shape 352"/>
          <p:cNvSpPr/>
          <p:nvPr/>
        </p:nvSpPr>
        <p:spPr>
          <a:xfrm>
            <a:off x="15398496" y="8284464"/>
            <a:ext cx="1170432" cy="384048"/>
          </a:xfrm>
          <a:prstGeom prst="rect">
            <a:avLst/>
          </a:prstGeom>
          <a:solidFill>
            <a:srgbClr val="FDE9C8"/>
          </a:solidFill>
          <a:ln w="12700">
            <a:solidFill>
              <a:srgbClr val="E0B080"/>
            </a:solidFill>
            <a:prstDash val="solid"/>
          </a:ln>
        </p:spPr>
      </p:sp>
      <p:sp>
        <p:nvSpPr>
          <p:cNvPr id="355" name="Text 353"/>
          <p:cNvSpPr/>
          <p:nvPr/>
        </p:nvSpPr>
        <p:spPr>
          <a:xfrm>
            <a:off x="15398496"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56" name="Shape 354"/>
          <p:cNvSpPr/>
          <p:nvPr/>
        </p:nvSpPr>
        <p:spPr>
          <a:xfrm>
            <a:off x="16568928" y="8284464"/>
            <a:ext cx="1170432" cy="384048"/>
          </a:xfrm>
          <a:prstGeom prst="rect">
            <a:avLst/>
          </a:prstGeom>
          <a:solidFill>
            <a:srgbClr val="FDE9C8"/>
          </a:solidFill>
          <a:ln w="12700">
            <a:solidFill>
              <a:srgbClr val="E0B080"/>
            </a:solidFill>
            <a:prstDash val="solid"/>
          </a:ln>
        </p:spPr>
      </p:sp>
      <p:sp>
        <p:nvSpPr>
          <p:cNvPr id="357" name="Text 355"/>
          <p:cNvSpPr/>
          <p:nvPr/>
        </p:nvSpPr>
        <p:spPr>
          <a:xfrm>
            <a:off x="16568928"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58" name="Shape 356"/>
          <p:cNvSpPr/>
          <p:nvPr/>
        </p:nvSpPr>
        <p:spPr>
          <a:xfrm>
            <a:off x="17739360" y="8284464"/>
            <a:ext cx="1170432" cy="384048"/>
          </a:xfrm>
          <a:prstGeom prst="rect">
            <a:avLst/>
          </a:prstGeom>
          <a:solidFill>
            <a:srgbClr val="FDE9C8"/>
          </a:solidFill>
          <a:ln w="12700">
            <a:solidFill>
              <a:srgbClr val="E0B080"/>
            </a:solidFill>
            <a:prstDash val="solid"/>
          </a:ln>
        </p:spPr>
      </p:sp>
      <p:sp>
        <p:nvSpPr>
          <p:cNvPr id="359" name="Text 357"/>
          <p:cNvSpPr/>
          <p:nvPr/>
        </p:nvSpPr>
        <p:spPr>
          <a:xfrm>
            <a:off x="17739360" y="8284464"/>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60" name="Shape 358"/>
          <p:cNvSpPr/>
          <p:nvPr/>
        </p:nvSpPr>
        <p:spPr>
          <a:xfrm>
            <a:off x="548640" y="8668512"/>
            <a:ext cx="3145536" cy="384048"/>
          </a:xfrm>
          <a:prstGeom prst="rect">
            <a:avLst/>
          </a:prstGeom>
          <a:solidFill>
            <a:srgbClr val="F5C78E"/>
          </a:solidFill>
          <a:ln w="12700">
            <a:solidFill>
              <a:srgbClr val="E0B080"/>
            </a:solidFill>
            <a:prstDash val="solid"/>
          </a:ln>
        </p:spPr>
      </p:sp>
      <p:sp>
        <p:nvSpPr>
          <p:cNvPr id="361" name="Text 359"/>
          <p:cNvSpPr/>
          <p:nvPr/>
        </p:nvSpPr>
        <p:spPr>
          <a:xfrm>
            <a:off x="621792" y="8668512"/>
            <a:ext cx="3035808" cy="384048"/>
          </a:xfrm>
          <a:prstGeom prst="rect">
            <a:avLst/>
          </a:prstGeom>
          <a:noFill/>
          <a:ln/>
        </p:spPr>
        <p:txBody>
          <a:bodyPr wrap="square" rtlCol="0" anchor="ctr"/>
          <a:lstStyle/>
          <a:p>
            <a:r>
              <a:rPr lang="en-US" sz="1300" dirty="0">
                <a:solidFill>
                  <a:srgbClr val="111111"/>
                </a:solidFill>
              </a:rPr>
              <a:t>Misc. Expenses</a:t>
            </a:r>
            <a:endParaRPr lang="en-US" sz="1300" dirty="0"/>
          </a:p>
        </p:txBody>
      </p:sp>
      <p:sp>
        <p:nvSpPr>
          <p:cNvPr id="362" name="Shape 360"/>
          <p:cNvSpPr/>
          <p:nvPr/>
        </p:nvSpPr>
        <p:spPr>
          <a:xfrm>
            <a:off x="3694176" y="8668512"/>
            <a:ext cx="1170432" cy="384048"/>
          </a:xfrm>
          <a:prstGeom prst="rect">
            <a:avLst/>
          </a:prstGeom>
          <a:solidFill>
            <a:srgbClr val="F5C78E"/>
          </a:solidFill>
          <a:ln w="12700">
            <a:solidFill>
              <a:srgbClr val="E0B080"/>
            </a:solidFill>
            <a:prstDash val="solid"/>
          </a:ln>
        </p:spPr>
      </p:sp>
      <p:sp>
        <p:nvSpPr>
          <p:cNvPr id="363" name="Text 361"/>
          <p:cNvSpPr/>
          <p:nvPr/>
        </p:nvSpPr>
        <p:spPr>
          <a:xfrm>
            <a:off x="3694176"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64" name="Shape 362"/>
          <p:cNvSpPr/>
          <p:nvPr/>
        </p:nvSpPr>
        <p:spPr>
          <a:xfrm>
            <a:off x="4864608" y="8668512"/>
            <a:ext cx="1170432" cy="384048"/>
          </a:xfrm>
          <a:prstGeom prst="rect">
            <a:avLst/>
          </a:prstGeom>
          <a:solidFill>
            <a:srgbClr val="F5C78E"/>
          </a:solidFill>
          <a:ln w="12700">
            <a:solidFill>
              <a:srgbClr val="E0B080"/>
            </a:solidFill>
            <a:prstDash val="solid"/>
          </a:ln>
        </p:spPr>
      </p:sp>
      <p:sp>
        <p:nvSpPr>
          <p:cNvPr id="365" name="Text 363"/>
          <p:cNvSpPr/>
          <p:nvPr/>
        </p:nvSpPr>
        <p:spPr>
          <a:xfrm>
            <a:off x="4864608"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66" name="Shape 364"/>
          <p:cNvSpPr/>
          <p:nvPr/>
        </p:nvSpPr>
        <p:spPr>
          <a:xfrm>
            <a:off x="6035040" y="8668512"/>
            <a:ext cx="1170432" cy="384048"/>
          </a:xfrm>
          <a:prstGeom prst="rect">
            <a:avLst/>
          </a:prstGeom>
          <a:solidFill>
            <a:srgbClr val="F5C78E"/>
          </a:solidFill>
          <a:ln w="12700">
            <a:solidFill>
              <a:srgbClr val="E0B080"/>
            </a:solidFill>
            <a:prstDash val="solid"/>
          </a:ln>
        </p:spPr>
      </p:sp>
      <p:sp>
        <p:nvSpPr>
          <p:cNvPr id="367" name="Text 365"/>
          <p:cNvSpPr/>
          <p:nvPr/>
        </p:nvSpPr>
        <p:spPr>
          <a:xfrm>
            <a:off x="6035040"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68" name="Shape 366"/>
          <p:cNvSpPr/>
          <p:nvPr/>
        </p:nvSpPr>
        <p:spPr>
          <a:xfrm>
            <a:off x="7205472" y="8668512"/>
            <a:ext cx="1170432" cy="384048"/>
          </a:xfrm>
          <a:prstGeom prst="rect">
            <a:avLst/>
          </a:prstGeom>
          <a:solidFill>
            <a:srgbClr val="F5C78E"/>
          </a:solidFill>
          <a:ln w="12700">
            <a:solidFill>
              <a:srgbClr val="E0B080"/>
            </a:solidFill>
            <a:prstDash val="solid"/>
          </a:ln>
        </p:spPr>
      </p:sp>
      <p:sp>
        <p:nvSpPr>
          <p:cNvPr id="369" name="Text 367"/>
          <p:cNvSpPr/>
          <p:nvPr/>
        </p:nvSpPr>
        <p:spPr>
          <a:xfrm>
            <a:off x="7205472"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70" name="Shape 368"/>
          <p:cNvSpPr/>
          <p:nvPr/>
        </p:nvSpPr>
        <p:spPr>
          <a:xfrm>
            <a:off x="8375904" y="8668512"/>
            <a:ext cx="1170432" cy="384048"/>
          </a:xfrm>
          <a:prstGeom prst="rect">
            <a:avLst/>
          </a:prstGeom>
          <a:solidFill>
            <a:srgbClr val="F5C78E"/>
          </a:solidFill>
          <a:ln w="12700">
            <a:solidFill>
              <a:srgbClr val="E0B080"/>
            </a:solidFill>
            <a:prstDash val="solid"/>
          </a:ln>
        </p:spPr>
      </p:sp>
      <p:sp>
        <p:nvSpPr>
          <p:cNvPr id="371" name="Text 369"/>
          <p:cNvSpPr/>
          <p:nvPr/>
        </p:nvSpPr>
        <p:spPr>
          <a:xfrm>
            <a:off x="8375904"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72" name="Shape 370"/>
          <p:cNvSpPr/>
          <p:nvPr/>
        </p:nvSpPr>
        <p:spPr>
          <a:xfrm>
            <a:off x="9546336" y="8668512"/>
            <a:ext cx="1170432" cy="384048"/>
          </a:xfrm>
          <a:prstGeom prst="rect">
            <a:avLst/>
          </a:prstGeom>
          <a:solidFill>
            <a:srgbClr val="F5C78E"/>
          </a:solidFill>
          <a:ln w="12700">
            <a:solidFill>
              <a:srgbClr val="E0B080"/>
            </a:solidFill>
            <a:prstDash val="solid"/>
          </a:ln>
        </p:spPr>
      </p:sp>
      <p:sp>
        <p:nvSpPr>
          <p:cNvPr id="373" name="Text 371"/>
          <p:cNvSpPr/>
          <p:nvPr/>
        </p:nvSpPr>
        <p:spPr>
          <a:xfrm>
            <a:off x="9546336"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74" name="Shape 372"/>
          <p:cNvSpPr/>
          <p:nvPr/>
        </p:nvSpPr>
        <p:spPr>
          <a:xfrm>
            <a:off x="10716768" y="8668512"/>
            <a:ext cx="1170432" cy="384048"/>
          </a:xfrm>
          <a:prstGeom prst="rect">
            <a:avLst/>
          </a:prstGeom>
          <a:solidFill>
            <a:srgbClr val="F5C78E"/>
          </a:solidFill>
          <a:ln w="12700">
            <a:solidFill>
              <a:srgbClr val="E0B080"/>
            </a:solidFill>
            <a:prstDash val="solid"/>
          </a:ln>
        </p:spPr>
      </p:sp>
      <p:sp>
        <p:nvSpPr>
          <p:cNvPr id="375" name="Text 373"/>
          <p:cNvSpPr/>
          <p:nvPr/>
        </p:nvSpPr>
        <p:spPr>
          <a:xfrm>
            <a:off x="10716768"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76" name="Shape 374"/>
          <p:cNvSpPr/>
          <p:nvPr/>
        </p:nvSpPr>
        <p:spPr>
          <a:xfrm>
            <a:off x="11887200" y="8668512"/>
            <a:ext cx="1170432" cy="384048"/>
          </a:xfrm>
          <a:prstGeom prst="rect">
            <a:avLst/>
          </a:prstGeom>
          <a:solidFill>
            <a:srgbClr val="F5C78E"/>
          </a:solidFill>
          <a:ln w="12700">
            <a:solidFill>
              <a:srgbClr val="E0B080"/>
            </a:solidFill>
            <a:prstDash val="solid"/>
          </a:ln>
        </p:spPr>
      </p:sp>
      <p:sp>
        <p:nvSpPr>
          <p:cNvPr id="377" name="Text 375"/>
          <p:cNvSpPr/>
          <p:nvPr/>
        </p:nvSpPr>
        <p:spPr>
          <a:xfrm>
            <a:off x="11887200"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78" name="Shape 376"/>
          <p:cNvSpPr/>
          <p:nvPr/>
        </p:nvSpPr>
        <p:spPr>
          <a:xfrm>
            <a:off x="13057632" y="8668512"/>
            <a:ext cx="1170432" cy="384048"/>
          </a:xfrm>
          <a:prstGeom prst="rect">
            <a:avLst/>
          </a:prstGeom>
          <a:solidFill>
            <a:srgbClr val="F5C78E"/>
          </a:solidFill>
          <a:ln w="12700">
            <a:solidFill>
              <a:srgbClr val="E0B080"/>
            </a:solidFill>
            <a:prstDash val="solid"/>
          </a:ln>
        </p:spPr>
      </p:sp>
      <p:sp>
        <p:nvSpPr>
          <p:cNvPr id="379" name="Text 377"/>
          <p:cNvSpPr/>
          <p:nvPr/>
        </p:nvSpPr>
        <p:spPr>
          <a:xfrm>
            <a:off x="13057632"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80" name="Shape 378"/>
          <p:cNvSpPr/>
          <p:nvPr/>
        </p:nvSpPr>
        <p:spPr>
          <a:xfrm>
            <a:off x="14228064" y="8668512"/>
            <a:ext cx="1170432" cy="384048"/>
          </a:xfrm>
          <a:prstGeom prst="rect">
            <a:avLst/>
          </a:prstGeom>
          <a:solidFill>
            <a:srgbClr val="F5C78E"/>
          </a:solidFill>
          <a:ln w="12700">
            <a:solidFill>
              <a:srgbClr val="E0B080"/>
            </a:solidFill>
            <a:prstDash val="solid"/>
          </a:ln>
        </p:spPr>
      </p:sp>
      <p:sp>
        <p:nvSpPr>
          <p:cNvPr id="381" name="Text 379"/>
          <p:cNvSpPr/>
          <p:nvPr/>
        </p:nvSpPr>
        <p:spPr>
          <a:xfrm>
            <a:off x="14228064"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82" name="Shape 380"/>
          <p:cNvSpPr/>
          <p:nvPr/>
        </p:nvSpPr>
        <p:spPr>
          <a:xfrm>
            <a:off x="15398496" y="8668512"/>
            <a:ext cx="1170432" cy="384048"/>
          </a:xfrm>
          <a:prstGeom prst="rect">
            <a:avLst/>
          </a:prstGeom>
          <a:solidFill>
            <a:srgbClr val="F5C78E"/>
          </a:solidFill>
          <a:ln w="12700">
            <a:solidFill>
              <a:srgbClr val="E0B080"/>
            </a:solidFill>
            <a:prstDash val="solid"/>
          </a:ln>
        </p:spPr>
      </p:sp>
      <p:sp>
        <p:nvSpPr>
          <p:cNvPr id="383" name="Text 381"/>
          <p:cNvSpPr/>
          <p:nvPr/>
        </p:nvSpPr>
        <p:spPr>
          <a:xfrm>
            <a:off x="15398496"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84" name="Shape 382"/>
          <p:cNvSpPr/>
          <p:nvPr/>
        </p:nvSpPr>
        <p:spPr>
          <a:xfrm>
            <a:off x="16568928" y="8668512"/>
            <a:ext cx="1170432" cy="384048"/>
          </a:xfrm>
          <a:prstGeom prst="rect">
            <a:avLst/>
          </a:prstGeom>
          <a:solidFill>
            <a:srgbClr val="F5C78E"/>
          </a:solidFill>
          <a:ln w="12700">
            <a:solidFill>
              <a:srgbClr val="E0B080"/>
            </a:solidFill>
            <a:prstDash val="solid"/>
          </a:ln>
        </p:spPr>
      </p:sp>
      <p:sp>
        <p:nvSpPr>
          <p:cNvPr id="385" name="Text 383"/>
          <p:cNvSpPr/>
          <p:nvPr/>
        </p:nvSpPr>
        <p:spPr>
          <a:xfrm>
            <a:off x="16568928" y="8668512"/>
            <a:ext cx="1170432" cy="384048"/>
          </a:xfrm>
          <a:prstGeom prst="rect">
            <a:avLst/>
          </a:prstGeom>
          <a:noFill/>
          <a:ln/>
        </p:spPr>
        <p:txBody>
          <a:bodyPr wrap="square" lIns="0" tIns="0" rIns="50800" bIns="0" rtlCol="0" anchor="ctr"/>
          <a:lstStyle/>
          <a:p>
            <a:pPr algn="r"/>
            <a:r>
              <a:rPr lang="en-US" sz="1200" dirty="0">
                <a:solidFill>
                  <a:srgbClr val="111111"/>
                </a:solidFill>
              </a:rPr>
              <a:t>2K</a:t>
            </a:r>
            <a:endParaRPr lang="en-US" sz="1200" dirty="0"/>
          </a:p>
        </p:txBody>
      </p:sp>
      <p:sp>
        <p:nvSpPr>
          <p:cNvPr id="386" name="Shape 384"/>
          <p:cNvSpPr/>
          <p:nvPr/>
        </p:nvSpPr>
        <p:spPr>
          <a:xfrm>
            <a:off x="17739360" y="8668512"/>
            <a:ext cx="1170432" cy="384048"/>
          </a:xfrm>
          <a:prstGeom prst="rect">
            <a:avLst/>
          </a:prstGeom>
          <a:solidFill>
            <a:srgbClr val="F5C78E"/>
          </a:solidFill>
          <a:ln w="12700">
            <a:solidFill>
              <a:srgbClr val="E0B080"/>
            </a:solidFill>
            <a:prstDash val="solid"/>
          </a:ln>
        </p:spPr>
      </p:sp>
      <p:sp>
        <p:nvSpPr>
          <p:cNvPr id="387" name="Text 385"/>
          <p:cNvSpPr/>
          <p:nvPr/>
        </p:nvSpPr>
        <p:spPr>
          <a:xfrm>
            <a:off x="17739360" y="8668512"/>
            <a:ext cx="1170432" cy="384048"/>
          </a:xfrm>
          <a:prstGeom prst="rect">
            <a:avLst/>
          </a:prstGeom>
          <a:noFill/>
          <a:ln/>
        </p:spPr>
        <p:txBody>
          <a:bodyPr wrap="square" lIns="0" tIns="0" rIns="50800" bIns="0" rtlCol="0" anchor="ctr"/>
          <a:lstStyle/>
          <a:p>
            <a:pPr algn="r"/>
            <a:r>
              <a:rPr lang="en-US" sz="1200" dirty="0">
                <a:solidFill>
                  <a:srgbClr val="111111"/>
                </a:solidFill>
              </a:rPr>
              <a:t>24K</a:t>
            </a:r>
            <a:endParaRPr lang="en-US" sz="1200" dirty="0"/>
          </a:p>
        </p:txBody>
      </p:sp>
      <p:sp>
        <p:nvSpPr>
          <p:cNvPr id="388" name="Shape 386"/>
          <p:cNvSpPr/>
          <p:nvPr/>
        </p:nvSpPr>
        <p:spPr>
          <a:xfrm>
            <a:off x="548640" y="9052560"/>
            <a:ext cx="3145536" cy="384048"/>
          </a:xfrm>
          <a:prstGeom prst="rect">
            <a:avLst/>
          </a:prstGeom>
          <a:solidFill>
            <a:srgbClr val="FDE9C8"/>
          </a:solidFill>
          <a:ln w="12700">
            <a:solidFill>
              <a:srgbClr val="E0B080"/>
            </a:solidFill>
            <a:prstDash val="solid"/>
          </a:ln>
        </p:spPr>
      </p:sp>
      <p:sp>
        <p:nvSpPr>
          <p:cNvPr id="389" name="Text 387"/>
          <p:cNvSpPr/>
          <p:nvPr/>
        </p:nvSpPr>
        <p:spPr>
          <a:xfrm>
            <a:off x="621792" y="9052560"/>
            <a:ext cx="3035808" cy="384048"/>
          </a:xfrm>
          <a:prstGeom prst="rect">
            <a:avLst/>
          </a:prstGeom>
          <a:noFill/>
          <a:ln/>
        </p:spPr>
        <p:txBody>
          <a:bodyPr wrap="square" rtlCol="0" anchor="ctr"/>
          <a:lstStyle/>
          <a:p>
            <a:r>
              <a:rPr lang="en-US" sz="1300" dirty="0">
                <a:solidFill>
                  <a:srgbClr val="111111"/>
                </a:solidFill>
              </a:rPr>
              <a:t>Interest on Loan</a:t>
            </a:r>
            <a:endParaRPr lang="en-US" sz="1300" dirty="0"/>
          </a:p>
        </p:txBody>
      </p:sp>
      <p:sp>
        <p:nvSpPr>
          <p:cNvPr id="390" name="Shape 388"/>
          <p:cNvSpPr/>
          <p:nvPr/>
        </p:nvSpPr>
        <p:spPr>
          <a:xfrm>
            <a:off x="3694176" y="9052560"/>
            <a:ext cx="1170432" cy="384048"/>
          </a:xfrm>
          <a:prstGeom prst="rect">
            <a:avLst/>
          </a:prstGeom>
          <a:solidFill>
            <a:srgbClr val="FDE9C8"/>
          </a:solidFill>
          <a:ln w="12700">
            <a:solidFill>
              <a:srgbClr val="E0B080"/>
            </a:solidFill>
            <a:prstDash val="solid"/>
          </a:ln>
        </p:spPr>
      </p:sp>
      <p:sp>
        <p:nvSpPr>
          <p:cNvPr id="391" name="Text 389"/>
          <p:cNvSpPr/>
          <p:nvPr/>
        </p:nvSpPr>
        <p:spPr>
          <a:xfrm>
            <a:off x="3694176"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92" name="Shape 390"/>
          <p:cNvSpPr/>
          <p:nvPr/>
        </p:nvSpPr>
        <p:spPr>
          <a:xfrm>
            <a:off x="4864608" y="9052560"/>
            <a:ext cx="1170432" cy="384048"/>
          </a:xfrm>
          <a:prstGeom prst="rect">
            <a:avLst/>
          </a:prstGeom>
          <a:solidFill>
            <a:srgbClr val="FDE9C8"/>
          </a:solidFill>
          <a:ln w="12700">
            <a:solidFill>
              <a:srgbClr val="E0B080"/>
            </a:solidFill>
            <a:prstDash val="solid"/>
          </a:ln>
        </p:spPr>
      </p:sp>
      <p:sp>
        <p:nvSpPr>
          <p:cNvPr id="393" name="Text 391"/>
          <p:cNvSpPr/>
          <p:nvPr/>
        </p:nvSpPr>
        <p:spPr>
          <a:xfrm>
            <a:off x="4864608"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94" name="Shape 392"/>
          <p:cNvSpPr/>
          <p:nvPr/>
        </p:nvSpPr>
        <p:spPr>
          <a:xfrm>
            <a:off x="6035040" y="9052560"/>
            <a:ext cx="1170432" cy="384048"/>
          </a:xfrm>
          <a:prstGeom prst="rect">
            <a:avLst/>
          </a:prstGeom>
          <a:solidFill>
            <a:srgbClr val="FDE9C8"/>
          </a:solidFill>
          <a:ln w="12700">
            <a:solidFill>
              <a:srgbClr val="E0B080"/>
            </a:solidFill>
            <a:prstDash val="solid"/>
          </a:ln>
        </p:spPr>
      </p:sp>
      <p:sp>
        <p:nvSpPr>
          <p:cNvPr id="395" name="Text 393"/>
          <p:cNvSpPr/>
          <p:nvPr/>
        </p:nvSpPr>
        <p:spPr>
          <a:xfrm>
            <a:off x="6035040"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96" name="Shape 394"/>
          <p:cNvSpPr/>
          <p:nvPr/>
        </p:nvSpPr>
        <p:spPr>
          <a:xfrm>
            <a:off x="7205472" y="9052560"/>
            <a:ext cx="1170432" cy="384048"/>
          </a:xfrm>
          <a:prstGeom prst="rect">
            <a:avLst/>
          </a:prstGeom>
          <a:solidFill>
            <a:srgbClr val="FDE9C8"/>
          </a:solidFill>
          <a:ln w="12700">
            <a:solidFill>
              <a:srgbClr val="E0B080"/>
            </a:solidFill>
            <a:prstDash val="solid"/>
          </a:ln>
        </p:spPr>
      </p:sp>
      <p:sp>
        <p:nvSpPr>
          <p:cNvPr id="397" name="Text 395"/>
          <p:cNvSpPr/>
          <p:nvPr/>
        </p:nvSpPr>
        <p:spPr>
          <a:xfrm>
            <a:off x="7205472"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398" name="Shape 396"/>
          <p:cNvSpPr/>
          <p:nvPr/>
        </p:nvSpPr>
        <p:spPr>
          <a:xfrm>
            <a:off x="8375904" y="9052560"/>
            <a:ext cx="1170432" cy="384048"/>
          </a:xfrm>
          <a:prstGeom prst="rect">
            <a:avLst/>
          </a:prstGeom>
          <a:solidFill>
            <a:srgbClr val="FDE9C8"/>
          </a:solidFill>
          <a:ln w="12700">
            <a:solidFill>
              <a:srgbClr val="E0B080"/>
            </a:solidFill>
            <a:prstDash val="solid"/>
          </a:ln>
        </p:spPr>
      </p:sp>
      <p:sp>
        <p:nvSpPr>
          <p:cNvPr id="399" name="Text 397"/>
          <p:cNvSpPr/>
          <p:nvPr/>
        </p:nvSpPr>
        <p:spPr>
          <a:xfrm>
            <a:off x="8375904"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00" name="Shape 398"/>
          <p:cNvSpPr/>
          <p:nvPr/>
        </p:nvSpPr>
        <p:spPr>
          <a:xfrm>
            <a:off x="9546336" y="9052560"/>
            <a:ext cx="1170432" cy="384048"/>
          </a:xfrm>
          <a:prstGeom prst="rect">
            <a:avLst/>
          </a:prstGeom>
          <a:solidFill>
            <a:srgbClr val="FDE9C8"/>
          </a:solidFill>
          <a:ln w="12700">
            <a:solidFill>
              <a:srgbClr val="E0B080"/>
            </a:solidFill>
            <a:prstDash val="solid"/>
          </a:ln>
        </p:spPr>
      </p:sp>
      <p:sp>
        <p:nvSpPr>
          <p:cNvPr id="401" name="Text 399"/>
          <p:cNvSpPr/>
          <p:nvPr/>
        </p:nvSpPr>
        <p:spPr>
          <a:xfrm>
            <a:off x="9546336"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02" name="Shape 400"/>
          <p:cNvSpPr/>
          <p:nvPr/>
        </p:nvSpPr>
        <p:spPr>
          <a:xfrm>
            <a:off x="10716768" y="9052560"/>
            <a:ext cx="1170432" cy="384048"/>
          </a:xfrm>
          <a:prstGeom prst="rect">
            <a:avLst/>
          </a:prstGeom>
          <a:solidFill>
            <a:srgbClr val="FDE9C8"/>
          </a:solidFill>
          <a:ln w="12700">
            <a:solidFill>
              <a:srgbClr val="E0B080"/>
            </a:solidFill>
            <a:prstDash val="solid"/>
          </a:ln>
        </p:spPr>
      </p:sp>
      <p:sp>
        <p:nvSpPr>
          <p:cNvPr id="403" name="Text 401"/>
          <p:cNvSpPr/>
          <p:nvPr/>
        </p:nvSpPr>
        <p:spPr>
          <a:xfrm>
            <a:off x="10716768"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04" name="Shape 402"/>
          <p:cNvSpPr/>
          <p:nvPr/>
        </p:nvSpPr>
        <p:spPr>
          <a:xfrm>
            <a:off x="11887200" y="9052560"/>
            <a:ext cx="1170432" cy="384048"/>
          </a:xfrm>
          <a:prstGeom prst="rect">
            <a:avLst/>
          </a:prstGeom>
          <a:solidFill>
            <a:srgbClr val="FDE9C8"/>
          </a:solidFill>
          <a:ln w="12700">
            <a:solidFill>
              <a:srgbClr val="E0B080"/>
            </a:solidFill>
            <a:prstDash val="solid"/>
          </a:ln>
        </p:spPr>
      </p:sp>
      <p:sp>
        <p:nvSpPr>
          <p:cNvPr id="405" name="Text 403"/>
          <p:cNvSpPr/>
          <p:nvPr/>
        </p:nvSpPr>
        <p:spPr>
          <a:xfrm>
            <a:off x="11887200"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06" name="Shape 404"/>
          <p:cNvSpPr/>
          <p:nvPr/>
        </p:nvSpPr>
        <p:spPr>
          <a:xfrm>
            <a:off x="13057632" y="9052560"/>
            <a:ext cx="1170432" cy="384048"/>
          </a:xfrm>
          <a:prstGeom prst="rect">
            <a:avLst/>
          </a:prstGeom>
          <a:solidFill>
            <a:srgbClr val="FDE9C8"/>
          </a:solidFill>
          <a:ln w="12700">
            <a:solidFill>
              <a:srgbClr val="E0B080"/>
            </a:solidFill>
            <a:prstDash val="solid"/>
          </a:ln>
        </p:spPr>
      </p:sp>
      <p:sp>
        <p:nvSpPr>
          <p:cNvPr id="407" name="Text 405"/>
          <p:cNvSpPr/>
          <p:nvPr/>
        </p:nvSpPr>
        <p:spPr>
          <a:xfrm>
            <a:off x="13057632"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08" name="Shape 406"/>
          <p:cNvSpPr/>
          <p:nvPr/>
        </p:nvSpPr>
        <p:spPr>
          <a:xfrm>
            <a:off x="14228064" y="9052560"/>
            <a:ext cx="1170432" cy="384048"/>
          </a:xfrm>
          <a:prstGeom prst="rect">
            <a:avLst/>
          </a:prstGeom>
          <a:solidFill>
            <a:srgbClr val="FDE9C8"/>
          </a:solidFill>
          <a:ln w="12700">
            <a:solidFill>
              <a:srgbClr val="E0B080"/>
            </a:solidFill>
            <a:prstDash val="solid"/>
          </a:ln>
        </p:spPr>
      </p:sp>
      <p:sp>
        <p:nvSpPr>
          <p:cNvPr id="409" name="Text 407"/>
          <p:cNvSpPr/>
          <p:nvPr/>
        </p:nvSpPr>
        <p:spPr>
          <a:xfrm>
            <a:off x="14228064"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10" name="Shape 408"/>
          <p:cNvSpPr/>
          <p:nvPr/>
        </p:nvSpPr>
        <p:spPr>
          <a:xfrm>
            <a:off x="15398496" y="9052560"/>
            <a:ext cx="1170432" cy="384048"/>
          </a:xfrm>
          <a:prstGeom prst="rect">
            <a:avLst/>
          </a:prstGeom>
          <a:solidFill>
            <a:srgbClr val="FDE9C8"/>
          </a:solidFill>
          <a:ln w="12700">
            <a:solidFill>
              <a:srgbClr val="E0B080"/>
            </a:solidFill>
            <a:prstDash val="solid"/>
          </a:ln>
        </p:spPr>
      </p:sp>
      <p:sp>
        <p:nvSpPr>
          <p:cNvPr id="411" name="Text 409"/>
          <p:cNvSpPr/>
          <p:nvPr/>
        </p:nvSpPr>
        <p:spPr>
          <a:xfrm>
            <a:off x="15398496"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12" name="Shape 410"/>
          <p:cNvSpPr/>
          <p:nvPr/>
        </p:nvSpPr>
        <p:spPr>
          <a:xfrm>
            <a:off x="16568928" y="9052560"/>
            <a:ext cx="1170432" cy="384048"/>
          </a:xfrm>
          <a:prstGeom prst="rect">
            <a:avLst/>
          </a:prstGeom>
          <a:solidFill>
            <a:srgbClr val="FDE9C8"/>
          </a:solidFill>
          <a:ln w="12700">
            <a:solidFill>
              <a:srgbClr val="E0B080"/>
            </a:solidFill>
            <a:prstDash val="solid"/>
          </a:ln>
        </p:spPr>
      </p:sp>
      <p:sp>
        <p:nvSpPr>
          <p:cNvPr id="413" name="Text 411"/>
          <p:cNvSpPr/>
          <p:nvPr/>
        </p:nvSpPr>
        <p:spPr>
          <a:xfrm>
            <a:off x="16568928"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14" name="Shape 412"/>
          <p:cNvSpPr/>
          <p:nvPr/>
        </p:nvSpPr>
        <p:spPr>
          <a:xfrm>
            <a:off x="17739360" y="9052560"/>
            <a:ext cx="1170432" cy="384048"/>
          </a:xfrm>
          <a:prstGeom prst="rect">
            <a:avLst/>
          </a:prstGeom>
          <a:solidFill>
            <a:srgbClr val="FDE9C8"/>
          </a:solidFill>
          <a:ln w="12700">
            <a:solidFill>
              <a:srgbClr val="E0B080"/>
            </a:solidFill>
            <a:prstDash val="solid"/>
          </a:ln>
        </p:spPr>
      </p:sp>
      <p:sp>
        <p:nvSpPr>
          <p:cNvPr id="415" name="Text 413"/>
          <p:cNvSpPr/>
          <p:nvPr/>
        </p:nvSpPr>
        <p:spPr>
          <a:xfrm>
            <a:off x="17739360" y="9052560"/>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16" name="Shape 414"/>
          <p:cNvSpPr/>
          <p:nvPr/>
        </p:nvSpPr>
        <p:spPr>
          <a:xfrm>
            <a:off x="548640" y="9436608"/>
            <a:ext cx="3145536" cy="384048"/>
          </a:xfrm>
          <a:prstGeom prst="rect">
            <a:avLst/>
          </a:prstGeom>
          <a:solidFill>
            <a:srgbClr val="F5C78E"/>
          </a:solidFill>
          <a:ln w="12700">
            <a:solidFill>
              <a:srgbClr val="E0B080"/>
            </a:solidFill>
            <a:prstDash val="solid"/>
          </a:ln>
        </p:spPr>
      </p:sp>
      <p:sp>
        <p:nvSpPr>
          <p:cNvPr id="417" name="Text 415"/>
          <p:cNvSpPr/>
          <p:nvPr/>
        </p:nvSpPr>
        <p:spPr>
          <a:xfrm>
            <a:off x="621792" y="9436608"/>
            <a:ext cx="3035808" cy="384048"/>
          </a:xfrm>
          <a:prstGeom prst="rect">
            <a:avLst/>
          </a:prstGeom>
          <a:noFill/>
          <a:ln/>
        </p:spPr>
        <p:txBody>
          <a:bodyPr wrap="square" rtlCol="0" anchor="ctr"/>
          <a:lstStyle/>
          <a:p>
            <a:r>
              <a:rPr lang="en-US" sz="1300" dirty="0">
                <a:solidFill>
                  <a:srgbClr val="111111"/>
                </a:solidFill>
              </a:rPr>
              <a:t>Loss, Theft, Wastage</a:t>
            </a:r>
            <a:endParaRPr lang="en-US" sz="1300" dirty="0"/>
          </a:p>
        </p:txBody>
      </p:sp>
      <p:sp>
        <p:nvSpPr>
          <p:cNvPr id="418" name="Shape 416"/>
          <p:cNvSpPr/>
          <p:nvPr/>
        </p:nvSpPr>
        <p:spPr>
          <a:xfrm>
            <a:off x="3694176" y="9436608"/>
            <a:ext cx="1170432" cy="384048"/>
          </a:xfrm>
          <a:prstGeom prst="rect">
            <a:avLst/>
          </a:prstGeom>
          <a:solidFill>
            <a:srgbClr val="F5C78E"/>
          </a:solidFill>
          <a:ln w="12700">
            <a:solidFill>
              <a:srgbClr val="E0B080"/>
            </a:solidFill>
            <a:prstDash val="solid"/>
          </a:ln>
        </p:spPr>
      </p:sp>
      <p:sp>
        <p:nvSpPr>
          <p:cNvPr id="419" name="Text 417"/>
          <p:cNvSpPr/>
          <p:nvPr/>
        </p:nvSpPr>
        <p:spPr>
          <a:xfrm>
            <a:off x="3694176"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20" name="Shape 418"/>
          <p:cNvSpPr/>
          <p:nvPr/>
        </p:nvSpPr>
        <p:spPr>
          <a:xfrm>
            <a:off x="4864608" y="9436608"/>
            <a:ext cx="1170432" cy="384048"/>
          </a:xfrm>
          <a:prstGeom prst="rect">
            <a:avLst/>
          </a:prstGeom>
          <a:solidFill>
            <a:srgbClr val="F5C78E"/>
          </a:solidFill>
          <a:ln w="12700">
            <a:solidFill>
              <a:srgbClr val="E0B080"/>
            </a:solidFill>
            <a:prstDash val="solid"/>
          </a:ln>
        </p:spPr>
      </p:sp>
      <p:sp>
        <p:nvSpPr>
          <p:cNvPr id="421" name="Text 419"/>
          <p:cNvSpPr/>
          <p:nvPr/>
        </p:nvSpPr>
        <p:spPr>
          <a:xfrm>
            <a:off x="4864608"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22" name="Shape 420"/>
          <p:cNvSpPr/>
          <p:nvPr/>
        </p:nvSpPr>
        <p:spPr>
          <a:xfrm>
            <a:off x="6035040" y="9436608"/>
            <a:ext cx="1170432" cy="384048"/>
          </a:xfrm>
          <a:prstGeom prst="rect">
            <a:avLst/>
          </a:prstGeom>
          <a:solidFill>
            <a:srgbClr val="F5C78E"/>
          </a:solidFill>
          <a:ln w="12700">
            <a:solidFill>
              <a:srgbClr val="E0B080"/>
            </a:solidFill>
            <a:prstDash val="solid"/>
          </a:ln>
        </p:spPr>
      </p:sp>
      <p:sp>
        <p:nvSpPr>
          <p:cNvPr id="423" name="Text 421"/>
          <p:cNvSpPr/>
          <p:nvPr/>
        </p:nvSpPr>
        <p:spPr>
          <a:xfrm>
            <a:off x="6035040"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24" name="Shape 422"/>
          <p:cNvSpPr/>
          <p:nvPr/>
        </p:nvSpPr>
        <p:spPr>
          <a:xfrm>
            <a:off x="7205472" y="9436608"/>
            <a:ext cx="1170432" cy="384048"/>
          </a:xfrm>
          <a:prstGeom prst="rect">
            <a:avLst/>
          </a:prstGeom>
          <a:solidFill>
            <a:srgbClr val="F5C78E"/>
          </a:solidFill>
          <a:ln w="12700">
            <a:solidFill>
              <a:srgbClr val="E0B080"/>
            </a:solidFill>
            <a:prstDash val="solid"/>
          </a:ln>
        </p:spPr>
      </p:sp>
      <p:sp>
        <p:nvSpPr>
          <p:cNvPr id="425" name="Text 423"/>
          <p:cNvSpPr/>
          <p:nvPr/>
        </p:nvSpPr>
        <p:spPr>
          <a:xfrm>
            <a:off x="7205472"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26" name="Shape 424"/>
          <p:cNvSpPr/>
          <p:nvPr/>
        </p:nvSpPr>
        <p:spPr>
          <a:xfrm>
            <a:off x="8375904" y="9436608"/>
            <a:ext cx="1170432" cy="384048"/>
          </a:xfrm>
          <a:prstGeom prst="rect">
            <a:avLst/>
          </a:prstGeom>
          <a:solidFill>
            <a:srgbClr val="F5C78E"/>
          </a:solidFill>
          <a:ln w="12700">
            <a:solidFill>
              <a:srgbClr val="E0B080"/>
            </a:solidFill>
            <a:prstDash val="solid"/>
          </a:ln>
        </p:spPr>
      </p:sp>
      <p:sp>
        <p:nvSpPr>
          <p:cNvPr id="427" name="Text 425"/>
          <p:cNvSpPr/>
          <p:nvPr/>
        </p:nvSpPr>
        <p:spPr>
          <a:xfrm>
            <a:off x="8375904"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28" name="Shape 426"/>
          <p:cNvSpPr/>
          <p:nvPr/>
        </p:nvSpPr>
        <p:spPr>
          <a:xfrm>
            <a:off x="9546336" y="9436608"/>
            <a:ext cx="1170432" cy="384048"/>
          </a:xfrm>
          <a:prstGeom prst="rect">
            <a:avLst/>
          </a:prstGeom>
          <a:solidFill>
            <a:srgbClr val="F5C78E"/>
          </a:solidFill>
          <a:ln w="12700">
            <a:solidFill>
              <a:srgbClr val="E0B080"/>
            </a:solidFill>
            <a:prstDash val="solid"/>
          </a:ln>
        </p:spPr>
      </p:sp>
      <p:sp>
        <p:nvSpPr>
          <p:cNvPr id="429" name="Text 427"/>
          <p:cNvSpPr/>
          <p:nvPr/>
        </p:nvSpPr>
        <p:spPr>
          <a:xfrm>
            <a:off x="9546336"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30" name="Shape 428"/>
          <p:cNvSpPr/>
          <p:nvPr/>
        </p:nvSpPr>
        <p:spPr>
          <a:xfrm>
            <a:off x="10716768" y="9436608"/>
            <a:ext cx="1170432" cy="384048"/>
          </a:xfrm>
          <a:prstGeom prst="rect">
            <a:avLst/>
          </a:prstGeom>
          <a:solidFill>
            <a:srgbClr val="F5C78E"/>
          </a:solidFill>
          <a:ln w="12700">
            <a:solidFill>
              <a:srgbClr val="E0B080"/>
            </a:solidFill>
            <a:prstDash val="solid"/>
          </a:ln>
        </p:spPr>
      </p:sp>
      <p:sp>
        <p:nvSpPr>
          <p:cNvPr id="431" name="Text 429"/>
          <p:cNvSpPr/>
          <p:nvPr/>
        </p:nvSpPr>
        <p:spPr>
          <a:xfrm>
            <a:off x="10716768"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32" name="Shape 430"/>
          <p:cNvSpPr/>
          <p:nvPr/>
        </p:nvSpPr>
        <p:spPr>
          <a:xfrm>
            <a:off x="11887200" y="9436608"/>
            <a:ext cx="1170432" cy="384048"/>
          </a:xfrm>
          <a:prstGeom prst="rect">
            <a:avLst/>
          </a:prstGeom>
          <a:solidFill>
            <a:srgbClr val="F5C78E"/>
          </a:solidFill>
          <a:ln w="12700">
            <a:solidFill>
              <a:srgbClr val="E0B080"/>
            </a:solidFill>
            <a:prstDash val="solid"/>
          </a:ln>
        </p:spPr>
      </p:sp>
      <p:sp>
        <p:nvSpPr>
          <p:cNvPr id="433" name="Text 431"/>
          <p:cNvSpPr/>
          <p:nvPr/>
        </p:nvSpPr>
        <p:spPr>
          <a:xfrm>
            <a:off x="11887200"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34" name="Shape 432"/>
          <p:cNvSpPr/>
          <p:nvPr/>
        </p:nvSpPr>
        <p:spPr>
          <a:xfrm>
            <a:off x="13057632" y="9436608"/>
            <a:ext cx="1170432" cy="384048"/>
          </a:xfrm>
          <a:prstGeom prst="rect">
            <a:avLst/>
          </a:prstGeom>
          <a:solidFill>
            <a:srgbClr val="F5C78E"/>
          </a:solidFill>
          <a:ln w="12700">
            <a:solidFill>
              <a:srgbClr val="E0B080"/>
            </a:solidFill>
            <a:prstDash val="solid"/>
          </a:ln>
        </p:spPr>
      </p:sp>
      <p:sp>
        <p:nvSpPr>
          <p:cNvPr id="435" name="Text 433"/>
          <p:cNvSpPr/>
          <p:nvPr/>
        </p:nvSpPr>
        <p:spPr>
          <a:xfrm>
            <a:off x="13057632"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36" name="Shape 434"/>
          <p:cNvSpPr/>
          <p:nvPr/>
        </p:nvSpPr>
        <p:spPr>
          <a:xfrm>
            <a:off x="14228064" y="9436608"/>
            <a:ext cx="1170432" cy="384048"/>
          </a:xfrm>
          <a:prstGeom prst="rect">
            <a:avLst/>
          </a:prstGeom>
          <a:solidFill>
            <a:srgbClr val="F5C78E"/>
          </a:solidFill>
          <a:ln w="12700">
            <a:solidFill>
              <a:srgbClr val="E0B080"/>
            </a:solidFill>
            <a:prstDash val="solid"/>
          </a:ln>
        </p:spPr>
      </p:sp>
      <p:sp>
        <p:nvSpPr>
          <p:cNvPr id="437" name="Text 435"/>
          <p:cNvSpPr/>
          <p:nvPr/>
        </p:nvSpPr>
        <p:spPr>
          <a:xfrm>
            <a:off x="14228064"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38" name="Shape 436"/>
          <p:cNvSpPr/>
          <p:nvPr/>
        </p:nvSpPr>
        <p:spPr>
          <a:xfrm>
            <a:off x="15398496" y="9436608"/>
            <a:ext cx="1170432" cy="384048"/>
          </a:xfrm>
          <a:prstGeom prst="rect">
            <a:avLst/>
          </a:prstGeom>
          <a:solidFill>
            <a:srgbClr val="F5C78E"/>
          </a:solidFill>
          <a:ln w="12700">
            <a:solidFill>
              <a:srgbClr val="E0B080"/>
            </a:solidFill>
            <a:prstDash val="solid"/>
          </a:ln>
        </p:spPr>
      </p:sp>
      <p:sp>
        <p:nvSpPr>
          <p:cNvPr id="439" name="Text 437"/>
          <p:cNvSpPr/>
          <p:nvPr/>
        </p:nvSpPr>
        <p:spPr>
          <a:xfrm>
            <a:off x="15398496"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40" name="Shape 438"/>
          <p:cNvSpPr/>
          <p:nvPr/>
        </p:nvSpPr>
        <p:spPr>
          <a:xfrm>
            <a:off x="16568928" y="9436608"/>
            <a:ext cx="1170432" cy="384048"/>
          </a:xfrm>
          <a:prstGeom prst="rect">
            <a:avLst/>
          </a:prstGeom>
          <a:solidFill>
            <a:srgbClr val="F5C78E"/>
          </a:solidFill>
          <a:ln w="12700">
            <a:solidFill>
              <a:srgbClr val="E0B080"/>
            </a:solidFill>
            <a:prstDash val="solid"/>
          </a:ln>
        </p:spPr>
      </p:sp>
      <p:sp>
        <p:nvSpPr>
          <p:cNvPr id="441" name="Text 439"/>
          <p:cNvSpPr/>
          <p:nvPr/>
        </p:nvSpPr>
        <p:spPr>
          <a:xfrm>
            <a:off x="16568928"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42" name="Shape 440"/>
          <p:cNvSpPr/>
          <p:nvPr/>
        </p:nvSpPr>
        <p:spPr>
          <a:xfrm>
            <a:off x="17739360" y="9436608"/>
            <a:ext cx="1170432" cy="384048"/>
          </a:xfrm>
          <a:prstGeom prst="rect">
            <a:avLst/>
          </a:prstGeom>
          <a:solidFill>
            <a:srgbClr val="F5C78E"/>
          </a:solidFill>
          <a:ln w="12700">
            <a:solidFill>
              <a:srgbClr val="E0B080"/>
            </a:solidFill>
            <a:prstDash val="solid"/>
          </a:ln>
        </p:spPr>
      </p:sp>
      <p:sp>
        <p:nvSpPr>
          <p:cNvPr id="443" name="Text 441"/>
          <p:cNvSpPr/>
          <p:nvPr/>
        </p:nvSpPr>
        <p:spPr>
          <a:xfrm>
            <a:off x="17739360" y="9436608"/>
            <a:ext cx="1170432" cy="384048"/>
          </a:xfrm>
          <a:prstGeom prst="rect">
            <a:avLst/>
          </a:prstGeom>
          <a:noFill/>
          <a:ln/>
        </p:spPr>
        <p:txBody>
          <a:bodyPr wrap="square" lIns="0" tIns="0" rIns="50800" bIns="0" rtlCol="0" anchor="ctr"/>
          <a:lstStyle/>
          <a:p>
            <a:pPr algn="r"/>
            <a:r>
              <a:rPr lang="en-US" sz="1200" dirty="0">
                <a:solidFill>
                  <a:srgbClr val="111111"/>
                </a:solidFill>
              </a:rPr>
              <a:t>0</a:t>
            </a:r>
            <a:endParaRPr lang="en-US" sz="1200" dirty="0"/>
          </a:p>
        </p:txBody>
      </p:sp>
      <p:sp>
        <p:nvSpPr>
          <p:cNvPr id="444" name="Shape 442"/>
          <p:cNvSpPr/>
          <p:nvPr/>
        </p:nvSpPr>
        <p:spPr>
          <a:xfrm>
            <a:off x="548640" y="9820656"/>
            <a:ext cx="3145536" cy="384048"/>
          </a:xfrm>
          <a:prstGeom prst="rect">
            <a:avLst/>
          </a:prstGeom>
          <a:solidFill>
            <a:srgbClr val="FFD966"/>
          </a:solidFill>
          <a:ln w="12700">
            <a:solidFill>
              <a:srgbClr val="E0B080"/>
            </a:solidFill>
            <a:prstDash val="solid"/>
          </a:ln>
        </p:spPr>
      </p:sp>
      <p:sp>
        <p:nvSpPr>
          <p:cNvPr id="445" name="Text 443"/>
          <p:cNvSpPr/>
          <p:nvPr/>
        </p:nvSpPr>
        <p:spPr>
          <a:xfrm>
            <a:off x="621792" y="9820656"/>
            <a:ext cx="3035808" cy="384048"/>
          </a:xfrm>
          <a:prstGeom prst="rect">
            <a:avLst/>
          </a:prstGeom>
          <a:noFill/>
          <a:ln/>
        </p:spPr>
        <p:txBody>
          <a:bodyPr wrap="square" rtlCol="0" anchor="ctr"/>
          <a:lstStyle/>
          <a:p>
            <a:r>
              <a:rPr lang="en-US" sz="1300" b="1" dirty="0">
                <a:solidFill>
                  <a:srgbClr val="111111"/>
                </a:solidFill>
              </a:rPr>
              <a:t>Total Expenses</a:t>
            </a:r>
            <a:endParaRPr lang="en-US" sz="1300" dirty="0"/>
          </a:p>
        </p:txBody>
      </p:sp>
      <p:sp>
        <p:nvSpPr>
          <p:cNvPr id="446" name="Shape 444"/>
          <p:cNvSpPr/>
          <p:nvPr/>
        </p:nvSpPr>
        <p:spPr>
          <a:xfrm>
            <a:off x="3694176" y="9820656"/>
            <a:ext cx="1170432" cy="384048"/>
          </a:xfrm>
          <a:prstGeom prst="rect">
            <a:avLst/>
          </a:prstGeom>
          <a:solidFill>
            <a:srgbClr val="FFD966"/>
          </a:solidFill>
          <a:ln w="12700">
            <a:solidFill>
              <a:srgbClr val="E0B080"/>
            </a:solidFill>
            <a:prstDash val="solid"/>
          </a:ln>
        </p:spPr>
      </p:sp>
      <p:sp>
        <p:nvSpPr>
          <p:cNvPr id="447" name="Text 445"/>
          <p:cNvSpPr/>
          <p:nvPr/>
        </p:nvSpPr>
        <p:spPr>
          <a:xfrm>
            <a:off x="3694176" y="9820656"/>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48" name="Shape 446"/>
          <p:cNvSpPr/>
          <p:nvPr/>
        </p:nvSpPr>
        <p:spPr>
          <a:xfrm>
            <a:off x="4864608" y="9820656"/>
            <a:ext cx="1170432" cy="384048"/>
          </a:xfrm>
          <a:prstGeom prst="rect">
            <a:avLst/>
          </a:prstGeom>
          <a:solidFill>
            <a:srgbClr val="FFD966"/>
          </a:solidFill>
          <a:ln w="12700">
            <a:solidFill>
              <a:srgbClr val="E0B080"/>
            </a:solidFill>
            <a:prstDash val="solid"/>
          </a:ln>
        </p:spPr>
      </p:sp>
      <p:sp>
        <p:nvSpPr>
          <p:cNvPr id="449" name="Text 447"/>
          <p:cNvSpPr/>
          <p:nvPr/>
        </p:nvSpPr>
        <p:spPr>
          <a:xfrm>
            <a:off x="4864608" y="9820656"/>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50" name="Shape 448"/>
          <p:cNvSpPr/>
          <p:nvPr/>
        </p:nvSpPr>
        <p:spPr>
          <a:xfrm>
            <a:off x="6035040" y="9820656"/>
            <a:ext cx="1170432" cy="384048"/>
          </a:xfrm>
          <a:prstGeom prst="rect">
            <a:avLst/>
          </a:prstGeom>
          <a:solidFill>
            <a:srgbClr val="FFD966"/>
          </a:solidFill>
          <a:ln w="12700">
            <a:solidFill>
              <a:srgbClr val="E0B080"/>
            </a:solidFill>
            <a:prstDash val="solid"/>
          </a:ln>
        </p:spPr>
      </p:sp>
      <p:sp>
        <p:nvSpPr>
          <p:cNvPr id="451" name="Text 449"/>
          <p:cNvSpPr/>
          <p:nvPr/>
        </p:nvSpPr>
        <p:spPr>
          <a:xfrm>
            <a:off x="6035040" y="9820656"/>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52" name="Shape 450"/>
          <p:cNvSpPr/>
          <p:nvPr/>
        </p:nvSpPr>
        <p:spPr>
          <a:xfrm>
            <a:off x="7205472" y="9820656"/>
            <a:ext cx="1170432" cy="384048"/>
          </a:xfrm>
          <a:prstGeom prst="rect">
            <a:avLst/>
          </a:prstGeom>
          <a:solidFill>
            <a:srgbClr val="FFD966"/>
          </a:solidFill>
          <a:ln w="12700">
            <a:solidFill>
              <a:srgbClr val="E0B080"/>
            </a:solidFill>
            <a:prstDash val="solid"/>
          </a:ln>
        </p:spPr>
      </p:sp>
      <p:sp>
        <p:nvSpPr>
          <p:cNvPr id="453" name="Text 451"/>
          <p:cNvSpPr/>
          <p:nvPr/>
        </p:nvSpPr>
        <p:spPr>
          <a:xfrm>
            <a:off x="7205472" y="9820656"/>
            <a:ext cx="1170432" cy="384048"/>
          </a:xfrm>
          <a:prstGeom prst="rect">
            <a:avLst/>
          </a:prstGeom>
          <a:noFill/>
          <a:ln/>
        </p:spPr>
        <p:txBody>
          <a:bodyPr wrap="square" lIns="0" tIns="0" rIns="50800" bIns="0" rtlCol="0" anchor="ctr"/>
          <a:lstStyle/>
          <a:p>
            <a:pPr algn="r"/>
            <a:r>
              <a:rPr lang="en-US" sz="1200" b="1" dirty="0">
                <a:solidFill>
                  <a:srgbClr val="111111"/>
                </a:solidFill>
              </a:rPr>
              <a:t>37K</a:t>
            </a:r>
            <a:endParaRPr lang="en-US" sz="1200" dirty="0"/>
          </a:p>
        </p:txBody>
      </p:sp>
      <p:sp>
        <p:nvSpPr>
          <p:cNvPr id="454" name="Shape 452"/>
          <p:cNvSpPr/>
          <p:nvPr/>
        </p:nvSpPr>
        <p:spPr>
          <a:xfrm>
            <a:off x="8375904" y="9820656"/>
            <a:ext cx="1170432" cy="384048"/>
          </a:xfrm>
          <a:prstGeom prst="rect">
            <a:avLst/>
          </a:prstGeom>
          <a:solidFill>
            <a:srgbClr val="FFD966"/>
          </a:solidFill>
          <a:ln w="12700">
            <a:solidFill>
              <a:srgbClr val="E0B080"/>
            </a:solidFill>
            <a:prstDash val="solid"/>
          </a:ln>
        </p:spPr>
      </p:sp>
      <p:sp>
        <p:nvSpPr>
          <p:cNvPr id="455" name="Text 453"/>
          <p:cNvSpPr/>
          <p:nvPr/>
        </p:nvSpPr>
        <p:spPr>
          <a:xfrm>
            <a:off x="8375904" y="9820656"/>
            <a:ext cx="1170432" cy="384048"/>
          </a:xfrm>
          <a:prstGeom prst="rect">
            <a:avLst/>
          </a:prstGeom>
          <a:noFill/>
          <a:ln/>
        </p:spPr>
        <p:txBody>
          <a:bodyPr wrap="square" lIns="0" tIns="0" rIns="50800" bIns="0" rtlCol="0" anchor="ctr"/>
          <a:lstStyle/>
          <a:p>
            <a:pPr algn="r"/>
            <a:r>
              <a:rPr lang="en-US" sz="1200" b="1" dirty="0">
                <a:solidFill>
                  <a:srgbClr val="111111"/>
                </a:solidFill>
              </a:rPr>
              <a:t>43K</a:t>
            </a:r>
            <a:endParaRPr lang="en-US" sz="1200" dirty="0"/>
          </a:p>
        </p:txBody>
      </p:sp>
      <p:sp>
        <p:nvSpPr>
          <p:cNvPr id="456" name="Shape 454"/>
          <p:cNvSpPr/>
          <p:nvPr/>
        </p:nvSpPr>
        <p:spPr>
          <a:xfrm>
            <a:off x="9511792" y="9820656"/>
            <a:ext cx="1170432" cy="384048"/>
          </a:xfrm>
          <a:prstGeom prst="rect">
            <a:avLst/>
          </a:prstGeom>
          <a:solidFill>
            <a:srgbClr val="FFD966"/>
          </a:solidFill>
          <a:ln w="12700">
            <a:solidFill>
              <a:srgbClr val="E0B080"/>
            </a:solidFill>
            <a:prstDash val="solid"/>
          </a:ln>
        </p:spPr>
      </p:sp>
      <p:sp>
        <p:nvSpPr>
          <p:cNvPr id="457" name="Text 455"/>
          <p:cNvSpPr/>
          <p:nvPr/>
        </p:nvSpPr>
        <p:spPr>
          <a:xfrm>
            <a:off x="9546336" y="9820656"/>
            <a:ext cx="1170432" cy="384048"/>
          </a:xfrm>
          <a:prstGeom prst="rect">
            <a:avLst/>
          </a:prstGeom>
          <a:noFill/>
          <a:ln/>
        </p:spPr>
        <p:txBody>
          <a:bodyPr wrap="square" lIns="0" tIns="0" rIns="50800" bIns="0" rtlCol="0" anchor="ctr"/>
          <a:lstStyle/>
          <a:p>
            <a:pPr algn="r"/>
            <a:r>
              <a:rPr lang="en-US" sz="1200" b="1" dirty="0">
                <a:solidFill>
                  <a:srgbClr val="111111"/>
                </a:solidFill>
              </a:rPr>
              <a:t>52K</a:t>
            </a:r>
            <a:endParaRPr lang="en-US" sz="1200" dirty="0"/>
          </a:p>
        </p:txBody>
      </p:sp>
      <p:sp>
        <p:nvSpPr>
          <p:cNvPr id="458" name="Shape 456"/>
          <p:cNvSpPr/>
          <p:nvPr/>
        </p:nvSpPr>
        <p:spPr>
          <a:xfrm>
            <a:off x="10716768" y="9820656"/>
            <a:ext cx="1170432" cy="384048"/>
          </a:xfrm>
          <a:prstGeom prst="rect">
            <a:avLst/>
          </a:prstGeom>
          <a:solidFill>
            <a:srgbClr val="FFD966"/>
          </a:solidFill>
          <a:ln w="12700">
            <a:solidFill>
              <a:srgbClr val="E0B080"/>
            </a:solidFill>
            <a:prstDash val="solid"/>
          </a:ln>
        </p:spPr>
      </p:sp>
      <p:sp>
        <p:nvSpPr>
          <p:cNvPr id="459" name="Text 457"/>
          <p:cNvSpPr/>
          <p:nvPr/>
        </p:nvSpPr>
        <p:spPr>
          <a:xfrm>
            <a:off x="10716768" y="9820656"/>
            <a:ext cx="1170432" cy="384048"/>
          </a:xfrm>
          <a:prstGeom prst="rect">
            <a:avLst/>
          </a:prstGeom>
          <a:noFill/>
          <a:ln/>
        </p:spPr>
        <p:txBody>
          <a:bodyPr wrap="square" lIns="0" tIns="0" rIns="50800" bIns="0" rtlCol="0" anchor="ctr"/>
          <a:lstStyle/>
          <a:p>
            <a:pPr algn="r"/>
            <a:r>
              <a:rPr lang="en-US" sz="1200" b="1" dirty="0">
                <a:solidFill>
                  <a:srgbClr val="111111"/>
                </a:solidFill>
              </a:rPr>
              <a:t>65K</a:t>
            </a:r>
            <a:endParaRPr lang="en-US" sz="1200" dirty="0"/>
          </a:p>
        </p:txBody>
      </p:sp>
      <p:sp>
        <p:nvSpPr>
          <p:cNvPr id="460" name="Shape 458"/>
          <p:cNvSpPr/>
          <p:nvPr/>
        </p:nvSpPr>
        <p:spPr>
          <a:xfrm>
            <a:off x="11887200" y="9820656"/>
            <a:ext cx="1170432" cy="384048"/>
          </a:xfrm>
          <a:prstGeom prst="rect">
            <a:avLst/>
          </a:prstGeom>
          <a:solidFill>
            <a:srgbClr val="FFD966"/>
          </a:solidFill>
          <a:ln w="12700">
            <a:solidFill>
              <a:srgbClr val="E0B080"/>
            </a:solidFill>
            <a:prstDash val="solid"/>
          </a:ln>
        </p:spPr>
      </p:sp>
      <p:sp>
        <p:nvSpPr>
          <p:cNvPr id="461" name="Text 459"/>
          <p:cNvSpPr/>
          <p:nvPr/>
        </p:nvSpPr>
        <p:spPr>
          <a:xfrm>
            <a:off x="11887200" y="9820656"/>
            <a:ext cx="1170432" cy="384048"/>
          </a:xfrm>
          <a:prstGeom prst="rect">
            <a:avLst/>
          </a:prstGeom>
          <a:noFill/>
          <a:ln/>
        </p:spPr>
        <p:txBody>
          <a:bodyPr wrap="square" lIns="0" tIns="0" rIns="50800" bIns="0" rtlCol="0" anchor="ctr"/>
          <a:lstStyle/>
          <a:p>
            <a:pPr algn="r"/>
            <a:r>
              <a:rPr lang="en-US" sz="1200" b="1" dirty="0">
                <a:solidFill>
                  <a:srgbClr val="111111"/>
                </a:solidFill>
              </a:rPr>
              <a:t>80K</a:t>
            </a:r>
            <a:endParaRPr lang="en-US" sz="1200" dirty="0"/>
          </a:p>
        </p:txBody>
      </p:sp>
      <p:sp>
        <p:nvSpPr>
          <p:cNvPr id="462" name="Shape 460"/>
          <p:cNvSpPr/>
          <p:nvPr/>
        </p:nvSpPr>
        <p:spPr>
          <a:xfrm>
            <a:off x="13057632" y="9820656"/>
            <a:ext cx="1170432" cy="384048"/>
          </a:xfrm>
          <a:prstGeom prst="rect">
            <a:avLst/>
          </a:prstGeom>
          <a:solidFill>
            <a:srgbClr val="FFD966"/>
          </a:solidFill>
          <a:ln w="12700">
            <a:solidFill>
              <a:srgbClr val="E0B080"/>
            </a:solidFill>
            <a:prstDash val="solid"/>
          </a:ln>
        </p:spPr>
      </p:sp>
      <p:sp>
        <p:nvSpPr>
          <p:cNvPr id="463" name="Text 461"/>
          <p:cNvSpPr/>
          <p:nvPr/>
        </p:nvSpPr>
        <p:spPr>
          <a:xfrm>
            <a:off x="13057632" y="9820656"/>
            <a:ext cx="1170432" cy="384048"/>
          </a:xfrm>
          <a:prstGeom prst="rect">
            <a:avLst/>
          </a:prstGeom>
          <a:noFill/>
          <a:ln/>
        </p:spPr>
        <p:txBody>
          <a:bodyPr wrap="square" lIns="0" tIns="0" rIns="50800" bIns="0" rtlCol="0" anchor="ctr"/>
          <a:lstStyle/>
          <a:p>
            <a:pPr algn="r"/>
            <a:r>
              <a:rPr lang="en-US" sz="1200" b="1" dirty="0">
                <a:solidFill>
                  <a:srgbClr val="111111"/>
                </a:solidFill>
              </a:rPr>
              <a:t>1.0L</a:t>
            </a:r>
            <a:endParaRPr lang="en-US" sz="1200" dirty="0"/>
          </a:p>
        </p:txBody>
      </p:sp>
      <p:sp>
        <p:nvSpPr>
          <p:cNvPr id="464" name="Shape 462"/>
          <p:cNvSpPr/>
          <p:nvPr/>
        </p:nvSpPr>
        <p:spPr>
          <a:xfrm>
            <a:off x="14228064" y="9820656"/>
            <a:ext cx="1170432" cy="384048"/>
          </a:xfrm>
          <a:prstGeom prst="rect">
            <a:avLst/>
          </a:prstGeom>
          <a:solidFill>
            <a:srgbClr val="FFD966"/>
          </a:solidFill>
          <a:ln w="12700">
            <a:solidFill>
              <a:srgbClr val="E0B080"/>
            </a:solidFill>
            <a:prstDash val="solid"/>
          </a:ln>
        </p:spPr>
      </p:sp>
      <p:sp>
        <p:nvSpPr>
          <p:cNvPr id="465" name="Text 463"/>
          <p:cNvSpPr/>
          <p:nvPr/>
        </p:nvSpPr>
        <p:spPr>
          <a:xfrm>
            <a:off x="14228064" y="9820656"/>
            <a:ext cx="1170432" cy="384048"/>
          </a:xfrm>
          <a:prstGeom prst="rect">
            <a:avLst/>
          </a:prstGeom>
          <a:noFill/>
          <a:ln/>
        </p:spPr>
        <p:txBody>
          <a:bodyPr wrap="square" lIns="0" tIns="0" rIns="50800" bIns="0" rtlCol="0" anchor="ctr"/>
          <a:lstStyle/>
          <a:p>
            <a:pPr algn="r"/>
            <a:r>
              <a:rPr lang="en-US" sz="1200" b="1" dirty="0">
                <a:solidFill>
                  <a:srgbClr val="111111"/>
                </a:solidFill>
              </a:rPr>
              <a:t>1.2L</a:t>
            </a:r>
            <a:endParaRPr lang="en-US" sz="1200" dirty="0"/>
          </a:p>
        </p:txBody>
      </p:sp>
      <p:sp>
        <p:nvSpPr>
          <p:cNvPr id="466" name="Shape 464"/>
          <p:cNvSpPr/>
          <p:nvPr/>
        </p:nvSpPr>
        <p:spPr>
          <a:xfrm>
            <a:off x="15398496" y="9820656"/>
            <a:ext cx="1170432" cy="384048"/>
          </a:xfrm>
          <a:prstGeom prst="rect">
            <a:avLst/>
          </a:prstGeom>
          <a:solidFill>
            <a:srgbClr val="FFD966"/>
          </a:solidFill>
          <a:ln w="12700">
            <a:solidFill>
              <a:srgbClr val="E0B080"/>
            </a:solidFill>
            <a:prstDash val="solid"/>
          </a:ln>
        </p:spPr>
      </p:sp>
      <p:sp>
        <p:nvSpPr>
          <p:cNvPr id="467" name="Text 465"/>
          <p:cNvSpPr/>
          <p:nvPr/>
        </p:nvSpPr>
        <p:spPr>
          <a:xfrm>
            <a:off x="15398496" y="9820656"/>
            <a:ext cx="1170432" cy="384048"/>
          </a:xfrm>
          <a:prstGeom prst="rect">
            <a:avLst/>
          </a:prstGeom>
          <a:noFill/>
          <a:ln/>
        </p:spPr>
        <p:txBody>
          <a:bodyPr wrap="square" lIns="0" tIns="0" rIns="50800" bIns="0" rtlCol="0" anchor="ctr"/>
          <a:lstStyle/>
          <a:p>
            <a:pPr algn="r"/>
            <a:r>
              <a:rPr lang="en-US" sz="1200" b="1" dirty="0">
                <a:solidFill>
                  <a:srgbClr val="111111"/>
                </a:solidFill>
              </a:rPr>
              <a:t>1.3L</a:t>
            </a:r>
            <a:endParaRPr lang="en-US" sz="1200" dirty="0"/>
          </a:p>
        </p:txBody>
      </p:sp>
      <p:sp>
        <p:nvSpPr>
          <p:cNvPr id="468" name="Shape 466"/>
          <p:cNvSpPr/>
          <p:nvPr/>
        </p:nvSpPr>
        <p:spPr>
          <a:xfrm>
            <a:off x="16568928" y="9820656"/>
            <a:ext cx="1170432" cy="384048"/>
          </a:xfrm>
          <a:prstGeom prst="rect">
            <a:avLst/>
          </a:prstGeom>
          <a:solidFill>
            <a:srgbClr val="FFD966"/>
          </a:solidFill>
          <a:ln w="12700">
            <a:solidFill>
              <a:srgbClr val="E0B080"/>
            </a:solidFill>
            <a:prstDash val="solid"/>
          </a:ln>
        </p:spPr>
      </p:sp>
      <p:sp>
        <p:nvSpPr>
          <p:cNvPr id="469" name="Text 467"/>
          <p:cNvSpPr/>
          <p:nvPr/>
        </p:nvSpPr>
        <p:spPr>
          <a:xfrm>
            <a:off x="16568928" y="9820656"/>
            <a:ext cx="1170432" cy="384048"/>
          </a:xfrm>
          <a:prstGeom prst="rect">
            <a:avLst/>
          </a:prstGeom>
          <a:noFill/>
          <a:ln/>
        </p:spPr>
        <p:txBody>
          <a:bodyPr wrap="square" lIns="0" tIns="0" rIns="50800" bIns="0" rtlCol="0" anchor="ctr"/>
          <a:lstStyle/>
          <a:p>
            <a:pPr algn="r"/>
            <a:r>
              <a:rPr lang="en-US" sz="1200" b="1" dirty="0">
                <a:solidFill>
                  <a:srgbClr val="111111"/>
                </a:solidFill>
              </a:rPr>
              <a:t>1.5L</a:t>
            </a:r>
            <a:endParaRPr lang="en-US" sz="1200" dirty="0"/>
          </a:p>
        </p:txBody>
      </p:sp>
      <p:sp>
        <p:nvSpPr>
          <p:cNvPr id="470" name="Shape 468"/>
          <p:cNvSpPr/>
          <p:nvPr/>
        </p:nvSpPr>
        <p:spPr>
          <a:xfrm>
            <a:off x="17739360" y="9820656"/>
            <a:ext cx="1170432" cy="384048"/>
          </a:xfrm>
          <a:prstGeom prst="rect">
            <a:avLst/>
          </a:prstGeom>
          <a:solidFill>
            <a:srgbClr val="FFD966"/>
          </a:solidFill>
          <a:ln w="12700">
            <a:solidFill>
              <a:srgbClr val="E0B080"/>
            </a:solidFill>
            <a:prstDash val="solid"/>
          </a:ln>
        </p:spPr>
      </p:sp>
      <p:sp>
        <p:nvSpPr>
          <p:cNvPr id="471" name="Text 469"/>
          <p:cNvSpPr/>
          <p:nvPr/>
        </p:nvSpPr>
        <p:spPr>
          <a:xfrm>
            <a:off x="17739360" y="9820656"/>
            <a:ext cx="1170432" cy="384048"/>
          </a:xfrm>
          <a:prstGeom prst="rect">
            <a:avLst/>
          </a:prstGeom>
          <a:noFill/>
          <a:ln/>
        </p:spPr>
        <p:txBody>
          <a:bodyPr wrap="square" lIns="0" tIns="0" rIns="50800" bIns="0" rtlCol="0" anchor="ctr"/>
          <a:lstStyle/>
          <a:p>
            <a:pPr algn="r"/>
            <a:r>
              <a:rPr lang="en-US" sz="1200" b="1" dirty="0">
                <a:solidFill>
                  <a:srgbClr val="111111"/>
                </a:solidFill>
              </a:rPr>
              <a:t>8.0L</a:t>
            </a:r>
            <a:endParaRPr lang="en-US" sz="1200" dirty="0"/>
          </a:p>
        </p:txBody>
      </p:sp>
      <p:sp>
        <p:nvSpPr>
          <p:cNvPr id="472" name="Text 470"/>
          <p:cNvSpPr/>
          <p:nvPr/>
        </p:nvSpPr>
        <p:spPr>
          <a:xfrm>
            <a:off x="512064" y="10287000"/>
            <a:ext cx="18361152" cy="402336"/>
          </a:xfrm>
          <a:prstGeom prst="rect">
            <a:avLst/>
          </a:prstGeom>
          <a:noFill/>
          <a:ln/>
        </p:spPr>
        <p:txBody>
          <a:bodyPr wrap="square" rtlCol="0" anchor="ctr"/>
          <a:lstStyle/>
          <a:p>
            <a:r>
              <a:rPr lang="en-US" sz="1600" b="1" dirty="0">
                <a:solidFill>
                  <a:srgbClr val="111111"/>
                </a:solidFill>
              </a:rPr>
              <a:t>Result</a:t>
            </a:r>
            <a:endParaRPr lang="en-US" sz="1600" dirty="0"/>
          </a:p>
        </p:txBody>
      </p:sp>
      <p:sp>
        <p:nvSpPr>
          <p:cNvPr id="473" name="Shape 471"/>
          <p:cNvSpPr/>
          <p:nvPr/>
        </p:nvSpPr>
        <p:spPr>
          <a:xfrm>
            <a:off x="548640" y="10680192"/>
            <a:ext cx="3145536" cy="384048"/>
          </a:xfrm>
          <a:prstGeom prst="rect">
            <a:avLst/>
          </a:prstGeom>
          <a:solidFill>
            <a:srgbClr val="F5C78E"/>
          </a:solidFill>
          <a:ln w="12700">
            <a:solidFill>
              <a:srgbClr val="E0B080"/>
            </a:solidFill>
            <a:prstDash val="solid"/>
          </a:ln>
        </p:spPr>
      </p:sp>
      <p:sp>
        <p:nvSpPr>
          <p:cNvPr id="474" name="Text 472"/>
          <p:cNvSpPr/>
          <p:nvPr/>
        </p:nvSpPr>
        <p:spPr>
          <a:xfrm>
            <a:off x="621792" y="10680192"/>
            <a:ext cx="3035808" cy="384048"/>
          </a:xfrm>
          <a:prstGeom prst="rect">
            <a:avLst/>
          </a:prstGeom>
          <a:noFill/>
          <a:ln/>
        </p:spPr>
        <p:txBody>
          <a:bodyPr wrap="square" rtlCol="0" anchor="ctr"/>
          <a:lstStyle/>
          <a:p>
            <a:r>
              <a:rPr lang="en-US" sz="1300" b="1" dirty="0">
                <a:solidFill>
                  <a:srgbClr val="111111"/>
                </a:solidFill>
              </a:rPr>
              <a:t>Net Profit / Loss</a:t>
            </a:r>
            <a:endParaRPr lang="en-US" sz="1300" dirty="0"/>
          </a:p>
        </p:txBody>
      </p:sp>
      <p:sp>
        <p:nvSpPr>
          <p:cNvPr id="475" name="Shape 473"/>
          <p:cNvSpPr/>
          <p:nvPr/>
        </p:nvSpPr>
        <p:spPr>
          <a:xfrm>
            <a:off x="3694176" y="10680192"/>
            <a:ext cx="1170432" cy="384048"/>
          </a:xfrm>
          <a:prstGeom prst="rect">
            <a:avLst/>
          </a:prstGeom>
          <a:solidFill>
            <a:srgbClr val="F5C78E"/>
          </a:solidFill>
          <a:ln w="12700">
            <a:solidFill>
              <a:srgbClr val="E0B080"/>
            </a:solidFill>
            <a:prstDash val="solid"/>
          </a:ln>
        </p:spPr>
      </p:sp>
      <p:sp>
        <p:nvSpPr>
          <p:cNvPr id="476" name="Text 474"/>
          <p:cNvSpPr/>
          <p:nvPr/>
        </p:nvSpPr>
        <p:spPr>
          <a:xfrm>
            <a:off x="3694176" y="10680192"/>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77" name="Shape 475"/>
          <p:cNvSpPr/>
          <p:nvPr/>
        </p:nvSpPr>
        <p:spPr>
          <a:xfrm>
            <a:off x="4864608" y="10680192"/>
            <a:ext cx="1170432" cy="384048"/>
          </a:xfrm>
          <a:prstGeom prst="rect">
            <a:avLst/>
          </a:prstGeom>
          <a:solidFill>
            <a:srgbClr val="F5C78E"/>
          </a:solidFill>
          <a:ln w="12700">
            <a:solidFill>
              <a:srgbClr val="E0B080"/>
            </a:solidFill>
            <a:prstDash val="solid"/>
          </a:ln>
        </p:spPr>
      </p:sp>
      <p:sp>
        <p:nvSpPr>
          <p:cNvPr id="478" name="Text 476"/>
          <p:cNvSpPr/>
          <p:nvPr/>
        </p:nvSpPr>
        <p:spPr>
          <a:xfrm>
            <a:off x="4864608" y="10680192"/>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79" name="Shape 477"/>
          <p:cNvSpPr/>
          <p:nvPr/>
        </p:nvSpPr>
        <p:spPr>
          <a:xfrm>
            <a:off x="6035040" y="10680192"/>
            <a:ext cx="1170432" cy="384048"/>
          </a:xfrm>
          <a:prstGeom prst="rect">
            <a:avLst/>
          </a:prstGeom>
          <a:solidFill>
            <a:srgbClr val="F5C78E"/>
          </a:solidFill>
          <a:ln w="12700">
            <a:solidFill>
              <a:srgbClr val="E0B080"/>
            </a:solidFill>
            <a:prstDash val="solid"/>
          </a:ln>
        </p:spPr>
      </p:sp>
      <p:sp>
        <p:nvSpPr>
          <p:cNvPr id="480" name="Text 478"/>
          <p:cNvSpPr/>
          <p:nvPr/>
        </p:nvSpPr>
        <p:spPr>
          <a:xfrm>
            <a:off x="6035040" y="10680192"/>
            <a:ext cx="1170432" cy="384048"/>
          </a:xfrm>
          <a:prstGeom prst="rect">
            <a:avLst/>
          </a:prstGeom>
          <a:noFill/>
          <a:ln/>
        </p:spPr>
        <p:txBody>
          <a:bodyPr wrap="square" lIns="0" tIns="0" rIns="50800" bIns="0" rtlCol="0" anchor="ctr"/>
          <a:lstStyle/>
          <a:p>
            <a:pPr algn="r"/>
            <a:r>
              <a:rPr lang="en-US" sz="1200" b="1" dirty="0">
                <a:solidFill>
                  <a:srgbClr val="111111"/>
                </a:solidFill>
              </a:rPr>
              <a:t>-10K</a:t>
            </a:r>
            <a:endParaRPr lang="en-US" sz="1200" dirty="0"/>
          </a:p>
        </p:txBody>
      </p:sp>
      <p:sp>
        <p:nvSpPr>
          <p:cNvPr id="481" name="Shape 479"/>
          <p:cNvSpPr/>
          <p:nvPr/>
        </p:nvSpPr>
        <p:spPr>
          <a:xfrm>
            <a:off x="7205472" y="10680192"/>
            <a:ext cx="1170432" cy="384048"/>
          </a:xfrm>
          <a:prstGeom prst="rect">
            <a:avLst/>
          </a:prstGeom>
          <a:solidFill>
            <a:srgbClr val="F5C78E"/>
          </a:solidFill>
          <a:ln w="12700">
            <a:solidFill>
              <a:srgbClr val="E0B080"/>
            </a:solidFill>
            <a:prstDash val="solid"/>
          </a:ln>
        </p:spPr>
      </p:sp>
      <p:sp>
        <p:nvSpPr>
          <p:cNvPr id="482" name="Text 480"/>
          <p:cNvSpPr/>
          <p:nvPr/>
        </p:nvSpPr>
        <p:spPr>
          <a:xfrm>
            <a:off x="7205472" y="10680192"/>
            <a:ext cx="1170432" cy="384048"/>
          </a:xfrm>
          <a:prstGeom prst="rect">
            <a:avLst/>
          </a:prstGeom>
          <a:noFill/>
          <a:ln/>
        </p:spPr>
        <p:txBody>
          <a:bodyPr wrap="square" lIns="0" tIns="0" rIns="50800" bIns="0" rtlCol="0" anchor="ctr"/>
          <a:lstStyle/>
          <a:p>
            <a:pPr algn="r"/>
            <a:r>
              <a:rPr lang="en-US" sz="1200" b="1" dirty="0">
                <a:solidFill>
                  <a:srgbClr val="111111"/>
                </a:solidFill>
              </a:rPr>
              <a:t>13K</a:t>
            </a:r>
            <a:endParaRPr lang="en-US" sz="1200" dirty="0"/>
          </a:p>
        </p:txBody>
      </p:sp>
      <p:sp>
        <p:nvSpPr>
          <p:cNvPr id="483" name="Shape 481"/>
          <p:cNvSpPr/>
          <p:nvPr/>
        </p:nvSpPr>
        <p:spPr>
          <a:xfrm>
            <a:off x="8375904" y="10680192"/>
            <a:ext cx="1170432" cy="384048"/>
          </a:xfrm>
          <a:prstGeom prst="rect">
            <a:avLst/>
          </a:prstGeom>
          <a:solidFill>
            <a:srgbClr val="F5C78E"/>
          </a:solidFill>
          <a:ln w="12700">
            <a:solidFill>
              <a:srgbClr val="E0B080"/>
            </a:solidFill>
            <a:prstDash val="solid"/>
          </a:ln>
        </p:spPr>
      </p:sp>
      <p:sp>
        <p:nvSpPr>
          <p:cNvPr id="484" name="Text 482"/>
          <p:cNvSpPr/>
          <p:nvPr/>
        </p:nvSpPr>
        <p:spPr>
          <a:xfrm>
            <a:off x="8375904" y="10680192"/>
            <a:ext cx="1170432" cy="384048"/>
          </a:xfrm>
          <a:prstGeom prst="rect">
            <a:avLst/>
          </a:prstGeom>
          <a:noFill/>
          <a:ln/>
        </p:spPr>
        <p:txBody>
          <a:bodyPr wrap="square" lIns="0" tIns="0" rIns="50800" bIns="0" rtlCol="0" anchor="ctr"/>
          <a:lstStyle/>
          <a:p>
            <a:pPr algn="r"/>
            <a:r>
              <a:rPr lang="en-US" sz="1200" b="1" dirty="0">
                <a:solidFill>
                  <a:srgbClr val="111111"/>
                </a:solidFill>
              </a:rPr>
              <a:t>37K</a:t>
            </a:r>
            <a:endParaRPr lang="en-US" sz="1200" dirty="0"/>
          </a:p>
        </p:txBody>
      </p:sp>
      <p:sp>
        <p:nvSpPr>
          <p:cNvPr id="485" name="Shape 483"/>
          <p:cNvSpPr/>
          <p:nvPr/>
        </p:nvSpPr>
        <p:spPr>
          <a:xfrm>
            <a:off x="9546336" y="10680192"/>
            <a:ext cx="1170432" cy="384048"/>
          </a:xfrm>
          <a:prstGeom prst="rect">
            <a:avLst/>
          </a:prstGeom>
          <a:solidFill>
            <a:srgbClr val="F5C78E"/>
          </a:solidFill>
          <a:ln w="12700">
            <a:solidFill>
              <a:srgbClr val="E0B080"/>
            </a:solidFill>
            <a:prstDash val="solid"/>
          </a:ln>
        </p:spPr>
      </p:sp>
      <p:sp>
        <p:nvSpPr>
          <p:cNvPr id="486" name="Text 484"/>
          <p:cNvSpPr/>
          <p:nvPr/>
        </p:nvSpPr>
        <p:spPr>
          <a:xfrm>
            <a:off x="9546336" y="10680192"/>
            <a:ext cx="1170432" cy="384048"/>
          </a:xfrm>
          <a:prstGeom prst="rect">
            <a:avLst/>
          </a:prstGeom>
          <a:noFill/>
          <a:ln/>
        </p:spPr>
        <p:txBody>
          <a:bodyPr wrap="square" lIns="0" tIns="0" rIns="50800" bIns="0" rtlCol="0" anchor="ctr"/>
          <a:lstStyle/>
          <a:p>
            <a:pPr algn="r"/>
            <a:r>
              <a:rPr lang="en-US" sz="1200" b="1" dirty="0">
                <a:solidFill>
                  <a:srgbClr val="111111"/>
                </a:solidFill>
              </a:rPr>
              <a:t>68K</a:t>
            </a:r>
            <a:endParaRPr lang="en-US" sz="1200" dirty="0"/>
          </a:p>
        </p:txBody>
      </p:sp>
      <p:sp>
        <p:nvSpPr>
          <p:cNvPr id="487" name="Shape 485"/>
          <p:cNvSpPr/>
          <p:nvPr/>
        </p:nvSpPr>
        <p:spPr>
          <a:xfrm>
            <a:off x="10716768" y="10680192"/>
            <a:ext cx="1170432" cy="384048"/>
          </a:xfrm>
          <a:prstGeom prst="rect">
            <a:avLst/>
          </a:prstGeom>
          <a:solidFill>
            <a:srgbClr val="F5C78E"/>
          </a:solidFill>
          <a:ln w="12700">
            <a:solidFill>
              <a:srgbClr val="E0B080"/>
            </a:solidFill>
            <a:prstDash val="solid"/>
          </a:ln>
        </p:spPr>
      </p:sp>
      <p:sp>
        <p:nvSpPr>
          <p:cNvPr id="488" name="Text 486"/>
          <p:cNvSpPr/>
          <p:nvPr/>
        </p:nvSpPr>
        <p:spPr>
          <a:xfrm>
            <a:off x="10716768" y="10680192"/>
            <a:ext cx="1170432" cy="384048"/>
          </a:xfrm>
          <a:prstGeom prst="rect">
            <a:avLst/>
          </a:prstGeom>
          <a:noFill/>
          <a:ln/>
        </p:spPr>
        <p:txBody>
          <a:bodyPr wrap="square" lIns="0" tIns="0" rIns="50800" bIns="0" rtlCol="0" anchor="ctr"/>
          <a:lstStyle/>
          <a:p>
            <a:pPr algn="r"/>
            <a:r>
              <a:rPr lang="en-US" sz="1200" b="1" dirty="0">
                <a:solidFill>
                  <a:srgbClr val="111111"/>
                </a:solidFill>
              </a:rPr>
              <a:t>1.1L</a:t>
            </a:r>
            <a:endParaRPr lang="en-US" sz="1200" dirty="0"/>
          </a:p>
        </p:txBody>
      </p:sp>
      <p:sp>
        <p:nvSpPr>
          <p:cNvPr id="489" name="Shape 487"/>
          <p:cNvSpPr/>
          <p:nvPr/>
        </p:nvSpPr>
        <p:spPr>
          <a:xfrm>
            <a:off x="11887200" y="10680192"/>
            <a:ext cx="1170432" cy="384048"/>
          </a:xfrm>
          <a:prstGeom prst="rect">
            <a:avLst/>
          </a:prstGeom>
          <a:solidFill>
            <a:srgbClr val="F5C78E"/>
          </a:solidFill>
          <a:ln w="12700">
            <a:solidFill>
              <a:srgbClr val="E0B080"/>
            </a:solidFill>
            <a:prstDash val="solid"/>
          </a:ln>
        </p:spPr>
      </p:sp>
      <p:sp>
        <p:nvSpPr>
          <p:cNvPr id="490" name="Text 488"/>
          <p:cNvSpPr/>
          <p:nvPr/>
        </p:nvSpPr>
        <p:spPr>
          <a:xfrm>
            <a:off x="11887200" y="10680192"/>
            <a:ext cx="1170432" cy="384048"/>
          </a:xfrm>
          <a:prstGeom prst="rect">
            <a:avLst/>
          </a:prstGeom>
          <a:noFill/>
          <a:ln/>
        </p:spPr>
        <p:txBody>
          <a:bodyPr wrap="square" lIns="0" tIns="0" rIns="50800" bIns="0" rtlCol="0" anchor="ctr"/>
          <a:lstStyle/>
          <a:p>
            <a:pPr algn="r"/>
            <a:r>
              <a:rPr lang="en-US" sz="1200" b="1" dirty="0">
                <a:solidFill>
                  <a:srgbClr val="111111"/>
                </a:solidFill>
              </a:rPr>
              <a:t>1.7L</a:t>
            </a:r>
            <a:endParaRPr lang="en-US" sz="1200" dirty="0"/>
          </a:p>
        </p:txBody>
      </p:sp>
      <p:sp>
        <p:nvSpPr>
          <p:cNvPr id="491" name="Shape 489"/>
          <p:cNvSpPr/>
          <p:nvPr/>
        </p:nvSpPr>
        <p:spPr>
          <a:xfrm>
            <a:off x="13057632" y="10680192"/>
            <a:ext cx="1170432" cy="384048"/>
          </a:xfrm>
          <a:prstGeom prst="rect">
            <a:avLst/>
          </a:prstGeom>
          <a:solidFill>
            <a:srgbClr val="F5C78E"/>
          </a:solidFill>
          <a:ln w="12700">
            <a:solidFill>
              <a:srgbClr val="E0B080"/>
            </a:solidFill>
            <a:prstDash val="solid"/>
          </a:ln>
        </p:spPr>
      </p:sp>
      <p:sp>
        <p:nvSpPr>
          <p:cNvPr id="492" name="Text 490"/>
          <p:cNvSpPr/>
          <p:nvPr/>
        </p:nvSpPr>
        <p:spPr>
          <a:xfrm>
            <a:off x="13057632" y="10680192"/>
            <a:ext cx="1170432" cy="384048"/>
          </a:xfrm>
          <a:prstGeom prst="rect">
            <a:avLst/>
          </a:prstGeom>
          <a:noFill/>
          <a:ln/>
        </p:spPr>
        <p:txBody>
          <a:bodyPr wrap="square" lIns="0" tIns="0" rIns="50800" bIns="0" rtlCol="0" anchor="ctr"/>
          <a:lstStyle/>
          <a:p>
            <a:pPr algn="r"/>
            <a:r>
              <a:rPr lang="en-US" sz="1200" b="1" dirty="0">
                <a:solidFill>
                  <a:srgbClr val="111111"/>
                </a:solidFill>
              </a:rPr>
              <a:t>2.5L</a:t>
            </a:r>
            <a:endParaRPr lang="en-US" sz="1200" dirty="0"/>
          </a:p>
        </p:txBody>
      </p:sp>
      <p:sp>
        <p:nvSpPr>
          <p:cNvPr id="493" name="Shape 491"/>
          <p:cNvSpPr/>
          <p:nvPr/>
        </p:nvSpPr>
        <p:spPr>
          <a:xfrm>
            <a:off x="14228064" y="10680192"/>
            <a:ext cx="1170432" cy="384048"/>
          </a:xfrm>
          <a:prstGeom prst="rect">
            <a:avLst/>
          </a:prstGeom>
          <a:solidFill>
            <a:srgbClr val="F5C78E"/>
          </a:solidFill>
          <a:ln w="12700">
            <a:solidFill>
              <a:srgbClr val="E0B080"/>
            </a:solidFill>
            <a:prstDash val="solid"/>
          </a:ln>
        </p:spPr>
      </p:sp>
      <p:sp>
        <p:nvSpPr>
          <p:cNvPr id="494" name="Text 492"/>
          <p:cNvSpPr/>
          <p:nvPr/>
        </p:nvSpPr>
        <p:spPr>
          <a:xfrm>
            <a:off x="14228064" y="10680192"/>
            <a:ext cx="1170432" cy="384048"/>
          </a:xfrm>
          <a:prstGeom prst="rect">
            <a:avLst/>
          </a:prstGeom>
          <a:noFill/>
          <a:ln/>
        </p:spPr>
        <p:txBody>
          <a:bodyPr wrap="square" lIns="0" tIns="0" rIns="50800" bIns="0" rtlCol="0" anchor="ctr"/>
          <a:lstStyle/>
          <a:p>
            <a:pPr algn="r"/>
            <a:r>
              <a:rPr lang="en-US" sz="1200" b="1" dirty="0">
                <a:solidFill>
                  <a:srgbClr val="111111"/>
                </a:solidFill>
              </a:rPr>
              <a:t>3.1L</a:t>
            </a:r>
            <a:endParaRPr lang="en-US" sz="1200" dirty="0"/>
          </a:p>
        </p:txBody>
      </p:sp>
      <p:sp>
        <p:nvSpPr>
          <p:cNvPr id="495" name="Shape 493"/>
          <p:cNvSpPr/>
          <p:nvPr/>
        </p:nvSpPr>
        <p:spPr>
          <a:xfrm>
            <a:off x="15398496" y="10680192"/>
            <a:ext cx="1170432" cy="384048"/>
          </a:xfrm>
          <a:prstGeom prst="rect">
            <a:avLst/>
          </a:prstGeom>
          <a:solidFill>
            <a:srgbClr val="F5C78E"/>
          </a:solidFill>
          <a:ln w="12700">
            <a:solidFill>
              <a:srgbClr val="E0B080"/>
            </a:solidFill>
            <a:prstDash val="solid"/>
          </a:ln>
        </p:spPr>
      </p:sp>
      <p:sp>
        <p:nvSpPr>
          <p:cNvPr id="496" name="Text 494"/>
          <p:cNvSpPr/>
          <p:nvPr/>
        </p:nvSpPr>
        <p:spPr>
          <a:xfrm>
            <a:off x="15398496" y="10680192"/>
            <a:ext cx="1170432" cy="384048"/>
          </a:xfrm>
          <a:prstGeom prst="rect">
            <a:avLst/>
          </a:prstGeom>
          <a:noFill/>
          <a:ln/>
        </p:spPr>
        <p:txBody>
          <a:bodyPr wrap="square" lIns="0" tIns="0" rIns="50800" bIns="0" rtlCol="0" anchor="ctr"/>
          <a:lstStyle/>
          <a:p>
            <a:pPr algn="r"/>
            <a:r>
              <a:rPr lang="en-US" sz="1200" b="1" dirty="0">
                <a:solidFill>
                  <a:srgbClr val="111111"/>
                </a:solidFill>
              </a:rPr>
              <a:t>3.7L</a:t>
            </a:r>
            <a:endParaRPr lang="en-US" sz="1200" dirty="0"/>
          </a:p>
        </p:txBody>
      </p:sp>
      <p:sp>
        <p:nvSpPr>
          <p:cNvPr id="497" name="Shape 495"/>
          <p:cNvSpPr/>
          <p:nvPr/>
        </p:nvSpPr>
        <p:spPr>
          <a:xfrm>
            <a:off x="16568928" y="10680192"/>
            <a:ext cx="1170432" cy="384048"/>
          </a:xfrm>
          <a:prstGeom prst="rect">
            <a:avLst/>
          </a:prstGeom>
          <a:solidFill>
            <a:srgbClr val="F5C78E"/>
          </a:solidFill>
          <a:ln w="12700">
            <a:solidFill>
              <a:srgbClr val="E0B080"/>
            </a:solidFill>
            <a:prstDash val="solid"/>
          </a:ln>
        </p:spPr>
      </p:sp>
      <p:sp>
        <p:nvSpPr>
          <p:cNvPr id="498" name="Text 496"/>
          <p:cNvSpPr/>
          <p:nvPr/>
        </p:nvSpPr>
        <p:spPr>
          <a:xfrm>
            <a:off x="16568928" y="10680192"/>
            <a:ext cx="1170432" cy="384048"/>
          </a:xfrm>
          <a:prstGeom prst="rect">
            <a:avLst/>
          </a:prstGeom>
          <a:noFill/>
          <a:ln/>
        </p:spPr>
        <p:txBody>
          <a:bodyPr wrap="square" lIns="0" tIns="0" rIns="50800" bIns="0" rtlCol="0" anchor="ctr"/>
          <a:lstStyle/>
          <a:p>
            <a:pPr algn="r"/>
            <a:r>
              <a:rPr lang="en-US" sz="1200" b="1" dirty="0">
                <a:solidFill>
                  <a:srgbClr val="111111"/>
                </a:solidFill>
              </a:rPr>
              <a:t>4.5L</a:t>
            </a:r>
            <a:endParaRPr lang="en-US" sz="1200" dirty="0"/>
          </a:p>
        </p:txBody>
      </p:sp>
      <p:sp>
        <p:nvSpPr>
          <p:cNvPr id="499" name="Shape 497"/>
          <p:cNvSpPr/>
          <p:nvPr/>
        </p:nvSpPr>
        <p:spPr>
          <a:xfrm>
            <a:off x="17739360" y="10680192"/>
            <a:ext cx="1170432" cy="384048"/>
          </a:xfrm>
          <a:prstGeom prst="rect">
            <a:avLst/>
          </a:prstGeom>
          <a:solidFill>
            <a:srgbClr val="F5C78E"/>
          </a:solidFill>
          <a:ln w="12700">
            <a:solidFill>
              <a:srgbClr val="E0B080"/>
            </a:solidFill>
            <a:prstDash val="solid"/>
          </a:ln>
        </p:spPr>
      </p:sp>
      <p:sp>
        <p:nvSpPr>
          <p:cNvPr id="500" name="Text 498"/>
          <p:cNvSpPr/>
          <p:nvPr/>
        </p:nvSpPr>
        <p:spPr>
          <a:xfrm>
            <a:off x="17739360" y="10680192"/>
            <a:ext cx="1170432" cy="384048"/>
          </a:xfrm>
          <a:prstGeom prst="rect">
            <a:avLst/>
          </a:prstGeom>
          <a:noFill/>
          <a:ln/>
        </p:spPr>
        <p:txBody>
          <a:bodyPr wrap="square" lIns="0" tIns="0" rIns="50800" bIns="0" rtlCol="0" anchor="ctr"/>
          <a:lstStyle/>
          <a:p>
            <a:pPr algn="r"/>
            <a:r>
              <a:rPr lang="en-US" sz="1200" b="1" dirty="0">
                <a:solidFill>
                  <a:srgbClr val="111111"/>
                </a:solidFill>
              </a:rPr>
              <a:t>17.6L</a:t>
            </a:r>
            <a:endParaRPr lang="en-US" sz="1200" dirty="0"/>
          </a:p>
        </p:txBody>
      </p:sp>
      <p:sp>
        <p:nvSpPr>
          <p:cNvPr id="501" name="Shape 499"/>
          <p:cNvSpPr/>
          <p:nvPr/>
        </p:nvSpPr>
        <p:spPr>
          <a:xfrm>
            <a:off x="548640" y="11064240"/>
            <a:ext cx="3145536" cy="384048"/>
          </a:xfrm>
          <a:prstGeom prst="rect">
            <a:avLst/>
          </a:prstGeom>
          <a:solidFill>
            <a:srgbClr val="FDE9C8"/>
          </a:solidFill>
          <a:ln w="12700">
            <a:solidFill>
              <a:srgbClr val="E0B080"/>
            </a:solidFill>
            <a:prstDash val="solid"/>
          </a:ln>
        </p:spPr>
      </p:sp>
      <p:sp>
        <p:nvSpPr>
          <p:cNvPr id="502" name="Text 500"/>
          <p:cNvSpPr/>
          <p:nvPr/>
        </p:nvSpPr>
        <p:spPr>
          <a:xfrm>
            <a:off x="621792" y="11064240"/>
            <a:ext cx="3035808" cy="384048"/>
          </a:xfrm>
          <a:prstGeom prst="rect">
            <a:avLst/>
          </a:prstGeom>
          <a:noFill/>
          <a:ln/>
        </p:spPr>
        <p:txBody>
          <a:bodyPr wrap="square" rtlCol="0" anchor="ctr"/>
          <a:lstStyle/>
          <a:p>
            <a:r>
              <a:rPr lang="en-US" sz="1300" dirty="0">
                <a:solidFill>
                  <a:srgbClr val="111111"/>
                </a:solidFill>
              </a:rPr>
              <a:t>Gross profit margin</a:t>
            </a:r>
            <a:endParaRPr lang="en-US" sz="1300" dirty="0"/>
          </a:p>
        </p:txBody>
      </p:sp>
      <p:sp>
        <p:nvSpPr>
          <p:cNvPr id="503" name="Shape 501"/>
          <p:cNvSpPr/>
          <p:nvPr/>
        </p:nvSpPr>
        <p:spPr>
          <a:xfrm>
            <a:off x="3694176" y="11064240"/>
            <a:ext cx="1170432" cy="384048"/>
          </a:xfrm>
          <a:prstGeom prst="rect">
            <a:avLst/>
          </a:prstGeom>
          <a:solidFill>
            <a:srgbClr val="FDE9C8"/>
          </a:solidFill>
          <a:ln w="12700">
            <a:solidFill>
              <a:srgbClr val="E0B080"/>
            </a:solidFill>
            <a:prstDash val="solid"/>
          </a:ln>
        </p:spPr>
      </p:sp>
      <p:sp>
        <p:nvSpPr>
          <p:cNvPr id="504" name="Text 502"/>
          <p:cNvSpPr/>
          <p:nvPr/>
        </p:nvSpPr>
        <p:spPr>
          <a:xfrm>
            <a:off x="3694176" y="11064240"/>
            <a:ext cx="1170432" cy="384048"/>
          </a:xfrm>
          <a:prstGeom prst="rect">
            <a:avLst/>
          </a:prstGeom>
          <a:noFill/>
          <a:ln/>
        </p:spPr>
        <p:txBody>
          <a:bodyPr wrap="square" lIns="0" tIns="0" rIns="50800" bIns="0" rtlCol="0" anchor="ctr"/>
          <a:lstStyle/>
          <a:p>
            <a:pPr algn="r"/>
            <a:endParaRPr lang="en-US" sz="1200" dirty="0"/>
          </a:p>
        </p:txBody>
      </p:sp>
      <p:sp>
        <p:nvSpPr>
          <p:cNvPr id="505" name="Shape 503"/>
          <p:cNvSpPr/>
          <p:nvPr/>
        </p:nvSpPr>
        <p:spPr>
          <a:xfrm>
            <a:off x="4864608" y="11064240"/>
            <a:ext cx="1170432" cy="384048"/>
          </a:xfrm>
          <a:prstGeom prst="rect">
            <a:avLst/>
          </a:prstGeom>
          <a:solidFill>
            <a:srgbClr val="FDE9C8"/>
          </a:solidFill>
          <a:ln w="12700">
            <a:solidFill>
              <a:srgbClr val="E0B080"/>
            </a:solidFill>
            <a:prstDash val="solid"/>
          </a:ln>
        </p:spPr>
      </p:sp>
      <p:sp>
        <p:nvSpPr>
          <p:cNvPr id="506" name="Text 504"/>
          <p:cNvSpPr/>
          <p:nvPr/>
        </p:nvSpPr>
        <p:spPr>
          <a:xfrm>
            <a:off x="4864608" y="11064240"/>
            <a:ext cx="1170432" cy="384048"/>
          </a:xfrm>
          <a:prstGeom prst="rect">
            <a:avLst/>
          </a:prstGeom>
          <a:noFill/>
          <a:ln/>
        </p:spPr>
        <p:txBody>
          <a:bodyPr wrap="square" lIns="0" tIns="0" rIns="50800" bIns="0" rtlCol="0" anchor="ctr"/>
          <a:lstStyle/>
          <a:p>
            <a:pPr algn="r"/>
            <a:endParaRPr lang="en-US" sz="1200" dirty="0"/>
          </a:p>
        </p:txBody>
      </p:sp>
      <p:sp>
        <p:nvSpPr>
          <p:cNvPr id="507" name="Shape 505"/>
          <p:cNvSpPr/>
          <p:nvPr/>
        </p:nvSpPr>
        <p:spPr>
          <a:xfrm>
            <a:off x="6035040" y="11064240"/>
            <a:ext cx="1170432" cy="384048"/>
          </a:xfrm>
          <a:prstGeom prst="rect">
            <a:avLst/>
          </a:prstGeom>
          <a:solidFill>
            <a:srgbClr val="FDE9C8"/>
          </a:solidFill>
          <a:ln w="12700">
            <a:solidFill>
              <a:srgbClr val="E0B080"/>
            </a:solidFill>
            <a:prstDash val="solid"/>
          </a:ln>
        </p:spPr>
      </p:sp>
      <p:sp>
        <p:nvSpPr>
          <p:cNvPr id="508" name="Text 506"/>
          <p:cNvSpPr/>
          <p:nvPr/>
        </p:nvSpPr>
        <p:spPr>
          <a:xfrm>
            <a:off x="6035040" y="11064240"/>
            <a:ext cx="1170432" cy="384048"/>
          </a:xfrm>
          <a:prstGeom prst="rect">
            <a:avLst/>
          </a:prstGeom>
          <a:noFill/>
          <a:ln/>
        </p:spPr>
        <p:txBody>
          <a:bodyPr wrap="square" lIns="0" tIns="0" rIns="50800" bIns="0" rtlCol="0" anchor="ctr"/>
          <a:lstStyle/>
          <a:p>
            <a:pPr algn="r"/>
            <a:endParaRPr lang="en-US" sz="1200" dirty="0"/>
          </a:p>
        </p:txBody>
      </p:sp>
      <p:sp>
        <p:nvSpPr>
          <p:cNvPr id="509" name="Shape 507"/>
          <p:cNvSpPr/>
          <p:nvPr/>
        </p:nvSpPr>
        <p:spPr>
          <a:xfrm>
            <a:off x="7205472" y="11064240"/>
            <a:ext cx="1170432" cy="384048"/>
          </a:xfrm>
          <a:prstGeom prst="rect">
            <a:avLst/>
          </a:prstGeom>
          <a:solidFill>
            <a:srgbClr val="FDE9C8"/>
          </a:solidFill>
          <a:ln w="12700">
            <a:solidFill>
              <a:srgbClr val="E0B080"/>
            </a:solidFill>
            <a:prstDash val="solid"/>
          </a:ln>
        </p:spPr>
      </p:sp>
      <p:sp>
        <p:nvSpPr>
          <p:cNvPr id="510" name="Text 508"/>
          <p:cNvSpPr/>
          <p:nvPr/>
        </p:nvSpPr>
        <p:spPr>
          <a:xfrm>
            <a:off x="7205472"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11" name="Shape 509"/>
          <p:cNvSpPr/>
          <p:nvPr/>
        </p:nvSpPr>
        <p:spPr>
          <a:xfrm>
            <a:off x="8375904" y="11064240"/>
            <a:ext cx="1170432" cy="384048"/>
          </a:xfrm>
          <a:prstGeom prst="rect">
            <a:avLst/>
          </a:prstGeom>
          <a:solidFill>
            <a:srgbClr val="FDE9C8"/>
          </a:solidFill>
          <a:ln w="12700">
            <a:solidFill>
              <a:srgbClr val="E0B080"/>
            </a:solidFill>
            <a:prstDash val="solid"/>
          </a:ln>
        </p:spPr>
      </p:sp>
      <p:sp>
        <p:nvSpPr>
          <p:cNvPr id="512" name="Text 510"/>
          <p:cNvSpPr/>
          <p:nvPr/>
        </p:nvSpPr>
        <p:spPr>
          <a:xfrm>
            <a:off x="8375904"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13" name="Shape 511"/>
          <p:cNvSpPr/>
          <p:nvPr/>
        </p:nvSpPr>
        <p:spPr>
          <a:xfrm>
            <a:off x="9546336" y="11064240"/>
            <a:ext cx="1170432" cy="384048"/>
          </a:xfrm>
          <a:prstGeom prst="rect">
            <a:avLst/>
          </a:prstGeom>
          <a:solidFill>
            <a:srgbClr val="FDE9C8"/>
          </a:solidFill>
          <a:ln w="12700">
            <a:solidFill>
              <a:srgbClr val="E0B080"/>
            </a:solidFill>
            <a:prstDash val="solid"/>
          </a:ln>
        </p:spPr>
      </p:sp>
      <p:sp>
        <p:nvSpPr>
          <p:cNvPr id="514" name="Text 512"/>
          <p:cNvSpPr/>
          <p:nvPr/>
        </p:nvSpPr>
        <p:spPr>
          <a:xfrm>
            <a:off x="9546336"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15" name="Shape 513"/>
          <p:cNvSpPr/>
          <p:nvPr/>
        </p:nvSpPr>
        <p:spPr>
          <a:xfrm>
            <a:off x="10716768" y="11064240"/>
            <a:ext cx="1170432" cy="384048"/>
          </a:xfrm>
          <a:prstGeom prst="rect">
            <a:avLst/>
          </a:prstGeom>
          <a:solidFill>
            <a:srgbClr val="FDE9C8"/>
          </a:solidFill>
          <a:ln w="12700">
            <a:solidFill>
              <a:srgbClr val="E0B080"/>
            </a:solidFill>
            <a:prstDash val="solid"/>
          </a:ln>
        </p:spPr>
      </p:sp>
      <p:sp>
        <p:nvSpPr>
          <p:cNvPr id="516" name="Text 514"/>
          <p:cNvSpPr/>
          <p:nvPr/>
        </p:nvSpPr>
        <p:spPr>
          <a:xfrm>
            <a:off x="10716768"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17" name="Shape 515"/>
          <p:cNvSpPr/>
          <p:nvPr/>
        </p:nvSpPr>
        <p:spPr>
          <a:xfrm>
            <a:off x="11887200" y="11064240"/>
            <a:ext cx="1170432" cy="384048"/>
          </a:xfrm>
          <a:prstGeom prst="rect">
            <a:avLst/>
          </a:prstGeom>
          <a:solidFill>
            <a:srgbClr val="FDE9C8"/>
          </a:solidFill>
          <a:ln w="12700">
            <a:solidFill>
              <a:srgbClr val="E0B080"/>
            </a:solidFill>
            <a:prstDash val="solid"/>
          </a:ln>
        </p:spPr>
      </p:sp>
      <p:sp>
        <p:nvSpPr>
          <p:cNvPr id="518" name="Text 516"/>
          <p:cNvSpPr/>
          <p:nvPr/>
        </p:nvSpPr>
        <p:spPr>
          <a:xfrm>
            <a:off x="11887200"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19" name="Shape 517"/>
          <p:cNvSpPr/>
          <p:nvPr/>
        </p:nvSpPr>
        <p:spPr>
          <a:xfrm>
            <a:off x="13057632" y="11064240"/>
            <a:ext cx="1170432" cy="384048"/>
          </a:xfrm>
          <a:prstGeom prst="rect">
            <a:avLst/>
          </a:prstGeom>
          <a:solidFill>
            <a:srgbClr val="FDE9C8"/>
          </a:solidFill>
          <a:ln w="12700">
            <a:solidFill>
              <a:srgbClr val="E0B080"/>
            </a:solidFill>
            <a:prstDash val="solid"/>
          </a:ln>
        </p:spPr>
      </p:sp>
      <p:sp>
        <p:nvSpPr>
          <p:cNvPr id="520" name="Text 518"/>
          <p:cNvSpPr/>
          <p:nvPr/>
        </p:nvSpPr>
        <p:spPr>
          <a:xfrm>
            <a:off x="13057632"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21" name="Shape 519"/>
          <p:cNvSpPr/>
          <p:nvPr/>
        </p:nvSpPr>
        <p:spPr>
          <a:xfrm>
            <a:off x="14228064" y="11064240"/>
            <a:ext cx="1170432" cy="384048"/>
          </a:xfrm>
          <a:prstGeom prst="rect">
            <a:avLst/>
          </a:prstGeom>
          <a:solidFill>
            <a:srgbClr val="FDE9C8"/>
          </a:solidFill>
          <a:ln w="12700">
            <a:solidFill>
              <a:srgbClr val="E0B080"/>
            </a:solidFill>
            <a:prstDash val="solid"/>
          </a:ln>
        </p:spPr>
      </p:sp>
      <p:sp>
        <p:nvSpPr>
          <p:cNvPr id="522" name="Text 520"/>
          <p:cNvSpPr/>
          <p:nvPr/>
        </p:nvSpPr>
        <p:spPr>
          <a:xfrm>
            <a:off x="14228064"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23" name="Shape 521"/>
          <p:cNvSpPr/>
          <p:nvPr/>
        </p:nvSpPr>
        <p:spPr>
          <a:xfrm>
            <a:off x="15398496" y="11064240"/>
            <a:ext cx="1170432" cy="384048"/>
          </a:xfrm>
          <a:prstGeom prst="rect">
            <a:avLst/>
          </a:prstGeom>
          <a:solidFill>
            <a:srgbClr val="FDE9C8"/>
          </a:solidFill>
          <a:ln w="12700">
            <a:solidFill>
              <a:srgbClr val="E0B080"/>
            </a:solidFill>
            <a:prstDash val="solid"/>
          </a:ln>
        </p:spPr>
      </p:sp>
      <p:sp>
        <p:nvSpPr>
          <p:cNvPr id="524" name="Text 522"/>
          <p:cNvSpPr/>
          <p:nvPr/>
        </p:nvSpPr>
        <p:spPr>
          <a:xfrm>
            <a:off x="15398496"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25" name="Shape 523"/>
          <p:cNvSpPr/>
          <p:nvPr/>
        </p:nvSpPr>
        <p:spPr>
          <a:xfrm>
            <a:off x="16568928" y="11064240"/>
            <a:ext cx="1170432" cy="384048"/>
          </a:xfrm>
          <a:prstGeom prst="rect">
            <a:avLst/>
          </a:prstGeom>
          <a:solidFill>
            <a:srgbClr val="FDE9C8"/>
          </a:solidFill>
          <a:ln w="12700">
            <a:solidFill>
              <a:srgbClr val="E0B080"/>
            </a:solidFill>
            <a:prstDash val="solid"/>
          </a:ln>
        </p:spPr>
      </p:sp>
      <p:sp>
        <p:nvSpPr>
          <p:cNvPr id="526" name="Text 524"/>
          <p:cNvSpPr/>
          <p:nvPr/>
        </p:nvSpPr>
        <p:spPr>
          <a:xfrm>
            <a:off x="16568928" y="11064240"/>
            <a:ext cx="1170432" cy="384048"/>
          </a:xfrm>
          <a:prstGeom prst="rect">
            <a:avLst/>
          </a:prstGeom>
          <a:noFill/>
          <a:ln/>
        </p:spPr>
        <p:txBody>
          <a:bodyPr wrap="square" lIns="0" tIns="0" rIns="50800" bIns="0" rtlCol="0" anchor="ctr"/>
          <a:lstStyle/>
          <a:p>
            <a:pPr algn="r"/>
            <a:r>
              <a:rPr lang="en-US" sz="1200" dirty="0">
                <a:solidFill>
                  <a:srgbClr val="111111"/>
                </a:solidFill>
              </a:rPr>
              <a:t>80%</a:t>
            </a:r>
            <a:endParaRPr lang="en-US" sz="1200" dirty="0"/>
          </a:p>
        </p:txBody>
      </p:sp>
      <p:sp>
        <p:nvSpPr>
          <p:cNvPr id="527" name="Shape 525"/>
          <p:cNvSpPr/>
          <p:nvPr/>
        </p:nvSpPr>
        <p:spPr>
          <a:xfrm>
            <a:off x="17739360" y="11064240"/>
            <a:ext cx="1170432" cy="384048"/>
          </a:xfrm>
          <a:prstGeom prst="rect">
            <a:avLst/>
          </a:prstGeom>
          <a:solidFill>
            <a:srgbClr val="FDE9C8"/>
          </a:solidFill>
          <a:ln w="12700">
            <a:solidFill>
              <a:srgbClr val="E0B080"/>
            </a:solidFill>
            <a:prstDash val="solid"/>
          </a:ln>
        </p:spPr>
      </p:sp>
      <p:sp>
        <p:nvSpPr>
          <p:cNvPr id="528" name="Text 526"/>
          <p:cNvSpPr/>
          <p:nvPr/>
        </p:nvSpPr>
        <p:spPr>
          <a:xfrm>
            <a:off x="17739360" y="11064240"/>
            <a:ext cx="1170432" cy="384048"/>
          </a:xfrm>
          <a:prstGeom prst="rect">
            <a:avLst/>
          </a:prstGeom>
          <a:noFill/>
          <a:ln/>
        </p:spPr>
        <p:txBody>
          <a:bodyPr wrap="square" lIns="0" tIns="0" rIns="50800" bIns="0" rtlCol="0" anchor="ctr"/>
          <a:lstStyle/>
          <a:p>
            <a:pPr algn="r"/>
            <a:endParaRPr lang="en-US" sz="1200" dirty="0"/>
          </a:p>
        </p:txBody>
      </p:sp>
      <p:sp>
        <p:nvSpPr>
          <p:cNvPr id="529" name="Shape 527"/>
          <p:cNvSpPr/>
          <p:nvPr/>
        </p:nvSpPr>
        <p:spPr>
          <a:xfrm>
            <a:off x="548640" y="11448288"/>
            <a:ext cx="3145536" cy="384048"/>
          </a:xfrm>
          <a:prstGeom prst="rect">
            <a:avLst/>
          </a:prstGeom>
          <a:solidFill>
            <a:srgbClr val="F5C78E"/>
          </a:solidFill>
          <a:ln w="12700">
            <a:solidFill>
              <a:srgbClr val="E0B080"/>
            </a:solidFill>
            <a:prstDash val="solid"/>
          </a:ln>
        </p:spPr>
      </p:sp>
      <p:sp>
        <p:nvSpPr>
          <p:cNvPr id="530" name="Text 528"/>
          <p:cNvSpPr/>
          <p:nvPr/>
        </p:nvSpPr>
        <p:spPr>
          <a:xfrm>
            <a:off x="621792" y="11448288"/>
            <a:ext cx="3035808" cy="384048"/>
          </a:xfrm>
          <a:prstGeom prst="rect">
            <a:avLst/>
          </a:prstGeom>
          <a:noFill/>
          <a:ln/>
        </p:spPr>
        <p:txBody>
          <a:bodyPr wrap="square" rtlCol="0" anchor="ctr"/>
          <a:lstStyle/>
          <a:p>
            <a:r>
              <a:rPr lang="en-US" sz="1300" dirty="0">
                <a:solidFill>
                  <a:srgbClr val="111111"/>
                </a:solidFill>
              </a:rPr>
              <a:t>Net profit margin</a:t>
            </a:r>
            <a:endParaRPr lang="en-US" sz="1300" dirty="0"/>
          </a:p>
        </p:txBody>
      </p:sp>
      <p:sp>
        <p:nvSpPr>
          <p:cNvPr id="531" name="Shape 529"/>
          <p:cNvSpPr/>
          <p:nvPr/>
        </p:nvSpPr>
        <p:spPr>
          <a:xfrm>
            <a:off x="3694176" y="11448288"/>
            <a:ext cx="1170432" cy="384048"/>
          </a:xfrm>
          <a:prstGeom prst="rect">
            <a:avLst/>
          </a:prstGeom>
          <a:solidFill>
            <a:srgbClr val="F5C78E"/>
          </a:solidFill>
          <a:ln w="12700">
            <a:solidFill>
              <a:srgbClr val="E0B080"/>
            </a:solidFill>
            <a:prstDash val="solid"/>
          </a:ln>
        </p:spPr>
      </p:sp>
      <p:sp>
        <p:nvSpPr>
          <p:cNvPr id="532" name="Text 530"/>
          <p:cNvSpPr/>
          <p:nvPr/>
        </p:nvSpPr>
        <p:spPr>
          <a:xfrm>
            <a:off x="3694176" y="11448288"/>
            <a:ext cx="1170432" cy="384048"/>
          </a:xfrm>
          <a:prstGeom prst="rect">
            <a:avLst/>
          </a:prstGeom>
          <a:noFill/>
          <a:ln/>
        </p:spPr>
        <p:txBody>
          <a:bodyPr wrap="square" lIns="0" tIns="0" rIns="50800" bIns="0" rtlCol="0" anchor="ctr"/>
          <a:lstStyle/>
          <a:p>
            <a:pPr algn="r"/>
            <a:endParaRPr lang="en-US" sz="1200" dirty="0"/>
          </a:p>
        </p:txBody>
      </p:sp>
      <p:sp>
        <p:nvSpPr>
          <p:cNvPr id="533" name="Shape 531"/>
          <p:cNvSpPr/>
          <p:nvPr/>
        </p:nvSpPr>
        <p:spPr>
          <a:xfrm>
            <a:off x="4864608" y="11448288"/>
            <a:ext cx="1170432" cy="384048"/>
          </a:xfrm>
          <a:prstGeom prst="rect">
            <a:avLst/>
          </a:prstGeom>
          <a:solidFill>
            <a:srgbClr val="F5C78E"/>
          </a:solidFill>
          <a:ln w="12700">
            <a:solidFill>
              <a:srgbClr val="E0B080"/>
            </a:solidFill>
            <a:prstDash val="solid"/>
          </a:ln>
        </p:spPr>
      </p:sp>
      <p:sp>
        <p:nvSpPr>
          <p:cNvPr id="534" name="Text 532"/>
          <p:cNvSpPr/>
          <p:nvPr/>
        </p:nvSpPr>
        <p:spPr>
          <a:xfrm>
            <a:off x="4864608" y="11448288"/>
            <a:ext cx="1170432" cy="384048"/>
          </a:xfrm>
          <a:prstGeom prst="rect">
            <a:avLst/>
          </a:prstGeom>
          <a:noFill/>
          <a:ln/>
        </p:spPr>
        <p:txBody>
          <a:bodyPr wrap="square" lIns="0" tIns="0" rIns="50800" bIns="0" rtlCol="0" anchor="ctr"/>
          <a:lstStyle/>
          <a:p>
            <a:pPr algn="r"/>
            <a:endParaRPr lang="en-US" sz="1200" dirty="0"/>
          </a:p>
        </p:txBody>
      </p:sp>
      <p:sp>
        <p:nvSpPr>
          <p:cNvPr id="535" name="Shape 533"/>
          <p:cNvSpPr/>
          <p:nvPr/>
        </p:nvSpPr>
        <p:spPr>
          <a:xfrm>
            <a:off x="6035040" y="11448288"/>
            <a:ext cx="1170432" cy="384048"/>
          </a:xfrm>
          <a:prstGeom prst="rect">
            <a:avLst/>
          </a:prstGeom>
          <a:solidFill>
            <a:srgbClr val="F5C78E"/>
          </a:solidFill>
          <a:ln w="12700">
            <a:solidFill>
              <a:srgbClr val="E0B080"/>
            </a:solidFill>
            <a:prstDash val="solid"/>
          </a:ln>
        </p:spPr>
      </p:sp>
      <p:sp>
        <p:nvSpPr>
          <p:cNvPr id="536" name="Text 534"/>
          <p:cNvSpPr/>
          <p:nvPr/>
        </p:nvSpPr>
        <p:spPr>
          <a:xfrm>
            <a:off x="6035040" y="11448288"/>
            <a:ext cx="1170432" cy="384048"/>
          </a:xfrm>
          <a:prstGeom prst="rect">
            <a:avLst/>
          </a:prstGeom>
          <a:noFill/>
          <a:ln/>
        </p:spPr>
        <p:txBody>
          <a:bodyPr wrap="square" lIns="0" tIns="0" rIns="50800" bIns="0" rtlCol="0" anchor="ctr"/>
          <a:lstStyle/>
          <a:p>
            <a:pPr algn="r"/>
            <a:endParaRPr lang="en-US" sz="1200" dirty="0"/>
          </a:p>
        </p:txBody>
      </p:sp>
      <p:sp>
        <p:nvSpPr>
          <p:cNvPr id="537" name="Shape 535"/>
          <p:cNvSpPr/>
          <p:nvPr/>
        </p:nvSpPr>
        <p:spPr>
          <a:xfrm>
            <a:off x="7205472" y="11448288"/>
            <a:ext cx="1170432" cy="384048"/>
          </a:xfrm>
          <a:prstGeom prst="rect">
            <a:avLst/>
          </a:prstGeom>
          <a:solidFill>
            <a:srgbClr val="F5C78E"/>
          </a:solidFill>
          <a:ln w="12700">
            <a:solidFill>
              <a:srgbClr val="E0B080"/>
            </a:solidFill>
            <a:prstDash val="solid"/>
          </a:ln>
        </p:spPr>
      </p:sp>
      <p:sp>
        <p:nvSpPr>
          <p:cNvPr id="538" name="Text 536"/>
          <p:cNvSpPr/>
          <p:nvPr/>
        </p:nvSpPr>
        <p:spPr>
          <a:xfrm>
            <a:off x="7205472" y="11448288"/>
            <a:ext cx="1170432" cy="384048"/>
          </a:xfrm>
          <a:prstGeom prst="rect">
            <a:avLst/>
          </a:prstGeom>
          <a:noFill/>
          <a:ln/>
        </p:spPr>
        <p:txBody>
          <a:bodyPr wrap="square" lIns="0" tIns="0" rIns="50800" bIns="0" rtlCol="0" anchor="ctr"/>
          <a:lstStyle/>
          <a:p>
            <a:pPr algn="r"/>
            <a:r>
              <a:rPr lang="en-US" sz="1200" dirty="0">
                <a:solidFill>
                  <a:srgbClr val="111111"/>
                </a:solidFill>
              </a:rPr>
              <a:t>26%</a:t>
            </a:r>
            <a:endParaRPr lang="en-US" sz="1200" dirty="0"/>
          </a:p>
        </p:txBody>
      </p:sp>
      <p:sp>
        <p:nvSpPr>
          <p:cNvPr id="539" name="Shape 537"/>
          <p:cNvSpPr/>
          <p:nvPr/>
        </p:nvSpPr>
        <p:spPr>
          <a:xfrm>
            <a:off x="8375904" y="11448288"/>
            <a:ext cx="1170432" cy="384048"/>
          </a:xfrm>
          <a:prstGeom prst="rect">
            <a:avLst/>
          </a:prstGeom>
          <a:solidFill>
            <a:srgbClr val="F5C78E"/>
          </a:solidFill>
          <a:ln w="12700">
            <a:solidFill>
              <a:srgbClr val="E0B080"/>
            </a:solidFill>
            <a:prstDash val="solid"/>
          </a:ln>
        </p:spPr>
      </p:sp>
      <p:sp>
        <p:nvSpPr>
          <p:cNvPr id="540" name="Text 538"/>
          <p:cNvSpPr/>
          <p:nvPr/>
        </p:nvSpPr>
        <p:spPr>
          <a:xfrm>
            <a:off x="8375904" y="11448288"/>
            <a:ext cx="1170432" cy="384048"/>
          </a:xfrm>
          <a:prstGeom prst="rect">
            <a:avLst/>
          </a:prstGeom>
          <a:noFill/>
          <a:ln/>
        </p:spPr>
        <p:txBody>
          <a:bodyPr wrap="square" lIns="0" tIns="0" rIns="50800" bIns="0" rtlCol="0" anchor="ctr"/>
          <a:lstStyle/>
          <a:p>
            <a:pPr algn="r"/>
            <a:r>
              <a:rPr lang="en-US" sz="1200" dirty="0">
                <a:solidFill>
                  <a:srgbClr val="111111"/>
                </a:solidFill>
              </a:rPr>
              <a:t>46%</a:t>
            </a:r>
            <a:endParaRPr lang="en-US" sz="1200" dirty="0"/>
          </a:p>
        </p:txBody>
      </p:sp>
      <p:sp>
        <p:nvSpPr>
          <p:cNvPr id="541" name="Shape 539"/>
          <p:cNvSpPr/>
          <p:nvPr/>
        </p:nvSpPr>
        <p:spPr>
          <a:xfrm>
            <a:off x="9546336" y="11448288"/>
            <a:ext cx="1170432" cy="384048"/>
          </a:xfrm>
          <a:prstGeom prst="rect">
            <a:avLst/>
          </a:prstGeom>
          <a:solidFill>
            <a:srgbClr val="F5C78E"/>
          </a:solidFill>
          <a:ln w="12700">
            <a:solidFill>
              <a:srgbClr val="E0B080"/>
            </a:solidFill>
            <a:prstDash val="solid"/>
          </a:ln>
        </p:spPr>
      </p:sp>
      <p:sp>
        <p:nvSpPr>
          <p:cNvPr id="542" name="Text 540"/>
          <p:cNvSpPr/>
          <p:nvPr/>
        </p:nvSpPr>
        <p:spPr>
          <a:xfrm>
            <a:off x="9546336" y="11448288"/>
            <a:ext cx="1170432" cy="384048"/>
          </a:xfrm>
          <a:prstGeom prst="rect">
            <a:avLst/>
          </a:prstGeom>
          <a:noFill/>
          <a:ln/>
        </p:spPr>
        <p:txBody>
          <a:bodyPr wrap="square" lIns="0" tIns="0" rIns="50800" bIns="0" rtlCol="0" anchor="ctr"/>
          <a:lstStyle/>
          <a:p>
            <a:pPr algn="r"/>
            <a:r>
              <a:rPr lang="en-US" sz="1200" dirty="0">
                <a:solidFill>
                  <a:srgbClr val="111111"/>
                </a:solidFill>
              </a:rPr>
              <a:t>57%</a:t>
            </a:r>
            <a:endParaRPr lang="en-US" sz="1200" dirty="0"/>
          </a:p>
        </p:txBody>
      </p:sp>
      <p:sp>
        <p:nvSpPr>
          <p:cNvPr id="543" name="Shape 541"/>
          <p:cNvSpPr/>
          <p:nvPr/>
        </p:nvSpPr>
        <p:spPr>
          <a:xfrm>
            <a:off x="10716768" y="11448288"/>
            <a:ext cx="1170432" cy="384048"/>
          </a:xfrm>
          <a:prstGeom prst="rect">
            <a:avLst/>
          </a:prstGeom>
          <a:solidFill>
            <a:srgbClr val="F5C78E"/>
          </a:solidFill>
          <a:ln w="12700">
            <a:solidFill>
              <a:srgbClr val="E0B080"/>
            </a:solidFill>
            <a:prstDash val="solid"/>
          </a:ln>
        </p:spPr>
      </p:sp>
      <p:sp>
        <p:nvSpPr>
          <p:cNvPr id="544" name="Text 542"/>
          <p:cNvSpPr/>
          <p:nvPr/>
        </p:nvSpPr>
        <p:spPr>
          <a:xfrm>
            <a:off x="10716768" y="11448288"/>
            <a:ext cx="1170432" cy="384048"/>
          </a:xfrm>
          <a:prstGeom prst="rect">
            <a:avLst/>
          </a:prstGeom>
          <a:noFill/>
          <a:ln/>
        </p:spPr>
        <p:txBody>
          <a:bodyPr wrap="square" lIns="0" tIns="0" rIns="50800" bIns="0" rtlCol="0" anchor="ctr"/>
          <a:lstStyle/>
          <a:p>
            <a:pPr algn="r"/>
            <a:r>
              <a:rPr lang="en-US" sz="1200" dirty="0">
                <a:solidFill>
                  <a:srgbClr val="111111"/>
                </a:solidFill>
              </a:rPr>
              <a:t>64%</a:t>
            </a:r>
            <a:endParaRPr lang="en-US" sz="1200" dirty="0"/>
          </a:p>
        </p:txBody>
      </p:sp>
      <p:sp>
        <p:nvSpPr>
          <p:cNvPr id="545" name="Shape 543"/>
          <p:cNvSpPr/>
          <p:nvPr/>
        </p:nvSpPr>
        <p:spPr>
          <a:xfrm>
            <a:off x="11887200" y="11448288"/>
            <a:ext cx="1170432" cy="384048"/>
          </a:xfrm>
          <a:prstGeom prst="rect">
            <a:avLst/>
          </a:prstGeom>
          <a:solidFill>
            <a:srgbClr val="F5C78E"/>
          </a:solidFill>
          <a:ln w="12700">
            <a:solidFill>
              <a:srgbClr val="E0B080"/>
            </a:solidFill>
            <a:prstDash val="solid"/>
          </a:ln>
        </p:spPr>
      </p:sp>
      <p:sp>
        <p:nvSpPr>
          <p:cNvPr id="546" name="Text 544"/>
          <p:cNvSpPr/>
          <p:nvPr/>
        </p:nvSpPr>
        <p:spPr>
          <a:xfrm>
            <a:off x="11887200" y="11448288"/>
            <a:ext cx="1170432" cy="384048"/>
          </a:xfrm>
          <a:prstGeom prst="rect">
            <a:avLst/>
          </a:prstGeom>
          <a:noFill/>
          <a:ln/>
        </p:spPr>
        <p:txBody>
          <a:bodyPr wrap="square" lIns="0" tIns="0" rIns="50800" bIns="0" rtlCol="0" anchor="ctr"/>
          <a:lstStyle/>
          <a:p>
            <a:pPr algn="r"/>
            <a:r>
              <a:rPr lang="en-US" sz="1200" dirty="0">
                <a:solidFill>
                  <a:srgbClr val="111111"/>
                </a:solidFill>
              </a:rPr>
              <a:t>68%</a:t>
            </a:r>
            <a:endParaRPr lang="en-US" sz="1200" dirty="0"/>
          </a:p>
        </p:txBody>
      </p:sp>
      <p:sp>
        <p:nvSpPr>
          <p:cNvPr id="547" name="Shape 545"/>
          <p:cNvSpPr/>
          <p:nvPr/>
        </p:nvSpPr>
        <p:spPr>
          <a:xfrm>
            <a:off x="13057632" y="11448288"/>
            <a:ext cx="1170432" cy="384048"/>
          </a:xfrm>
          <a:prstGeom prst="rect">
            <a:avLst/>
          </a:prstGeom>
          <a:solidFill>
            <a:srgbClr val="F5C78E"/>
          </a:solidFill>
          <a:ln w="12700">
            <a:solidFill>
              <a:srgbClr val="E0B080"/>
            </a:solidFill>
            <a:prstDash val="solid"/>
          </a:ln>
        </p:spPr>
      </p:sp>
      <p:sp>
        <p:nvSpPr>
          <p:cNvPr id="548" name="Text 546"/>
          <p:cNvSpPr/>
          <p:nvPr/>
        </p:nvSpPr>
        <p:spPr>
          <a:xfrm>
            <a:off x="13057632" y="11448288"/>
            <a:ext cx="1170432" cy="384048"/>
          </a:xfrm>
          <a:prstGeom prst="rect">
            <a:avLst/>
          </a:prstGeom>
          <a:noFill/>
          <a:ln/>
        </p:spPr>
        <p:txBody>
          <a:bodyPr wrap="square" lIns="0" tIns="0" rIns="50800" bIns="0" rtlCol="0" anchor="ctr"/>
          <a:lstStyle/>
          <a:p>
            <a:pPr algn="r"/>
            <a:r>
              <a:rPr lang="en-US" sz="1200" dirty="0">
                <a:solidFill>
                  <a:srgbClr val="111111"/>
                </a:solidFill>
              </a:rPr>
              <a:t>71%</a:t>
            </a:r>
            <a:endParaRPr lang="en-US" sz="1200" dirty="0"/>
          </a:p>
        </p:txBody>
      </p:sp>
      <p:sp>
        <p:nvSpPr>
          <p:cNvPr id="549" name="Shape 547"/>
          <p:cNvSpPr/>
          <p:nvPr/>
        </p:nvSpPr>
        <p:spPr>
          <a:xfrm>
            <a:off x="14228064" y="11448288"/>
            <a:ext cx="1170432" cy="384048"/>
          </a:xfrm>
          <a:prstGeom prst="rect">
            <a:avLst/>
          </a:prstGeom>
          <a:solidFill>
            <a:srgbClr val="F5C78E"/>
          </a:solidFill>
          <a:ln w="12700">
            <a:solidFill>
              <a:srgbClr val="E0B080"/>
            </a:solidFill>
            <a:prstDash val="solid"/>
          </a:ln>
        </p:spPr>
      </p:sp>
      <p:sp>
        <p:nvSpPr>
          <p:cNvPr id="550" name="Text 548"/>
          <p:cNvSpPr/>
          <p:nvPr/>
        </p:nvSpPr>
        <p:spPr>
          <a:xfrm>
            <a:off x="14228064" y="11448288"/>
            <a:ext cx="1170432" cy="384048"/>
          </a:xfrm>
          <a:prstGeom prst="rect">
            <a:avLst/>
          </a:prstGeom>
          <a:noFill/>
          <a:ln/>
        </p:spPr>
        <p:txBody>
          <a:bodyPr wrap="square" lIns="0" tIns="0" rIns="50800" bIns="0" rtlCol="0" anchor="ctr"/>
          <a:lstStyle/>
          <a:p>
            <a:pPr algn="r"/>
            <a:r>
              <a:rPr lang="en-US" sz="1200" dirty="0">
                <a:solidFill>
                  <a:srgbClr val="111111"/>
                </a:solidFill>
              </a:rPr>
              <a:t>73%</a:t>
            </a:r>
            <a:endParaRPr lang="en-US" sz="1200" dirty="0"/>
          </a:p>
        </p:txBody>
      </p:sp>
      <p:sp>
        <p:nvSpPr>
          <p:cNvPr id="551" name="Shape 549"/>
          <p:cNvSpPr/>
          <p:nvPr/>
        </p:nvSpPr>
        <p:spPr>
          <a:xfrm>
            <a:off x="15398496" y="11448288"/>
            <a:ext cx="1170432" cy="384048"/>
          </a:xfrm>
          <a:prstGeom prst="rect">
            <a:avLst/>
          </a:prstGeom>
          <a:solidFill>
            <a:srgbClr val="F5C78E"/>
          </a:solidFill>
          <a:ln w="12700">
            <a:solidFill>
              <a:srgbClr val="E0B080"/>
            </a:solidFill>
            <a:prstDash val="solid"/>
          </a:ln>
        </p:spPr>
      </p:sp>
      <p:sp>
        <p:nvSpPr>
          <p:cNvPr id="552" name="Text 550"/>
          <p:cNvSpPr/>
          <p:nvPr/>
        </p:nvSpPr>
        <p:spPr>
          <a:xfrm>
            <a:off x="15398496" y="11448288"/>
            <a:ext cx="1170432" cy="384048"/>
          </a:xfrm>
          <a:prstGeom prst="rect">
            <a:avLst/>
          </a:prstGeom>
          <a:noFill/>
          <a:ln/>
        </p:spPr>
        <p:txBody>
          <a:bodyPr wrap="square" lIns="0" tIns="0" rIns="50800" bIns="0" rtlCol="0" anchor="ctr"/>
          <a:lstStyle/>
          <a:p>
            <a:pPr algn="r"/>
            <a:r>
              <a:rPr lang="en-US" sz="1200" dirty="0">
                <a:solidFill>
                  <a:srgbClr val="111111"/>
                </a:solidFill>
              </a:rPr>
              <a:t>74%</a:t>
            </a:r>
            <a:endParaRPr lang="en-US" sz="1200" dirty="0"/>
          </a:p>
        </p:txBody>
      </p:sp>
      <p:sp>
        <p:nvSpPr>
          <p:cNvPr id="553" name="Shape 551"/>
          <p:cNvSpPr/>
          <p:nvPr/>
        </p:nvSpPr>
        <p:spPr>
          <a:xfrm>
            <a:off x="16568928" y="11448288"/>
            <a:ext cx="1170432" cy="384048"/>
          </a:xfrm>
          <a:prstGeom prst="rect">
            <a:avLst/>
          </a:prstGeom>
          <a:solidFill>
            <a:srgbClr val="F5C78E"/>
          </a:solidFill>
          <a:ln w="12700">
            <a:solidFill>
              <a:srgbClr val="E0B080"/>
            </a:solidFill>
            <a:prstDash val="solid"/>
          </a:ln>
        </p:spPr>
      </p:sp>
      <p:sp>
        <p:nvSpPr>
          <p:cNvPr id="554" name="Text 552"/>
          <p:cNvSpPr/>
          <p:nvPr/>
        </p:nvSpPr>
        <p:spPr>
          <a:xfrm>
            <a:off x="16568928" y="11448288"/>
            <a:ext cx="1170432" cy="384048"/>
          </a:xfrm>
          <a:prstGeom prst="rect">
            <a:avLst/>
          </a:prstGeom>
          <a:noFill/>
          <a:ln/>
        </p:spPr>
        <p:txBody>
          <a:bodyPr wrap="square" lIns="0" tIns="0" rIns="50800" bIns="0" rtlCol="0" anchor="ctr"/>
          <a:lstStyle/>
          <a:p>
            <a:pPr algn="r"/>
            <a:r>
              <a:rPr lang="en-US" sz="1200" dirty="0">
                <a:solidFill>
                  <a:srgbClr val="111111"/>
                </a:solidFill>
              </a:rPr>
              <a:t>75%</a:t>
            </a:r>
            <a:endParaRPr lang="en-US" sz="1200" dirty="0"/>
          </a:p>
        </p:txBody>
      </p:sp>
      <p:sp>
        <p:nvSpPr>
          <p:cNvPr id="555" name="Shape 553"/>
          <p:cNvSpPr/>
          <p:nvPr/>
        </p:nvSpPr>
        <p:spPr>
          <a:xfrm>
            <a:off x="17739360" y="11448288"/>
            <a:ext cx="1170432" cy="384048"/>
          </a:xfrm>
          <a:prstGeom prst="rect">
            <a:avLst/>
          </a:prstGeom>
          <a:solidFill>
            <a:srgbClr val="F5C78E"/>
          </a:solidFill>
          <a:ln w="12700">
            <a:solidFill>
              <a:srgbClr val="E0B080"/>
            </a:solidFill>
            <a:prstDash val="solid"/>
          </a:ln>
        </p:spPr>
      </p:sp>
      <p:sp>
        <p:nvSpPr>
          <p:cNvPr id="556" name="Text 554"/>
          <p:cNvSpPr/>
          <p:nvPr/>
        </p:nvSpPr>
        <p:spPr>
          <a:xfrm>
            <a:off x="17739360" y="11448288"/>
            <a:ext cx="1170432" cy="384048"/>
          </a:xfrm>
          <a:prstGeom prst="rect">
            <a:avLst/>
          </a:prstGeom>
          <a:noFill/>
          <a:ln/>
        </p:spPr>
        <p:txBody>
          <a:bodyPr wrap="square" lIns="0" tIns="0" rIns="50800" bIns="0" rtlCol="0" anchor="ctr"/>
          <a:lstStyle/>
          <a:p>
            <a:pPr algn="r"/>
            <a:endParaRPr lang="en-US" sz="1200" dirty="0"/>
          </a:p>
        </p:txBody>
      </p:sp>
      <p:sp>
        <p:nvSpPr>
          <p:cNvPr id="557" name="Shape 555"/>
          <p:cNvSpPr/>
          <p:nvPr/>
        </p:nvSpPr>
        <p:spPr>
          <a:xfrm>
            <a:off x="524256" y="11921744"/>
            <a:ext cx="18361152" cy="950976"/>
          </a:xfrm>
          <a:prstGeom prst="rect">
            <a:avLst/>
          </a:prstGeom>
          <a:solidFill>
            <a:srgbClr val="FFFFFF"/>
          </a:solidFill>
          <a:ln w="12700">
            <a:solidFill>
              <a:srgbClr val="BBBBBB"/>
            </a:solidFill>
            <a:prstDash val="solid"/>
          </a:ln>
        </p:spPr>
      </p:sp>
      <p:sp>
        <p:nvSpPr>
          <p:cNvPr id="558" name="Text 556"/>
          <p:cNvSpPr/>
          <p:nvPr/>
        </p:nvSpPr>
        <p:spPr>
          <a:xfrm>
            <a:off x="694944" y="12051792"/>
            <a:ext cx="18068544" cy="804672"/>
          </a:xfrm>
          <a:prstGeom prst="rect">
            <a:avLst/>
          </a:prstGeom>
          <a:noFill/>
          <a:ln/>
        </p:spPr>
        <p:txBody>
          <a:bodyPr wrap="square" rtlCol="0" anchor="t"/>
          <a:lstStyle/>
          <a:p>
            <a:r>
              <a:rPr lang="en-US" sz="1500" dirty="0">
                <a:solidFill>
                  <a:srgbClr val="333333"/>
                </a:solidFill>
              </a:rPr>
              <a:t>Explanation:  Revenue begins Month 4 after MVP launch. We break even by Month 6–7. By Month 12, we hit ₹6L/month revenue with ~75% gross margin (SaaS model — low COGS, no physical inventory). Our only real costs are marketing (₹20K/month) and cloud infra (₹8K/month).</a:t>
            </a:r>
            <a:endParaRPr lang="en-US" sz="1500" dirty="0"/>
          </a:p>
        </p:txBody>
      </p:sp>
      <p:sp>
        <p:nvSpPr>
          <p:cNvPr id="560" name="Shape 558"/>
          <p:cNvSpPr/>
          <p:nvPr/>
        </p:nvSpPr>
        <p:spPr>
          <a:xfrm>
            <a:off x="-30480" y="13036296"/>
            <a:ext cx="3048000" cy="100584"/>
          </a:xfrm>
          <a:prstGeom prst="rect">
            <a:avLst/>
          </a:prstGeom>
          <a:solidFill>
            <a:srgbClr val="CC0000"/>
          </a:solidFill>
          <a:ln w="12700">
            <a:solidFill>
              <a:srgbClr val="CC0000"/>
            </a:solidFill>
            <a:prstDash val="solid"/>
          </a:ln>
        </p:spPr>
      </p:sp>
      <p:sp>
        <p:nvSpPr>
          <p:cNvPr id="561" name="Shape 559"/>
          <p:cNvSpPr/>
          <p:nvPr/>
        </p:nvSpPr>
        <p:spPr>
          <a:xfrm>
            <a:off x="3027680" y="13036296"/>
            <a:ext cx="3048000" cy="100584"/>
          </a:xfrm>
          <a:prstGeom prst="rect">
            <a:avLst/>
          </a:prstGeom>
          <a:solidFill>
            <a:srgbClr val="E8891A"/>
          </a:solidFill>
          <a:ln w="12700">
            <a:solidFill>
              <a:srgbClr val="E8891A"/>
            </a:solidFill>
            <a:prstDash val="solid"/>
          </a:ln>
        </p:spPr>
      </p:sp>
      <p:sp>
        <p:nvSpPr>
          <p:cNvPr id="562" name="Shape 560"/>
          <p:cNvSpPr/>
          <p:nvPr/>
        </p:nvSpPr>
        <p:spPr>
          <a:xfrm>
            <a:off x="9123680" y="13011912"/>
            <a:ext cx="3048000" cy="100584"/>
          </a:xfrm>
          <a:prstGeom prst="rect">
            <a:avLst/>
          </a:prstGeom>
          <a:solidFill>
            <a:srgbClr val="FFD966"/>
          </a:solidFill>
          <a:ln w="12700">
            <a:solidFill>
              <a:srgbClr val="FFD966"/>
            </a:solidFill>
            <a:prstDash val="solid"/>
          </a:ln>
        </p:spPr>
      </p:sp>
      <p:sp>
        <p:nvSpPr>
          <p:cNvPr id="563" name="Shape 561"/>
          <p:cNvSpPr/>
          <p:nvPr/>
        </p:nvSpPr>
        <p:spPr>
          <a:xfrm>
            <a:off x="6075680" y="13030200"/>
            <a:ext cx="3048000" cy="100584"/>
          </a:xfrm>
          <a:prstGeom prst="rect">
            <a:avLst/>
          </a:prstGeom>
          <a:solidFill>
            <a:srgbClr val="44AA44"/>
          </a:solidFill>
          <a:ln w="12700">
            <a:solidFill>
              <a:srgbClr val="44AA44"/>
            </a:solidFill>
            <a:prstDash val="solid"/>
          </a:ln>
        </p:spPr>
      </p:sp>
      <p:sp>
        <p:nvSpPr>
          <p:cNvPr id="564" name="Shape 562"/>
          <p:cNvSpPr/>
          <p:nvPr/>
        </p:nvSpPr>
        <p:spPr>
          <a:xfrm>
            <a:off x="12228576" y="13011912"/>
            <a:ext cx="3048000" cy="100584"/>
          </a:xfrm>
          <a:prstGeom prst="rect">
            <a:avLst/>
          </a:prstGeom>
          <a:solidFill>
            <a:srgbClr val="3366CC"/>
          </a:solidFill>
          <a:ln w="12700">
            <a:solidFill>
              <a:srgbClr val="3366CC"/>
            </a:solidFill>
            <a:prstDash val="solid"/>
          </a:ln>
        </p:spPr>
      </p:sp>
      <p:sp>
        <p:nvSpPr>
          <p:cNvPr id="565" name="Shape 563"/>
          <p:cNvSpPr/>
          <p:nvPr/>
        </p:nvSpPr>
        <p:spPr>
          <a:xfrm>
            <a:off x="15296896" y="13011912"/>
            <a:ext cx="3048000" cy="100584"/>
          </a:xfrm>
          <a:prstGeom prst="rect">
            <a:avLst/>
          </a:prstGeom>
          <a:solidFill>
            <a:srgbClr val="00AAAA"/>
          </a:solidFill>
          <a:ln w="12700">
            <a:solidFill>
              <a:srgbClr val="00AAAA"/>
            </a:solidFill>
            <a:prstDash val="solid"/>
          </a:ln>
        </p:spPr>
      </p:sp>
      <p:pic>
        <p:nvPicPr>
          <p:cNvPr id="559" name="Picture 558" descr="AUTOFIXAI">
            <a:extLst>
              <a:ext uri="{FF2B5EF4-FFF2-40B4-BE49-F238E27FC236}">
                <a16:creationId xmlns:a16="http://schemas.microsoft.com/office/drawing/2014/main" id="{49EB9164-E89B-8D6C-6110-F6DA8D46A4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36240" y="768096"/>
            <a:ext cx="2277699" cy="1371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DE34494-019C-4AF1-907B-33245967C575}"/>
              </a:ext>
            </a:extLst>
          </p:cNvPr>
          <p:cNvSpPr/>
          <p:nvPr/>
        </p:nvSpPr>
        <p:spPr>
          <a:xfrm>
            <a:off x="15925499" y="419100"/>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31" name="TextBox 30">
            <a:extLst>
              <a:ext uri="{FF2B5EF4-FFF2-40B4-BE49-F238E27FC236}">
                <a16:creationId xmlns:a16="http://schemas.microsoft.com/office/drawing/2014/main" id="{437D10F2-D825-4F14-8721-CF5105D60893}"/>
              </a:ext>
            </a:extLst>
          </p:cNvPr>
          <p:cNvSpPr txBox="1"/>
          <p:nvPr/>
        </p:nvSpPr>
        <p:spPr>
          <a:xfrm>
            <a:off x="16061632" y="803820"/>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7" name="TextBox 6"/>
          <p:cNvSpPr txBox="1"/>
          <p:nvPr/>
        </p:nvSpPr>
        <p:spPr>
          <a:xfrm>
            <a:off x="381000" y="419100"/>
            <a:ext cx="7924800" cy="2585323"/>
          </a:xfrm>
          <a:prstGeom prst="rect">
            <a:avLst/>
          </a:prstGeom>
          <a:noFill/>
        </p:spPr>
        <p:txBody>
          <a:bodyPr wrap="square" rtlCol="0">
            <a:spAutoFit/>
          </a:bodyPr>
          <a:lstStyle/>
          <a:p>
            <a:pPr defTabSz="685800"/>
            <a:r>
              <a:rPr lang="en-US" sz="5400" b="1" dirty="0">
                <a:solidFill>
                  <a:prstClr val="black">
                    <a:lumMod val="85000"/>
                    <a:lumOff val="15000"/>
                  </a:prstClr>
                </a:solidFill>
              </a:rPr>
              <a:t>Financial Projections</a:t>
            </a:r>
          </a:p>
          <a:p>
            <a:pPr defTabSz="685800"/>
            <a:endParaRPr lang="en-US" sz="5400" b="1" dirty="0">
              <a:solidFill>
                <a:prstClr val="black">
                  <a:lumMod val="85000"/>
                  <a:lumOff val="15000"/>
                </a:prstClr>
              </a:solidFill>
            </a:endParaRPr>
          </a:p>
          <a:p>
            <a:pPr defTabSz="685800"/>
            <a:endParaRPr lang="en-US" sz="5400" b="1" dirty="0">
              <a:solidFill>
                <a:prstClr val="black">
                  <a:lumMod val="85000"/>
                  <a:lumOff val="15000"/>
                </a:prstClr>
              </a:solidFill>
            </a:endParaRPr>
          </a:p>
        </p:txBody>
      </p:sp>
      <p:graphicFrame>
        <p:nvGraphicFramePr>
          <p:cNvPr id="3" name="Table 2">
            <a:extLst>
              <a:ext uri="{FF2B5EF4-FFF2-40B4-BE49-F238E27FC236}">
                <a16:creationId xmlns:a16="http://schemas.microsoft.com/office/drawing/2014/main" id="{58899197-8328-306E-DDD9-92A9E15D0909}"/>
              </a:ext>
            </a:extLst>
          </p:cNvPr>
          <p:cNvGraphicFramePr>
            <a:graphicFrameLocks noGrp="1"/>
          </p:cNvGraphicFramePr>
          <p:nvPr/>
        </p:nvGraphicFramePr>
        <p:xfrm>
          <a:off x="304800" y="1511061"/>
          <a:ext cx="10363200" cy="8398115"/>
        </p:xfrm>
        <a:graphic>
          <a:graphicData uri="http://schemas.openxmlformats.org/drawingml/2006/table">
            <a:tbl>
              <a:tblPr/>
              <a:tblGrid>
                <a:gridCol w="1752600">
                  <a:extLst>
                    <a:ext uri="{9D8B030D-6E8A-4147-A177-3AD203B41FA5}">
                      <a16:colId xmlns:a16="http://schemas.microsoft.com/office/drawing/2014/main" val="2104468446"/>
                    </a:ext>
                  </a:extLst>
                </a:gridCol>
                <a:gridCol w="1701800">
                  <a:extLst>
                    <a:ext uri="{9D8B030D-6E8A-4147-A177-3AD203B41FA5}">
                      <a16:colId xmlns:a16="http://schemas.microsoft.com/office/drawing/2014/main" val="2916981384"/>
                    </a:ext>
                  </a:extLst>
                </a:gridCol>
                <a:gridCol w="1727200">
                  <a:extLst>
                    <a:ext uri="{9D8B030D-6E8A-4147-A177-3AD203B41FA5}">
                      <a16:colId xmlns:a16="http://schemas.microsoft.com/office/drawing/2014/main" val="1386250712"/>
                    </a:ext>
                  </a:extLst>
                </a:gridCol>
                <a:gridCol w="1727200">
                  <a:extLst>
                    <a:ext uri="{9D8B030D-6E8A-4147-A177-3AD203B41FA5}">
                      <a16:colId xmlns:a16="http://schemas.microsoft.com/office/drawing/2014/main" val="649867180"/>
                    </a:ext>
                  </a:extLst>
                </a:gridCol>
                <a:gridCol w="1701800">
                  <a:extLst>
                    <a:ext uri="{9D8B030D-6E8A-4147-A177-3AD203B41FA5}">
                      <a16:colId xmlns:a16="http://schemas.microsoft.com/office/drawing/2014/main" val="2717581877"/>
                    </a:ext>
                  </a:extLst>
                </a:gridCol>
                <a:gridCol w="1752600">
                  <a:extLst>
                    <a:ext uri="{9D8B030D-6E8A-4147-A177-3AD203B41FA5}">
                      <a16:colId xmlns:a16="http://schemas.microsoft.com/office/drawing/2014/main" val="1207163970"/>
                    </a:ext>
                  </a:extLst>
                </a:gridCol>
              </a:tblGrid>
              <a:tr h="262578">
                <a:tc>
                  <a:txBody>
                    <a:bodyPr/>
                    <a:lstStyle/>
                    <a:p>
                      <a:pPr>
                        <a:buNone/>
                      </a:pPr>
                      <a:r>
                        <a:rPr lang="en-IN" sz="1800" dirty="0"/>
                        <a:t>Particulars</a:t>
                      </a:r>
                    </a:p>
                  </a:txBody>
                  <a:tcPr marL="40053" marR="40053" marT="20026" marB="20026" anchor="ctr">
                    <a:lnL>
                      <a:noFill/>
                    </a:lnL>
                    <a:lnR>
                      <a:noFill/>
                    </a:lnR>
                    <a:lnT>
                      <a:noFill/>
                    </a:lnT>
                    <a:lnB>
                      <a:noFill/>
                    </a:lnB>
                    <a:solidFill>
                      <a:srgbClr val="FFFFCC"/>
                    </a:solidFill>
                  </a:tcPr>
                </a:tc>
                <a:tc>
                  <a:txBody>
                    <a:bodyPr/>
                    <a:lstStyle/>
                    <a:p>
                      <a:pPr>
                        <a:buNone/>
                      </a:pPr>
                      <a:r>
                        <a:rPr lang="en-IN" sz="1800" dirty="0"/>
                        <a:t>Year 1</a:t>
                      </a:r>
                    </a:p>
                  </a:txBody>
                  <a:tcPr marL="40053" marR="40053" marT="20026" marB="20026" anchor="ctr">
                    <a:lnL>
                      <a:noFill/>
                    </a:lnL>
                    <a:lnR>
                      <a:noFill/>
                    </a:lnR>
                    <a:lnT>
                      <a:noFill/>
                    </a:lnT>
                    <a:lnB>
                      <a:noFill/>
                    </a:lnB>
                    <a:solidFill>
                      <a:srgbClr val="FFC000"/>
                    </a:solidFill>
                  </a:tcPr>
                </a:tc>
                <a:tc>
                  <a:txBody>
                    <a:bodyPr/>
                    <a:lstStyle/>
                    <a:p>
                      <a:pPr>
                        <a:buNone/>
                      </a:pPr>
                      <a:r>
                        <a:rPr lang="en-IN" sz="1800" dirty="0"/>
                        <a:t>Year 2</a:t>
                      </a:r>
                    </a:p>
                  </a:txBody>
                  <a:tcPr marL="40053" marR="40053" marT="20026" marB="20026" anchor="ctr">
                    <a:lnL>
                      <a:noFill/>
                    </a:lnL>
                    <a:lnR>
                      <a:noFill/>
                    </a:lnR>
                    <a:lnT>
                      <a:noFill/>
                    </a:lnT>
                    <a:lnB>
                      <a:noFill/>
                    </a:lnB>
                    <a:solidFill>
                      <a:srgbClr val="FFC000"/>
                    </a:solidFill>
                  </a:tcPr>
                </a:tc>
                <a:tc>
                  <a:txBody>
                    <a:bodyPr/>
                    <a:lstStyle/>
                    <a:p>
                      <a:pPr>
                        <a:buNone/>
                      </a:pPr>
                      <a:r>
                        <a:rPr lang="en-IN" sz="1800" dirty="0"/>
                        <a:t>Year 3</a:t>
                      </a:r>
                    </a:p>
                  </a:txBody>
                  <a:tcPr marL="40053" marR="40053" marT="20026" marB="20026" anchor="ctr">
                    <a:lnL>
                      <a:noFill/>
                    </a:lnL>
                    <a:lnR>
                      <a:noFill/>
                    </a:lnR>
                    <a:lnT>
                      <a:noFill/>
                    </a:lnT>
                    <a:lnB>
                      <a:noFill/>
                    </a:lnB>
                    <a:solidFill>
                      <a:srgbClr val="FFC000"/>
                    </a:solidFill>
                  </a:tcPr>
                </a:tc>
                <a:tc>
                  <a:txBody>
                    <a:bodyPr/>
                    <a:lstStyle/>
                    <a:p>
                      <a:pPr>
                        <a:buNone/>
                      </a:pPr>
                      <a:r>
                        <a:rPr lang="en-IN" sz="1800" dirty="0"/>
                        <a:t>Year 4</a:t>
                      </a:r>
                    </a:p>
                  </a:txBody>
                  <a:tcPr marL="40053" marR="40053" marT="20026" marB="20026" anchor="ctr">
                    <a:lnL>
                      <a:noFill/>
                    </a:lnL>
                    <a:lnR>
                      <a:noFill/>
                    </a:lnR>
                    <a:lnT>
                      <a:noFill/>
                    </a:lnT>
                    <a:lnB>
                      <a:noFill/>
                    </a:lnB>
                    <a:solidFill>
                      <a:srgbClr val="FFC000"/>
                    </a:solidFill>
                  </a:tcPr>
                </a:tc>
                <a:tc>
                  <a:txBody>
                    <a:bodyPr/>
                    <a:lstStyle/>
                    <a:p>
                      <a:pPr>
                        <a:buNone/>
                      </a:pPr>
                      <a:r>
                        <a:rPr lang="en-IN" sz="1800" dirty="0"/>
                        <a:t>Year 5</a:t>
                      </a:r>
                    </a:p>
                  </a:txBody>
                  <a:tcPr marL="40053" marR="40053" marT="20026" marB="20026" anchor="ctr">
                    <a:lnL>
                      <a:noFill/>
                    </a:lnL>
                    <a:lnR>
                      <a:noFill/>
                    </a:lnR>
                    <a:lnT>
                      <a:noFill/>
                    </a:lnT>
                    <a:lnB>
                      <a:noFill/>
                    </a:lnB>
                    <a:solidFill>
                      <a:srgbClr val="FFC000"/>
                    </a:solidFill>
                  </a:tcPr>
                </a:tc>
                <a:extLst>
                  <a:ext uri="{0D108BD9-81ED-4DB2-BD59-A6C34878D82A}">
                    <a16:rowId xmlns:a16="http://schemas.microsoft.com/office/drawing/2014/main" val="2597091352"/>
                  </a:ext>
                </a:extLst>
              </a:tr>
              <a:tr h="491702">
                <a:tc>
                  <a:txBody>
                    <a:bodyPr/>
                    <a:lstStyle/>
                    <a:p>
                      <a:pPr>
                        <a:buNone/>
                      </a:pPr>
                      <a:r>
                        <a:rPr lang="en-IN" sz="1800" b="1" dirty="0"/>
                        <a:t>Number of sales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dirty="0"/>
                        <a:t>500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1,500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3,000</a:t>
                      </a:r>
                    </a:p>
                  </a:txBody>
                  <a:tcPr marL="40053" marR="40053" marT="20026" marB="20026" anchor="ctr">
                    <a:lnL>
                      <a:noFill/>
                    </a:lnL>
                    <a:lnR>
                      <a:noFill/>
                    </a:lnR>
                    <a:lnT>
                      <a:noFill/>
                    </a:lnT>
                    <a:lnB>
                      <a:noFill/>
                    </a:lnB>
                    <a:solidFill>
                      <a:srgbClr val="FF9933"/>
                    </a:solidFill>
                  </a:tcPr>
                </a:tc>
                <a:tc>
                  <a:txBody>
                    <a:bodyPr/>
                    <a:lstStyle/>
                    <a:p>
                      <a:pPr>
                        <a:buNone/>
                      </a:pPr>
                      <a:r>
                        <a:rPr lang="en-IN" sz="1800"/>
                        <a:t>6,000</a:t>
                      </a:r>
                    </a:p>
                  </a:txBody>
                  <a:tcPr marL="40053" marR="40053" marT="20026" marB="20026" anchor="ctr">
                    <a:lnL>
                      <a:noFill/>
                    </a:lnL>
                    <a:lnR>
                      <a:noFill/>
                    </a:lnR>
                    <a:lnT>
                      <a:noFill/>
                    </a:lnT>
                    <a:lnB>
                      <a:noFill/>
                    </a:lnB>
                    <a:solidFill>
                      <a:srgbClr val="FF9933"/>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32514098"/>
                  </a:ext>
                </a:extLst>
              </a:tr>
              <a:tr h="491702">
                <a:tc>
                  <a:txBody>
                    <a:bodyPr/>
                    <a:lstStyle/>
                    <a:p>
                      <a:pPr>
                        <a:buNone/>
                      </a:pPr>
                      <a:r>
                        <a:rPr lang="en-IN" sz="1800" b="1" dirty="0"/>
                        <a:t>Value of each sale (₹)</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dirty="0"/>
                        <a:t>499</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499</a:t>
                      </a:r>
                    </a:p>
                  </a:txBody>
                  <a:tcPr marL="40053" marR="40053" marT="20026" marB="20026" anchor="ctr">
                    <a:lnL>
                      <a:noFill/>
                    </a:lnL>
                    <a:lnR>
                      <a:noFill/>
                    </a:lnR>
                    <a:lnT>
                      <a:noFill/>
                    </a:lnT>
                    <a:lnB>
                      <a:noFill/>
                    </a:lnB>
                    <a:solidFill>
                      <a:srgbClr val="FF9933"/>
                    </a:solidFill>
                  </a:tcPr>
                </a:tc>
                <a:tc>
                  <a:txBody>
                    <a:bodyPr/>
                    <a:lstStyle/>
                    <a:p>
                      <a:pPr>
                        <a:buNone/>
                      </a:pPr>
                      <a:r>
                        <a:rPr lang="en-IN" sz="1800"/>
                        <a:t>499</a:t>
                      </a:r>
                    </a:p>
                  </a:txBody>
                  <a:tcPr marL="40053" marR="40053" marT="20026" marB="20026" anchor="ctr">
                    <a:lnL>
                      <a:noFill/>
                    </a:lnL>
                    <a:lnR>
                      <a:noFill/>
                    </a:lnR>
                    <a:lnT>
                      <a:noFill/>
                    </a:lnT>
                    <a:lnB>
                      <a:noFill/>
                    </a:lnB>
                    <a:solidFill>
                      <a:srgbClr val="FF9933"/>
                    </a:solidFill>
                  </a:tcPr>
                </a:tc>
                <a:tc>
                  <a:txBody>
                    <a:bodyPr/>
                    <a:lstStyle/>
                    <a:p>
                      <a:pPr>
                        <a:buNone/>
                      </a:pPr>
                      <a:r>
                        <a:rPr lang="en-IN" sz="1800"/>
                        <a:t>499</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499</a:t>
                      </a:r>
                    </a:p>
                  </a:txBody>
                  <a:tcPr marL="40053" marR="40053" marT="20026" marB="20026" anchor="ctr">
                    <a:lnL>
                      <a:noFill/>
                    </a:lnL>
                    <a:lnR>
                      <a:noFill/>
                    </a:lnR>
                    <a:lnT>
                      <a:noFill/>
                    </a:lnT>
                    <a:lnB w="12700" cap="flat" cmpd="sng" algn="ctr">
                      <a:solidFill>
                        <a:schemeClr val="tx1"/>
                      </a:solidFill>
                      <a:prstDash val="solid"/>
                      <a:round/>
                      <a:headEnd type="none" w="med" len="med"/>
                      <a:tailEnd type="none" w="med" len="med"/>
                    </a:lnB>
                    <a:solidFill>
                      <a:srgbClr val="FF9933"/>
                    </a:solidFill>
                  </a:tcPr>
                </a:tc>
                <a:extLst>
                  <a:ext uri="{0D108BD9-81ED-4DB2-BD59-A6C34878D82A}">
                    <a16:rowId xmlns:a16="http://schemas.microsoft.com/office/drawing/2014/main" val="3620067276"/>
                  </a:ext>
                </a:extLst>
              </a:tr>
              <a:tr h="561273">
                <a:tc>
                  <a:txBody>
                    <a:bodyPr/>
                    <a:lstStyle/>
                    <a:p>
                      <a:pPr>
                        <a:buNone/>
                      </a:pPr>
                      <a:r>
                        <a:rPr lang="en-IN" sz="1800" b="1" dirty="0"/>
                        <a:t>Total Revenue (₹)</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dirty="0"/>
                        <a:t>2,49,500</a:t>
                      </a:r>
                    </a:p>
                  </a:txBody>
                  <a:tcPr marL="40053" marR="40053" marT="20026" marB="20026" anchor="ctr">
                    <a:lnL>
                      <a:noFill/>
                    </a:lnL>
                    <a:lnR>
                      <a:noFill/>
                    </a:lnR>
                    <a:lnT>
                      <a:noFill/>
                    </a:lnT>
                    <a:lnB>
                      <a:noFill/>
                    </a:lnB>
                    <a:solidFill>
                      <a:srgbClr val="FF9933"/>
                    </a:solidFill>
                  </a:tcPr>
                </a:tc>
                <a:tc>
                  <a:txBody>
                    <a:bodyPr/>
                    <a:lstStyle/>
                    <a:p>
                      <a:pPr>
                        <a:buNone/>
                      </a:pPr>
                      <a:r>
                        <a:rPr lang="en-IN" sz="1800"/>
                        <a:t>7,48,500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14,97,000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29,94,000</a:t>
                      </a:r>
                    </a:p>
                  </a:txBody>
                  <a:tcPr marL="40053" marR="40053" marT="20026" marB="20026" anchor="ctr">
                    <a:lnL>
                      <a:noFill/>
                    </a:lnL>
                    <a:lnR w="12700" cap="flat" cmpd="sng" algn="ctr">
                      <a:solidFill>
                        <a:schemeClr val="tx1"/>
                      </a:solidFill>
                      <a:prstDash val="solid"/>
                      <a:round/>
                      <a:headEnd type="none" w="med" len="med"/>
                      <a:tailEnd type="none" w="med" len="med"/>
                    </a:lnR>
                    <a:lnT>
                      <a:noFill/>
                    </a:lnT>
                    <a:lnB>
                      <a:noFill/>
                    </a:lnB>
                    <a:solidFill>
                      <a:srgbClr val="FF9933"/>
                    </a:solidFill>
                  </a:tcPr>
                </a:tc>
                <a:tc>
                  <a:txBody>
                    <a:bodyPr/>
                    <a:lstStyle/>
                    <a:p>
                      <a:pPr>
                        <a:buNone/>
                      </a:pPr>
                      <a:r>
                        <a:rPr lang="en-IN" sz="1800" dirty="0"/>
                        <a:t>49,90,000</a:t>
                      </a:r>
                    </a:p>
                  </a:txBody>
                  <a:tcPr marL="40053" marR="40053" marT="20026" marB="200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extLst>
                  <a:ext uri="{0D108BD9-81ED-4DB2-BD59-A6C34878D82A}">
                    <a16:rowId xmlns:a16="http://schemas.microsoft.com/office/drawing/2014/main" val="1142928017"/>
                  </a:ext>
                </a:extLst>
              </a:tr>
              <a:tr h="491702">
                <a:tc>
                  <a:txBody>
                    <a:bodyPr/>
                    <a:lstStyle/>
                    <a:p>
                      <a:pPr>
                        <a:buNone/>
                      </a:pPr>
                      <a:r>
                        <a:rPr lang="en-IN" sz="1800" b="1" dirty="0"/>
                        <a:t>Land and Buildings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0</a:t>
                      </a:r>
                    </a:p>
                  </a:txBody>
                  <a:tcPr marL="40053" marR="40053" marT="20026" marB="20026" anchor="ctr">
                    <a:lnL>
                      <a:noFill/>
                    </a:lnL>
                    <a:lnR>
                      <a:noFill/>
                    </a:lnR>
                    <a:lnT>
                      <a:noFill/>
                    </a:lnT>
                    <a:lnB>
                      <a:noFill/>
                    </a:lnB>
                    <a:solidFill>
                      <a:srgbClr val="FF9933"/>
                    </a:solidFill>
                  </a:tcPr>
                </a:tc>
                <a:tc>
                  <a:txBody>
                    <a:bodyPr/>
                    <a:lstStyle/>
                    <a:p>
                      <a:pPr>
                        <a:buNone/>
                      </a:pPr>
                      <a:r>
                        <a:rPr lang="en-IN" sz="1800"/>
                        <a:t>0</a:t>
                      </a:r>
                    </a:p>
                  </a:txBody>
                  <a:tcPr marL="40053" marR="40053" marT="20026" marB="20026" anchor="ctr">
                    <a:lnL>
                      <a:noFill/>
                    </a:lnL>
                    <a:lnR>
                      <a:noFill/>
                    </a:lnR>
                    <a:lnT>
                      <a:noFill/>
                    </a:lnT>
                    <a:lnB>
                      <a:noFill/>
                    </a:lnB>
                    <a:solidFill>
                      <a:srgbClr val="FF9933"/>
                    </a:solidFill>
                  </a:tcPr>
                </a:tc>
                <a:tc>
                  <a:txBody>
                    <a:bodyPr/>
                    <a:lstStyle/>
                    <a:p>
                      <a:pPr>
                        <a:buNone/>
                      </a:pPr>
                      <a:r>
                        <a:rPr lang="en-IN" sz="1800"/>
                        <a:t>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0</a:t>
                      </a:r>
                    </a:p>
                  </a:txBody>
                  <a:tcPr marL="40053" marR="40053" marT="20026" marB="20026" anchor="ctr">
                    <a:lnL>
                      <a:noFill/>
                    </a:lnL>
                    <a:lnR>
                      <a:noFill/>
                    </a:lnR>
                    <a:lnT w="12700" cap="flat" cmpd="sng" algn="ctr">
                      <a:solidFill>
                        <a:schemeClr val="tx1"/>
                      </a:solidFill>
                      <a:prstDash val="solid"/>
                      <a:round/>
                      <a:headEnd type="none" w="med" len="med"/>
                      <a:tailEnd type="none" w="med" len="med"/>
                    </a:lnT>
                    <a:lnB>
                      <a:noFill/>
                    </a:lnB>
                    <a:solidFill>
                      <a:srgbClr val="FF9933"/>
                    </a:solidFill>
                  </a:tcPr>
                </a:tc>
                <a:extLst>
                  <a:ext uri="{0D108BD9-81ED-4DB2-BD59-A6C34878D82A}">
                    <a16:rowId xmlns:a16="http://schemas.microsoft.com/office/drawing/2014/main" val="1632177028"/>
                  </a:ext>
                </a:extLst>
              </a:tr>
              <a:tr h="262578">
                <a:tc>
                  <a:txBody>
                    <a:bodyPr/>
                    <a:lstStyle/>
                    <a:p>
                      <a:pPr>
                        <a:buNone/>
                      </a:pPr>
                      <a:r>
                        <a:rPr lang="en-IN" sz="1800" b="1" dirty="0"/>
                        <a:t>Equipment</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50,000</a:t>
                      </a:r>
                    </a:p>
                  </a:txBody>
                  <a:tcPr marL="40053" marR="40053" marT="20026" marB="20026" anchor="ctr">
                    <a:lnL>
                      <a:noFill/>
                    </a:lnL>
                    <a:lnR>
                      <a:noFill/>
                    </a:lnR>
                    <a:lnT>
                      <a:noFill/>
                    </a:lnT>
                    <a:lnB>
                      <a:noFill/>
                    </a:lnB>
                    <a:solidFill>
                      <a:srgbClr val="FF9933"/>
                    </a:solidFill>
                  </a:tcPr>
                </a:tc>
                <a:tc>
                  <a:txBody>
                    <a:bodyPr/>
                    <a:lstStyle/>
                    <a:p>
                      <a:pPr>
                        <a:buNone/>
                      </a:pPr>
                      <a:r>
                        <a:rPr lang="en-IN" sz="180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20,000</a:t>
                      </a:r>
                    </a:p>
                  </a:txBody>
                  <a:tcPr marL="40053" marR="40053" marT="20026" marB="20026" anchor="ctr">
                    <a:lnL>
                      <a:noFill/>
                    </a:lnL>
                    <a:lnR>
                      <a:noFill/>
                    </a:lnR>
                    <a:lnT>
                      <a:noFill/>
                    </a:lnT>
                    <a:lnB w="12700" cap="flat" cmpd="sng" algn="ctr">
                      <a:noFill/>
                      <a:prstDash val="solid"/>
                      <a:round/>
                      <a:headEnd type="none" w="med" len="med"/>
                      <a:tailEnd type="none" w="med" len="med"/>
                    </a:lnB>
                    <a:solidFill>
                      <a:srgbClr val="FF9933"/>
                    </a:solidFill>
                  </a:tcPr>
                </a:tc>
                <a:tc>
                  <a:txBody>
                    <a:bodyPr/>
                    <a:lstStyle/>
                    <a:p>
                      <a:pPr>
                        <a:buNone/>
                      </a:pPr>
                      <a:r>
                        <a:rPr lang="en-IN" sz="1800"/>
                        <a:t>30,000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30,000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995425347"/>
                  </a:ext>
                </a:extLst>
              </a:tr>
              <a:tr h="720827">
                <a:tc>
                  <a:txBody>
                    <a:bodyPr/>
                    <a:lstStyle/>
                    <a:p>
                      <a:pPr>
                        <a:buNone/>
                      </a:pPr>
                      <a:r>
                        <a:rPr lang="en-IN" sz="1800" b="1" dirty="0"/>
                        <a:t>Product Development Costs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1,00,000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50,000</a:t>
                      </a:r>
                    </a:p>
                  </a:txBody>
                  <a:tcPr marL="40053" marR="40053" marT="20026" marB="20026" anchor="ctr">
                    <a:lnL>
                      <a:noFill/>
                    </a:lnL>
                    <a:lnR w="12700" cap="flat" cmpd="sng" algn="ctr">
                      <a:noFill/>
                      <a:prstDash val="solid"/>
                      <a:round/>
                      <a:headEnd type="none" w="med" len="med"/>
                      <a:tailEnd type="none" w="med" len="med"/>
                    </a:lnR>
                    <a:lnT>
                      <a:noFill/>
                    </a:lnT>
                    <a:lnB>
                      <a:noFill/>
                    </a:lnB>
                    <a:solidFill>
                      <a:srgbClr val="FF9933"/>
                    </a:solidFill>
                  </a:tcPr>
                </a:tc>
                <a:tc>
                  <a:txBody>
                    <a:bodyPr/>
                    <a:lstStyle/>
                    <a:p>
                      <a:pPr>
                        <a:buNone/>
                      </a:pPr>
                      <a:r>
                        <a:rPr lang="en-IN" sz="1800" dirty="0"/>
                        <a:t>50,000</a:t>
                      </a:r>
                    </a:p>
                  </a:txBody>
                  <a:tcPr marL="40053" marR="40053" marT="20026" marB="2002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9933"/>
                    </a:solidFill>
                  </a:tcPr>
                </a:tc>
                <a:tc>
                  <a:txBody>
                    <a:bodyPr/>
                    <a:lstStyle/>
                    <a:p>
                      <a:pPr>
                        <a:buNone/>
                      </a:pPr>
                      <a:r>
                        <a:rPr lang="en-IN" sz="1800"/>
                        <a:t>75,000</a:t>
                      </a:r>
                    </a:p>
                  </a:txBody>
                  <a:tcPr marL="40053" marR="40053" marT="20026" marB="20026" anchor="ctr">
                    <a:lnL w="12700" cap="flat" cmpd="sng" algn="ctr">
                      <a:noFill/>
                      <a:prstDash val="solid"/>
                      <a:round/>
                      <a:headEnd type="none" w="med" len="med"/>
                      <a:tailEnd type="none" w="med" len="med"/>
                    </a:lnL>
                    <a:lnR>
                      <a:noFill/>
                    </a:lnR>
                    <a:lnT>
                      <a:noFill/>
                    </a:lnT>
                    <a:lnB>
                      <a:noFill/>
                    </a:lnB>
                    <a:solidFill>
                      <a:srgbClr val="FF9933"/>
                    </a:solidFill>
                  </a:tcPr>
                </a:tc>
                <a:tc>
                  <a:txBody>
                    <a:bodyPr/>
                    <a:lstStyle/>
                    <a:p>
                      <a:pPr>
                        <a:buNone/>
                      </a:pPr>
                      <a:r>
                        <a:rPr lang="en-IN" sz="1800" dirty="0"/>
                        <a:t>75,000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4145599704"/>
                  </a:ext>
                </a:extLst>
              </a:tr>
              <a:tr h="262578">
                <a:tc>
                  <a:txBody>
                    <a:bodyPr/>
                    <a:lstStyle/>
                    <a:p>
                      <a:pPr>
                        <a:buNone/>
                      </a:pPr>
                      <a:r>
                        <a:rPr lang="en-IN" sz="1800" b="1" dirty="0"/>
                        <a:t>Others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a:t>30,000</a:t>
                      </a:r>
                    </a:p>
                  </a:txBody>
                  <a:tcPr marL="40053" marR="40053" marT="20026" marB="20026" anchor="ctr">
                    <a:lnL>
                      <a:noFill/>
                    </a:lnL>
                    <a:lnR>
                      <a:noFill/>
                    </a:lnR>
                    <a:lnT w="12700" cap="flat" cmpd="sng" algn="ctr">
                      <a:noFill/>
                      <a:prstDash val="solid"/>
                      <a:round/>
                      <a:headEnd type="none" w="med" len="med"/>
                      <a:tailEnd type="none" w="med" len="med"/>
                    </a:lnT>
                    <a:lnB>
                      <a:noFill/>
                    </a:lnB>
                    <a:solidFill>
                      <a:srgbClr val="FF9933"/>
                    </a:solidFill>
                  </a:tcPr>
                </a:tc>
                <a:tc>
                  <a:txBody>
                    <a:bodyPr/>
                    <a:lstStyle/>
                    <a:p>
                      <a:pPr>
                        <a:buNone/>
                      </a:pPr>
                      <a:r>
                        <a:rPr lang="en-IN" sz="1800"/>
                        <a:t>30,000</a:t>
                      </a:r>
                    </a:p>
                  </a:txBody>
                  <a:tcPr marL="40053" marR="40053" marT="20026" marB="20026" anchor="ctr">
                    <a:lnL>
                      <a:noFill/>
                    </a:lnL>
                    <a:lnR>
                      <a:noFill/>
                    </a:lnR>
                    <a:lnT>
                      <a:noFill/>
                    </a:lnT>
                    <a:lnB>
                      <a:noFill/>
                    </a:lnB>
                    <a:solidFill>
                      <a:srgbClr val="FF9933"/>
                    </a:solidFill>
                  </a:tcPr>
                </a:tc>
                <a:tc>
                  <a:txBody>
                    <a:bodyPr/>
                    <a:lstStyle/>
                    <a:p>
                      <a:pPr>
                        <a:buNone/>
                      </a:pPr>
                      <a:r>
                        <a:rPr lang="en-IN" sz="1800"/>
                        <a:t>40,000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2057074406"/>
                  </a:ext>
                </a:extLst>
              </a:tr>
              <a:tr h="491702">
                <a:tc>
                  <a:txBody>
                    <a:bodyPr/>
                    <a:lstStyle/>
                    <a:p>
                      <a:pPr>
                        <a:buNone/>
                      </a:pPr>
                      <a:r>
                        <a:rPr lang="en-IN" sz="1800" b="1" dirty="0"/>
                        <a:t>Total Capital Cost</a:t>
                      </a:r>
                      <a:endParaRPr lang="en-IN" sz="1800" dirty="0"/>
                    </a:p>
                  </a:txBody>
                  <a:tcPr marL="40053" marR="40053" marT="20026" marB="20026" anchor="ctr">
                    <a:lnL>
                      <a:noFill/>
                    </a:lnL>
                    <a:lnR>
                      <a:noFill/>
                    </a:lnR>
                    <a:lnT>
                      <a:noFill/>
                    </a:lnT>
                    <a:lnB>
                      <a:noFill/>
                    </a:lnB>
                    <a:solidFill>
                      <a:schemeClr val="bg1"/>
                    </a:solidFill>
                  </a:tcPr>
                </a:tc>
                <a:tc>
                  <a:txBody>
                    <a:bodyPr/>
                    <a:lstStyle/>
                    <a:p>
                      <a:pPr>
                        <a:buNone/>
                      </a:pPr>
                      <a:r>
                        <a:rPr lang="en-IN" sz="1800" dirty="0"/>
                        <a:t>1,70,000</a:t>
                      </a:r>
                    </a:p>
                  </a:txBody>
                  <a:tcPr marL="40053" marR="40053" marT="20026" marB="20026" anchor="ctr">
                    <a:lnL>
                      <a:noFill/>
                    </a:lnL>
                    <a:lnR>
                      <a:noFill/>
                    </a:lnR>
                    <a:lnT>
                      <a:noFill/>
                    </a:lnT>
                    <a:lnB>
                      <a:noFill/>
                    </a:lnB>
                    <a:solidFill>
                      <a:schemeClr val="bg1"/>
                    </a:solidFill>
                  </a:tcPr>
                </a:tc>
                <a:tc>
                  <a:txBody>
                    <a:bodyPr/>
                    <a:lstStyle/>
                    <a:p>
                      <a:pPr>
                        <a:buNone/>
                      </a:pPr>
                      <a:r>
                        <a:rPr lang="en-IN" sz="1800" dirty="0"/>
                        <a:t>90,000</a:t>
                      </a:r>
                    </a:p>
                  </a:txBody>
                  <a:tcPr marL="40053" marR="40053" marT="20026" marB="20026" anchor="ctr">
                    <a:lnL>
                      <a:noFill/>
                    </a:lnL>
                    <a:lnR>
                      <a:noFill/>
                    </a:lnR>
                    <a:lnT>
                      <a:noFill/>
                    </a:lnT>
                    <a:lnB>
                      <a:noFill/>
                    </a:lnB>
                    <a:solidFill>
                      <a:schemeClr val="bg1"/>
                    </a:solidFill>
                  </a:tcPr>
                </a:tc>
                <a:tc>
                  <a:txBody>
                    <a:bodyPr/>
                    <a:lstStyle/>
                    <a:p>
                      <a:pPr>
                        <a:buNone/>
                      </a:pPr>
                      <a:r>
                        <a:rPr lang="en-IN" sz="1800" dirty="0"/>
                        <a:t>1,00,000</a:t>
                      </a:r>
                    </a:p>
                  </a:txBody>
                  <a:tcPr marL="40053" marR="40053" marT="20026" marB="20026" anchor="ctr">
                    <a:lnL>
                      <a:noFill/>
                    </a:lnL>
                    <a:lnR>
                      <a:noFill/>
                    </a:lnR>
                    <a:lnT>
                      <a:noFill/>
                    </a:lnT>
                    <a:lnB>
                      <a:noFill/>
                    </a:lnB>
                    <a:solidFill>
                      <a:schemeClr val="bg1"/>
                    </a:solidFill>
                  </a:tcPr>
                </a:tc>
                <a:tc>
                  <a:txBody>
                    <a:bodyPr/>
                    <a:lstStyle/>
                    <a:p>
                      <a:pPr>
                        <a:buNone/>
                      </a:pPr>
                      <a:r>
                        <a:rPr lang="en-IN" sz="1800" dirty="0"/>
                        <a:t>1,35,000</a:t>
                      </a:r>
                    </a:p>
                  </a:txBody>
                  <a:tcPr marL="40053" marR="40053" marT="20026" marB="20026" anchor="ctr">
                    <a:lnL>
                      <a:noFill/>
                    </a:lnL>
                    <a:lnR>
                      <a:noFill/>
                    </a:lnR>
                    <a:lnT>
                      <a:noFill/>
                    </a:lnT>
                    <a:lnB>
                      <a:noFill/>
                    </a:lnB>
                    <a:solidFill>
                      <a:schemeClr val="bg1"/>
                    </a:solidFill>
                  </a:tcPr>
                </a:tc>
                <a:tc>
                  <a:txBody>
                    <a:bodyPr/>
                    <a:lstStyle/>
                    <a:p>
                      <a:pPr>
                        <a:buNone/>
                      </a:pPr>
                      <a:r>
                        <a:rPr lang="en-IN" sz="1800" dirty="0"/>
                        <a:t>1,45,000</a:t>
                      </a:r>
                    </a:p>
                  </a:txBody>
                  <a:tcPr marL="40053" marR="40053" marT="20026" marB="20026" anchor="ctr">
                    <a:lnL>
                      <a:noFill/>
                    </a:lnL>
                    <a:lnR>
                      <a:noFill/>
                    </a:lnR>
                    <a:lnT>
                      <a:noFill/>
                    </a:lnT>
                    <a:lnB>
                      <a:noFill/>
                    </a:lnB>
                    <a:solidFill>
                      <a:schemeClr val="bg1"/>
                    </a:solidFill>
                  </a:tcPr>
                </a:tc>
                <a:extLst>
                  <a:ext uri="{0D108BD9-81ED-4DB2-BD59-A6C34878D82A}">
                    <a16:rowId xmlns:a16="http://schemas.microsoft.com/office/drawing/2014/main" val="3693000543"/>
                  </a:ext>
                </a:extLst>
              </a:tr>
              <a:tr h="262578">
                <a:tc>
                  <a:txBody>
                    <a:bodyPr/>
                    <a:lstStyle/>
                    <a:p>
                      <a:pPr>
                        <a:buNone/>
                      </a:pPr>
                      <a:r>
                        <a:rPr lang="en-IN" sz="1800" b="1" dirty="0"/>
                        <a:t>Salaries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1,20,000</a:t>
                      </a:r>
                    </a:p>
                  </a:txBody>
                  <a:tcPr marL="40053" marR="40053" marT="20026" marB="20026" anchor="ctr">
                    <a:lnL>
                      <a:noFill/>
                    </a:lnL>
                    <a:lnR>
                      <a:noFill/>
                    </a:lnR>
                    <a:lnT>
                      <a:noFill/>
                    </a:lnT>
                    <a:lnB>
                      <a:noFill/>
                    </a:lnB>
                    <a:solidFill>
                      <a:srgbClr val="FF9933"/>
                    </a:solidFill>
                  </a:tcPr>
                </a:tc>
                <a:tc>
                  <a:txBody>
                    <a:bodyPr/>
                    <a:lstStyle/>
                    <a:p>
                      <a:pPr>
                        <a:buNone/>
                      </a:pPr>
                      <a:r>
                        <a:rPr lang="en-IN" sz="1800"/>
                        <a:t>2,40,000</a:t>
                      </a:r>
                    </a:p>
                  </a:txBody>
                  <a:tcPr marL="40053" marR="40053" marT="20026" marB="20026" anchor="ctr">
                    <a:lnL>
                      <a:noFill/>
                    </a:lnL>
                    <a:lnR>
                      <a:noFill/>
                    </a:lnR>
                    <a:lnT>
                      <a:noFill/>
                    </a:lnT>
                    <a:lnB>
                      <a:noFill/>
                    </a:lnB>
                    <a:solidFill>
                      <a:srgbClr val="FF9933"/>
                    </a:solidFill>
                  </a:tcPr>
                </a:tc>
                <a:tc>
                  <a:txBody>
                    <a:bodyPr/>
                    <a:lstStyle/>
                    <a:p>
                      <a:pPr>
                        <a:buNone/>
                      </a:pPr>
                      <a:r>
                        <a:rPr lang="en-IN" sz="1800"/>
                        <a:t>3,60,000</a:t>
                      </a:r>
                    </a:p>
                  </a:txBody>
                  <a:tcPr marL="40053" marR="40053" marT="20026" marB="20026" anchor="ctr">
                    <a:lnL>
                      <a:noFill/>
                    </a:lnL>
                    <a:lnR>
                      <a:noFill/>
                    </a:lnR>
                    <a:lnT>
                      <a:noFill/>
                    </a:lnT>
                    <a:lnB>
                      <a:noFill/>
                    </a:lnB>
                    <a:solidFill>
                      <a:srgbClr val="FF9933"/>
                    </a:solidFill>
                  </a:tcPr>
                </a:tc>
                <a:tc>
                  <a:txBody>
                    <a:bodyPr/>
                    <a:lstStyle/>
                    <a:p>
                      <a:pPr>
                        <a:buNone/>
                      </a:pPr>
                      <a:r>
                        <a:rPr lang="en-IN" sz="1800"/>
                        <a:t>4,80,000</a:t>
                      </a:r>
                    </a:p>
                  </a:txBody>
                  <a:tcPr marL="40053" marR="40053" marT="20026" marB="20026" anchor="ctr">
                    <a:lnL>
                      <a:noFill/>
                    </a:lnL>
                    <a:lnR>
                      <a:noFill/>
                    </a:lnR>
                    <a:lnT>
                      <a:noFill/>
                    </a:lnT>
                    <a:lnB>
                      <a:noFill/>
                    </a:lnB>
                    <a:solidFill>
                      <a:srgbClr val="FF9933"/>
                    </a:solidFill>
                  </a:tcPr>
                </a:tc>
                <a:tc>
                  <a:txBody>
                    <a:bodyPr/>
                    <a:lstStyle/>
                    <a:p>
                      <a:pPr>
                        <a:buNone/>
                      </a:pPr>
                      <a:r>
                        <a:rPr lang="en-IN" sz="1800"/>
                        <a:t>6,00,000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2999503402"/>
                  </a:ext>
                </a:extLst>
              </a:tr>
              <a:tr h="491702">
                <a:tc>
                  <a:txBody>
                    <a:bodyPr/>
                    <a:lstStyle/>
                    <a:p>
                      <a:pPr>
                        <a:buNone/>
                      </a:pPr>
                      <a:r>
                        <a:rPr lang="en-IN" sz="1800" b="1" dirty="0"/>
                        <a:t>Marketing &amp; Promotion</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50,000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1,00,000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1,50,000</a:t>
                      </a:r>
                    </a:p>
                  </a:txBody>
                  <a:tcPr marL="40053" marR="40053" marT="20026" marB="20026" anchor="ctr">
                    <a:lnL>
                      <a:noFill/>
                    </a:lnL>
                    <a:lnR>
                      <a:noFill/>
                    </a:lnR>
                    <a:lnT>
                      <a:noFill/>
                    </a:lnT>
                    <a:lnB>
                      <a:noFill/>
                    </a:lnB>
                    <a:solidFill>
                      <a:srgbClr val="FF9933"/>
                    </a:solidFill>
                  </a:tcPr>
                </a:tc>
                <a:tc>
                  <a:txBody>
                    <a:bodyPr/>
                    <a:lstStyle/>
                    <a:p>
                      <a:pPr>
                        <a:buNone/>
                      </a:pPr>
                      <a:r>
                        <a:rPr lang="en-IN" sz="1800"/>
                        <a:t>2,00,000</a:t>
                      </a:r>
                    </a:p>
                  </a:txBody>
                  <a:tcPr marL="40053" marR="40053" marT="20026" marB="20026" anchor="ctr">
                    <a:lnL>
                      <a:noFill/>
                    </a:lnL>
                    <a:lnR>
                      <a:noFill/>
                    </a:lnR>
                    <a:lnT>
                      <a:noFill/>
                    </a:lnT>
                    <a:lnB>
                      <a:noFill/>
                    </a:lnB>
                    <a:solidFill>
                      <a:srgbClr val="FF9933"/>
                    </a:solidFill>
                  </a:tcPr>
                </a:tc>
                <a:tc>
                  <a:txBody>
                    <a:bodyPr/>
                    <a:lstStyle/>
                    <a:p>
                      <a:pPr>
                        <a:buNone/>
                      </a:pPr>
                      <a:r>
                        <a:rPr lang="en-IN" sz="1800"/>
                        <a:t>2,50,000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1086877041"/>
                  </a:ext>
                </a:extLst>
              </a:tr>
              <a:tr h="262578">
                <a:tc>
                  <a:txBody>
                    <a:bodyPr/>
                    <a:lstStyle/>
                    <a:p>
                      <a:pPr>
                        <a:buNone/>
                      </a:pPr>
                      <a:r>
                        <a:rPr lang="en-IN" sz="1800" b="1" dirty="0"/>
                        <a:t>Utilities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tc>
                  <a:txBody>
                    <a:bodyPr/>
                    <a:lstStyle/>
                    <a:p>
                      <a:pPr>
                        <a:buNone/>
                      </a:pPr>
                      <a:r>
                        <a:rPr lang="en-IN" sz="1800"/>
                        <a:t>15,000</a:t>
                      </a:r>
                    </a:p>
                  </a:txBody>
                  <a:tcPr marL="40053" marR="40053" marT="20026" marB="20026" anchor="ctr">
                    <a:lnL>
                      <a:noFill/>
                    </a:lnL>
                    <a:lnR>
                      <a:noFill/>
                    </a:lnR>
                    <a:lnT>
                      <a:noFill/>
                    </a:lnT>
                    <a:lnB>
                      <a:noFill/>
                    </a:lnB>
                    <a:solidFill>
                      <a:srgbClr val="FF9933"/>
                    </a:solidFill>
                  </a:tcPr>
                </a:tc>
                <a:tc>
                  <a:txBody>
                    <a:bodyPr/>
                    <a:lstStyle/>
                    <a:p>
                      <a:pPr>
                        <a:buNone/>
                      </a:pPr>
                      <a:r>
                        <a:rPr lang="en-IN" sz="180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25,000</a:t>
                      </a:r>
                    </a:p>
                  </a:txBody>
                  <a:tcPr marL="40053" marR="40053" marT="20026" marB="20026" anchor="ctr">
                    <a:lnL>
                      <a:noFill/>
                    </a:lnL>
                    <a:lnR>
                      <a:noFill/>
                    </a:lnR>
                    <a:lnT>
                      <a:noFill/>
                    </a:lnT>
                    <a:lnB>
                      <a:noFill/>
                    </a:lnB>
                    <a:solidFill>
                      <a:srgbClr val="FF9933"/>
                    </a:solidFill>
                  </a:tcPr>
                </a:tc>
                <a:tc>
                  <a:txBody>
                    <a:bodyPr/>
                    <a:lstStyle/>
                    <a:p>
                      <a:pPr>
                        <a:buNone/>
                      </a:pPr>
                      <a:r>
                        <a:rPr lang="en-IN" sz="1800"/>
                        <a:t>30,000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2102679677"/>
                  </a:ext>
                </a:extLst>
              </a:tr>
              <a:tr h="491702">
                <a:tc>
                  <a:txBody>
                    <a:bodyPr/>
                    <a:lstStyle/>
                    <a:p>
                      <a:pPr>
                        <a:buNone/>
                      </a:pPr>
                      <a:r>
                        <a:rPr lang="en-IN" sz="1800" b="1" dirty="0"/>
                        <a:t>Transportation</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tc>
                  <a:txBody>
                    <a:bodyPr/>
                    <a:lstStyle/>
                    <a:p>
                      <a:pPr>
                        <a:buNone/>
                      </a:pPr>
                      <a:r>
                        <a:rPr lang="en-IN" sz="1800"/>
                        <a:t>15,000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25,000</a:t>
                      </a:r>
                    </a:p>
                  </a:txBody>
                  <a:tcPr marL="40053" marR="40053" marT="20026" marB="20026" anchor="ctr">
                    <a:lnL>
                      <a:noFill/>
                    </a:lnL>
                    <a:lnR>
                      <a:noFill/>
                    </a:lnR>
                    <a:lnT>
                      <a:noFill/>
                    </a:lnT>
                    <a:lnB>
                      <a:noFill/>
                    </a:lnB>
                    <a:solidFill>
                      <a:srgbClr val="FF9933"/>
                    </a:solidFill>
                  </a:tcPr>
                </a:tc>
                <a:tc>
                  <a:txBody>
                    <a:bodyPr/>
                    <a:lstStyle/>
                    <a:p>
                      <a:pPr>
                        <a:buNone/>
                      </a:pPr>
                      <a:r>
                        <a:rPr lang="en-IN" sz="1800"/>
                        <a:t>30,000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4210889854"/>
                  </a:ext>
                </a:extLst>
              </a:tr>
              <a:tr h="491702">
                <a:tc>
                  <a:txBody>
                    <a:bodyPr/>
                    <a:lstStyle/>
                    <a:p>
                      <a:pPr>
                        <a:buNone/>
                      </a:pPr>
                      <a:r>
                        <a:rPr lang="en-IN" sz="1800" b="1" dirty="0"/>
                        <a:t>Office Supplies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5,000</a:t>
                      </a:r>
                    </a:p>
                  </a:txBody>
                  <a:tcPr marL="40053" marR="40053" marT="20026" marB="20026" anchor="ctr">
                    <a:lnL>
                      <a:noFill/>
                    </a:lnL>
                    <a:lnR>
                      <a:noFill/>
                    </a:lnR>
                    <a:lnT>
                      <a:noFill/>
                    </a:lnT>
                    <a:lnB>
                      <a:noFill/>
                    </a:lnB>
                    <a:solidFill>
                      <a:srgbClr val="FF9933"/>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tc>
                  <a:txBody>
                    <a:bodyPr/>
                    <a:lstStyle/>
                    <a:p>
                      <a:pPr>
                        <a:buNone/>
                      </a:pPr>
                      <a:r>
                        <a:rPr lang="en-IN" sz="1800"/>
                        <a:t>15,000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25,000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1468582503"/>
                  </a:ext>
                </a:extLst>
              </a:tr>
              <a:tr h="491702">
                <a:tc>
                  <a:txBody>
                    <a:bodyPr/>
                    <a:lstStyle/>
                    <a:p>
                      <a:pPr>
                        <a:buNone/>
                      </a:pPr>
                      <a:r>
                        <a:rPr lang="en-IN" sz="1800" b="1" dirty="0"/>
                        <a:t>Repairs &amp; Maintenance</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5,000</a:t>
                      </a:r>
                    </a:p>
                  </a:txBody>
                  <a:tcPr marL="40053" marR="40053" marT="20026" marB="20026" anchor="ctr">
                    <a:lnL>
                      <a:noFill/>
                    </a:lnL>
                    <a:lnR>
                      <a:noFill/>
                    </a:lnR>
                    <a:lnT>
                      <a:noFill/>
                    </a:lnT>
                    <a:lnB>
                      <a:noFill/>
                    </a:lnB>
                    <a:solidFill>
                      <a:srgbClr val="FF9933"/>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tc>
                  <a:txBody>
                    <a:bodyPr/>
                    <a:lstStyle/>
                    <a:p>
                      <a:pPr>
                        <a:buNone/>
                      </a:pPr>
                      <a:r>
                        <a:rPr lang="en-IN" sz="1800"/>
                        <a:t>15,000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25,000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4048019066"/>
                  </a:ext>
                </a:extLst>
              </a:tr>
              <a:tr h="491702">
                <a:tc>
                  <a:txBody>
                    <a:bodyPr/>
                    <a:lstStyle/>
                    <a:p>
                      <a:pPr>
                        <a:buNone/>
                      </a:pPr>
                      <a:r>
                        <a:rPr lang="en-IN" sz="1800" b="1" dirty="0"/>
                        <a:t>Misc. Expenses</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a:t>10,000</a:t>
                      </a:r>
                    </a:p>
                  </a:txBody>
                  <a:tcPr marL="40053" marR="40053" marT="20026" marB="20026" anchor="ctr">
                    <a:lnL>
                      <a:noFill/>
                    </a:lnL>
                    <a:lnR>
                      <a:noFill/>
                    </a:lnR>
                    <a:lnT>
                      <a:noFill/>
                    </a:lnT>
                    <a:lnB>
                      <a:noFill/>
                    </a:lnB>
                    <a:solidFill>
                      <a:srgbClr val="FF9933"/>
                    </a:solidFill>
                  </a:tcPr>
                </a:tc>
                <a:tc>
                  <a:txBody>
                    <a:bodyPr/>
                    <a:lstStyle/>
                    <a:p>
                      <a:pPr>
                        <a:buNone/>
                      </a:pPr>
                      <a:r>
                        <a:rPr lang="en-IN" sz="1800"/>
                        <a:t>15,000</a:t>
                      </a:r>
                    </a:p>
                  </a:txBody>
                  <a:tcPr marL="40053" marR="40053" marT="20026" marB="20026" anchor="ctr">
                    <a:lnL>
                      <a:noFill/>
                    </a:lnL>
                    <a:lnR>
                      <a:noFill/>
                    </a:lnR>
                    <a:lnT>
                      <a:noFill/>
                    </a:lnT>
                    <a:lnB>
                      <a:noFill/>
                    </a:lnB>
                    <a:solidFill>
                      <a:srgbClr val="FF9933"/>
                    </a:solidFill>
                  </a:tcPr>
                </a:tc>
                <a:tc>
                  <a:txBody>
                    <a:bodyPr/>
                    <a:lstStyle/>
                    <a:p>
                      <a:pPr>
                        <a:buNone/>
                      </a:pPr>
                      <a:r>
                        <a:rPr lang="en-IN" sz="1800"/>
                        <a:t>20,000</a:t>
                      </a:r>
                    </a:p>
                  </a:txBody>
                  <a:tcPr marL="40053" marR="40053" marT="20026" marB="20026" anchor="ctr">
                    <a:lnL>
                      <a:noFill/>
                    </a:lnL>
                    <a:lnR>
                      <a:noFill/>
                    </a:lnR>
                    <a:lnT>
                      <a:noFill/>
                    </a:lnT>
                    <a:lnB>
                      <a:noFill/>
                    </a:lnB>
                    <a:solidFill>
                      <a:srgbClr val="FF9933"/>
                    </a:solidFill>
                  </a:tcPr>
                </a:tc>
                <a:tc>
                  <a:txBody>
                    <a:bodyPr/>
                    <a:lstStyle/>
                    <a:p>
                      <a:pPr>
                        <a:buNone/>
                      </a:pPr>
                      <a:r>
                        <a:rPr lang="en-IN" sz="1800"/>
                        <a:t>25,000</a:t>
                      </a:r>
                    </a:p>
                  </a:txBody>
                  <a:tcPr marL="40053" marR="40053" marT="20026" marB="20026" anchor="ctr">
                    <a:lnL>
                      <a:noFill/>
                    </a:lnL>
                    <a:lnR>
                      <a:noFill/>
                    </a:lnR>
                    <a:lnT>
                      <a:noFill/>
                    </a:lnT>
                    <a:lnB>
                      <a:noFill/>
                    </a:lnB>
                    <a:solidFill>
                      <a:srgbClr val="FF9933"/>
                    </a:solidFill>
                  </a:tcPr>
                </a:tc>
                <a:tc>
                  <a:txBody>
                    <a:bodyPr/>
                    <a:lstStyle/>
                    <a:p>
                      <a:pPr>
                        <a:buNone/>
                      </a:pPr>
                      <a:r>
                        <a:rPr lang="en-IN" sz="1800" dirty="0"/>
                        <a:t>30,000</a:t>
                      </a:r>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1649957947"/>
                  </a:ext>
                </a:extLst>
              </a:tr>
              <a:tr h="491702">
                <a:tc>
                  <a:txBody>
                    <a:bodyPr/>
                    <a:lstStyle/>
                    <a:p>
                      <a:pPr>
                        <a:buNone/>
                      </a:pPr>
                      <a:r>
                        <a:rPr lang="en-IN" sz="1800" b="1" dirty="0"/>
                        <a:t>Earnings (EBITDA)</a:t>
                      </a:r>
                      <a:endParaRPr lang="en-IN" sz="1800" dirty="0"/>
                    </a:p>
                  </a:txBody>
                  <a:tcPr marL="40053" marR="40053" marT="20026" marB="20026" anchor="ctr">
                    <a:lnL>
                      <a:noFill/>
                    </a:lnL>
                    <a:lnR>
                      <a:noFill/>
                    </a:lnR>
                    <a:lnT>
                      <a:noFill/>
                    </a:lnT>
                    <a:lnB>
                      <a:noFill/>
                    </a:lnB>
                    <a:solidFill>
                      <a:srgbClr val="FFFFCC"/>
                    </a:solidFill>
                  </a:tcPr>
                </a:tc>
                <a:tc>
                  <a:txBody>
                    <a:bodyPr/>
                    <a:lstStyle/>
                    <a:p>
                      <a:pPr>
                        <a:buNone/>
                      </a:pPr>
                      <a:r>
                        <a:rPr lang="en-IN" sz="1800" b="1"/>
                        <a:t>49,500</a:t>
                      </a:r>
                      <a:endParaRPr lang="en-IN" sz="1800"/>
                    </a:p>
                  </a:txBody>
                  <a:tcPr marL="40053" marR="40053" marT="20026" marB="20026" anchor="ctr">
                    <a:lnL>
                      <a:noFill/>
                    </a:lnL>
                    <a:lnR>
                      <a:noFill/>
                    </a:lnR>
                    <a:lnT>
                      <a:noFill/>
                    </a:lnT>
                    <a:lnB>
                      <a:noFill/>
                    </a:lnB>
                    <a:solidFill>
                      <a:srgbClr val="FF9933"/>
                    </a:solidFill>
                  </a:tcPr>
                </a:tc>
                <a:tc>
                  <a:txBody>
                    <a:bodyPr/>
                    <a:lstStyle/>
                    <a:p>
                      <a:pPr>
                        <a:buNone/>
                      </a:pPr>
                      <a:r>
                        <a:rPr lang="en-IN" sz="1800" b="1"/>
                        <a:t>2,48,500</a:t>
                      </a:r>
                      <a:endParaRPr lang="en-IN" sz="1800"/>
                    </a:p>
                  </a:txBody>
                  <a:tcPr marL="40053" marR="40053" marT="20026" marB="20026" anchor="ctr">
                    <a:lnL>
                      <a:noFill/>
                    </a:lnL>
                    <a:lnR>
                      <a:noFill/>
                    </a:lnR>
                    <a:lnT>
                      <a:noFill/>
                    </a:lnT>
                    <a:lnB>
                      <a:noFill/>
                    </a:lnB>
                    <a:solidFill>
                      <a:srgbClr val="FF9933"/>
                    </a:solidFill>
                  </a:tcPr>
                </a:tc>
                <a:tc>
                  <a:txBody>
                    <a:bodyPr/>
                    <a:lstStyle/>
                    <a:p>
                      <a:pPr>
                        <a:buNone/>
                      </a:pPr>
                      <a:r>
                        <a:rPr lang="en-IN" sz="1800" b="1" dirty="0"/>
                        <a:t>5,97,000</a:t>
                      </a:r>
                      <a:endParaRPr lang="en-IN" sz="1800" dirty="0"/>
                    </a:p>
                  </a:txBody>
                  <a:tcPr marL="40053" marR="40053" marT="20026" marB="20026" anchor="ctr">
                    <a:lnL>
                      <a:noFill/>
                    </a:lnL>
                    <a:lnR>
                      <a:noFill/>
                    </a:lnR>
                    <a:lnT>
                      <a:noFill/>
                    </a:lnT>
                    <a:lnB>
                      <a:noFill/>
                    </a:lnB>
                    <a:solidFill>
                      <a:srgbClr val="FF9933"/>
                    </a:solidFill>
                  </a:tcPr>
                </a:tc>
                <a:tc>
                  <a:txBody>
                    <a:bodyPr/>
                    <a:lstStyle/>
                    <a:p>
                      <a:pPr>
                        <a:buNone/>
                      </a:pPr>
                      <a:r>
                        <a:rPr lang="en-IN" sz="1800" b="1"/>
                        <a:t>17,99,000</a:t>
                      </a:r>
                      <a:endParaRPr lang="en-IN" sz="1800"/>
                    </a:p>
                  </a:txBody>
                  <a:tcPr marL="40053" marR="40053" marT="20026" marB="20026" anchor="ctr">
                    <a:lnL>
                      <a:noFill/>
                    </a:lnL>
                    <a:lnR>
                      <a:noFill/>
                    </a:lnR>
                    <a:lnT>
                      <a:noFill/>
                    </a:lnT>
                    <a:lnB>
                      <a:noFill/>
                    </a:lnB>
                    <a:solidFill>
                      <a:srgbClr val="FF9933"/>
                    </a:solidFill>
                  </a:tcPr>
                </a:tc>
                <a:tc>
                  <a:txBody>
                    <a:bodyPr/>
                    <a:lstStyle/>
                    <a:p>
                      <a:pPr>
                        <a:buNone/>
                      </a:pPr>
                      <a:r>
                        <a:rPr lang="en-IN" sz="1800" b="1" dirty="0"/>
                        <a:t>35,00,000</a:t>
                      </a:r>
                      <a:endParaRPr lang="en-IN" sz="1800" dirty="0"/>
                    </a:p>
                  </a:txBody>
                  <a:tcPr marL="40053" marR="40053" marT="20026" marB="20026" anchor="ctr">
                    <a:lnL>
                      <a:noFill/>
                    </a:lnL>
                    <a:lnR>
                      <a:noFill/>
                    </a:lnR>
                    <a:lnT>
                      <a:noFill/>
                    </a:lnT>
                    <a:lnB>
                      <a:noFill/>
                    </a:lnB>
                    <a:solidFill>
                      <a:srgbClr val="FF9933"/>
                    </a:solidFill>
                  </a:tcPr>
                </a:tc>
                <a:extLst>
                  <a:ext uri="{0D108BD9-81ED-4DB2-BD59-A6C34878D82A}">
                    <a16:rowId xmlns:a16="http://schemas.microsoft.com/office/drawing/2014/main" val="882222099"/>
                  </a:ext>
                </a:extLst>
              </a:tr>
            </a:tbl>
          </a:graphicData>
        </a:graphic>
      </p:graphicFrame>
      <p:graphicFrame>
        <p:nvGraphicFramePr>
          <p:cNvPr id="8" name="Table 7">
            <a:extLst>
              <a:ext uri="{FF2B5EF4-FFF2-40B4-BE49-F238E27FC236}">
                <a16:creationId xmlns:a16="http://schemas.microsoft.com/office/drawing/2014/main" id="{98D728FA-E43B-2786-43BB-1EF154FDD8C3}"/>
              </a:ext>
            </a:extLst>
          </p:cNvPr>
          <p:cNvGraphicFramePr>
            <a:graphicFrameLocks noGrp="1"/>
          </p:cNvGraphicFramePr>
          <p:nvPr/>
        </p:nvGraphicFramePr>
        <p:xfrm>
          <a:off x="10885990" y="2092505"/>
          <a:ext cx="7086600" cy="2225040"/>
        </p:xfrm>
        <a:graphic>
          <a:graphicData uri="http://schemas.openxmlformats.org/drawingml/2006/table">
            <a:tbl>
              <a:tblPr firstRow="1" bandRow="1">
                <a:tableStyleId>{5940675A-B579-460E-94D1-54222C63F5DA}</a:tableStyleId>
              </a:tblPr>
              <a:tblGrid>
                <a:gridCol w="4582610">
                  <a:extLst>
                    <a:ext uri="{9D8B030D-6E8A-4147-A177-3AD203B41FA5}">
                      <a16:colId xmlns:a16="http://schemas.microsoft.com/office/drawing/2014/main" val="1336801070"/>
                    </a:ext>
                  </a:extLst>
                </a:gridCol>
                <a:gridCol w="2503990">
                  <a:extLst>
                    <a:ext uri="{9D8B030D-6E8A-4147-A177-3AD203B41FA5}">
                      <a16:colId xmlns:a16="http://schemas.microsoft.com/office/drawing/2014/main" val="2188681150"/>
                    </a:ext>
                  </a:extLst>
                </a:gridCol>
              </a:tblGrid>
              <a:tr h="370840">
                <a:tc>
                  <a:txBody>
                    <a:bodyPr/>
                    <a:lstStyle/>
                    <a:p>
                      <a:r>
                        <a:rPr lang="en-IN" sz="1800" dirty="0"/>
                        <a:t>Number of existing sales </a:t>
                      </a:r>
                    </a:p>
                  </a:txBody>
                  <a:tcPr/>
                </a:tc>
                <a:tc>
                  <a:txBody>
                    <a:bodyPr/>
                    <a:lstStyle/>
                    <a:p>
                      <a:r>
                        <a:rPr lang="en-IN" dirty="0"/>
                        <a:t>₹10,000</a:t>
                      </a:r>
                    </a:p>
                  </a:txBody>
                  <a:tcPr/>
                </a:tc>
                <a:extLst>
                  <a:ext uri="{0D108BD9-81ED-4DB2-BD59-A6C34878D82A}">
                    <a16:rowId xmlns:a16="http://schemas.microsoft.com/office/drawing/2014/main" val="3772810564"/>
                  </a:ext>
                </a:extLst>
              </a:tr>
              <a:tr h="370840">
                <a:tc>
                  <a:txBody>
                    <a:bodyPr/>
                    <a:lstStyle/>
                    <a:p>
                      <a:r>
                        <a:rPr lang="en-IN" dirty="0"/>
                        <a:t>Amount to be invested </a:t>
                      </a:r>
                    </a:p>
                  </a:txBody>
                  <a:tcPr/>
                </a:tc>
                <a:tc>
                  <a:txBody>
                    <a:bodyPr/>
                    <a:lstStyle/>
                    <a:p>
                      <a:r>
                        <a:rPr lang="en-IN" dirty="0"/>
                        <a:t>₹5,00,000</a:t>
                      </a:r>
                    </a:p>
                  </a:txBody>
                  <a:tcPr/>
                </a:tc>
                <a:extLst>
                  <a:ext uri="{0D108BD9-81ED-4DB2-BD59-A6C34878D82A}">
                    <a16:rowId xmlns:a16="http://schemas.microsoft.com/office/drawing/2014/main" val="1502388082"/>
                  </a:ext>
                </a:extLst>
              </a:tr>
              <a:tr h="370840">
                <a:tc>
                  <a:txBody>
                    <a:bodyPr/>
                    <a:lstStyle/>
                    <a:p>
                      <a:r>
                        <a:rPr lang="en-IN" dirty="0"/>
                        <a:t>Earning after 5 years</a:t>
                      </a:r>
                    </a:p>
                  </a:txBody>
                  <a:tcPr/>
                </a:tc>
                <a:tc>
                  <a:txBody>
                    <a:bodyPr/>
                    <a:lstStyle/>
                    <a:p>
                      <a:r>
                        <a:rPr lang="en-IN" dirty="0"/>
                        <a:t>₹35,00,000</a:t>
                      </a:r>
                    </a:p>
                  </a:txBody>
                  <a:tcPr/>
                </a:tc>
                <a:extLst>
                  <a:ext uri="{0D108BD9-81ED-4DB2-BD59-A6C34878D82A}">
                    <a16:rowId xmlns:a16="http://schemas.microsoft.com/office/drawing/2014/main" val="3319426660"/>
                  </a:ext>
                </a:extLst>
              </a:tr>
              <a:tr h="370840">
                <a:tc>
                  <a:txBody>
                    <a:bodyPr/>
                    <a:lstStyle/>
                    <a:p>
                      <a:r>
                        <a:rPr lang="en-IN" dirty="0"/>
                        <a:t>P/E ratio</a:t>
                      </a:r>
                    </a:p>
                  </a:txBody>
                  <a:tcPr/>
                </a:tc>
                <a:tc>
                  <a:txBody>
                    <a:bodyPr/>
                    <a:lstStyle/>
                    <a:p>
                      <a:r>
                        <a:rPr lang="en-IN" dirty="0"/>
                        <a:t>10</a:t>
                      </a:r>
                    </a:p>
                  </a:txBody>
                  <a:tcPr/>
                </a:tc>
                <a:extLst>
                  <a:ext uri="{0D108BD9-81ED-4DB2-BD59-A6C34878D82A}">
                    <a16:rowId xmlns:a16="http://schemas.microsoft.com/office/drawing/2014/main" val="2013138531"/>
                  </a:ext>
                </a:extLst>
              </a:tr>
              <a:tr h="370840">
                <a:tc>
                  <a:txBody>
                    <a:bodyPr/>
                    <a:lstStyle/>
                    <a:p>
                      <a:r>
                        <a:rPr lang="en-IN" dirty="0"/>
                        <a:t>Discount rate </a:t>
                      </a:r>
                    </a:p>
                  </a:txBody>
                  <a:tcPr/>
                </a:tc>
                <a:tc>
                  <a:txBody>
                    <a:bodyPr/>
                    <a:lstStyle/>
                    <a:p>
                      <a:r>
                        <a:rPr lang="en-IN" dirty="0"/>
                        <a:t>10%</a:t>
                      </a:r>
                    </a:p>
                  </a:txBody>
                  <a:tcPr/>
                </a:tc>
                <a:extLst>
                  <a:ext uri="{0D108BD9-81ED-4DB2-BD59-A6C34878D82A}">
                    <a16:rowId xmlns:a16="http://schemas.microsoft.com/office/drawing/2014/main" val="139785093"/>
                  </a:ext>
                </a:extLst>
              </a:tr>
              <a:tr h="370840">
                <a:tc>
                  <a:txBody>
                    <a:bodyPr/>
                    <a:lstStyle/>
                    <a:p>
                      <a:r>
                        <a:rPr lang="en-IN" dirty="0"/>
                        <a:t>Number of years </a:t>
                      </a:r>
                    </a:p>
                  </a:txBody>
                  <a:tcPr/>
                </a:tc>
                <a:tc>
                  <a:txBody>
                    <a:bodyPr/>
                    <a:lstStyle/>
                    <a:p>
                      <a:r>
                        <a:rPr lang="en-IN" dirty="0"/>
                        <a:t>5</a:t>
                      </a:r>
                    </a:p>
                  </a:txBody>
                  <a:tcPr/>
                </a:tc>
                <a:extLst>
                  <a:ext uri="{0D108BD9-81ED-4DB2-BD59-A6C34878D82A}">
                    <a16:rowId xmlns:a16="http://schemas.microsoft.com/office/drawing/2014/main" val="3835233594"/>
                  </a:ext>
                </a:extLst>
              </a:tr>
            </a:tbl>
          </a:graphicData>
        </a:graphic>
      </p:graphicFrame>
      <p:graphicFrame>
        <p:nvGraphicFramePr>
          <p:cNvPr id="10" name="Table 9">
            <a:extLst>
              <a:ext uri="{FF2B5EF4-FFF2-40B4-BE49-F238E27FC236}">
                <a16:creationId xmlns:a16="http://schemas.microsoft.com/office/drawing/2014/main" id="{AB3A082E-D1D4-D724-A701-F712445A4CC6}"/>
              </a:ext>
            </a:extLst>
          </p:cNvPr>
          <p:cNvGraphicFramePr>
            <a:graphicFrameLocks noGrp="1"/>
          </p:cNvGraphicFramePr>
          <p:nvPr/>
        </p:nvGraphicFramePr>
        <p:xfrm>
          <a:off x="10885990" y="5032196"/>
          <a:ext cx="7291086" cy="1874520"/>
        </p:xfrm>
        <a:graphic>
          <a:graphicData uri="http://schemas.openxmlformats.org/drawingml/2006/table">
            <a:tbl>
              <a:tblPr firstRow="1" bandRow="1">
                <a:tableStyleId>{5940675A-B579-460E-94D1-54222C63F5DA}</a:tableStyleId>
              </a:tblPr>
              <a:tblGrid>
                <a:gridCol w="4582610">
                  <a:extLst>
                    <a:ext uri="{9D8B030D-6E8A-4147-A177-3AD203B41FA5}">
                      <a16:colId xmlns:a16="http://schemas.microsoft.com/office/drawing/2014/main" val="48304126"/>
                    </a:ext>
                  </a:extLst>
                </a:gridCol>
                <a:gridCol w="2708476">
                  <a:extLst>
                    <a:ext uri="{9D8B030D-6E8A-4147-A177-3AD203B41FA5}">
                      <a16:colId xmlns:a16="http://schemas.microsoft.com/office/drawing/2014/main" val="2780701788"/>
                    </a:ext>
                  </a:extLst>
                </a:gridCol>
              </a:tblGrid>
              <a:tr h="370840">
                <a:tc>
                  <a:txBody>
                    <a:bodyPr/>
                    <a:lstStyle/>
                    <a:p>
                      <a:r>
                        <a:rPr lang="en-IN" dirty="0"/>
                        <a:t>Estimated terminal  value</a:t>
                      </a:r>
                    </a:p>
                  </a:txBody>
                  <a:tcPr/>
                </a:tc>
                <a:tc>
                  <a:txBody>
                    <a:bodyPr/>
                    <a:lstStyle/>
                    <a:p>
                      <a:r>
                        <a:rPr lang="en-IN" dirty="0"/>
                        <a:t>₹3,50,00,000</a:t>
                      </a:r>
                    </a:p>
                  </a:txBody>
                  <a:tcPr/>
                </a:tc>
                <a:extLst>
                  <a:ext uri="{0D108BD9-81ED-4DB2-BD59-A6C34878D82A}">
                    <a16:rowId xmlns:a16="http://schemas.microsoft.com/office/drawing/2014/main" val="2729873845"/>
                  </a:ext>
                </a:extLst>
              </a:tr>
              <a:tr h="391160">
                <a:tc>
                  <a:txBody>
                    <a:bodyPr/>
                    <a:lstStyle/>
                    <a:p>
                      <a:r>
                        <a:rPr lang="en-IN" dirty="0"/>
                        <a:t>Present value</a:t>
                      </a:r>
                    </a:p>
                  </a:txBody>
                  <a:tcPr/>
                </a:tc>
                <a:tc>
                  <a:txBody>
                    <a:bodyPr/>
                    <a:lstStyle/>
                    <a:p>
                      <a:r>
                        <a:rPr lang="en-IN" dirty="0"/>
                        <a:t>₹2,17,00,000</a:t>
                      </a:r>
                    </a:p>
                  </a:txBody>
                  <a:tcPr/>
                </a:tc>
                <a:extLst>
                  <a:ext uri="{0D108BD9-81ED-4DB2-BD59-A6C34878D82A}">
                    <a16:rowId xmlns:a16="http://schemas.microsoft.com/office/drawing/2014/main" val="1191683666"/>
                  </a:ext>
                </a:extLst>
              </a:tr>
              <a:tr h="370840">
                <a:tc>
                  <a:txBody>
                    <a:bodyPr/>
                    <a:lstStyle/>
                    <a:p>
                      <a:r>
                        <a:rPr lang="en-IN" dirty="0"/>
                        <a:t>Required ownership percentage</a:t>
                      </a:r>
                    </a:p>
                  </a:txBody>
                  <a:tcPr/>
                </a:tc>
                <a:tc>
                  <a:txBody>
                    <a:bodyPr/>
                    <a:lstStyle/>
                    <a:p>
                      <a:r>
                        <a:rPr lang="en-IN" dirty="0"/>
                        <a:t>10%</a:t>
                      </a:r>
                    </a:p>
                  </a:txBody>
                  <a:tcPr/>
                </a:tc>
                <a:extLst>
                  <a:ext uri="{0D108BD9-81ED-4DB2-BD59-A6C34878D82A}">
                    <a16:rowId xmlns:a16="http://schemas.microsoft.com/office/drawing/2014/main" val="1447604837"/>
                  </a:ext>
                </a:extLst>
              </a:tr>
              <a:tr h="370840">
                <a:tc>
                  <a:txBody>
                    <a:bodyPr/>
                    <a:lstStyle/>
                    <a:p>
                      <a:r>
                        <a:rPr lang="en-IN" dirty="0"/>
                        <a:t>Number of shares needed by investor </a:t>
                      </a:r>
                    </a:p>
                  </a:txBody>
                  <a:tcPr/>
                </a:tc>
                <a:tc>
                  <a:txBody>
                    <a:bodyPr/>
                    <a:lstStyle/>
                    <a:p>
                      <a:r>
                        <a:rPr lang="en-IN" dirty="0"/>
                        <a:t>1,000</a:t>
                      </a:r>
                    </a:p>
                  </a:txBody>
                  <a:tcPr/>
                </a:tc>
                <a:extLst>
                  <a:ext uri="{0D108BD9-81ED-4DB2-BD59-A6C34878D82A}">
                    <a16:rowId xmlns:a16="http://schemas.microsoft.com/office/drawing/2014/main" val="2664992293"/>
                  </a:ext>
                </a:extLst>
              </a:tr>
              <a:tr h="370840">
                <a:tc>
                  <a:txBody>
                    <a:bodyPr/>
                    <a:lstStyle/>
                    <a:p>
                      <a:r>
                        <a:rPr lang="en-IN" dirty="0"/>
                        <a:t>Share price </a:t>
                      </a:r>
                    </a:p>
                  </a:txBody>
                  <a:tcPr/>
                </a:tc>
                <a:tc>
                  <a:txBody>
                    <a:bodyPr/>
                    <a:lstStyle/>
                    <a:p>
                      <a:r>
                        <a:rPr lang="en-IN" dirty="0"/>
                        <a:t>₹500</a:t>
                      </a:r>
                    </a:p>
                  </a:txBody>
                  <a:tcPr/>
                </a:tc>
                <a:extLst>
                  <a:ext uri="{0D108BD9-81ED-4DB2-BD59-A6C34878D82A}">
                    <a16:rowId xmlns:a16="http://schemas.microsoft.com/office/drawing/2014/main" val="1960031614"/>
                  </a:ext>
                </a:extLst>
              </a:tr>
            </a:tbl>
          </a:graphicData>
        </a:graphic>
      </p:graphicFrame>
      <p:cxnSp>
        <p:nvCxnSpPr>
          <p:cNvPr id="4" name="Straight Connector 3">
            <a:extLst>
              <a:ext uri="{FF2B5EF4-FFF2-40B4-BE49-F238E27FC236}">
                <a16:creationId xmlns:a16="http://schemas.microsoft.com/office/drawing/2014/main" id="{D6D42BBC-1082-C1EB-0C07-796C37F7044C}"/>
              </a:ext>
            </a:extLst>
          </p:cNvPr>
          <p:cNvCxnSpPr/>
          <p:nvPr/>
        </p:nvCxnSpPr>
        <p:spPr>
          <a:xfrm>
            <a:off x="3352800" y="1427068"/>
            <a:ext cx="0" cy="8440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3B89327-CEC8-E0AC-ADC1-C24E5BEA2A6D}"/>
              </a:ext>
            </a:extLst>
          </p:cNvPr>
          <p:cNvCxnSpPr/>
          <p:nvPr/>
        </p:nvCxnSpPr>
        <p:spPr>
          <a:xfrm>
            <a:off x="5029200" y="1562100"/>
            <a:ext cx="0" cy="830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5C05B2-41DD-58A3-CEE9-C1726E787532}"/>
              </a:ext>
            </a:extLst>
          </p:cNvPr>
          <p:cNvCxnSpPr/>
          <p:nvPr/>
        </p:nvCxnSpPr>
        <p:spPr>
          <a:xfrm>
            <a:off x="6781800" y="1511061"/>
            <a:ext cx="0" cy="83981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9FBC9E4-08D3-1179-0FE2-1ACBEE243DB9}"/>
              </a:ext>
            </a:extLst>
          </p:cNvPr>
          <p:cNvCxnSpPr/>
          <p:nvPr/>
        </p:nvCxnSpPr>
        <p:spPr>
          <a:xfrm>
            <a:off x="8534400" y="1511061"/>
            <a:ext cx="0" cy="8356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930D093-475B-2487-72D9-DEBBD67C0B3E}"/>
              </a:ext>
            </a:extLst>
          </p:cNvPr>
          <p:cNvCxnSpPr/>
          <p:nvPr/>
        </p:nvCxnSpPr>
        <p:spPr>
          <a:xfrm>
            <a:off x="10668000" y="1511061"/>
            <a:ext cx="0" cy="8356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631C696-6B15-C1E0-556E-FED20BA500F7}"/>
              </a:ext>
            </a:extLst>
          </p:cNvPr>
          <p:cNvCxnSpPr/>
          <p:nvPr/>
        </p:nvCxnSpPr>
        <p:spPr>
          <a:xfrm>
            <a:off x="762000" y="1511061"/>
            <a:ext cx="0"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1DAC507-6F71-A405-6E9D-839D8B2BB366}"/>
              </a:ext>
            </a:extLst>
          </p:cNvPr>
          <p:cNvCxnSpPr>
            <a:cxnSpLocks/>
          </p:cNvCxnSpPr>
          <p:nvPr/>
        </p:nvCxnSpPr>
        <p:spPr>
          <a:xfrm flipH="1">
            <a:off x="304800" y="1562100"/>
            <a:ext cx="10610" cy="830580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descr="AUTOFIXAI">
            <a:extLst>
              <a:ext uri="{FF2B5EF4-FFF2-40B4-BE49-F238E27FC236}">
                <a16:creationId xmlns:a16="http://schemas.microsoft.com/office/drawing/2014/main" id="{C391AC97-71D4-B9DF-A029-84C07C536D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32122" y="315344"/>
            <a:ext cx="1881974" cy="1600200"/>
          </a:xfrm>
          <a:prstGeom prst="rect">
            <a:avLst/>
          </a:prstGeom>
        </p:spPr>
      </p:pic>
    </p:spTree>
    <p:extLst>
      <p:ext uri="{BB962C8B-B14F-4D97-AF65-F5344CB8AC3E}">
        <p14:creationId xmlns:p14="http://schemas.microsoft.com/office/powerpoint/2010/main" val="427520305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761" y="47826"/>
            <a:ext cx="15304106" cy="729948"/>
          </a:xfrm>
        </p:spPr>
        <p:txBody>
          <a:bodyPr/>
          <a:lstStyle/>
          <a:p>
            <a:r>
              <a:rPr lang="en-US" sz="6000" dirty="0">
                <a:solidFill>
                  <a:schemeClr val="tx1"/>
                </a:solidFill>
                <a:latin typeface="Antonio Bold"/>
              </a:rPr>
              <a:t>Unit</a:t>
            </a:r>
            <a:r>
              <a:rPr lang="en-US" sz="6000" dirty="0">
                <a:latin typeface="Antonio Bold"/>
              </a:rPr>
              <a:t> </a:t>
            </a:r>
            <a:r>
              <a:rPr lang="en-US" sz="6000" dirty="0">
                <a:solidFill>
                  <a:schemeClr val="tx1"/>
                </a:solidFill>
                <a:latin typeface="Antonio Bold"/>
              </a:rPr>
              <a:t>Economics</a:t>
            </a:r>
          </a:p>
        </p:txBody>
      </p:sp>
      <p:sp>
        <p:nvSpPr>
          <p:cNvPr id="8" name="Rectangle 7"/>
          <p:cNvSpPr/>
          <p:nvPr/>
        </p:nvSpPr>
        <p:spPr>
          <a:xfrm>
            <a:off x="845802" y="1010950"/>
            <a:ext cx="763192" cy="84888"/>
          </a:xfrm>
          <a:prstGeom prst="rect">
            <a:avLst/>
          </a:prstGeom>
          <a:solidFill>
            <a:srgbClr val="FABE00"/>
          </a:solidFill>
          <a:ln w="12700" cap="flat" cmpd="sng" algn="ctr">
            <a:noFill/>
            <a:prstDash val="solid"/>
            <a:miter lim="800000"/>
          </a:ln>
          <a:effectLst/>
        </p:spPr>
        <p:txBody>
          <a:bodyPr rtlCol="0" anchor="ctr"/>
          <a:lstStyle/>
          <a:p>
            <a:pPr algn="ctr" defTabSz="1371600">
              <a:defRPr/>
            </a:pPr>
            <a:endParaRPr lang="en-US" sz="2700" kern="0" dirty="0">
              <a:solidFill>
                <a:prstClr val="white"/>
              </a:solidFill>
              <a:latin typeface="Open Sans"/>
            </a:endParaRPr>
          </a:p>
        </p:txBody>
      </p:sp>
      <p:graphicFrame>
        <p:nvGraphicFramePr>
          <p:cNvPr id="4" name="Table 3"/>
          <p:cNvGraphicFramePr>
            <a:graphicFrameLocks noGrp="1"/>
          </p:cNvGraphicFramePr>
          <p:nvPr>
            <p:extLst>
              <p:ext uri="{D42A27DB-BD31-4B8C-83A1-F6EECF244321}">
                <p14:modId xmlns:p14="http://schemas.microsoft.com/office/powerpoint/2010/main" val="2899544232"/>
              </p:ext>
            </p:extLst>
          </p:nvPr>
        </p:nvGraphicFramePr>
        <p:xfrm>
          <a:off x="1052742" y="1105862"/>
          <a:ext cx="5356282" cy="3026470"/>
        </p:xfrm>
        <a:graphic>
          <a:graphicData uri="http://schemas.openxmlformats.org/drawingml/2006/table">
            <a:tbl>
              <a:tblPr/>
              <a:tblGrid>
                <a:gridCol w="3976856">
                  <a:extLst>
                    <a:ext uri="{9D8B030D-6E8A-4147-A177-3AD203B41FA5}">
                      <a16:colId xmlns:a16="http://schemas.microsoft.com/office/drawing/2014/main" val="20000"/>
                    </a:ext>
                  </a:extLst>
                </a:gridCol>
                <a:gridCol w="1379426">
                  <a:extLst>
                    <a:ext uri="{9D8B030D-6E8A-4147-A177-3AD203B41FA5}">
                      <a16:colId xmlns:a16="http://schemas.microsoft.com/office/drawing/2014/main" val="20001"/>
                    </a:ext>
                  </a:extLst>
                </a:gridCol>
              </a:tblGrid>
              <a:tr h="1097280">
                <a:tc>
                  <a:txBody>
                    <a:bodyPr/>
                    <a:lstStyle/>
                    <a:p>
                      <a:pPr algn="l" fontAlgn="b"/>
                      <a:r>
                        <a:rPr lang="en-IN" sz="2400" b="1" i="0" u="none" strike="noStrike">
                          <a:effectLst/>
                          <a:latin typeface="Arial" panose="020B0604020202020204" pitchFamily="34" charset="0"/>
                          <a:cs typeface="Arial" panose="020B0604020202020204" pitchFamily="34" charset="0"/>
                        </a:rPr>
                        <a:t>P &amp; L/ unit</a:t>
                      </a:r>
                      <a:endParaRPr lang="en-IN" sz="2400" b="1" i="0" u="none" strike="noStrike" dirty="0">
                        <a:effectLst/>
                        <a:latin typeface="Arial" panose="020B0604020202020204" pitchFamily="34" charset="0"/>
                        <a:cs typeface="Arial" panose="020B0604020202020204" pitchFamily="34" charset="0"/>
                      </a:endParaRP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IN" sz="2400" b="1" i="0" u="none" strike="noStrike" dirty="0">
                          <a:solidFill>
                            <a:srgbClr val="000000"/>
                          </a:solidFill>
                          <a:effectLst/>
                          <a:latin typeface="Arial" panose="020B0604020202020204" pitchFamily="34" charset="0"/>
                          <a:cs typeface="Arial" panose="020B0604020202020204" pitchFamily="34" charset="0"/>
                        </a:rPr>
                        <a:t>Year 1 (2026)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5190">
                <a:tc>
                  <a:txBody>
                    <a:bodyPr/>
                    <a:lstStyle/>
                    <a:p>
                      <a:pPr algn="l" fontAlgn="ctr"/>
                      <a:r>
                        <a:rPr lang="en-IN" sz="2000" b="0" i="0" u="none" strike="noStrike">
                          <a:solidFill>
                            <a:srgbClr val="000000"/>
                          </a:solidFill>
                          <a:effectLst/>
                          <a:latin typeface="Arial" panose="020B0604020202020204" pitchFamily="34" charset="0"/>
                          <a:cs typeface="Arial" panose="020B0604020202020204" pitchFamily="34" charset="0"/>
                        </a:rPr>
                        <a:t>Revenue</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Arial" panose="020B0604020202020204" pitchFamily="34" charset="0"/>
                          <a:cs typeface="Arial" panose="020B0604020202020204" pitchFamily="34" charset="0"/>
                        </a:rPr>
                        <a:t>₹499 </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algn="l" fontAlgn="ctr"/>
                      <a:r>
                        <a:rPr lang="en-IN" sz="2000" b="0" i="0" u="none" strike="noStrike">
                          <a:solidFill>
                            <a:srgbClr val="000000"/>
                          </a:solidFill>
                          <a:effectLst/>
                          <a:latin typeface="Arial" panose="020B0604020202020204" pitchFamily="34" charset="0"/>
                          <a:cs typeface="Arial" panose="020B0604020202020204" pitchFamily="34" charset="0"/>
                        </a:rPr>
                        <a:t>COGS</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IN" sz="2000" b="0" i="0" u="none" strike="noStrike" dirty="0">
                          <a:solidFill>
                            <a:srgbClr val="000000"/>
                          </a:solidFill>
                          <a:effectLst/>
                          <a:latin typeface="Arial" panose="020B0604020202020204" pitchFamily="34" charset="0"/>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algn="l" fontAlgn="ctr"/>
                      <a:r>
                        <a:rPr lang="en-IN" sz="2000" b="0" i="0" u="none" strike="noStrike">
                          <a:solidFill>
                            <a:srgbClr val="000000"/>
                          </a:solidFill>
                          <a:effectLst/>
                          <a:latin typeface="Arial" panose="020B0604020202020204" pitchFamily="34" charset="0"/>
                          <a:cs typeface="Arial" panose="020B0604020202020204" pitchFamily="34" charset="0"/>
                        </a:rPr>
                        <a:t>Gross Profit</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IN" sz="2000" b="0" i="0" u="none" strike="noStrike" dirty="0">
                          <a:solidFill>
                            <a:srgbClr val="000000"/>
                          </a:solidFill>
                          <a:effectLst/>
                          <a:latin typeface="Arial" panose="020B0604020202020204" pitchFamily="34" charset="0"/>
                          <a:cs typeface="Arial" panose="020B0604020202020204" pitchFamily="34" charset="0"/>
                        </a:rPr>
                        <a:t>₹300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algn="l" fontAlgn="ctr"/>
                      <a:r>
                        <a:rPr lang="en-IN" sz="2000" b="0" i="0" u="none" strike="noStrike" dirty="0">
                          <a:solidFill>
                            <a:srgbClr val="000000"/>
                          </a:solidFill>
                          <a:effectLst/>
                          <a:latin typeface="Arial" panose="020B0604020202020204" pitchFamily="34" charset="0"/>
                          <a:cs typeface="Arial" panose="020B0604020202020204" pitchFamily="34" charset="0"/>
                        </a:rPr>
                        <a:t>Gross Profit Margin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effectLst/>
                          <a:latin typeface="Arial" panose="020B0604020202020204" pitchFamily="34" charset="0"/>
                          <a:cs typeface="Arial" panose="020B0604020202020204" pitchFamily="34" charset="0"/>
                        </a:rPr>
                        <a:t>80%</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algn="l" fontAlgn="ctr"/>
                      <a:r>
                        <a:rPr lang="en-IN" sz="2000" b="0" i="0" u="none" strike="noStrike" dirty="0">
                          <a:solidFill>
                            <a:srgbClr val="000000"/>
                          </a:solidFill>
                          <a:effectLst/>
                          <a:latin typeface="Arial" panose="020B0604020202020204" pitchFamily="34" charset="0"/>
                          <a:cs typeface="Arial" panose="020B0604020202020204" pitchFamily="34" charset="0"/>
                        </a:rPr>
                        <a:t>Operating Costs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effectLst/>
                          <a:latin typeface="Arial" panose="020B0604020202020204" pitchFamily="34" charset="0"/>
                        </a:rPr>
                        <a:t>₹150</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4800">
                <a:tc>
                  <a:txBody>
                    <a:bodyPr/>
                    <a:lstStyle/>
                    <a:p>
                      <a:pPr algn="l" fontAlgn="ctr"/>
                      <a:r>
                        <a:rPr lang="en-IN" sz="2000" b="0" i="0" u="none" strike="noStrike">
                          <a:solidFill>
                            <a:srgbClr val="000000"/>
                          </a:solidFill>
                          <a:effectLst/>
                          <a:latin typeface="Arial" panose="020B0604020202020204" pitchFamily="34" charset="0"/>
                          <a:cs typeface="Arial" panose="020B0604020202020204" pitchFamily="34" charset="0"/>
                        </a:rPr>
                        <a:t>Operating Profit</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effectLst/>
                          <a:latin typeface="Arial" panose="020B0604020202020204" pitchFamily="34" charset="0"/>
                          <a:cs typeface="Arial" panose="020B0604020202020204" pitchFamily="34" charset="0"/>
                        </a:rPr>
                        <a:t>₹249</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76062997"/>
              </p:ext>
            </p:extLst>
          </p:nvPr>
        </p:nvGraphicFramePr>
        <p:xfrm>
          <a:off x="7162386" y="1344554"/>
          <a:ext cx="4420014" cy="1872184"/>
        </p:xfrm>
        <a:graphic>
          <a:graphicData uri="http://schemas.openxmlformats.org/drawingml/2006/table">
            <a:tbl>
              <a:tblPr/>
              <a:tblGrid>
                <a:gridCol w="2935033">
                  <a:extLst>
                    <a:ext uri="{9D8B030D-6E8A-4147-A177-3AD203B41FA5}">
                      <a16:colId xmlns:a16="http://schemas.microsoft.com/office/drawing/2014/main" val="20000"/>
                    </a:ext>
                  </a:extLst>
                </a:gridCol>
                <a:gridCol w="1484981">
                  <a:extLst>
                    <a:ext uri="{9D8B030D-6E8A-4147-A177-3AD203B41FA5}">
                      <a16:colId xmlns:a16="http://schemas.microsoft.com/office/drawing/2014/main" val="20001"/>
                    </a:ext>
                  </a:extLst>
                </a:gridCol>
              </a:tblGrid>
              <a:tr h="504172">
                <a:tc>
                  <a:txBody>
                    <a:bodyPr/>
                    <a:lstStyle/>
                    <a:p>
                      <a:pPr algn="l" fontAlgn="b"/>
                      <a:r>
                        <a:rPr lang="en-IN" sz="2400" b="1" i="0" u="none" strike="noStrike" dirty="0">
                          <a:effectLst/>
                          <a:latin typeface="Arial" panose="020B0604020202020204" pitchFamily="34" charset="0"/>
                          <a:cs typeface="Arial" panose="020B0604020202020204" pitchFamily="34" charset="0"/>
                        </a:rPr>
                        <a:t>Unit Economics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400" b="1" i="0" u="none" strike="noStrike" dirty="0">
                          <a:effectLst/>
                          <a:latin typeface="Arial" panose="020B0604020202020204" pitchFamily="34" charset="0"/>
                          <a:cs typeface="Arial" panose="020B0604020202020204" pitchFamily="34" charset="0"/>
                        </a:rPr>
                        <a:t>Year 1</a:t>
                      </a:r>
                    </a:p>
                    <a:p>
                      <a:pPr algn="r" fontAlgn="b"/>
                      <a:r>
                        <a:rPr lang="en-IN" sz="2400" b="1" i="0" u="none" strike="noStrike" dirty="0">
                          <a:effectLst/>
                          <a:latin typeface="Arial" panose="020B0604020202020204" pitchFamily="34" charset="0"/>
                          <a:cs typeface="Arial" panose="020B0604020202020204" pitchFamily="34" charset="0"/>
                        </a:rPr>
                        <a:t>(2026)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0904">
                <a:tc>
                  <a:txBody>
                    <a:bodyPr/>
                    <a:lstStyle/>
                    <a:p>
                      <a:pPr algn="l" fontAlgn="b"/>
                      <a:r>
                        <a:rPr lang="en-IN" sz="2000" b="0" i="0" u="none" strike="noStrike" dirty="0">
                          <a:effectLst/>
                          <a:latin typeface="Arial" panose="020B0604020202020204" pitchFamily="34" charset="0"/>
                          <a:cs typeface="Arial" panose="020B0604020202020204" pitchFamily="34" charset="0"/>
                        </a:rPr>
                        <a:t>CAC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effectLst/>
                          <a:latin typeface="Arial" panose="020B0604020202020204" pitchFamily="34" charset="0"/>
                          <a:cs typeface="Arial" panose="020B0604020202020204" pitchFamily="34" charset="0"/>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4960">
                <a:tc>
                  <a:txBody>
                    <a:bodyPr/>
                    <a:lstStyle/>
                    <a:p>
                      <a:pPr algn="l" fontAlgn="ctr"/>
                      <a:r>
                        <a:rPr lang="en-IN" sz="2000" b="0" i="0" u="none" strike="noStrike" dirty="0">
                          <a:solidFill>
                            <a:srgbClr val="000000"/>
                          </a:solidFill>
                          <a:effectLst/>
                          <a:latin typeface="Arial" panose="020B0604020202020204" pitchFamily="34" charset="0"/>
                          <a:cs typeface="Arial" panose="020B0604020202020204" pitchFamily="34" charset="0"/>
                        </a:rPr>
                        <a:t>CLV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IN" sz="2000" b="0" i="0" u="none" strike="noStrike" dirty="0">
                          <a:solidFill>
                            <a:srgbClr val="000000"/>
                          </a:solidFill>
                          <a:effectLst/>
                          <a:latin typeface="Arial" panose="020B0604020202020204" pitchFamily="34" charset="0"/>
                          <a:cs typeface="Arial" panose="020B0604020202020204" pitchFamily="34"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algn="l" fontAlgn="b"/>
                      <a:r>
                        <a:rPr lang="en-IN" sz="2000" b="0" i="0" u="none" strike="noStrike">
                          <a:solidFill>
                            <a:srgbClr val="000000"/>
                          </a:solidFill>
                          <a:effectLst/>
                          <a:latin typeface="Arial" panose="020B0604020202020204" pitchFamily="34" charset="0"/>
                          <a:cs typeface="Arial" panose="020B0604020202020204" pitchFamily="34" charset="0"/>
                        </a:rPr>
                        <a:t> ARPU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Arial" panose="020B0604020202020204" pitchFamily="34" charset="0"/>
                          <a:cs typeface="Arial" panose="020B0604020202020204" pitchFamily="34" charset="0"/>
                        </a:rPr>
                        <a:t>₹499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nvGraphicFramePr>
        <p:xfrm>
          <a:off x="1313313" y="5301894"/>
          <a:ext cx="12194666" cy="4206240"/>
        </p:xfrm>
        <a:graphic>
          <a:graphicData uri="http://schemas.openxmlformats.org/drawingml/2006/table">
            <a:tbl>
              <a:tblPr/>
              <a:tblGrid>
                <a:gridCol w="1651636">
                  <a:extLst>
                    <a:ext uri="{9D8B030D-6E8A-4147-A177-3AD203B41FA5}">
                      <a16:colId xmlns:a16="http://schemas.microsoft.com/office/drawing/2014/main" val="20000"/>
                    </a:ext>
                  </a:extLst>
                </a:gridCol>
                <a:gridCol w="10543030">
                  <a:extLst>
                    <a:ext uri="{9D8B030D-6E8A-4147-A177-3AD203B41FA5}">
                      <a16:colId xmlns:a16="http://schemas.microsoft.com/office/drawing/2014/main" val="20001"/>
                    </a:ext>
                  </a:extLst>
                </a:gridCol>
              </a:tblGrid>
              <a:tr h="457200">
                <a:tc>
                  <a:txBody>
                    <a:bodyPr/>
                    <a:lstStyle/>
                    <a:p>
                      <a:pPr algn="l" fontAlgn="auto"/>
                      <a:r>
                        <a:rPr lang="en-IN" sz="1200" b="1" i="0" dirty="0">
                          <a:solidFill>
                            <a:srgbClr val="000000"/>
                          </a:solidFill>
                          <a:effectLst/>
                          <a:latin typeface="Calibri" panose="020F0502020204030204" pitchFamily="34" charset="0"/>
                        </a:rPr>
                        <a:t>​Terms</a:t>
                      </a: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dirty="0">
                          <a:solidFill>
                            <a:srgbClr val="000000"/>
                          </a:solidFill>
                          <a:effectLst/>
                          <a:latin typeface="Calibri" panose="020F0502020204030204" pitchFamily="34" charset="0"/>
                        </a:rPr>
                        <a:t>Explanation  (For the actual calculations, refer to the Financial Plan Excel sheet link)​</a:t>
                      </a:r>
                      <a:endParaRPr lang="en-US"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algn="l" fontAlgn="base"/>
                      <a:r>
                        <a:rPr lang="en-IN" sz="1200" b="1" i="0">
                          <a:solidFill>
                            <a:srgbClr val="000000"/>
                          </a:solidFill>
                          <a:effectLst/>
                          <a:latin typeface="Calibri" panose="020F0502020204030204" pitchFamily="34" charset="0"/>
                        </a:rPr>
                        <a:t>CAC</a:t>
                      </a:r>
                      <a:r>
                        <a:rPr lang="en-IN" sz="1200" b="0" i="0">
                          <a:solidFill>
                            <a:srgbClr val="000000"/>
                          </a:solidFill>
                          <a:effectLst/>
                          <a:latin typeface="Calibri" panose="020F0502020204030204" pitchFamily="34" charset="0"/>
                        </a:rPr>
                        <a:t>​</a:t>
                      </a:r>
                      <a:endParaRPr lang="en-IN" sz="3200" b="0" i="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a:solidFill>
                            <a:srgbClr val="000000"/>
                          </a:solidFill>
                          <a:effectLst/>
                          <a:latin typeface="Calibri" panose="020F0502020204030204" pitchFamily="34" charset="0"/>
                        </a:rPr>
                        <a:t>(Cost of Sales + Cost of Marketing ) / Number of new customers acquired (in currency terms)​</a:t>
                      </a:r>
                      <a:endParaRPr lang="en-US" sz="3200" b="0" i="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l" fontAlgn="base"/>
                      <a:r>
                        <a:rPr lang="en-IN" sz="1200" b="1" i="0" dirty="0">
                          <a:solidFill>
                            <a:srgbClr val="000000"/>
                          </a:solidFill>
                          <a:effectLst/>
                          <a:latin typeface="Calibri" panose="020F0502020204030204" pitchFamily="34" charset="0"/>
                          <a:hlinkClick r:id="rId2"/>
                        </a:rPr>
                        <a:t>CLV</a:t>
                      </a:r>
                      <a:endParaRPr lang="en-IN"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dirty="0">
                          <a:solidFill>
                            <a:srgbClr val="000000"/>
                          </a:solidFill>
                          <a:effectLst/>
                          <a:latin typeface="Calibri" panose="020F0502020204030204" pitchFamily="34" charset="0"/>
                        </a:rPr>
                        <a:t>Average purchase value x Average purchase frequency x Average</a:t>
                      </a:r>
                      <a:r>
                        <a:rPr lang="en-US" sz="1800" b="0" i="0" baseline="0" dirty="0">
                          <a:solidFill>
                            <a:srgbClr val="000000"/>
                          </a:solidFill>
                          <a:effectLst/>
                          <a:latin typeface="Calibri" panose="020F0502020204030204" pitchFamily="34" charset="0"/>
                        </a:rPr>
                        <a:t> Customer Lifespan x Gross Margin</a:t>
                      </a:r>
                      <a:endParaRPr lang="en-US"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l" fontAlgn="base"/>
                      <a:r>
                        <a:rPr lang="en-IN" sz="1200" b="1" i="0">
                          <a:solidFill>
                            <a:srgbClr val="000000"/>
                          </a:solidFill>
                          <a:effectLst/>
                          <a:latin typeface="Calibri" panose="020F0502020204030204" pitchFamily="34" charset="0"/>
                        </a:rPr>
                        <a:t>ARPU</a:t>
                      </a:r>
                      <a:r>
                        <a:rPr lang="en-IN" sz="1200" b="0" i="0">
                          <a:solidFill>
                            <a:srgbClr val="000000"/>
                          </a:solidFill>
                          <a:effectLst/>
                          <a:latin typeface="Calibri" panose="020F0502020204030204" pitchFamily="34" charset="0"/>
                        </a:rPr>
                        <a:t>​</a:t>
                      </a:r>
                      <a:endParaRPr lang="en-IN" sz="3200" b="0" i="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dirty="0">
                          <a:solidFill>
                            <a:srgbClr val="000000"/>
                          </a:solidFill>
                          <a:effectLst/>
                          <a:latin typeface="Calibri" panose="020F0502020204030204" pitchFamily="34" charset="0"/>
                        </a:rPr>
                        <a:t>Total revenue in specific period/Total number of customers during the same period (in currency terms)​</a:t>
                      </a:r>
                      <a:endParaRPr lang="en-US"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gn="l" fontAlgn="base"/>
                      <a:r>
                        <a:rPr lang="en-IN" sz="1200" b="1" i="0">
                          <a:solidFill>
                            <a:srgbClr val="000000"/>
                          </a:solidFill>
                          <a:effectLst/>
                          <a:latin typeface="Calibri" panose="020F0502020204030204" pitchFamily="34" charset="0"/>
                        </a:rPr>
                        <a:t>GROSS PROFIT</a:t>
                      </a:r>
                      <a:r>
                        <a:rPr lang="en-IN" sz="1200" b="0" i="0">
                          <a:solidFill>
                            <a:srgbClr val="000000"/>
                          </a:solidFill>
                          <a:effectLst/>
                          <a:latin typeface="Calibri" panose="020F0502020204030204" pitchFamily="34" charset="0"/>
                        </a:rPr>
                        <a:t>​</a:t>
                      </a:r>
                      <a:endParaRPr lang="en-IN" sz="3200" b="0" i="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dirty="0">
                          <a:solidFill>
                            <a:srgbClr val="000000"/>
                          </a:solidFill>
                          <a:effectLst/>
                          <a:latin typeface="Calibri" panose="020F0502020204030204" pitchFamily="34" charset="0"/>
                        </a:rPr>
                        <a:t>Total revenue – Total COGS (In currency terms)​</a:t>
                      </a:r>
                      <a:endParaRPr lang="en-US"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algn="l" fontAlgn="base"/>
                      <a:r>
                        <a:rPr lang="en-IN" sz="1200" b="1" i="0" dirty="0">
                          <a:solidFill>
                            <a:srgbClr val="000000"/>
                          </a:solidFill>
                          <a:effectLst/>
                          <a:latin typeface="Calibri" panose="020F0502020204030204" pitchFamily="34" charset="0"/>
                          <a:hlinkClick r:id="rId3"/>
                        </a:rPr>
                        <a:t>OPERATING</a:t>
                      </a:r>
                      <a:r>
                        <a:rPr lang="en-IN" sz="1200" b="1" i="0" baseline="0" dirty="0">
                          <a:solidFill>
                            <a:srgbClr val="000000"/>
                          </a:solidFill>
                          <a:effectLst/>
                          <a:latin typeface="Calibri" panose="020F0502020204030204" pitchFamily="34" charset="0"/>
                          <a:hlinkClick r:id="rId3"/>
                        </a:rPr>
                        <a:t> COSTS</a:t>
                      </a:r>
                      <a:endParaRPr lang="en-IN"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Cost of goods sold (COGS) + operating expenses (OPEX)</a:t>
                      </a:r>
                      <a:endParaRPr lang="en-IN"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31520">
                <a:tc>
                  <a:txBody>
                    <a:bodyPr/>
                    <a:lstStyle/>
                    <a:p>
                      <a:pPr algn="l" fontAlgn="base"/>
                      <a:r>
                        <a:rPr lang="en-IN" sz="1200" b="1" i="0" dirty="0">
                          <a:solidFill>
                            <a:srgbClr val="000000"/>
                          </a:solidFill>
                          <a:effectLst/>
                          <a:latin typeface="Calibri" panose="020F0502020204030204" pitchFamily="34" charset="0"/>
                          <a:hlinkClick r:id="rId4"/>
                        </a:rPr>
                        <a:t>OPERATING</a:t>
                      </a:r>
                      <a:r>
                        <a:rPr lang="en-IN" sz="1200" b="1" i="0" baseline="0" dirty="0">
                          <a:solidFill>
                            <a:srgbClr val="000000"/>
                          </a:solidFill>
                          <a:effectLst/>
                          <a:latin typeface="Calibri" panose="020F0502020204030204" pitchFamily="34" charset="0"/>
                          <a:hlinkClick r:id="rId4"/>
                        </a:rPr>
                        <a:t> PROFIT</a:t>
                      </a:r>
                      <a:endParaRPr lang="en-IN" sz="3200" b="0" i="0" dirty="0">
                        <a:solidFill>
                          <a:srgbClr val="000000"/>
                        </a:solidFill>
                        <a:effectLst/>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Revenue from Core Operations – Cost of Goods Sold – Operating Expenses – Depreciation – Amortization Expenses</a:t>
                      </a:r>
                      <a:endParaRPr lang="en-IN"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1520">
                <a:tc>
                  <a:txBody>
                    <a:bodyPr/>
                    <a:lstStyle/>
                    <a:p>
                      <a:pPr algn="l" fontAlgn="base"/>
                      <a:r>
                        <a:rPr lang="en-IN" sz="12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CHURN RATE</a:t>
                      </a: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ase"/>
                      <a:r>
                        <a:rPr lang="en-US" sz="1800" b="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(Customers at the beginning of the period – customers at the end of the period) / customers at the beginning of the period</a:t>
                      </a:r>
                      <a:endParaRPr lang="en-IN"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182880" marR="182880" marT="91440" marB="9144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Rectangle 1"/>
          <p:cNvSpPr>
            <a:spLocks noChangeArrowheads="1"/>
          </p:cNvSpPr>
          <p:nvPr/>
        </p:nvSpPr>
        <p:spPr bwMode="auto">
          <a:xfrm>
            <a:off x="1227400" y="6608369"/>
            <a:ext cx="247806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1828800"/>
            <a:r>
              <a:rPr lang="en-US" altLang="en-US" sz="2200">
                <a:solidFill>
                  <a:srgbClr val="000000"/>
                </a:solidFill>
                <a:latin typeface="Times New Roman" panose="02020603050405020304" pitchFamily="18" charset="0"/>
                <a:cs typeface="Times New Roman" panose="02020603050405020304" pitchFamily="18" charset="0"/>
              </a:rPr>
              <a:t> </a:t>
            </a:r>
            <a:endParaRPr lang="en-US" altLang="en-US" sz="2200"/>
          </a:p>
          <a:p>
            <a:pPr defTabSz="1828800"/>
            <a:endParaRPr lang="en-US" altLang="en-US" sz="2200"/>
          </a:p>
        </p:txBody>
      </p:sp>
      <p:graphicFrame>
        <p:nvGraphicFramePr>
          <p:cNvPr id="12" name="Table 11"/>
          <p:cNvGraphicFramePr>
            <a:graphicFrameLocks noGrp="1"/>
          </p:cNvGraphicFramePr>
          <p:nvPr>
            <p:extLst>
              <p:ext uri="{D42A27DB-BD31-4B8C-83A1-F6EECF244321}">
                <p14:modId xmlns:p14="http://schemas.microsoft.com/office/powerpoint/2010/main" val="3064487269"/>
              </p:ext>
            </p:extLst>
          </p:nvPr>
        </p:nvGraphicFramePr>
        <p:xfrm>
          <a:off x="13622724" y="4762500"/>
          <a:ext cx="4402615" cy="7569200"/>
        </p:xfrm>
        <a:graphic>
          <a:graphicData uri="http://schemas.openxmlformats.org/drawingml/2006/table">
            <a:tbl>
              <a:tblPr firstRow="1" bandRow="1">
                <a:tableStyleId>{5C22544A-7EE6-4342-B048-85BDC9FD1C3A}</a:tableStyleId>
              </a:tblPr>
              <a:tblGrid>
                <a:gridCol w="4402615">
                  <a:extLst>
                    <a:ext uri="{9D8B030D-6E8A-4147-A177-3AD203B41FA5}">
                      <a16:colId xmlns:a16="http://schemas.microsoft.com/office/drawing/2014/main" val="20000"/>
                    </a:ext>
                  </a:extLst>
                </a:gridCol>
              </a:tblGrid>
              <a:tr h="741680">
                <a:tc>
                  <a:txBody>
                    <a:bodyPr/>
                    <a:lstStyle/>
                    <a:p>
                      <a:pPr algn="just"/>
                      <a:r>
                        <a:rPr lang="en-IN" sz="1600" dirty="0">
                          <a:solidFill>
                            <a:schemeClr val="tx1"/>
                          </a:solidFill>
                          <a:latin typeface="Arial" panose="020B0604020202020204" pitchFamily="34" charset="0"/>
                          <a:cs typeface="Arial" panose="020B0604020202020204" pitchFamily="34" charset="0"/>
                        </a:rPr>
                        <a:t>Assumptions Year 1(2026)</a:t>
                      </a:r>
                    </a:p>
                  </a:txBody>
                  <a:tcPr marL="182880" marR="182880" marT="91440" marB="91440">
                    <a:noFill/>
                  </a:tcPr>
                </a:tc>
                <a:extLst>
                  <a:ext uri="{0D108BD9-81ED-4DB2-BD59-A6C34878D82A}">
                    <a16:rowId xmlns:a16="http://schemas.microsoft.com/office/drawing/2014/main" val="10000"/>
                  </a:ext>
                </a:extLst>
              </a:tr>
              <a:tr h="741680">
                <a:tc>
                  <a:txBody>
                    <a:bodyPr/>
                    <a:lstStyle/>
                    <a:p>
                      <a:r>
                        <a:rPr lang="en-IN" sz="2000" dirty="0"/>
                        <a:t>Subscription price per user: ₹499/year</a:t>
                      </a:r>
                    </a:p>
                    <a:p>
                      <a:endParaRPr lang="en-IN" sz="2000" dirty="0"/>
                    </a:p>
                    <a:p>
                      <a:r>
                        <a:rPr lang="en-IN" sz="2000" dirty="0"/>
                        <a:t> 500 customers acquired in Year 1</a:t>
                      </a:r>
                    </a:p>
                    <a:p>
                      <a:endParaRPr lang="en-IN" sz="2000" dirty="0"/>
                    </a:p>
                    <a:p>
                      <a:r>
                        <a:rPr lang="en-IN" sz="2000" dirty="0"/>
                        <a:t> Marketing cost per customer: ₹100</a:t>
                      </a:r>
                    </a:p>
                    <a:p>
                      <a:endParaRPr lang="en-IN" sz="2000" dirty="0"/>
                    </a:p>
                    <a:p>
                      <a:r>
                        <a:rPr lang="en-IN" sz="2000" dirty="0"/>
                        <a:t> Gross margin: 80% </a:t>
                      </a:r>
                    </a:p>
                    <a:p>
                      <a:endParaRPr lang="en-IN" sz="2000" dirty="0"/>
                    </a:p>
                    <a:p>
                      <a:r>
                        <a:rPr lang="en-IN" sz="2000" dirty="0"/>
                        <a:t>Customer lifetime:  3 years   </a:t>
                      </a:r>
                    </a:p>
                    <a:p>
                      <a:r>
                        <a:rPr lang="en-IN" sz="2000" dirty="0">
                          <a:latin typeface="Arial" panose="020B0604020202020204" pitchFamily="34" charset="0"/>
                          <a:cs typeface="Arial" panose="020B0604020202020204" pitchFamily="34" charset="0"/>
                        </a:rPr>
                        <a:t>   </a:t>
                      </a:r>
                    </a:p>
                  </a:txBody>
                  <a:tcPr marL="182880" marR="182880" marT="91440" marB="91440">
                    <a:noFill/>
                  </a:tcPr>
                </a:tc>
                <a:extLst>
                  <a:ext uri="{0D108BD9-81ED-4DB2-BD59-A6C34878D82A}">
                    <a16:rowId xmlns:a16="http://schemas.microsoft.com/office/drawing/2014/main" val="10001"/>
                  </a:ext>
                </a:extLst>
              </a:tr>
              <a:tr h="3596640">
                <a:tc>
                  <a:txBody>
                    <a:bodyPr/>
                    <a:lstStyle/>
                    <a:p>
                      <a:endParaRPr lang="en-IN" sz="2400" baseline="0" dirty="0">
                        <a:latin typeface="Arial"/>
                        <a:cs typeface="Arial"/>
                      </a:endParaRPr>
                    </a:p>
                  </a:txBody>
                  <a:tcPr marL="182880" marR="182880" marT="91440" marB="91440">
                    <a:noFill/>
                  </a:tcPr>
                </a:tc>
                <a:extLst>
                  <a:ext uri="{0D108BD9-81ED-4DB2-BD59-A6C34878D82A}">
                    <a16:rowId xmlns:a16="http://schemas.microsoft.com/office/drawing/2014/main" val="10002"/>
                  </a:ext>
                </a:extLst>
              </a:tr>
            </a:tbl>
          </a:graphicData>
        </a:graphic>
      </p:graphicFrame>
      <p:pic>
        <p:nvPicPr>
          <p:cNvPr id="3" name="Picture 2" descr="AUTOFIXAI">
            <a:extLst>
              <a:ext uri="{FF2B5EF4-FFF2-40B4-BE49-F238E27FC236}">
                <a16:creationId xmlns:a16="http://schemas.microsoft.com/office/drawing/2014/main" id="{CE38577B-42D7-E50D-EA1D-3DE3F944E4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002000" y="642513"/>
            <a:ext cx="1881974" cy="1600200"/>
          </a:xfrm>
          <a:prstGeom prst="rect">
            <a:avLst/>
          </a:prstGeom>
        </p:spPr>
      </p:pic>
    </p:spTree>
    <p:extLst>
      <p:ext uri="{BB962C8B-B14F-4D97-AF65-F5344CB8AC3E}">
        <p14:creationId xmlns:p14="http://schemas.microsoft.com/office/powerpoint/2010/main" val="12320983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09600" y="2095500"/>
            <a:ext cx="7791254" cy="7294305"/>
          </a:xfrm>
          <a:prstGeom prst="rect">
            <a:avLst/>
          </a:prstGeom>
          <a:noFill/>
          <a:ln>
            <a:solidFill>
              <a:schemeClr val="bg2">
                <a:lumMod val="50000"/>
              </a:schemeClr>
            </a:solidFill>
          </a:ln>
        </p:spPr>
        <p:txBody>
          <a:bodyPr wrap="square" rtlCol="0">
            <a:spAutoFit/>
          </a:bodyPr>
          <a:lstStyle/>
          <a:p>
            <a:r>
              <a:rPr lang="en-IN" sz="2700" b="1" dirty="0"/>
              <a:t>How much funds required to reach to the next level of the venture?</a:t>
            </a:r>
          </a:p>
          <a:p>
            <a:pPr marL="428625" indent="-428625">
              <a:buFont typeface="Arial" panose="020B0604020202020204" pitchFamily="34" charset="0"/>
              <a:buChar char="•"/>
            </a:pPr>
            <a:r>
              <a:rPr lang="en-IN" sz="2800" dirty="0"/>
              <a:t>We require </a:t>
            </a:r>
            <a:r>
              <a:rPr lang="en-IN" sz="2800" b="1" dirty="0"/>
              <a:t>₹5 lakh</a:t>
            </a:r>
            <a:r>
              <a:rPr lang="en-IN" sz="2800" dirty="0"/>
              <a:t> to complete app development, testing, and launch.</a:t>
            </a:r>
            <a:endParaRPr lang="en-IN" sz="2700" dirty="0"/>
          </a:p>
          <a:p>
            <a:endParaRPr lang="en-IN" sz="2700" dirty="0"/>
          </a:p>
          <a:p>
            <a:r>
              <a:rPr lang="en-IN" sz="2700" b="1" dirty="0"/>
              <a:t>How much have been bootstrapped? If not, why ?</a:t>
            </a:r>
            <a:endParaRPr lang="en-IN" sz="2700" dirty="0"/>
          </a:p>
          <a:p>
            <a:pPr marL="428625" indent="-428625">
              <a:buFont typeface="Arial" panose="020B0604020202020204" pitchFamily="34" charset="0"/>
              <a:buChar char="•"/>
            </a:pPr>
            <a:r>
              <a:rPr lang="en-IN" sz="2800" dirty="0"/>
              <a:t>We have bootstrapped </a:t>
            </a:r>
            <a:r>
              <a:rPr lang="en-IN" sz="2800" b="1" dirty="0"/>
              <a:t>₹50,000</a:t>
            </a:r>
            <a:r>
              <a:rPr lang="en-IN" sz="2800" dirty="0"/>
              <a:t> using team resources and student support.</a:t>
            </a:r>
            <a:endParaRPr lang="en-IN" sz="2700" dirty="0"/>
          </a:p>
          <a:p>
            <a:pPr marL="428625" indent="-428625">
              <a:buFont typeface="Arial" panose="020B0604020202020204" pitchFamily="34" charset="0"/>
              <a:buChar char="•"/>
            </a:pPr>
            <a:endParaRPr lang="en-IN" sz="2700" dirty="0"/>
          </a:p>
          <a:p>
            <a:r>
              <a:rPr lang="en-IN" sz="2700" b="1" dirty="0"/>
              <a:t>How much can be bootstrapped?</a:t>
            </a:r>
          </a:p>
          <a:p>
            <a:pPr marL="428625" indent="-428625">
              <a:buFont typeface="Arial" panose="020B0604020202020204" pitchFamily="34" charset="0"/>
              <a:buChar char="•"/>
            </a:pPr>
            <a:r>
              <a:rPr lang="en-IN" sz="2800" dirty="0"/>
              <a:t>We can bootstrap an additional </a:t>
            </a:r>
            <a:r>
              <a:rPr lang="en-IN" sz="2800" b="1" dirty="0"/>
              <a:t>₹1 lakh</a:t>
            </a:r>
            <a:r>
              <a:rPr lang="en-IN" sz="2800" dirty="0"/>
              <a:t> through team contributions.</a:t>
            </a:r>
            <a:endParaRPr lang="en-IN" sz="2700" dirty="0"/>
          </a:p>
          <a:p>
            <a:endParaRPr lang="en-IN" sz="2700" dirty="0"/>
          </a:p>
          <a:p>
            <a:r>
              <a:rPr lang="en-IN" sz="2700" b="1" dirty="0"/>
              <a:t>How much external funding required? If not, why?</a:t>
            </a:r>
          </a:p>
          <a:p>
            <a:pPr marL="428625" indent="-428625">
              <a:buFont typeface="Arial" panose="020B0604020202020204" pitchFamily="34" charset="0"/>
              <a:buChar char="•"/>
            </a:pPr>
            <a:r>
              <a:rPr lang="en-IN" sz="2800" dirty="0"/>
              <a:t>We require </a:t>
            </a:r>
            <a:r>
              <a:rPr lang="en-IN" sz="2800" b="1" dirty="0"/>
              <a:t>₹3.5 lakh</a:t>
            </a:r>
            <a:r>
              <a:rPr lang="en-IN" sz="2800" dirty="0"/>
              <a:t> in external funding for growth and marketing.</a:t>
            </a:r>
          </a:p>
          <a:p>
            <a:pPr marL="428625" indent="-428625">
              <a:buFont typeface="Arial" panose="020B0604020202020204" pitchFamily="34" charset="0"/>
              <a:buChar char="•"/>
            </a:pPr>
            <a:endParaRPr lang="en-IN" sz="2800" dirty="0"/>
          </a:p>
        </p:txBody>
      </p:sp>
      <p:sp>
        <p:nvSpPr>
          <p:cNvPr id="11" name="TextBox 10"/>
          <p:cNvSpPr txBox="1"/>
          <p:nvPr/>
        </p:nvSpPr>
        <p:spPr>
          <a:xfrm>
            <a:off x="9372600" y="2095500"/>
            <a:ext cx="7791254" cy="7509748"/>
          </a:xfrm>
          <a:prstGeom prst="rect">
            <a:avLst/>
          </a:prstGeom>
          <a:noFill/>
          <a:ln>
            <a:solidFill>
              <a:schemeClr val="bg2">
                <a:lumMod val="50000"/>
              </a:schemeClr>
            </a:solidFill>
          </a:ln>
        </p:spPr>
        <p:txBody>
          <a:bodyPr wrap="square" rtlCol="0">
            <a:spAutoFit/>
          </a:bodyPr>
          <a:lstStyle/>
          <a:p>
            <a:r>
              <a:rPr lang="en-IN" sz="2700" b="1" dirty="0"/>
              <a:t>Funds utilization strategy (Details)</a:t>
            </a:r>
          </a:p>
          <a:p>
            <a:r>
              <a:rPr lang="en-IN" sz="2700" b="1" dirty="0"/>
              <a:t>  Money                Category</a:t>
            </a:r>
          </a:p>
          <a:p>
            <a:r>
              <a:rPr lang="en-IN" sz="2800" dirty="0"/>
              <a:t>• </a:t>
            </a:r>
            <a:r>
              <a:rPr lang="en-IN" sz="2000" b="1" dirty="0"/>
              <a:t>₹2,00,000         App development and AI integration</a:t>
            </a:r>
          </a:p>
          <a:p>
            <a:br>
              <a:rPr lang="en-IN" sz="2000" b="1" dirty="0"/>
            </a:br>
            <a:r>
              <a:rPr lang="en-IN" sz="2000" b="1" dirty="0"/>
              <a:t>• ₹50,000             Cloud hosting and software tools</a:t>
            </a:r>
          </a:p>
          <a:p>
            <a:br>
              <a:rPr lang="en-IN" sz="2000" b="1" dirty="0"/>
            </a:br>
            <a:r>
              <a:rPr lang="en-IN" sz="2000" b="1" dirty="0"/>
              <a:t>• ₹1,00,000          Marketing and user acquisition</a:t>
            </a:r>
          </a:p>
          <a:p>
            <a:br>
              <a:rPr lang="en-IN" sz="2000" b="1" dirty="0"/>
            </a:br>
            <a:r>
              <a:rPr lang="en-IN" sz="2000" b="1" dirty="0"/>
              <a:t>• ₹50,000             Garage partner onboarding</a:t>
            </a:r>
          </a:p>
          <a:p>
            <a:br>
              <a:rPr lang="en-IN" sz="2000" b="1" dirty="0"/>
            </a:br>
            <a:r>
              <a:rPr lang="en-IN" sz="2000" b="1" dirty="0"/>
              <a:t>• ₹25,000             Testing and bug fixing</a:t>
            </a:r>
          </a:p>
          <a:p>
            <a:br>
              <a:rPr lang="en-IN" sz="2000" b="1" dirty="0"/>
            </a:br>
            <a:r>
              <a:rPr lang="en-IN" sz="2000" b="1" dirty="0"/>
              <a:t>• ₹25,000             Customer support setup</a:t>
            </a:r>
          </a:p>
          <a:p>
            <a:br>
              <a:rPr lang="en-IN" sz="2000" b="1" dirty="0"/>
            </a:br>
            <a:r>
              <a:rPr lang="en-IN" sz="2000" b="1" dirty="0"/>
              <a:t>• ₹25,000              Website and landing page</a:t>
            </a:r>
          </a:p>
          <a:p>
            <a:br>
              <a:rPr lang="en-IN" sz="2000" b="1" dirty="0"/>
            </a:br>
            <a:r>
              <a:rPr lang="en-IN" sz="2000" b="1" dirty="0"/>
              <a:t>• ₹15,000              Legal and registration expenses</a:t>
            </a:r>
          </a:p>
          <a:p>
            <a:br>
              <a:rPr lang="en-IN" sz="2000" b="1" dirty="0"/>
            </a:br>
            <a:r>
              <a:rPr lang="en-IN" sz="2000" b="1" dirty="0"/>
              <a:t>• ₹10,000              Design and branding</a:t>
            </a:r>
          </a:p>
          <a:p>
            <a:br>
              <a:rPr lang="en-IN" sz="2000" b="1" dirty="0"/>
            </a:br>
            <a:r>
              <a:rPr lang="en-IN" sz="2000" b="1" dirty="0"/>
              <a:t>• ₹25,000              Emergency and miscellaneous expenses</a:t>
            </a:r>
          </a:p>
          <a:p>
            <a:endParaRPr lang="en-IN" sz="2000" dirty="0"/>
          </a:p>
          <a:p>
            <a:r>
              <a:rPr lang="en-IN" sz="2000" b="1" dirty="0"/>
              <a:t>TOTAL : ₹5,25,000</a:t>
            </a:r>
          </a:p>
        </p:txBody>
      </p:sp>
      <p:sp>
        <p:nvSpPr>
          <p:cNvPr id="8" name="Title 1">
            <a:extLst>
              <a:ext uri="{FF2B5EF4-FFF2-40B4-BE49-F238E27FC236}">
                <a16:creationId xmlns:a16="http://schemas.microsoft.com/office/drawing/2014/main" id="{98D3BFB5-F3EC-4B74-9DA7-84AA6BA58C5E}"/>
              </a:ext>
            </a:extLst>
          </p:cNvPr>
          <p:cNvSpPr txBox="1">
            <a:spLocks/>
          </p:cNvSpPr>
          <p:nvPr/>
        </p:nvSpPr>
        <p:spPr>
          <a:xfrm>
            <a:off x="-4876800" y="-114300"/>
            <a:ext cx="15773400" cy="652462"/>
          </a:xfrm>
          <a:prstGeom prst="rect">
            <a:avLst/>
          </a:prstGeom>
        </p:spPr>
        <p:txBody>
          <a:bodyPr vert="horz" lIns="182880" tIns="91440" rIns="182880" bIns="91440" rtlCol="0" anchor="t">
            <a:noAutofit/>
          </a:bodyPr>
          <a:lstStyle>
            <a:lvl1pPr algn="ctr" defTabSz="914400" rtl="0" eaLnBrk="1" latinLnBrk="0" hangingPunct="1">
              <a:spcBef>
                <a:spcPct val="0"/>
              </a:spcBef>
              <a:buNone/>
              <a:defRPr sz="3000" b="1" kern="1200">
                <a:solidFill>
                  <a:srgbClr val="9E0D20"/>
                </a:solidFill>
                <a:latin typeface="Raleway" panose="020B0503030101060003" pitchFamily="34" charset="0"/>
                <a:ea typeface="+mj-ea"/>
                <a:cs typeface="+mj-cs"/>
              </a:defRPr>
            </a:lvl1pPr>
          </a:lstStyle>
          <a:p>
            <a:r>
              <a:rPr lang="en-US" sz="6000" dirty="0">
                <a:solidFill>
                  <a:schemeClr val="tx1"/>
                </a:solidFill>
                <a:latin typeface="Antonio Bold"/>
              </a:rPr>
              <a:t>Funding</a:t>
            </a:r>
            <a:r>
              <a:rPr lang="en-US" sz="6000" dirty="0">
                <a:solidFill>
                  <a:srgbClr val="C00000"/>
                </a:solidFill>
                <a:latin typeface="Antonio Bold"/>
              </a:rPr>
              <a:t> </a:t>
            </a:r>
            <a:r>
              <a:rPr lang="en-US" sz="6000" dirty="0">
                <a:solidFill>
                  <a:schemeClr val="tx1"/>
                </a:solidFill>
                <a:latin typeface="Antonio Bold"/>
              </a:rPr>
              <a:t>Plan</a:t>
            </a:r>
            <a:r>
              <a:rPr lang="en-US" sz="6000" dirty="0">
                <a:solidFill>
                  <a:srgbClr val="C00000"/>
                </a:solidFill>
                <a:latin typeface="Antonio Bold"/>
              </a:rPr>
              <a:t> </a:t>
            </a:r>
          </a:p>
        </p:txBody>
      </p:sp>
      <p:sp>
        <p:nvSpPr>
          <p:cNvPr id="20" name="Rectangle 19">
            <a:extLst>
              <a:ext uri="{FF2B5EF4-FFF2-40B4-BE49-F238E27FC236}">
                <a16:creationId xmlns:a16="http://schemas.microsoft.com/office/drawing/2014/main" id="{5DE34494-019C-4AF1-907B-33245967C575}"/>
              </a:ext>
            </a:extLst>
          </p:cNvPr>
          <p:cNvSpPr/>
          <p:nvPr/>
        </p:nvSpPr>
        <p:spPr>
          <a:xfrm>
            <a:off x="15912052" y="329473"/>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1" name="TextBox 20">
            <a:extLst>
              <a:ext uri="{FF2B5EF4-FFF2-40B4-BE49-F238E27FC236}">
                <a16:creationId xmlns:a16="http://schemas.microsoft.com/office/drawing/2014/main" id="{437D10F2-D825-4F14-8721-CF5105D60893}"/>
              </a:ext>
            </a:extLst>
          </p:cNvPr>
          <p:cNvSpPr txBox="1"/>
          <p:nvPr/>
        </p:nvSpPr>
        <p:spPr>
          <a:xfrm>
            <a:off x="16107818" y="730293"/>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cxnSp>
        <p:nvCxnSpPr>
          <p:cNvPr id="3" name="Straight Connector 2">
            <a:extLst>
              <a:ext uri="{FF2B5EF4-FFF2-40B4-BE49-F238E27FC236}">
                <a16:creationId xmlns:a16="http://schemas.microsoft.com/office/drawing/2014/main" id="{8BD427C8-9212-8EB5-9F16-E8ABECE2F2C2}"/>
              </a:ext>
            </a:extLst>
          </p:cNvPr>
          <p:cNvCxnSpPr/>
          <p:nvPr/>
        </p:nvCxnSpPr>
        <p:spPr>
          <a:xfrm>
            <a:off x="9525000" y="3009900"/>
            <a:ext cx="72346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EDE8CC-9D08-12A7-3A1E-EBF64FB68F19}"/>
              </a:ext>
            </a:extLst>
          </p:cNvPr>
          <p:cNvCxnSpPr/>
          <p:nvPr/>
        </p:nvCxnSpPr>
        <p:spPr>
          <a:xfrm>
            <a:off x="9525000" y="8958917"/>
            <a:ext cx="7234662"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descr="AUTOFIXAI">
            <a:extLst>
              <a:ext uri="{FF2B5EF4-FFF2-40B4-BE49-F238E27FC236}">
                <a16:creationId xmlns:a16="http://schemas.microsoft.com/office/drawing/2014/main" id="{3125D60B-B59B-0236-EB7A-EEF1D58F71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18675" y="256629"/>
            <a:ext cx="1881974" cy="1600200"/>
          </a:xfrm>
          <a:prstGeom prst="rect">
            <a:avLst/>
          </a:prstGeom>
        </p:spPr>
      </p:pic>
    </p:spTree>
    <p:extLst>
      <p:ext uri="{BB962C8B-B14F-4D97-AF65-F5344CB8AC3E}">
        <p14:creationId xmlns:p14="http://schemas.microsoft.com/office/powerpoint/2010/main" val="311535424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80">
                                          <p:stCondLst>
                                            <p:cond delay="0"/>
                                          </p:stCondLst>
                                        </p:cTn>
                                        <p:tgtEl>
                                          <p:spTgt spid="11"/>
                                        </p:tgtEl>
                                      </p:cBhvr>
                                    </p:animEffect>
                                    <p:anim calcmode="lin" valueType="num">
                                      <p:cBhvr>
                                        <p:cTn id="2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1" dur="26">
                                          <p:stCondLst>
                                            <p:cond delay="650"/>
                                          </p:stCondLst>
                                        </p:cTn>
                                        <p:tgtEl>
                                          <p:spTgt spid="11"/>
                                        </p:tgtEl>
                                      </p:cBhvr>
                                      <p:to x="100000" y="60000"/>
                                    </p:animScale>
                                    <p:animScale>
                                      <p:cBhvr>
                                        <p:cTn id="32" dur="166" decel="50000">
                                          <p:stCondLst>
                                            <p:cond delay="676"/>
                                          </p:stCondLst>
                                        </p:cTn>
                                        <p:tgtEl>
                                          <p:spTgt spid="11"/>
                                        </p:tgtEl>
                                      </p:cBhvr>
                                      <p:to x="100000" y="100000"/>
                                    </p:animScale>
                                    <p:animScale>
                                      <p:cBhvr>
                                        <p:cTn id="33" dur="26">
                                          <p:stCondLst>
                                            <p:cond delay="1312"/>
                                          </p:stCondLst>
                                        </p:cTn>
                                        <p:tgtEl>
                                          <p:spTgt spid="11"/>
                                        </p:tgtEl>
                                      </p:cBhvr>
                                      <p:to x="100000" y="80000"/>
                                    </p:animScale>
                                    <p:animScale>
                                      <p:cBhvr>
                                        <p:cTn id="34" dur="166" decel="50000">
                                          <p:stCondLst>
                                            <p:cond delay="1338"/>
                                          </p:stCondLst>
                                        </p:cTn>
                                        <p:tgtEl>
                                          <p:spTgt spid="11"/>
                                        </p:tgtEl>
                                      </p:cBhvr>
                                      <p:to x="100000" y="100000"/>
                                    </p:animScale>
                                    <p:animScale>
                                      <p:cBhvr>
                                        <p:cTn id="35" dur="26">
                                          <p:stCondLst>
                                            <p:cond delay="1642"/>
                                          </p:stCondLst>
                                        </p:cTn>
                                        <p:tgtEl>
                                          <p:spTgt spid="11"/>
                                        </p:tgtEl>
                                      </p:cBhvr>
                                      <p:to x="100000" y="90000"/>
                                    </p:animScale>
                                    <p:animScale>
                                      <p:cBhvr>
                                        <p:cTn id="36" dur="166" decel="50000">
                                          <p:stCondLst>
                                            <p:cond delay="1668"/>
                                          </p:stCondLst>
                                        </p:cTn>
                                        <p:tgtEl>
                                          <p:spTgt spid="11"/>
                                        </p:tgtEl>
                                      </p:cBhvr>
                                      <p:to x="100000" y="100000"/>
                                    </p:animScale>
                                    <p:animScale>
                                      <p:cBhvr>
                                        <p:cTn id="37" dur="26">
                                          <p:stCondLst>
                                            <p:cond delay="1808"/>
                                          </p:stCondLst>
                                        </p:cTn>
                                        <p:tgtEl>
                                          <p:spTgt spid="11"/>
                                        </p:tgtEl>
                                      </p:cBhvr>
                                      <p:to x="100000" y="95000"/>
                                    </p:animScale>
                                    <p:animScale>
                                      <p:cBhvr>
                                        <p:cTn id="38"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204200" y="-13647"/>
            <a:ext cx="12338484" cy="1019574"/>
          </a:xfrm>
          <a:prstGeom prst="rect">
            <a:avLst/>
          </a:prstGeom>
        </p:spPr>
        <p:txBody>
          <a:bodyPr wrap="square" lIns="0" tIns="0" rIns="0" bIns="0" rtlCol="0" anchor="t">
            <a:spAutoFit/>
          </a:bodyPr>
          <a:lstStyle/>
          <a:p>
            <a:pPr>
              <a:lnSpc>
                <a:spcPts val="8747"/>
              </a:lnSpc>
            </a:pPr>
            <a:r>
              <a:rPr lang="en-US" sz="5400" b="1" dirty="0">
                <a:cs typeface="Times New Roman" panose="02020603050405020304" pitchFamily="18" charset="0"/>
              </a:rPr>
              <a:t>Team Composition</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121640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45" name="Rectangle 44">
            <a:extLst>
              <a:ext uri="{FF2B5EF4-FFF2-40B4-BE49-F238E27FC236}">
                <a16:creationId xmlns:a16="http://schemas.microsoft.com/office/drawing/2014/main" id="{FE41B64D-B44D-44C6-BDBC-3EBF35934BD5}"/>
              </a:ext>
            </a:extLst>
          </p:cNvPr>
          <p:cNvSpPr/>
          <p:nvPr/>
        </p:nvSpPr>
        <p:spPr>
          <a:xfrm>
            <a:off x="925593" y="2993494"/>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Rectangle 45">
            <a:extLst>
              <a:ext uri="{FF2B5EF4-FFF2-40B4-BE49-F238E27FC236}">
                <a16:creationId xmlns:a16="http://schemas.microsoft.com/office/drawing/2014/main" id="{56942A5F-346B-4A9B-8B0F-4CA8E26F5936}"/>
              </a:ext>
            </a:extLst>
          </p:cNvPr>
          <p:cNvSpPr/>
          <p:nvPr/>
        </p:nvSpPr>
        <p:spPr>
          <a:xfrm>
            <a:off x="4469322" y="2977960"/>
            <a:ext cx="1475128" cy="147758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7" name="TextBox 46">
            <a:extLst>
              <a:ext uri="{FF2B5EF4-FFF2-40B4-BE49-F238E27FC236}">
                <a16:creationId xmlns:a16="http://schemas.microsoft.com/office/drawing/2014/main" id="{F961E885-688B-47C4-BE5D-90587DA49207}"/>
              </a:ext>
            </a:extLst>
          </p:cNvPr>
          <p:cNvSpPr txBox="1"/>
          <p:nvPr/>
        </p:nvSpPr>
        <p:spPr>
          <a:xfrm>
            <a:off x="4603488" y="3240807"/>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48" name="Rectangle 47">
            <a:extLst>
              <a:ext uri="{FF2B5EF4-FFF2-40B4-BE49-F238E27FC236}">
                <a16:creationId xmlns:a16="http://schemas.microsoft.com/office/drawing/2014/main" id="{0EA7884A-0608-4E8F-AEEB-438C18DE1534}"/>
              </a:ext>
            </a:extLst>
          </p:cNvPr>
          <p:cNvSpPr/>
          <p:nvPr/>
        </p:nvSpPr>
        <p:spPr>
          <a:xfrm>
            <a:off x="7467069" y="2901151"/>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9" name="TextBox 48">
            <a:extLst>
              <a:ext uri="{FF2B5EF4-FFF2-40B4-BE49-F238E27FC236}">
                <a16:creationId xmlns:a16="http://schemas.microsoft.com/office/drawing/2014/main" id="{A874D554-969C-4697-B06E-D7709DC86278}"/>
              </a:ext>
            </a:extLst>
          </p:cNvPr>
          <p:cNvSpPr txBox="1"/>
          <p:nvPr/>
        </p:nvSpPr>
        <p:spPr>
          <a:xfrm>
            <a:off x="7630905" y="324534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50" name="TextBox 49">
            <a:extLst>
              <a:ext uri="{FF2B5EF4-FFF2-40B4-BE49-F238E27FC236}">
                <a16:creationId xmlns:a16="http://schemas.microsoft.com/office/drawing/2014/main" id="{2A0B3626-D74C-4000-9FF5-75B635C12759}"/>
              </a:ext>
            </a:extLst>
          </p:cNvPr>
          <p:cNvSpPr txBox="1"/>
          <p:nvPr/>
        </p:nvSpPr>
        <p:spPr>
          <a:xfrm>
            <a:off x="970345" y="312617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7" name="Rectangle 6"/>
          <p:cNvSpPr/>
          <p:nvPr/>
        </p:nvSpPr>
        <p:spPr>
          <a:xfrm>
            <a:off x="758428" y="2098215"/>
            <a:ext cx="1763944" cy="369332"/>
          </a:xfrm>
          <a:prstGeom prst="rect">
            <a:avLst/>
          </a:prstGeom>
        </p:spPr>
        <p:txBody>
          <a:bodyPr wrap="none">
            <a:spAutoFit/>
          </a:bodyPr>
          <a:lstStyle/>
          <a:p>
            <a:r>
              <a:rPr lang="en-US" dirty="0"/>
              <a:t>Team member 1 </a:t>
            </a:r>
          </a:p>
        </p:txBody>
      </p:sp>
      <p:sp>
        <p:nvSpPr>
          <p:cNvPr id="24" name="Rectangle 23"/>
          <p:cNvSpPr/>
          <p:nvPr/>
        </p:nvSpPr>
        <p:spPr>
          <a:xfrm>
            <a:off x="4422856" y="2098215"/>
            <a:ext cx="2052535" cy="369332"/>
          </a:xfrm>
          <a:prstGeom prst="rect">
            <a:avLst/>
          </a:prstGeom>
        </p:spPr>
        <p:txBody>
          <a:bodyPr wrap="square">
            <a:spAutoFit/>
          </a:bodyPr>
          <a:lstStyle/>
          <a:p>
            <a:r>
              <a:rPr lang="en-US" dirty="0"/>
              <a:t>Team  member 2 </a:t>
            </a:r>
          </a:p>
        </p:txBody>
      </p:sp>
      <p:sp>
        <p:nvSpPr>
          <p:cNvPr id="25" name="Rectangle 24"/>
          <p:cNvSpPr/>
          <p:nvPr/>
        </p:nvSpPr>
        <p:spPr>
          <a:xfrm>
            <a:off x="7059549" y="2058047"/>
            <a:ext cx="2389251" cy="369332"/>
          </a:xfrm>
          <a:prstGeom prst="rect">
            <a:avLst/>
          </a:prstGeom>
        </p:spPr>
        <p:txBody>
          <a:bodyPr wrap="square">
            <a:spAutoFit/>
          </a:bodyPr>
          <a:lstStyle/>
          <a:p>
            <a:pPr algn="ctr"/>
            <a:r>
              <a:rPr lang="en-US" dirty="0"/>
              <a:t>Team member 3 </a:t>
            </a:r>
          </a:p>
        </p:txBody>
      </p:sp>
      <p:sp>
        <p:nvSpPr>
          <p:cNvPr id="8" name="Rectangle 7"/>
          <p:cNvSpPr/>
          <p:nvPr/>
        </p:nvSpPr>
        <p:spPr>
          <a:xfrm>
            <a:off x="811195" y="5121768"/>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CEO</a:t>
            </a:r>
          </a:p>
        </p:txBody>
      </p:sp>
      <p:sp>
        <p:nvSpPr>
          <p:cNvPr id="29" name="Rectangle 28"/>
          <p:cNvSpPr/>
          <p:nvPr/>
        </p:nvSpPr>
        <p:spPr>
          <a:xfrm>
            <a:off x="4469189" y="5160608"/>
            <a:ext cx="1552284" cy="646331"/>
          </a:xfrm>
          <a:prstGeom prst="rect">
            <a:avLst/>
          </a:prstGeom>
          <a:ln>
            <a:solidFill>
              <a:schemeClr val="tx1"/>
            </a:solidFill>
          </a:ln>
        </p:spPr>
        <p:txBody>
          <a:bodyPr wrap="none">
            <a:spAutoFit/>
          </a:bodyPr>
          <a:lstStyle/>
          <a:p>
            <a:r>
              <a:rPr lang="en-US" dirty="0"/>
              <a:t>Role/Position: </a:t>
            </a:r>
          </a:p>
          <a:p>
            <a:r>
              <a:rPr lang="en-US" dirty="0"/>
              <a:t>MARKET HEAD</a:t>
            </a:r>
          </a:p>
        </p:txBody>
      </p:sp>
      <p:sp>
        <p:nvSpPr>
          <p:cNvPr id="30" name="Rectangle 29"/>
          <p:cNvSpPr/>
          <p:nvPr/>
        </p:nvSpPr>
        <p:spPr>
          <a:xfrm>
            <a:off x="7672547" y="5149464"/>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CFO/CMO</a:t>
            </a:r>
          </a:p>
        </p:txBody>
      </p:sp>
      <p:sp>
        <p:nvSpPr>
          <p:cNvPr id="31" name="Rectangle 30"/>
          <p:cNvSpPr/>
          <p:nvPr/>
        </p:nvSpPr>
        <p:spPr>
          <a:xfrm>
            <a:off x="570642" y="6464545"/>
            <a:ext cx="2884997"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Logical thinking skills</a:t>
            </a:r>
          </a:p>
          <a:p>
            <a:endParaRPr lang="en-US" dirty="0"/>
          </a:p>
          <a:p>
            <a:r>
              <a:rPr lang="en-US" dirty="0"/>
              <a:t>Interest in AI and innovation</a:t>
            </a:r>
          </a:p>
          <a:p>
            <a:endParaRPr lang="en-US" dirty="0"/>
          </a:p>
          <a:p>
            <a:r>
              <a:rPr lang="en-US" dirty="0"/>
              <a:t>Willingness to learn</a:t>
            </a:r>
          </a:p>
          <a:p>
            <a:endParaRPr lang="en-US" dirty="0"/>
          </a:p>
          <a:p>
            <a:r>
              <a:rPr lang="en-US" dirty="0"/>
              <a:t>Presentation skills</a:t>
            </a:r>
          </a:p>
          <a:p>
            <a:endParaRPr lang="en-US" dirty="0"/>
          </a:p>
          <a:p>
            <a:endParaRPr lang="en-US" dirty="0"/>
          </a:p>
        </p:txBody>
      </p:sp>
      <p:sp>
        <p:nvSpPr>
          <p:cNvPr id="32" name="Rectangle 31"/>
          <p:cNvSpPr/>
          <p:nvPr/>
        </p:nvSpPr>
        <p:spPr>
          <a:xfrm>
            <a:off x="3784372" y="6515100"/>
            <a:ext cx="2845028"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Strong problem solving </a:t>
            </a:r>
          </a:p>
          <a:p>
            <a:endParaRPr lang="en-US" dirty="0"/>
          </a:p>
          <a:p>
            <a:r>
              <a:rPr lang="en-US" dirty="0"/>
              <a:t>Technical knowledge with AI  </a:t>
            </a:r>
          </a:p>
          <a:p>
            <a:r>
              <a:rPr lang="en-US" dirty="0"/>
              <a:t>and innovation</a:t>
            </a:r>
          </a:p>
          <a:p>
            <a:endParaRPr lang="en-US" dirty="0"/>
          </a:p>
          <a:p>
            <a:r>
              <a:rPr lang="en-US" dirty="0"/>
              <a:t>Good communication skills</a:t>
            </a:r>
          </a:p>
          <a:p>
            <a:endParaRPr lang="en-US" dirty="0"/>
          </a:p>
          <a:p>
            <a:r>
              <a:rPr lang="en-US" dirty="0"/>
              <a:t>Creative thinking</a:t>
            </a:r>
          </a:p>
          <a:p>
            <a:endParaRPr lang="en-US" dirty="0"/>
          </a:p>
        </p:txBody>
      </p:sp>
      <p:sp>
        <p:nvSpPr>
          <p:cNvPr id="33" name="Rectangle 32"/>
          <p:cNvSpPr/>
          <p:nvPr/>
        </p:nvSpPr>
        <p:spPr>
          <a:xfrm>
            <a:off x="7286865" y="6535299"/>
            <a:ext cx="2628546"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Technical knowledge</a:t>
            </a:r>
          </a:p>
          <a:p>
            <a:endParaRPr lang="en-US" dirty="0"/>
          </a:p>
          <a:p>
            <a:r>
              <a:rPr lang="en-US" dirty="0"/>
              <a:t>Communication skills</a:t>
            </a:r>
          </a:p>
          <a:p>
            <a:endParaRPr lang="en-US" dirty="0"/>
          </a:p>
          <a:p>
            <a:r>
              <a:rPr lang="en-US" dirty="0"/>
              <a:t>Confidence</a:t>
            </a:r>
          </a:p>
          <a:p>
            <a:endParaRPr lang="en-US" dirty="0"/>
          </a:p>
          <a:p>
            <a:endParaRPr lang="en-US" dirty="0"/>
          </a:p>
          <a:p>
            <a:endParaRPr lang="en-US" dirty="0"/>
          </a:p>
          <a:p>
            <a:endParaRPr lang="en-US" dirty="0"/>
          </a:p>
        </p:txBody>
      </p:sp>
      <p:sp>
        <p:nvSpPr>
          <p:cNvPr id="15" name="Rectangle 14"/>
          <p:cNvSpPr/>
          <p:nvPr/>
        </p:nvSpPr>
        <p:spPr>
          <a:xfrm>
            <a:off x="10340544" y="2505087"/>
            <a:ext cx="7879080" cy="3860544"/>
          </a:xfrm>
          <a:prstGeom prst="rect">
            <a:avLst/>
          </a:prstGeom>
          <a:ln>
            <a:solidFill>
              <a:schemeClr val="tx1"/>
            </a:solidFill>
          </a:ln>
        </p:spPr>
        <p:txBody>
          <a:bodyPr wrap="none">
            <a:spAutoFit/>
          </a:bodyPr>
          <a:lstStyle/>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What makes us a good team to solve the problem we chose?</a:t>
            </a: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  </a:t>
            </a:r>
            <a:r>
              <a:rPr lang="en-US" b="1" kern="0" dirty="0">
                <a:solidFill>
                  <a:srgbClr val="000000"/>
                </a:solidFill>
                <a:latin typeface="Arial"/>
                <a:ea typeface="+mn-lt"/>
                <a:cs typeface="Arial"/>
                <a:sym typeface="Arial"/>
              </a:rPr>
              <a:t>Our team is strong because we combine technical knowledge,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creative thinking, and problem-solving skills to approach the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problem from multiple angles. With clearly defined roles like CEO,</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Marketing Head, and CFO/CMO, we ensure efficient decision-making</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and execution. We share a strong interest in Al and innovation, which</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helps us build practical and modern solutions. Our communication, </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collaboration, and willingness to learn make us adaptable and</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focused on achieving results.</a:t>
            </a: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p:txBody>
      </p:sp>
      <p:pic>
        <p:nvPicPr>
          <p:cNvPr id="2" name="Picture 1" descr="AUTOFIXAI">
            <a:extLst>
              <a:ext uri="{FF2B5EF4-FFF2-40B4-BE49-F238E27FC236}">
                <a16:creationId xmlns:a16="http://schemas.microsoft.com/office/drawing/2014/main" id="{4D504B86-D5DC-8FD0-2349-0692FA09C0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0" y="642513"/>
            <a:ext cx="1881974" cy="1600200"/>
          </a:xfrm>
          <a:prstGeom prst="rect">
            <a:avLst/>
          </a:prstGeom>
        </p:spPr>
      </p:pic>
      <p:pic>
        <p:nvPicPr>
          <p:cNvPr id="6" name="Picture 5" descr="The image shows a person with a black shirt and a black patterned jacket, wearing a black hat.&#10;&#10;AI-generated content may be incorrect.">
            <a:extLst>
              <a:ext uri="{FF2B5EF4-FFF2-40B4-BE49-F238E27FC236}">
                <a16:creationId xmlns:a16="http://schemas.microsoft.com/office/drawing/2014/main" id="{75DBC897-862B-969D-1F53-2912F1459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767" y="2948293"/>
            <a:ext cx="1711177" cy="1563860"/>
          </a:xfrm>
          <a:prstGeom prst="rect">
            <a:avLst/>
          </a:prstGeom>
        </p:spPr>
      </p:pic>
      <p:pic>
        <p:nvPicPr>
          <p:cNvPr id="4" name="Picture 3" descr="The image shows a person wearing a shirt and a tie.&#10;&#10;AI-generated content may be incorrect.">
            <a:extLst>
              <a:ext uri="{FF2B5EF4-FFF2-40B4-BE49-F238E27FC236}">
                <a16:creationId xmlns:a16="http://schemas.microsoft.com/office/drawing/2014/main" id="{02FF3A4E-09C4-CCBE-92FB-5DC96F53A082}"/>
              </a:ext>
            </a:extLst>
          </p:cNvPr>
          <p:cNvPicPr>
            <a:picLocks noChangeAspect="1"/>
          </p:cNvPicPr>
          <p:nvPr/>
        </p:nvPicPr>
        <p:blipFill>
          <a:blip r:embed="rId4"/>
          <a:stretch>
            <a:fillRect/>
          </a:stretch>
        </p:blipFill>
        <p:spPr>
          <a:xfrm>
            <a:off x="4439933" y="2948293"/>
            <a:ext cx="1581540" cy="1522201"/>
          </a:xfrm>
          <a:prstGeom prst="rect">
            <a:avLst/>
          </a:prstGeom>
        </p:spPr>
      </p:pic>
    </p:spTree>
    <p:extLst>
      <p:ext uri="{BB962C8B-B14F-4D97-AF65-F5344CB8AC3E}">
        <p14:creationId xmlns:p14="http://schemas.microsoft.com/office/powerpoint/2010/main" val="41782479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80">
                                          <p:stCondLst>
                                            <p:cond delay="0"/>
                                          </p:stCondLst>
                                        </p:cTn>
                                        <p:tgtEl>
                                          <p:spTgt spid="4"/>
                                        </p:tgtEl>
                                      </p:cBhvr>
                                    </p:animEffect>
                                    <p:anim calcmode="lin" valueType="num">
                                      <p:cBhvr>
                                        <p:cTn id="3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4" dur="26">
                                          <p:stCondLst>
                                            <p:cond delay="650"/>
                                          </p:stCondLst>
                                        </p:cTn>
                                        <p:tgtEl>
                                          <p:spTgt spid="4"/>
                                        </p:tgtEl>
                                      </p:cBhvr>
                                      <p:to x="100000" y="60000"/>
                                    </p:animScale>
                                    <p:animScale>
                                      <p:cBhvr>
                                        <p:cTn id="45" dur="166" decel="50000">
                                          <p:stCondLst>
                                            <p:cond delay="676"/>
                                          </p:stCondLst>
                                        </p:cTn>
                                        <p:tgtEl>
                                          <p:spTgt spid="4"/>
                                        </p:tgtEl>
                                      </p:cBhvr>
                                      <p:to x="100000" y="100000"/>
                                    </p:animScale>
                                    <p:animScale>
                                      <p:cBhvr>
                                        <p:cTn id="46" dur="26">
                                          <p:stCondLst>
                                            <p:cond delay="1312"/>
                                          </p:stCondLst>
                                        </p:cTn>
                                        <p:tgtEl>
                                          <p:spTgt spid="4"/>
                                        </p:tgtEl>
                                      </p:cBhvr>
                                      <p:to x="100000" y="80000"/>
                                    </p:animScale>
                                    <p:animScale>
                                      <p:cBhvr>
                                        <p:cTn id="47" dur="166" decel="50000">
                                          <p:stCondLst>
                                            <p:cond delay="1338"/>
                                          </p:stCondLst>
                                        </p:cTn>
                                        <p:tgtEl>
                                          <p:spTgt spid="4"/>
                                        </p:tgtEl>
                                      </p:cBhvr>
                                      <p:to x="100000" y="100000"/>
                                    </p:animScale>
                                    <p:animScale>
                                      <p:cBhvr>
                                        <p:cTn id="48" dur="26">
                                          <p:stCondLst>
                                            <p:cond delay="1642"/>
                                          </p:stCondLst>
                                        </p:cTn>
                                        <p:tgtEl>
                                          <p:spTgt spid="4"/>
                                        </p:tgtEl>
                                      </p:cBhvr>
                                      <p:to x="100000" y="90000"/>
                                    </p:animScale>
                                    <p:animScale>
                                      <p:cBhvr>
                                        <p:cTn id="49" dur="166" decel="50000">
                                          <p:stCondLst>
                                            <p:cond delay="1668"/>
                                          </p:stCondLst>
                                        </p:cTn>
                                        <p:tgtEl>
                                          <p:spTgt spid="4"/>
                                        </p:tgtEl>
                                      </p:cBhvr>
                                      <p:to x="100000" y="100000"/>
                                    </p:animScale>
                                    <p:animScale>
                                      <p:cBhvr>
                                        <p:cTn id="50" dur="26">
                                          <p:stCondLst>
                                            <p:cond delay="1808"/>
                                          </p:stCondLst>
                                        </p:cTn>
                                        <p:tgtEl>
                                          <p:spTgt spid="4"/>
                                        </p:tgtEl>
                                      </p:cBhvr>
                                      <p:to x="100000" y="95000"/>
                                    </p:animScale>
                                    <p:animScale>
                                      <p:cBhvr>
                                        <p:cTn id="51" dur="166" decel="50000">
                                          <p:stCondLst>
                                            <p:cond delay="1834"/>
                                          </p:stCondLst>
                                        </p:cTn>
                                        <p:tgtEl>
                                          <p:spTgt spid="4"/>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ppt_x"/>
                                          </p:val>
                                        </p:tav>
                                        <p:tav tm="100000">
                                          <p:val>
                                            <p:strVal val="#ppt_x"/>
                                          </p:val>
                                        </p:tav>
                                      </p:tavLst>
                                    </p:anim>
                                    <p:anim calcmode="lin" valueType="num">
                                      <p:cBhvr additive="base">
                                        <p:cTn id="5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1000"/>
                                        <p:tgtEl>
                                          <p:spTgt spid="30"/>
                                        </p:tgtEl>
                                      </p:cBhvr>
                                    </p:animEffect>
                                    <p:anim calcmode="lin" valueType="num">
                                      <p:cBhvr>
                                        <p:cTn id="70" dur="1000" fill="hold"/>
                                        <p:tgtEl>
                                          <p:spTgt spid="30"/>
                                        </p:tgtEl>
                                        <p:attrNameLst>
                                          <p:attrName>ppt_x</p:attrName>
                                        </p:attrNameLst>
                                      </p:cBhvr>
                                      <p:tavLst>
                                        <p:tav tm="0">
                                          <p:val>
                                            <p:strVal val="#ppt_x"/>
                                          </p:val>
                                        </p:tav>
                                        <p:tav tm="100000">
                                          <p:val>
                                            <p:strVal val="#ppt_x"/>
                                          </p:val>
                                        </p:tav>
                                      </p:tavLst>
                                    </p:anim>
                                    <p:anim calcmode="lin" valueType="num">
                                      <p:cBhvr>
                                        <p:cTn id="7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1000"/>
                                        <p:tgtEl>
                                          <p:spTgt spid="33"/>
                                        </p:tgtEl>
                                      </p:cBhvr>
                                    </p:animEffect>
                                    <p:anim calcmode="lin" valueType="num">
                                      <p:cBhvr>
                                        <p:cTn id="77" dur="1000" fill="hold"/>
                                        <p:tgtEl>
                                          <p:spTgt spid="33"/>
                                        </p:tgtEl>
                                        <p:attrNameLst>
                                          <p:attrName>ppt_x</p:attrName>
                                        </p:attrNameLst>
                                      </p:cBhvr>
                                      <p:tavLst>
                                        <p:tav tm="0">
                                          <p:val>
                                            <p:strVal val="#ppt_x"/>
                                          </p:val>
                                        </p:tav>
                                        <p:tav tm="100000">
                                          <p:val>
                                            <p:strVal val="#ppt_x"/>
                                          </p:val>
                                        </p:tav>
                                      </p:tavLst>
                                    </p:anim>
                                    <p:anim calcmode="lin" valueType="num">
                                      <p:cBhvr>
                                        <p:cTn id="7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down)">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9" grpId="0" animBg="1"/>
      <p:bldP spid="30" grpId="0" animBg="1"/>
      <p:bldP spid="31" grpId="0" animBg="1"/>
      <p:bldP spid="32" grpId="0" animBg="1"/>
      <p:bldP spid="33"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0" y="19380"/>
            <a:ext cx="18310194" cy="10287000"/>
          </a:xfrm>
          <a:prstGeom prst="rect">
            <a:avLst/>
          </a:prstGeom>
        </p:spPr>
      </p:pic>
      <p:pic>
        <p:nvPicPr>
          <p:cNvPr id="4" name="Picture 4"/>
          <p:cNvPicPr>
            <a:picLocks noChangeAspect="1"/>
          </p:cNvPicPr>
          <p:nvPr/>
        </p:nvPicPr>
        <p:blipFill>
          <a:blip r:embed="rId3"/>
          <a:srcRect/>
          <a:stretch>
            <a:fillRect/>
          </a:stretch>
        </p:blipFill>
        <p:spPr>
          <a:xfrm>
            <a:off x="15544800" y="419100"/>
            <a:ext cx="2278599" cy="1131276"/>
          </a:xfrm>
          <a:prstGeom prst="rect">
            <a:avLst/>
          </a:prstGeom>
        </p:spPr>
      </p:pic>
      <p:sp>
        <p:nvSpPr>
          <p:cNvPr id="6" name="TextBox 6"/>
          <p:cNvSpPr txBox="1"/>
          <p:nvPr/>
        </p:nvSpPr>
        <p:spPr>
          <a:xfrm>
            <a:off x="3581400" y="3898619"/>
            <a:ext cx="9147307" cy="3847207"/>
          </a:xfrm>
          <a:prstGeom prst="rect">
            <a:avLst/>
          </a:prstGeom>
        </p:spPr>
        <p:txBody>
          <a:bodyPr lIns="0" tIns="0" rIns="0" bIns="0" rtlCol="0" anchor="t">
            <a:spAutoFit/>
          </a:bodyPr>
          <a:lstStyle/>
          <a:p>
            <a:pPr algn="ctr">
              <a:lnSpc>
                <a:spcPts val="15000"/>
              </a:lnSpc>
            </a:pPr>
            <a:r>
              <a:rPr lang="en-US" sz="15000" dirty="0">
                <a:solidFill>
                  <a:srgbClr val="FFFFFF"/>
                </a:solidFill>
                <a:latin typeface="Agrandir Wide Black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8772</TotalTime>
  <Words>5509</Words>
  <Application>Microsoft Office PowerPoint</Application>
  <PresentationFormat>Custom</PresentationFormat>
  <Paragraphs>1019</Paragraphs>
  <Slides>21</Slides>
  <Notes>9</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21</vt:i4>
      </vt:variant>
    </vt:vector>
  </HeadingPairs>
  <TitlesOfParts>
    <vt:vector size="42" baseType="lpstr">
      <vt:lpstr>Raleway</vt:lpstr>
      <vt:lpstr>Montserrat</vt:lpstr>
      <vt:lpstr>Calibri</vt:lpstr>
      <vt:lpstr>Anthropic Sans</vt:lpstr>
      <vt:lpstr>Cooper Black</vt:lpstr>
      <vt:lpstr>Agrandir Wide Black Bold</vt:lpstr>
      <vt:lpstr>Wingdings</vt:lpstr>
      <vt:lpstr>Open Sans</vt:lpstr>
      <vt:lpstr>Lexend Deca</vt:lpstr>
      <vt:lpstr>Arial Black</vt:lpstr>
      <vt:lpstr>Times New Roman</vt:lpstr>
      <vt:lpstr>Gill Sans</vt:lpstr>
      <vt:lpstr>Berlin Sans FB</vt:lpstr>
      <vt:lpstr>Verdana</vt:lpstr>
      <vt:lpstr>Arial,Sans-Serif</vt:lpstr>
      <vt:lpstr>charter</vt:lpstr>
      <vt:lpstr>Avenir</vt:lpstr>
      <vt:lpstr>Barlow</vt:lpstr>
      <vt:lpstr>Antonio Bold</vt:lpstr>
      <vt:lpstr>Arial</vt:lpstr>
      <vt:lpstr>Office Theme</vt:lpstr>
      <vt:lpstr>PowerPoint Presentation</vt:lpstr>
      <vt:lpstr>PowerPoint Presentation</vt:lpstr>
      <vt:lpstr>Problem/Opportunity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MVP</vt:lpstr>
      <vt:lpstr>PowerPoint Presentation</vt:lpstr>
      <vt:lpstr>PowerPoint Presentation</vt:lpstr>
      <vt:lpstr>Go-to-Market Strategy</vt:lpstr>
      <vt:lpstr>PowerPoint Presentation</vt:lpstr>
      <vt:lpstr>PowerPoint Presentation</vt:lpstr>
      <vt:lpstr>PowerPoint Presentation</vt:lpstr>
      <vt:lpstr>Unit Economics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SUSHANTH GS</cp:lastModifiedBy>
  <cp:revision>207</cp:revision>
  <dcterms:created xsi:type="dcterms:W3CDTF">2006-08-16T00:00:00Z</dcterms:created>
  <dcterms:modified xsi:type="dcterms:W3CDTF">2026-06-14T07:48:39Z</dcterms:modified>
  <dc:identifier>DAEgz1I4riU</dc:identifier>
</cp:coreProperties>
</file>