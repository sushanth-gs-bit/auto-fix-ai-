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341" r:id="rId3"/>
    <p:sldId id="310" r:id="rId4"/>
    <p:sldId id="271" r:id="rId5"/>
    <p:sldId id="313" r:id="rId6"/>
    <p:sldId id="315" r:id="rId7"/>
    <p:sldId id="273" r:id="rId8"/>
    <p:sldId id="293" r:id="rId9"/>
    <p:sldId id="294" r:id="rId10"/>
    <p:sldId id="336" r:id="rId11"/>
    <p:sldId id="342" r:id="rId12"/>
    <p:sldId id="299" r:id="rId13"/>
    <p:sldId id="268" r:id="rId14"/>
    <p:sldId id="267" r:id="rId15"/>
  </p:sldIdLst>
  <p:sldSz cx="18288000" cy="10287000"/>
  <p:notesSz cx="6858000" cy="9144000"/>
  <p:embeddedFontLst>
    <p:embeddedFont>
      <p:font typeface="Antonio Bold" panose="020B0604020202020204" charset="0"/>
      <p:regular r:id="rId17"/>
    </p:embeddedFont>
    <p:embeddedFont>
      <p:font typeface="Barlow" panose="00000500000000000000" pitchFamily="2" charset="0"/>
      <p:regular r:id="rId18"/>
      <p:bold r:id="rId19"/>
      <p:italic r:id="rId20"/>
      <p:boldItalic r:id="rId21"/>
    </p:embeddedFont>
    <p:embeddedFont>
      <p:font typeface="Berlin Sans FB" panose="020E0602020502020306" pitchFamily="34" charset="0"/>
      <p:regular r:id="rId22"/>
      <p:bold r:id="rId23"/>
    </p:embeddedFont>
    <p:embeddedFont>
      <p:font typeface="Cooper Black" panose="0208090404030B020404" pitchFamily="18" charset="0"/>
      <p:regular r:id="rId24"/>
    </p:embeddedFont>
    <p:embeddedFont>
      <p:font typeface="Montserrat" panose="00000500000000000000" pitchFamily="2" charset="0"/>
      <p:regular r:id="rId25"/>
      <p:bold r:id="rId26"/>
      <p:italic r:id="rId27"/>
      <p:boldItalic r:id="rId28"/>
    </p:embeddedFont>
    <p:embeddedFont>
      <p:font typeface="Raleway" pitchFamily="2" charset="0"/>
      <p:regular r:id="rId29"/>
      <p:bold r:id="rId30"/>
      <p:italic r:id="rId31"/>
      <p:boldItalic r:id="rId32"/>
    </p:embeddedFont>
    <p:embeddedFont>
      <p:font typeface="Verdana" panose="020B0604030504040204" pitchFamily="3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 Bolton" initials="CB" lastIdx="1" clrIdx="0">
    <p:extLst>
      <p:ext uri="{19B8F6BF-5375-455C-9EA6-DF929625EA0E}">
        <p15:presenceInfo xmlns:p15="http://schemas.microsoft.com/office/powerpoint/2012/main" userId="42254106b65d6a6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66"/>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D162B-049E-41CC-AC77-ED922477B325}" v="12" dt="2026-06-07T16:59:03.629"/>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5706" autoAdjust="0"/>
  </p:normalViewPr>
  <p:slideViewPr>
    <p:cSldViewPr>
      <p:cViewPr varScale="1">
        <p:scale>
          <a:sx n="61" d="100"/>
          <a:sy n="61" d="100"/>
        </p:scale>
        <p:origin x="307"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viewProps" Target="viewProps.xml"/><Relationship Id="rId21" Type="http://schemas.openxmlformats.org/officeDocument/2006/relationships/font" Target="fonts/font5.fntdata"/><Relationship Id="rId34" Type="http://schemas.openxmlformats.org/officeDocument/2006/relationships/font" Target="fonts/font18.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44F1D-3325-40CB-A71F-A79307D22CED}" type="doc">
      <dgm:prSet loTypeId="urn:microsoft.com/office/officeart/2005/8/layout/venn2" loCatId="relationship" qsTypeId="urn:microsoft.com/office/officeart/2005/8/quickstyle/simple1" qsCatId="simple" csTypeId="urn:microsoft.com/office/officeart/2005/8/colors/accent6_1" csCatId="accent6" phldr="1"/>
      <dgm:spPr/>
      <dgm:t>
        <a:bodyPr/>
        <a:lstStyle/>
        <a:p>
          <a:endParaRPr lang="en-IN"/>
        </a:p>
      </dgm:t>
    </dgm:pt>
    <dgm:pt modelId="{746B4EF9-BF3A-40BA-AFB2-066011491528}">
      <dgm:prSet phldrT="[Text]"/>
      <dgm:spPr>
        <a:xfrm>
          <a:off x="1391698" y="0"/>
          <a:ext cx="3975621" cy="3975621"/>
        </a:xfrm>
      </dgm:spPr>
      <dgm:t>
        <a:bodyPr/>
        <a:lstStyle/>
        <a:p>
          <a:r>
            <a:rPr lang="en-IN" dirty="0">
              <a:latin typeface="Calibri" panose="020F0502020204030204"/>
              <a:ea typeface="+mn-ea"/>
              <a:cs typeface="+mn-cs"/>
            </a:rPr>
            <a:t>TAM=38-40cr</a:t>
          </a:r>
        </a:p>
      </dgm:t>
    </dgm:pt>
    <dgm:pt modelId="{1954D69E-B74F-4B4C-92A9-ACC18C47A984}" type="parTrans" cxnId="{6915F751-B358-4E82-A29A-FC970199FF41}">
      <dgm:prSet/>
      <dgm:spPr/>
      <dgm:t>
        <a:bodyPr/>
        <a:lstStyle/>
        <a:p>
          <a:endParaRPr lang="en-IN"/>
        </a:p>
      </dgm:t>
    </dgm:pt>
    <dgm:pt modelId="{0B14DF90-4A8A-4E4D-9AD4-5A31ECC3D299}" type="sibTrans" cxnId="{6915F751-B358-4E82-A29A-FC970199FF41}">
      <dgm:prSet/>
      <dgm:spPr/>
      <dgm:t>
        <a:bodyPr/>
        <a:lstStyle/>
        <a:p>
          <a:endParaRPr lang="en-IN"/>
        </a:p>
      </dgm:t>
    </dgm:pt>
    <dgm:pt modelId="{C97EDADC-8ECD-42D4-89AC-847633F19078}">
      <dgm:prSet phldrT="[Text]"/>
      <dgm:spPr>
        <a:xfrm>
          <a:off x="1888651" y="993905"/>
          <a:ext cx="2981715" cy="2981715"/>
        </a:xfrm>
      </dgm:spPr>
      <dgm:t>
        <a:bodyPr/>
        <a:lstStyle/>
        <a:p>
          <a:r>
            <a:rPr lang="en-IN" dirty="0">
              <a:latin typeface="Calibri" panose="020F0502020204030204"/>
              <a:ea typeface="+mn-ea"/>
              <a:cs typeface="+mn-cs"/>
            </a:rPr>
            <a:t>SAM=5cr users</a:t>
          </a:r>
        </a:p>
      </dgm:t>
    </dgm:pt>
    <dgm:pt modelId="{A3260F69-CA56-4346-A57E-769087C36739}" type="parTrans" cxnId="{3DEA3B12-D7FA-440A-BE79-775519D6910A}">
      <dgm:prSet/>
      <dgm:spPr/>
      <dgm:t>
        <a:bodyPr/>
        <a:lstStyle/>
        <a:p>
          <a:endParaRPr lang="en-IN"/>
        </a:p>
      </dgm:t>
    </dgm:pt>
    <dgm:pt modelId="{5909561E-9CA8-4668-901B-DE46BDCB26D4}" type="sibTrans" cxnId="{3DEA3B12-D7FA-440A-BE79-775519D6910A}">
      <dgm:prSet/>
      <dgm:spPr/>
      <dgm:t>
        <a:bodyPr/>
        <a:lstStyle/>
        <a:p>
          <a:endParaRPr lang="en-IN"/>
        </a:p>
      </dgm:t>
    </dgm:pt>
    <dgm:pt modelId="{E5EFF1E8-ABE4-4362-A50E-B875D125BD96}">
      <dgm:prSet phldrT="[Text]"/>
      <dgm:spPr>
        <a:xfrm>
          <a:off x="2385603" y="1987810"/>
          <a:ext cx="1987810" cy="1987810"/>
        </a:xfrm>
      </dgm:spPr>
      <dgm:t>
        <a:bodyPr/>
        <a:lstStyle/>
        <a:p>
          <a:r>
            <a:rPr lang="en-IN" dirty="0">
              <a:latin typeface="Calibri" panose="020F0502020204030204"/>
              <a:ea typeface="+mn-ea"/>
              <a:cs typeface="+mn-cs"/>
            </a:rPr>
            <a:t>SOM=5 to 15 lakh</a:t>
          </a:r>
        </a:p>
      </dgm:t>
    </dgm:pt>
    <dgm:pt modelId="{14B6BEEE-EB27-4CAC-B0EE-383B99B876FC}" type="parTrans" cxnId="{154FA2CE-CAB5-4733-8C08-DDAE9106897D}">
      <dgm:prSet/>
      <dgm:spPr/>
      <dgm:t>
        <a:bodyPr/>
        <a:lstStyle/>
        <a:p>
          <a:endParaRPr lang="en-IN"/>
        </a:p>
      </dgm:t>
    </dgm:pt>
    <dgm:pt modelId="{D5317EF5-6EDB-436F-B2D4-C6A7CD409F02}" type="sibTrans" cxnId="{154FA2CE-CAB5-4733-8C08-DDAE9106897D}">
      <dgm:prSet/>
      <dgm:spPr/>
      <dgm:t>
        <a:bodyPr/>
        <a:lstStyle/>
        <a:p>
          <a:endParaRPr lang="en-IN"/>
        </a:p>
      </dgm:t>
    </dgm:pt>
    <dgm:pt modelId="{F2B9CC1C-BDE6-4CDB-A758-74CC86A3F31F}" type="pres">
      <dgm:prSet presAssocID="{DD344F1D-3325-40CB-A71F-A79307D22CED}" presName="Name0" presStyleCnt="0">
        <dgm:presLayoutVars>
          <dgm:chMax val="7"/>
          <dgm:resizeHandles val="exact"/>
        </dgm:presLayoutVars>
      </dgm:prSet>
      <dgm:spPr/>
    </dgm:pt>
    <dgm:pt modelId="{8451ED41-C590-464C-8723-134AEB39DBB3}" type="pres">
      <dgm:prSet presAssocID="{DD344F1D-3325-40CB-A71F-A79307D22CED}" presName="comp1" presStyleCnt="0"/>
      <dgm:spPr/>
    </dgm:pt>
    <dgm:pt modelId="{2BE2AAFC-BEAE-481D-B557-81DE68A237F7}" type="pres">
      <dgm:prSet presAssocID="{DD344F1D-3325-40CB-A71F-A79307D22CED}" presName="circle1" presStyleLbl="node1" presStyleIdx="0" presStyleCnt="3"/>
      <dgm:spPr>
        <a:prstGeom prst="ellipse">
          <a:avLst/>
        </a:prstGeom>
      </dgm:spPr>
    </dgm:pt>
    <dgm:pt modelId="{ED7C1346-0397-438A-9AAD-8BE2335EC6BB}" type="pres">
      <dgm:prSet presAssocID="{DD344F1D-3325-40CB-A71F-A79307D22CED}" presName="c1text" presStyleLbl="node1" presStyleIdx="0" presStyleCnt="3">
        <dgm:presLayoutVars>
          <dgm:bulletEnabled val="1"/>
        </dgm:presLayoutVars>
      </dgm:prSet>
      <dgm:spPr/>
    </dgm:pt>
    <dgm:pt modelId="{8F11973F-33EE-445B-8E28-2D5EAC0DA289}" type="pres">
      <dgm:prSet presAssocID="{DD344F1D-3325-40CB-A71F-A79307D22CED}" presName="comp2" presStyleCnt="0"/>
      <dgm:spPr/>
    </dgm:pt>
    <dgm:pt modelId="{5783AC22-EAAA-4B02-9505-F9F67BC8F71A}" type="pres">
      <dgm:prSet presAssocID="{DD344F1D-3325-40CB-A71F-A79307D22CED}" presName="circle2" presStyleLbl="node1" presStyleIdx="1" presStyleCnt="3"/>
      <dgm:spPr>
        <a:prstGeom prst="ellipse">
          <a:avLst/>
        </a:prstGeom>
      </dgm:spPr>
    </dgm:pt>
    <dgm:pt modelId="{4871E181-12FC-48FB-9E74-6BA476466234}" type="pres">
      <dgm:prSet presAssocID="{DD344F1D-3325-40CB-A71F-A79307D22CED}" presName="c2text" presStyleLbl="node1" presStyleIdx="1" presStyleCnt="3">
        <dgm:presLayoutVars>
          <dgm:bulletEnabled val="1"/>
        </dgm:presLayoutVars>
      </dgm:prSet>
      <dgm:spPr/>
    </dgm:pt>
    <dgm:pt modelId="{901532F9-DC54-486E-8432-B2395DAF1269}" type="pres">
      <dgm:prSet presAssocID="{DD344F1D-3325-40CB-A71F-A79307D22CED}" presName="comp3" presStyleCnt="0"/>
      <dgm:spPr/>
    </dgm:pt>
    <dgm:pt modelId="{0927306A-DE0F-4C43-94ED-305F00916AD7}" type="pres">
      <dgm:prSet presAssocID="{DD344F1D-3325-40CB-A71F-A79307D22CED}" presName="circle3" presStyleLbl="node1" presStyleIdx="2" presStyleCnt="3"/>
      <dgm:spPr>
        <a:prstGeom prst="ellipse">
          <a:avLst/>
        </a:prstGeom>
      </dgm:spPr>
    </dgm:pt>
    <dgm:pt modelId="{DFA2E1B6-C653-4ECD-AABA-E3551E5267D7}" type="pres">
      <dgm:prSet presAssocID="{DD344F1D-3325-40CB-A71F-A79307D22CED}" presName="c3text" presStyleLbl="node1" presStyleIdx="2" presStyleCnt="3">
        <dgm:presLayoutVars>
          <dgm:bulletEnabled val="1"/>
        </dgm:presLayoutVars>
      </dgm:prSet>
      <dgm:spPr/>
    </dgm:pt>
  </dgm:ptLst>
  <dgm:cxnLst>
    <dgm:cxn modelId="{3DEA3B12-D7FA-440A-BE79-775519D6910A}" srcId="{DD344F1D-3325-40CB-A71F-A79307D22CED}" destId="{C97EDADC-8ECD-42D4-89AC-847633F19078}" srcOrd="1" destOrd="0" parTransId="{A3260F69-CA56-4346-A57E-769087C36739}" sibTransId="{5909561E-9CA8-4668-901B-DE46BDCB26D4}"/>
    <dgm:cxn modelId="{69D89837-AE44-447D-BEBD-713B62821E4E}" type="presOf" srcId="{DD344F1D-3325-40CB-A71F-A79307D22CED}" destId="{F2B9CC1C-BDE6-4CDB-A758-74CC86A3F31F}" srcOrd="0" destOrd="0" presId="urn:microsoft.com/office/officeart/2005/8/layout/venn2"/>
    <dgm:cxn modelId="{5048B446-AC55-441E-A5AC-1FA804A23A0B}" type="presOf" srcId="{746B4EF9-BF3A-40BA-AFB2-066011491528}" destId="{2BE2AAFC-BEAE-481D-B557-81DE68A237F7}" srcOrd="0" destOrd="0" presId="urn:microsoft.com/office/officeart/2005/8/layout/venn2"/>
    <dgm:cxn modelId="{6EF22650-71F8-46AA-B2F3-3FB7C09D1771}" type="presOf" srcId="{C97EDADC-8ECD-42D4-89AC-847633F19078}" destId="{5783AC22-EAAA-4B02-9505-F9F67BC8F71A}" srcOrd="0" destOrd="0" presId="urn:microsoft.com/office/officeart/2005/8/layout/venn2"/>
    <dgm:cxn modelId="{6915F751-B358-4E82-A29A-FC970199FF41}" srcId="{DD344F1D-3325-40CB-A71F-A79307D22CED}" destId="{746B4EF9-BF3A-40BA-AFB2-066011491528}" srcOrd="0" destOrd="0" parTransId="{1954D69E-B74F-4B4C-92A9-ACC18C47A984}" sibTransId="{0B14DF90-4A8A-4E4D-9AD4-5A31ECC3D299}"/>
    <dgm:cxn modelId="{3E5E3453-8B05-494C-B7DD-8F789CE1047E}" type="presOf" srcId="{E5EFF1E8-ABE4-4362-A50E-B875D125BD96}" destId="{DFA2E1B6-C653-4ECD-AABA-E3551E5267D7}" srcOrd="1" destOrd="0" presId="urn:microsoft.com/office/officeart/2005/8/layout/venn2"/>
    <dgm:cxn modelId="{1D633193-84D8-41E9-9BEA-42E4AE88C1C3}" type="presOf" srcId="{746B4EF9-BF3A-40BA-AFB2-066011491528}" destId="{ED7C1346-0397-438A-9AAD-8BE2335EC6BB}" srcOrd="1" destOrd="0" presId="urn:microsoft.com/office/officeart/2005/8/layout/venn2"/>
    <dgm:cxn modelId="{154FA2CE-CAB5-4733-8C08-DDAE9106897D}" srcId="{DD344F1D-3325-40CB-A71F-A79307D22CED}" destId="{E5EFF1E8-ABE4-4362-A50E-B875D125BD96}" srcOrd="2" destOrd="0" parTransId="{14B6BEEE-EB27-4CAC-B0EE-383B99B876FC}" sibTransId="{D5317EF5-6EDB-436F-B2D4-C6A7CD409F02}"/>
    <dgm:cxn modelId="{BC82ABE1-F8A3-46C7-A8A9-E359E0C156F0}" type="presOf" srcId="{E5EFF1E8-ABE4-4362-A50E-B875D125BD96}" destId="{0927306A-DE0F-4C43-94ED-305F00916AD7}" srcOrd="0" destOrd="0" presId="urn:microsoft.com/office/officeart/2005/8/layout/venn2"/>
    <dgm:cxn modelId="{76C1ADE8-3E68-44A1-9298-A83070409F2A}" type="presOf" srcId="{C97EDADC-8ECD-42D4-89AC-847633F19078}" destId="{4871E181-12FC-48FB-9E74-6BA476466234}" srcOrd="1" destOrd="0" presId="urn:microsoft.com/office/officeart/2005/8/layout/venn2"/>
    <dgm:cxn modelId="{D86D7FDC-6353-4BA1-AE90-91314EE84F6A}" type="presParOf" srcId="{F2B9CC1C-BDE6-4CDB-A758-74CC86A3F31F}" destId="{8451ED41-C590-464C-8723-134AEB39DBB3}" srcOrd="0" destOrd="0" presId="urn:microsoft.com/office/officeart/2005/8/layout/venn2"/>
    <dgm:cxn modelId="{79A2FCE8-97C6-47B7-A077-3470F5B7CF5B}" type="presParOf" srcId="{8451ED41-C590-464C-8723-134AEB39DBB3}" destId="{2BE2AAFC-BEAE-481D-B557-81DE68A237F7}" srcOrd="0" destOrd="0" presId="urn:microsoft.com/office/officeart/2005/8/layout/venn2"/>
    <dgm:cxn modelId="{2001E8A0-D926-4888-A220-3D21930627E0}" type="presParOf" srcId="{8451ED41-C590-464C-8723-134AEB39DBB3}" destId="{ED7C1346-0397-438A-9AAD-8BE2335EC6BB}" srcOrd="1" destOrd="0" presId="urn:microsoft.com/office/officeart/2005/8/layout/venn2"/>
    <dgm:cxn modelId="{8227A953-9708-418C-850B-24986FB12064}" type="presParOf" srcId="{F2B9CC1C-BDE6-4CDB-A758-74CC86A3F31F}" destId="{8F11973F-33EE-445B-8E28-2D5EAC0DA289}" srcOrd="1" destOrd="0" presId="urn:microsoft.com/office/officeart/2005/8/layout/venn2"/>
    <dgm:cxn modelId="{63F99341-D2DC-4256-A8D3-412F66819B89}" type="presParOf" srcId="{8F11973F-33EE-445B-8E28-2D5EAC0DA289}" destId="{5783AC22-EAAA-4B02-9505-F9F67BC8F71A}" srcOrd="0" destOrd="0" presId="urn:microsoft.com/office/officeart/2005/8/layout/venn2"/>
    <dgm:cxn modelId="{0BD8D4D5-D41A-4F9B-88FD-86DA00EB0EF8}" type="presParOf" srcId="{8F11973F-33EE-445B-8E28-2D5EAC0DA289}" destId="{4871E181-12FC-48FB-9E74-6BA476466234}" srcOrd="1" destOrd="0" presId="urn:microsoft.com/office/officeart/2005/8/layout/venn2"/>
    <dgm:cxn modelId="{23E4EAB6-377C-4E17-A90D-6389D8FA740D}" type="presParOf" srcId="{F2B9CC1C-BDE6-4CDB-A758-74CC86A3F31F}" destId="{901532F9-DC54-486E-8432-B2395DAF1269}" srcOrd="2" destOrd="0" presId="urn:microsoft.com/office/officeart/2005/8/layout/venn2"/>
    <dgm:cxn modelId="{374D50A8-F5A5-43D6-9CD4-AD2528D84802}" type="presParOf" srcId="{901532F9-DC54-486E-8432-B2395DAF1269}" destId="{0927306A-DE0F-4C43-94ED-305F00916AD7}" srcOrd="0" destOrd="0" presId="urn:microsoft.com/office/officeart/2005/8/layout/venn2"/>
    <dgm:cxn modelId="{301AC02E-0AB1-4E55-A8F9-DF8BF733D4BC}" type="presParOf" srcId="{901532F9-DC54-486E-8432-B2395DAF1269}" destId="{DFA2E1B6-C653-4ECD-AABA-E3551E5267D7}"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2AAFC-BEAE-481D-B557-81DE68A237F7}">
      <dsp:nvSpPr>
        <dsp:cNvPr id="0" name=""/>
        <dsp:cNvSpPr/>
      </dsp:nvSpPr>
      <dsp:spPr>
        <a:xfrm>
          <a:off x="1069175" y="0"/>
          <a:ext cx="5481650" cy="5481650"/>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TAM=38-40cr</a:t>
          </a:r>
        </a:p>
      </dsp:txBody>
      <dsp:txXfrm>
        <a:off x="2852081" y="274082"/>
        <a:ext cx="1915836" cy="822247"/>
      </dsp:txXfrm>
    </dsp:sp>
    <dsp:sp modelId="{5783AC22-EAAA-4B02-9505-F9F67BC8F71A}">
      <dsp:nvSpPr>
        <dsp:cNvPr id="0" name=""/>
        <dsp:cNvSpPr/>
      </dsp:nvSpPr>
      <dsp:spPr>
        <a:xfrm>
          <a:off x="1754381" y="1370412"/>
          <a:ext cx="4111237" cy="4111237"/>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SAM=5cr users</a:t>
          </a:r>
        </a:p>
      </dsp:txBody>
      <dsp:txXfrm>
        <a:off x="2852081" y="1627364"/>
        <a:ext cx="1915836" cy="770857"/>
      </dsp:txXfrm>
    </dsp:sp>
    <dsp:sp modelId="{0927306A-DE0F-4C43-94ED-305F00916AD7}">
      <dsp:nvSpPr>
        <dsp:cNvPr id="0" name=""/>
        <dsp:cNvSpPr/>
      </dsp:nvSpPr>
      <dsp:spPr>
        <a:xfrm>
          <a:off x="2439587" y="2740825"/>
          <a:ext cx="2740825" cy="2740825"/>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Calibri" panose="020F0502020204030204"/>
              <a:ea typeface="+mn-ea"/>
              <a:cs typeface="+mn-cs"/>
            </a:rPr>
            <a:t>SOM=5 to 15 lakh</a:t>
          </a:r>
        </a:p>
      </dsp:txBody>
      <dsp:txXfrm>
        <a:off x="2840972" y="3426031"/>
        <a:ext cx="1938055" cy="1370412"/>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15:49:53.74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249 0,'-6'0,"-7"0,-2 6,-4 7,-4 2,-4-2,-3-3,-3-4,0-2,5 4,7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15:50:28.757"/>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297 0,'0'6,"-6"7,-7 2,-7-1,-7-4,-3-3,-3-3,-1-2,-1-2,0 0,0-1,7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15:50:37.290"/>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320 1,'0'5,"-6"3,-7-1,-8-1,-5-2,-5-1,-7-2,-10-1,-2 0,3 0,8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FBF9E8-1F40-410A-A1CC-60BC60DB98B3}" type="datetimeFigureOut">
              <a:rPr lang="en-IN" smtClean="0"/>
              <a:t>13-06-2026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FE411-3744-4059-A83F-482351BF9D8B}" type="slidenum">
              <a:rPr lang="en-IN" smtClean="0"/>
              <a:t>‹#›</a:t>
            </a:fld>
            <a:endParaRPr lang="en-IN"/>
          </a:p>
        </p:txBody>
      </p:sp>
    </p:spTree>
    <p:extLst>
      <p:ext uri="{BB962C8B-B14F-4D97-AF65-F5344CB8AC3E}">
        <p14:creationId xmlns:p14="http://schemas.microsoft.com/office/powerpoint/2010/main" val="3792907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Time:</a:t>
            </a:r>
            <a:r>
              <a:rPr lang="en-US" b="1" baseline="0" dirty="0"/>
              <a:t> 7 mins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Get students to brainstorm on the customer persona and VPC </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0BEB79-93E1-4BD7-A47D-89BD4B7805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7425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a:t>
            </a:r>
            <a:r>
              <a:rPr lang="en-IN" b="1" baseline="0" dirty="0"/>
              <a:t> for slides 8 and 9</a:t>
            </a:r>
          </a:p>
          <a:p>
            <a:endParaRPr lang="en-IN" b="0" i="1" baseline="0" dirty="0"/>
          </a:p>
          <a:p>
            <a:r>
              <a:rPr lang="en-US" sz="1200" b="0" i="1" u="none" strike="noStrike" kern="1200" dirty="0">
                <a:solidFill>
                  <a:schemeClr val="tx1"/>
                </a:solidFill>
                <a:effectLst/>
                <a:latin typeface="+mn-lt"/>
                <a:ea typeface="+mn-ea"/>
                <a:cs typeface="+mn-cs"/>
              </a:rPr>
              <a:t>Check the following on the correctness</a:t>
            </a:r>
            <a:r>
              <a:rPr lang="en-US" sz="1200" b="0" i="1" u="none" strike="noStrike" kern="1200" baseline="0" dirty="0">
                <a:solidFill>
                  <a:schemeClr val="tx1"/>
                </a:solidFill>
                <a:effectLst/>
                <a:latin typeface="+mn-lt"/>
                <a:ea typeface="+mn-ea"/>
                <a:cs typeface="+mn-cs"/>
              </a:rPr>
              <a:t> of VPC</a:t>
            </a:r>
            <a:r>
              <a:rPr lang="en-US" sz="1200" b="0" i="1" u="none" strike="noStrike" kern="1200" dirty="0">
                <a:solidFill>
                  <a:schemeClr val="tx1"/>
                </a:solidFill>
                <a:effectLst/>
                <a:latin typeface="+mn-lt"/>
                <a:ea typeface="+mn-ea"/>
                <a:cs typeface="+mn-cs"/>
              </a:rPr>
              <a:t>:</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a.  Have you identified the correct pains &amp; gains; pain relievers &amp; gain creators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b. Have you identified the correct Jobs-to-be-done?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c. Are the pain relievers addressing the customer pains?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d. Have you identified the right value proposition so that the solution makes the customer's life better? (1 mark)</a:t>
            </a:r>
            <a:r>
              <a:rPr lang="en-US" b="0" i="1" dirty="0"/>
              <a:t> </a:t>
            </a:r>
            <a:endParaRPr lang="en-IN" b="0" i="1" dirty="0"/>
          </a:p>
        </p:txBody>
      </p:sp>
      <p:sp>
        <p:nvSpPr>
          <p:cNvPr id="4" name="Slide Number Placeholder 3"/>
          <p:cNvSpPr>
            <a:spLocks noGrp="1"/>
          </p:cNvSpPr>
          <p:nvPr>
            <p:ph type="sldNum" sz="quarter" idx="10"/>
          </p:nvPr>
        </p:nvSpPr>
        <p:spPr/>
        <p:txBody>
          <a:bodyPr/>
          <a:lstStyle/>
          <a:p>
            <a:fld id="{565F787C-D8F9-4047-8CC8-08AC13C2A058}" type="slidenum">
              <a:rPr lang="en-US" smtClean="0"/>
              <a:t>8</a:t>
            </a:fld>
            <a:endParaRPr lang="en-US"/>
          </a:p>
        </p:txBody>
      </p:sp>
    </p:spTree>
    <p:extLst>
      <p:ext uri="{BB962C8B-B14F-4D97-AF65-F5344CB8AC3E}">
        <p14:creationId xmlns:p14="http://schemas.microsoft.com/office/powerpoint/2010/main" val="353826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Evaluation</a:t>
            </a:r>
            <a:r>
              <a:rPr lang="en-US" sz="1200" b="1" i="0" u="none" strike="noStrike" kern="1200" baseline="0">
                <a:solidFill>
                  <a:schemeClr val="tx1"/>
                </a:solidFill>
                <a:effectLst/>
                <a:latin typeface="+mn-lt"/>
                <a:ea typeface="+mn-ea"/>
                <a:cs typeface="+mn-cs"/>
              </a:rPr>
              <a:t> Criteria for slides 12 to 14</a:t>
            </a:r>
            <a:endParaRPr lang="en-US" sz="1200" b="1" i="0" u="none" strike="noStrike" kern="1200">
              <a:solidFill>
                <a:schemeClr val="tx1"/>
              </a:solidFill>
              <a:effectLst/>
              <a:latin typeface="+mn-lt"/>
              <a:ea typeface="+mn-ea"/>
              <a:cs typeface="+mn-cs"/>
            </a:endParaRPr>
          </a:p>
          <a:p>
            <a:endParaRPr lang="en-US" sz="1200" b="1" i="1" u="none" strike="noStrike" kern="1200">
              <a:solidFill>
                <a:schemeClr val="tx1"/>
              </a:solidFill>
              <a:effectLst/>
              <a:latin typeface="+mn-lt"/>
              <a:ea typeface="+mn-ea"/>
              <a:cs typeface="+mn-cs"/>
            </a:endParaRPr>
          </a:p>
          <a:p>
            <a:r>
              <a:rPr lang="en-US" sz="1200" b="0" i="1" u="none" strike="noStrike" kern="1200">
                <a:solidFill>
                  <a:schemeClr val="tx1"/>
                </a:solidFill>
                <a:effectLst/>
                <a:latin typeface="+mn-lt"/>
                <a:ea typeface="+mn-ea"/>
                <a:cs typeface="+mn-cs"/>
              </a:rPr>
              <a:t>Check the following on MVP?</a:t>
            </a:r>
            <a:br>
              <a:rPr lang="en-US" sz="1200" b="0" i="1" u="none" strike="noStrike" kern="1200">
                <a:solidFill>
                  <a:schemeClr val="tx1"/>
                </a:solidFill>
                <a:effectLst/>
                <a:latin typeface="+mn-lt"/>
                <a:ea typeface="+mn-ea"/>
                <a:cs typeface="+mn-cs"/>
              </a:rPr>
            </a:br>
            <a:r>
              <a:rPr lang="en-US" sz="1200" b="0" i="1" u="none" strike="noStrike" kern="1200">
                <a:solidFill>
                  <a:schemeClr val="tx1"/>
                </a:solidFill>
                <a:effectLst/>
                <a:latin typeface="+mn-lt"/>
                <a:ea typeface="+mn-ea"/>
                <a:cs typeface="+mn-cs"/>
              </a:rPr>
              <a:t>1. Does it look credible and </a:t>
            </a:r>
            <a:r>
              <a:rPr lang="en-US" sz="1200" b="0" i="1" u="none" strike="noStrike" kern="1200" err="1">
                <a:solidFill>
                  <a:schemeClr val="tx1"/>
                </a:solidFill>
                <a:effectLst/>
                <a:latin typeface="+mn-lt"/>
                <a:ea typeface="+mn-ea"/>
                <a:cs typeface="+mn-cs"/>
              </a:rPr>
              <a:t>showcasable</a:t>
            </a:r>
            <a:r>
              <a:rPr lang="en-US" sz="1200" b="0" i="1" u="none" strike="noStrike" kern="1200">
                <a:solidFill>
                  <a:schemeClr val="tx1"/>
                </a:solidFill>
                <a:effectLst/>
                <a:latin typeface="+mn-lt"/>
                <a:ea typeface="+mn-ea"/>
                <a:cs typeface="+mn-cs"/>
              </a:rPr>
              <a:t>? Add a picture/video of the MVP? (3 marks)</a:t>
            </a:r>
            <a:br>
              <a:rPr lang="en-US" sz="1200" b="0" i="1" u="none" strike="noStrike" kern="1200">
                <a:solidFill>
                  <a:schemeClr val="tx1"/>
                </a:solidFill>
                <a:effectLst/>
                <a:latin typeface="+mn-lt"/>
                <a:ea typeface="+mn-ea"/>
                <a:cs typeface="+mn-cs"/>
              </a:rPr>
            </a:br>
            <a:r>
              <a:rPr lang="en-US" sz="1200" b="0" i="1" u="none" strike="noStrike" kern="1200">
                <a:solidFill>
                  <a:schemeClr val="tx1"/>
                </a:solidFill>
                <a:effectLst/>
                <a:latin typeface="+mn-lt"/>
                <a:ea typeface="+mn-ea"/>
                <a:cs typeface="+mn-cs"/>
              </a:rPr>
              <a:t>2. Have you validated the product benefits and the price with real customers? Add the MVP interview records in a Google drive and add to the PPT. (1 + 1 marks)</a:t>
            </a:r>
            <a:r>
              <a:rPr lang="en-US" i="1"/>
              <a:t> </a:t>
            </a:r>
            <a:endParaRPr lang="en-IN" i="1"/>
          </a:p>
          <a:p>
            <a:endParaRPr lang="en-IN"/>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565F787C-D8F9-4047-8CC8-08AC13C2A058}" type="slidenum">
              <a:rPr lang="en-US" smtClean="0">
                <a:solidFill>
                  <a:prstClr val="black"/>
                </a:solidFill>
                <a:latin typeface="Calibri" panose="020F0502020204030204"/>
              </a:rPr>
              <a:pPr/>
              <a:t>12</a:t>
            </a:fld>
            <a:endParaRPr lang="en-US">
              <a:solidFill>
                <a:prstClr val="black"/>
              </a:solidFill>
              <a:latin typeface="Calibri" panose="020F0502020204030204"/>
            </a:endParaRPr>
          </a:p>
        </p:txBody>
      </p:sp>
    </p:spTree>
    <p:extLst>
      <p:ext uri="{BB962C8B-B14F-4D97-AF65-F5344CB8AC3E}">
        <p14:creationId xmlns:p14="http://schemas.microsoft.com/office/powerpoint/2010/main" val="3030988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a:solidFill>
                  <a:schemeClr val="tx1">
                    <a:lumMod val="85000"/>
                    <a:lumOff val="15000"/>
                  </a:schemeClr>
                </a:solidFill>
              </a:defRPr>
            </a:lvl1pPr>
          </a:lstStyle>
          <a:p>
            <a:endParaRPr lang="en-IN"/>
          </a:p>
        </p:txBody>
      </p:sp>
      <p:sp>
        <p:nvSpPr>
          <p:cNvPr id="5" name="Slide Number Placeholder 4"/>
          <p:cNvSpPr>
            <a:spLocks noGrp="1"/>
          </p:cNvSpPr>
          <p:nvPr>
            <p:ph type="sldNum" sz="quarter" idx="12"/>
          </p:nvPr>
        </p:nvSpPr>
        <p:spPr/>
        <p:txBody>
          <a:bodyPr/>
          <a:lstStyle/>
          <a:p>
            <a:pPr marL="39064">
              <a:spcBef>
                <a:spcPts val="113"/>
              </a:spcBef>
            </a:pPr>
            <a:fld id="{81D60167-4931-47E6-BA6A-407CBD079E47}" type="slidenum">
              <a:rPr lang="en-IN" smtClean="0"/>
              <a:pPr marL="39064">
                <a:spcBef>
                  <a:spcPts val="113"/>
                </a:spcBef>
              </a:pPr>
              <a:t>‹#›</a:t>
            </a:fld>
            <a:endParaRPr lang="en-IN" dirty="0"/>
          </a:p>
        </p:txBody>
      </p:sp>
      <p:sp>
        <p:nvSpPr>
          <p:cNvPr id="10" name="Title 1"/>
          <p:cNvSpPr>
            <a:spLocks noGrp="1"/>
          </p:cNvSpPr>
          <p:nvPr>
            <p:ph type="title"/>
          </p:nvPr>
        </p:nvSpPr>
        <p:spPr>
          <a:xfrm>
            <a:off x="716945"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6" y="1293188"/>
            <a:ext cx="15304107" cy="345113"/>
          </a:xfrm>
        </p:spPr>
        <p:txBody>
          <a:bodyPr>
            <a:noAutofit/>
          </a:bodyPr>
          <a:lstStyle>
            <a:lvl1pPr marL="0" indent="0" algn="l">
              <a:buNone/>
              <a:defRPr sz="1800">
                <a:solidFill>
                  <a:schemeClr val="tx1">
                    <a:lumMod val="65000"/>
                    <a:lumOff val="35000"/>
                  </a:schemeClr>
                </a:solidFill>
              </a:defRPr>
            </a:lvl1pPr>
            <a:lvl2pPr marL="685612" indent="0" algn="ctr">
              <a:buNone/>
              <a:defRPr sz="3000"/>
            </a:lvl2pPr>
            <a:lvl3pPr marL="1371224" indent="0" algn="ctr">
              <a:buNone/>
              <a:defRPr sz="2700"/>
            </a:lvl3pPr>
            <a:lvl4pPr marL="2056835" indent="0" algn="ctr">
              <a:buNone/>
              <a:defRPr sz="2400"/>
            </a:lvl4pPr>
            <a:lvl5pPr marL="2742447" indent="0" algn="ctr">
              <a:buNone/>
              <a:defRPr sz="2400"/>
            </a:lvl5pPr>
            <a:lvl6pPr marL="3428059" indent="0" algn="ctr">
              <a:buNone/>
              <a:defRPr sz="2400"/>
            </a:lvl6pPr>
            <a:lvl7pPr marL="4113669" indent="0" algn="ctr">
              <a:buNone/>
              <a:defRPr sz="2400"/>
            </a:lvl7pPr>
            <a:lvl8pPr marL="4799281" indent="0" algn="ctr">
              <a:buNone/>
              <a:defRPr sz="2400"/>
            </a:lvl8pPr>
            <a:lvl9pPr marL="5484893" indent="0" algn="ctr">
              <a:buNone/>
              <a:defRPr sz="2400"/>
            </a:lvl9pPr>
          </a:lstStyle>
          <a:p>
            <a:r>
              <a:rPr lang="en-US" dirty="0"/>
              <a:t>Click to edit Master subtitle style</a:t>
            </a:r>
          </a:p>
        </p:txBody>
      </p:sp>
    </p:spTree>
    <p:extLst>
      <p:ext uri="{BB962C8B-B14F-4D97-AF65-F5344CB8AC3E}">
        <p14:creationId xmlns:p14="http://schemas.microsoft.com/office/powerpoint/2010/main" val="1398577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6057900" y="9926409"/>
            <a:ext cx="6172200" cy="547687"/>
          </a:xfrm>
        </p:spPr>
        <p:txBody>
          <a:bodyPr/>
          <a:lstStyle>
            <a:lvl1pPr>
              <a:defRPr sz="1500">
                <a:solidFill>
                  <a:schemeClr val="tx1">
                    <a:lumMod val="85000"/>
                    <a:lumOff val="15000"/>
                  </a:schemeClr>
                </a:solidFill>
              </a:defRPr>
            </a:lvl1pPr>
          </a:lstStyle>
          <a:p>
            <a:r>
              <a:rPr lang="en-US">
                <a:solidFill>
                  <a:prstClr val="black">
                    <a:lumMod val="85000"/>
                    <a:lumOff val="15000"/>
                  </a:prstClr>
                </a:solidFill>
              </a:rPr>
              <a:t>© Copyright Wadhwani Foundation</a:t>
            </a:r>
            <a:endParaRPr lang="en-US" dirty="0">
              <a:solidFill>
                <a:prstClr val="black">
                  <a:lumMod val="85000"/>
                  <a:lumOff val="15000"/>
                </a:prstClr>
              </a:solidFill>
            </a:endParaRPr>
          </a:p>
        </p:txBody>
      </p:sp>
      <p:sp>
        <p:nvSpPr>
          <p:cNvPr id="5" name="Slide Number Placeholder 4"/>
          <p:cNvSpPr>
            <a:spLocks noGrp="1"/>
          </p:cNvSpPr>
          <p:nvPr>
            <p:ph type="sldNum" sz="quarter" idx="12"/>
          </p:nvPr>
        </p:nvSpPr>
        <p:spPr>
          <a:xfrm>
            <a:off x="13456258" y="9926410"/>
            <a:ext cx="4114800" cy="547687"/>
          </a:xfrm>
        </p:spPr>
        <p:txBody>
          <a:bodyPr/>
          <a:lstStyle/>
          <a:p>
            <a:fld id="{8632F5CF-2680-48A4-8032-177420087341}" type="slidenum">
              <a:rPr lang="id-ID" smtClean="0">
                <a:solidFill>
                  <a:prstClr val="black">
                    <a:tint val="75000"/>
                  </a:prstClr>
                </a:solidFill>
              </a:rPr>
              <a:pPr/>
              <a:t>‹#›</a:t>
            </a:fld>
            <a:endParaRPr lang="id-ID">
              <a:solidFill>
                <a:prstClr val="black">
                  <a:tint val="75000"/>
                </a:prstClr>
              </a:solidFill>
            </a:endParaRPr>
          </a:p>
        </p:txBody>
      </p:sp>
      <p:sp>
        <p:nvSpPr>
          <p:cNvPr id="10" name="Title 1"/>
          <p:cNvSpPr>
            <a:spLocks noGrp="1"/>
          </p:cNvSpPr>
          <p:nvPr>
            <p:ph type="title"/>
          </p:nvPr>
        </p:nvSpPr>
        <p:spPr>
          <a:xfrm>
            <a:off x="716945"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5" y="1293187"/>
            <a:ext cx="15304107" cy="345112"/>
          </a:xfrm>
        </p:spPr>
        <p:txBody>
          <a:bodyPr>
            <a:noAutofit/>
          </a:bodyPr>
          <a:lstStyle>
            <a:lvl1pPr marL="0" indent="0" algn="l">
              <a:buNone/>
              <a:defRPr sz="1800">
                <a:solidFill>
                  <a:schemeClr val="tx1">
                    <a:lumMod val="65000"/>
                    <a:lumOff val="35000"/>
                  </a:schemeClr>
                </a:solidFill>
              </a:defRPr>
            </a:lvl1pPr>
            <a:lvl2pPr marL="685636" indent="0" algn="ctr">
              <a:buNone/>
              <a:defRPr sz="3000"/>
            </a:lvl2pPr>
            <a:lvl3pPr marL="1371271" indent="0" algn="ctr">
              <a:buNone/>
              <a:defRPr sz="2700"/>
            </a:lvl3pPr>
            <a:lvl4pPr marL="2056905" indent="0" algn="ctr">
              <a:buNone/>
              <a:defRPr sz="2400"/>
            </a:lvl4pPr>
            <a:lvl5pPr marL="2742540" indent="0" algn="ctr">
              <a:buNone/>
              <a:defRPr sz="2400"/>
            </a:lvl5pPr>
            <a:lvl6pPr marL="3428176" indent="0" algn="ctr">
              <a:buNone/>
              <a:defRPr sz="2400"/>
            </a:lvl6pPr>
            <a:lvl7pPr marL="4113809" indent="0" algn="ctr">
              <a:buNone/>
              <a:defRPr sz="2400"/>
            </a:lvl7pPr>
            <a:lvl8pPr marL="4799445" indent="0" algn="ctr">
              <a:buNone/>
              <a:defRPr sz="2400"/>
            </a:lvl8pPr>
            <a:lvl9pPr marL="5485080" indent="0" algn="ctr">
              <a:buNone/>
              <a:defRPr sz="2400"/>
            </a:lvl9pPr>
          </a:lstStyle>
          <a:p>
            <a:r>
              <a:rPr lang="en-US" dirty="0"/>
              <a:t>Click to edit Master subtitle style</a:t>
            </a:r>
          </a:p>
        </p:txBody>
      </p:sp>
      <p:sp>
        <p:nvSpPr>
          <p:cNvPr id="8" name="Text Placeholder 2"/>
          <p:cNvSpPr>
            <a:spLocks noGrp="1"/>
          </p:cNvSpPr>
          <p:nvPr>
            <p:ph idx="13"/>
          </p:nvPr>
        </p:nvSpPr>
        <p:spPr>
          <a:xfrm>
            <a:off x="716943" y="1924050"/>
            <a:ext cx="16854116" cy="73413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	</a:t>
            </a:r>
          </a:p>
          <a:p>
            <a:pPr lvl="4"/>
            <a:r>
              <a:rPr lang="en-US" dirty="0"/>
              <a:t>Fifth level</a:t>
            </a:r>
          </a:p>
        </p:txBody>
      </p:sp>
    </p:spTree>
    <p:extLst>
      <p:ext uri="{BB962C8B-B14F-4D97-AF65-F5344CB8AC3E}">
        <p14:creationId xmlns:p14="http://schemas.microsoft.com/office/powerpoint/2010/main" val="742445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16942" y="9534528"/>
            <a:ext cx="4114800" cy="547687"/>
          </a:xfrm>
          <a:prstGeom prst="rect">
            <a:avLst/>
          </a:prstGeom>
        </p:spPr>
        <p:txBody>
          <a:bodyPr/>
          <a:lstStyle/>
          <a:p>
            <a:pPr defTabSz="1371579"/>
            <a:fld id="{14112D9D-64C6-4E47-9018-0DB3950AA54C}" type="datetime1">
              <a:rPr lang="en-US" smtClean="0">
                <a:solidFill>
                  <a:prstClr val="black">
                    <a:tint val="75000"/>
                  </a:prstClr>
                </a:solidFill>
              </a:rPr>
              <a:pPr defTabSz="1371579"/>
              <a:t>6/13/2026</a:t>
            </a:fld>
            <a:endParaRPr lang="id-ID">
              <a:solidFill>
                <a:prstClr val="black">
                  <a:tint val="75000"/>
                </a:prstClr>
              </a:solidFill>
            </a:endParaRPr>
          </a:p>
        </p:txBody>
      </p:sp>
      <p:sp>
        <p:nvSpPr>
          <p:cNvPr id="4" name="Footer Placeholder 3"/>
          <p:cNvSpPr>
            <a:spLocks noGrp="1"/>
          </p:cNvSpPr>
          <p:nvPr>
            <p:ph type="ftr" sz="quarter" idx="11"/>
          </p:nvPr>
        </p:nvSpPr>
        <p:spPr>
          <a:xfrm>
            <a:off x="6057900" y="9534528"/>
            <a:ext cx="6172200" cy="547687"/>
          </a:xfrm>
          <a:prstGeom prst="rect">
            <a:avLst/>
          </a:prstGeom>
        </p:spPr>
        <p:txBody>
          <a:bodyPr/>
          <a:lstStyle/>
          <a:p>
            <a:pPr defTabSz="1371579"/>
            <a:r>
              <a:rPr lang="en-US" sz="2700">
                <a:solidFill>
                  <a:prstClr val="black">
                    <a:tint val="75000"/>
                  </a:prstClr>
                </a:solidFill>
              </a:rPr>
              <a:t>© Copyright Wadhwani Foundation</a:t>
            </a:r>
          </a:p>
        </p:txBody>
      </p:sp>
      <p:sp>
        <p:nvSpPr>
          <p:cNvPr id="5" name="Slide Number Placeholder 4"/>
          <p:cNvSpPr>
            <a:spLocks noGrp="1"/>
          </p:cNvSpPr>
          <p:nvPr>
            <p:ph type="sldNum" sz="quarter" idx="12"/>
          </p:nvPr>
        </p:nvSpPr>
        <p:spPr>
          <a:xfrm>
            <a:off x="13456259" y="9534528"/>
            <a:ext cx="4114800" cy="547687"/>
          </a:xfrm>
          <a:prstGeom prst="rect">
            <a:avLst/>
          </a:prstGeom>
        </p:spPr>
        <p:txBody>
          <a:bodyPr/>
          <a:lstStyle/>
          <a:p>
            <a:pPr defTabSz="1371579"/>
            <a:fld id="{8632F5CF-2680-48A4-8032-177420087341}" type="slidenum">
              <a:rPr lang="id-ID" sz="2700" smtClean="0">
                <a:solidFill>
                  <a:prstClr val="black">
                    <a:tint val="75000"/>
                  </a:prstClr>
                </a:solidFill>
              </a:rPr>
              <a:pPr defTabSz="1371579"/>
              <a:t>‹#›</a:t>
            </a:fld>
            <a:endParaRPr lang="id-ID" sz="2700">
              <a:solidFill>
                <a:prstClr val="black">
                  <a:tint val="75000"/>
                </a:prstClr>
              </a:solidFill>
            </a:endParaRPr>
          </a:p>
        </p:txBody>
      </p:sp>
    </p:spTree>
    <p:extLst>
      <p:ext uri="{BB962C8B-B14F-4D97-AF65-F5344CB8AC3E}">
        <p14:creationId xmlns:p14="http://schemas.microsoft.com/office/powerpoint/2010/main" val="1364172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10972800" y="0"/>
            <a:ext cx="7315200" cy="10287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876800" h="6858000">
                <a:moveTo>
                  <a:pt x="0" y="0"/>
                </a:moveTo>
                <a:lnTo>
                  <a:pt x="4876800" y="0"/>
                </a:lnTo>
                <a:lnTo>
                  <a:pt x="4876800"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2400"/>
            </a:lvl1pPr>
          </a:lstStyle>
          <a:p>
            <a:endParaRPr lang="en-US"/>
          </a:p>
        </p:txBody>
      </p:sp>
      <p:sp>
        <p:nvSpPr>
          <p:cNvPr id="10" name="Picture Placeholder 9"/>
          <p:cNvSpPr>
            <a:spLocks noGrp="1"/>
          </p:cNvSpPr>
          <p:nvPr>
            <p:ph type="pic" sz="quarter" idx="12"/>
          </p:nvPr>
        </p:nvSpPr>
        <p:spPr>
          <a:xfrm>
            <a:off x="0" y="6715124"/>
            <a:ext cx="3314700" cy="3571876"/>
          </a:xfrm>
          <a:custGeom>
            <a:avLst/>
            <a:gdLst>
              <a:gd name="connsiteX0" fmla="*/ 0 w 2209800"/>
              <a:gd name="connsiteY0" fmla="*/ 0 h 2381250"/>
              <a:gd name="connsiteX1" fmla="*/ 2209800 w 2209800"/>
              <a:gd name="connsiteY1" fmla="*/ 0 h 2381250"/>
              <a:gd name="connsiteX2" fmla="*/ 2209800 w 2209800"/>
              <a:gd name="connsiteY2" fmla="*/ 2381250 h 2381250"/>
              <a:gd name="connsiteX3" fmla="*/ 0 w 2209800"/>
              <a:gd name="connsiteY3" fmla="*/ 2381250 h 2381250"/>
            </a:gdLst>
            <a:ahLst/>
            <a:cxnLst>
              <a:cxn ang="0">
                <a:pos x="connsiteX0" y="connsiteY0"/>
              </a:cxn>
              <a:cxn ang="0">
                <a:pos x="connsiteX1" y="connsiteY1"/>
              </a:cxn>
              <a:cxn ang="0">
                <a:pos x="connsiteX2" y="connsiteY2"/>
              </a:cxn>
              <a:cxn ang="0">
                <a:pos x="connsiteX3" y="connsiteY3"/>
              </a:cxn>
            </a:cxnLst>
            <a:rect l="l" t="t" r="r" b="b"/>
            <a:pathLst>
              <a:path w="2209800" h="2381250">
                <a:moveTo>
                  <a:pt x="0" y="0"/>
                </a:moveTo>
                <a:lnTo>
                  <a:pt x="2209800" y="0"/>
                </a:lnTo>
                <a:lnTo>
                  <a:pt x="2209800" y="2381250"/>
                </a:lnTo>
                <a:lnTo>
                  <a:pt x="0" y="2381250"/>
                </a:lnTo>
                <a:close/>
              </a:path>
            </a:pathLst>
          </a:custGeom>
          <a:pattFill prst="solidDmnd">
            <a:fgClr>
              <a:schemeClr val="bg1">
                <a:lumMod val="85000"/>
              </a:schemeClr>
            </a:fgClr>
            <a:bgClr>
              <a:schemeClr val="bg1"/>
            </a:bgClr>
          </a:pattFill>
        </p:spPr>
        <p:txBody>
          <a:bodyPr wrap="square" anchor="ctr">
            <a:noAutofit/>
          </a:bodyPr>
          <a:lstStyle>
            <a:lvl1pPr algn="ctr">
              <a:defRPr sz="2400"/>
            </a:lvl1pPr>
          </a:lstStyle>
          <a:p>
            <a:endParaRPr lang="en-US"/>
          </a:p>
        </p:txBody>
      </p:sp>
    </p:spTree>
    <p:extLst>
      <p:ext uri="{BB962C8B-B14F-4D97-AF65-F5344CB8AC3E}">
        <p14:creationId xmlns:p14="http://schemas.microsoft.com/office/powerpoint/2010/main" val="1014372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Foo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547691"/>
            <a:ext cx="15773400" cy="652462"/>
          </a:xfrm>
          <a:prstGeom prst="rect">
            <a:avLst/>
          </a:prstGeom>
        </p:spPr>
        <p:txBody>
          <a:bodyPr/>
          <a:lstStyle>
            <a:lvl1pPr>
              <a:defRPr sz="3000" b="1">
                <a:solidFill>
                  <a:srgbClr val="9E0D20"/>
                </a:solidFill>
                <a:latin typeface="Raleway" panose="020B0503030101060003" pitchFamily="34" charset="0"/>
              </a:defRPr>
            </a:lvl1pPr>
          </a:lstStyle>
          <a:p>
            <a:r>
              <a:rPr lang="en-US"/>
              <a:t>CLICK TO EDIT MASTER TITLE STYLE</a:t>
            </a:r>
          </a:p>
        </p:txBody>
      </p:sp>
      <p:grpSp>
        <p:nvGrpSpPr>
          <p:cNvPr id="16" name="Group 15"/>
          <p:cNvGrpSpPr/>
          <p:nvPr userDrawn="1"/>
        </p:nvGrpSpPr>
        <p:grpSpPr>
          <a:xfrm>
            <a:off x="921228" y="9969693"/>
            <a:ext cx="16445552" cy="71646"/>
            <a:chOff x="532000" y="6640224"/>
            <a:chExt cx="9000000" cy="54000"/>
          </a:xfrm>
        </p:grpSpPr>
        <p:sp>
          <p:nvSpPr>
            <p:cNvPr id="11" name="Rectangle 10"/>
            <p:cNvSpPr/>
            <p:nvPr userDrawn="1"/>
          </p:nvSpPr>
          <p:spPr>
            <a:xfrm>
              <a:off x="532000" y="6640224"/>
              <a:ext cx="1800000" cy="54000"/>
            </a:xfrm>
            <a:prstGeom prst="rect">
              <a:avLst/>
            </a:prstGeom>
            <a:solidFill>
              <a:srgbClr val="9E0D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2" name="Rectangle 11"/>
            <p:cNvSpPr/>
            <p:nvPr userDrawn="1"/>
          </p:nvSpPr>
          <p:spPr>
            <a:xfrm>
              <a:off x="2332000" y="6640224"/>
              <a:ext cx="1800000" cy="54000"/>
            </a:xfrm>
            <a:prstGeom prst="rect">
              <a:avLst/>
            </a:prstGeom>
            <a:solidFill>
              <a:srgbClr val="2874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3" name="Rectangle 12"/>
            <p:cNvSpPr/>
            <p:nvPr userDrawn="1"/>
          </p:nvSpPr>
          <p:spPr>
            <a:xfrm>
              <a:off x="4132000" y="6640224"/>
              <a:ext cx="1800000" cy="54000"/>
            </a:xfrm>
            <a:prstGeom prst="rect">
              <a:avLst/>
            </a:prstGeom>
            <a:solidFill>
              <a:srgbClr val="F68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4" name="Rectangle 13"/>
            <p:cNvSpPr/>
            <p:nvPr userDrawn="1"/>
          </p:nvSpPr>
          <p:spPr>
            <a:xfrm>
              <a:off x="5932000" y="6640224"/>
              <a:ext cx="1800000" cy="54000"/>
            </a:xfrm>
            <a:prstGeom prst="rect">
              <a:avLst/>
            </a:prstGeom>
            <a:solidFill>
              <a:srgbClr val="1D43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5" name="Rectangle 14"/>
            <p:cNvSpPr/>
            <p:nvPr userDrawn="1"/>
          </p:nvSpPr>
          <p:spPr>
            <a:xfrm>
              <a:off x="7732000" y="6640224"/>
              <a:ext cx="1800000" cy="54000"/>
            </a:xfrm>
            <a:prstGeom prst="rect">
              <a:avLst/>
            </a:prstGeom>
            <a:solidFill>
              <a:srgbClr val="2EDA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grpSp>
    </p:spTree>
    <p:extLst>
      <p:ext uri="{BB962C8B-B14F-4D97-AF65-F5344CB8AC3E}">
        <p14:creationId xmlns:p14="http://schemas.microsoft.com/office/powerpoint/2010/main" val="2606576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6" r:id="rId12"/>
    <p:sldLayoutId id="2147483677" r:id="rId13"/>
    <p:sldLayoutId id="2147483693" r:id="rId14"/>
    <p:sldLayoutId id="2147483696" r:id="rId15"/>
    <p:sldLayoutId id="2147483697" r:id="rId1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11.jpe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ustomXml" Target="../ink/ink2.xml"/><Relationship Id="rId4" Type="http://schemas.openxmlformats.org/officeDocument/2006/relationships/image" Target="../media/image140.pn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12669" y="0"/>
            <a:ext cx="18310194" cy="10287000"/>
          </a:xfrm>
          <a:prstGeom prst="rect">
            <a:avLst/>
          </a:prstGeom>
        </p:spPr>
      </p:pic>
      <p:grpSp>
        <p:nvGrpSpPr>
          <p:cNvPr id="4" name="Group 4"/>
          <p:cNvGrpSpPr>
            <a:grpSpLocks noChangeAspect="1"/>
          </p:cNvGrpSpPr>
          <p:nvPr/>
        </p:nvGrpSpPr>
        <p:grpSpPr>
          <a:xfrm>
            <a:off x="10228234" y="5024845"/>
            <a:ext cx="495300" cy="495300"/>
            <a:chOff x="0" y="0"/>
            <a:chExt cx="6355080" cy="6355080"/>
          </a:xfrm>
        </p:grpSpPr>
        <p:sp>
          <p:nvSpPr>
            <p:cNvPr id="5" name="Freeform 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pic>
        <p:nvPicPr>
          <p:cNvPr id="12" name="Picture 12"/>
          <p:cNvPicPr>
            <a:picLocks noChangeAspect="1"/>
          </p:cNvPicPr>
          <p:nvPr/>
        </p:nvPicPr>
        <p:blipFill>
          <a:blip r:embed="rId3"/>
          <a:srcRect/>
          <a:stretch>
            <a:fillRect/>
          </a:stretch>
        </p:blipFill>
        <p:spPr>
          <a:xfrm>
            <a:off x="15314576" y="509277"/>
            <a:ext cx="2278599" cy="1131276"/>
          </a:xfrm>
          <a:prstGeom prst="rect">
            <a:avLst/>
          </a:prstGeom>
        </p:spPr>
      </p:pic>
      <p:sp>
        <p:nvSpPr>
          <p:cNvPr id="19" name="TextBox 19"/>
          <p:cNvSpPr txBox="1"/>
          <p:nvPr/>
        </p:nvSpPr>
        <p:spPr>
          <a:xfrm>
            <a:off x="1343156" y="3511470"/>
            <a:ext cx="6928588" cy="2851230"/>
          </a:xfrm>
          <a:prstGeom prst="rect">
            <a:avLst/>
          </a:prstGeom>
        </p:spPr>
        <p:txBody>
          <a:bodyPr lIns="0" tIns="0" rIns="0" bIns="0" rtlCol="0" anchor="t">
            <a:spAutoFit/>
          </a:bodyPr>
          <a:lstStyle/>
          <a:p>
            <a:pPr>
              <a:lnSpc>
                <a:spcPts val="11040"/>
              </a:lnSpc>
            </a:pPr>
            <a:r>
              <a:rPr lang="en-US" sz="12000" dirty="0">
                <a:solidFill>
                  <a:srgbClr val="FFFFFF"/>
                </a:solidFill>
                <a:latin typeface="Antonio Bold"/>
              </a:rPr>
              <a:t>IGNITE</a:t>
            </a:r>
          </a:p>
          <a:p>
            <a:pPr>
              <a:lnSpc>
                <a:spcPts val="11040"/>
              </a:lnSpc>
            </a:pPr>
            <a:r>
              <a:rPr lang="en-US" sz="12000" dirty="0">
                <a:solidFill>
                  <a:srgbClr val="FFFFFF"/>
                </a:solidFill>
                <a:latin typeface="Antonio Bold"/>
              </a:rPr>
              <a:t>Pitch Deck</a:t>
            </a:r>
          </a:p>
        </p:txBody>
      </p:sp>
      <p:sp>
        <p:nvSpPr>
          <p:cNvPr id="7" name="Rectangle 6"/>
          <p:cNvSpPr/>
          <p:nvPr/>
        </p:nvSpPr>
        <p:spPr>
          <a:xfrm>
            <a:off x="1343156" y="6953250"/>
            <a:ext cx="8628034" cy="1371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4000" b="1" dirty="0">
                <a:ln w="0"/>
                <a:solidFill>
                  <a:schemeClr val="tx1"/>
                </a:solidFill>
                <a:effectLst>
                  <a:outerShdw blurRad="38100" dist="19050" dir="2700000" algn="tl" rotWithShape="0">
                    <a:schemeClr val="dk1">
                      <a:alpha val="40000"/>
                    </a:schemeClr>
                  </a:outerShdw>
                </a:effectLst>
              </a:rPr>
              <a:t>Milestone 1</a:t>
            </a:r>
          </a:p>
        </p:txBody>
      </p:sp>
      <p:pic>
        <p:nvPicPr>
          <p:cNvPr id="11" name="Picture 10" descr="AUTO FIXAI">
            <a:extLst>
              <a:ext uri="{FF2B5EF4-FFF2-40B4-BE49-F238E27FC236}">
                <a16:creationId xmlns:a16="http://schemas.microsoft.com/office/drawing/2014/main" id="{50D914AA-C062-A9CA-341F-DD0C32F6F2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8234" y="2188602"/>
            <a:ext cx="7297766" cy="61677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55BE9276-DC2F-F843-82A1-22E8A3A5B667}"/>
              </a:ext>
            </a:extLst>
          </p:cNvPr>
          <p:cNvGrpSpPr/>
          <p:nvPr/>
        </p:nvGrpSpPr>
        <p:grpSpPr>
          <a:xfrm>
            <a:off x="704241" y="7442478"/>
            <a:ext cx="1371600" cy="1371600"/>
            <a:chOff x="6821181" y="4608210"/>
            <a:chExt cx="914400" cy="914400"/>
          </a:xfrm>
        </p:grpSpPr>
        <p:sp>
          <p:nvSpPr>
            <p:cNvPr id="41" name="Oval 40"/>
            <p:cNvSpPr/>
            <p:nvPr/>
          </p:nvSpPr>
          <p:spPr>
            <a:xfrm>
              <a:off x="6821181" y="4608210"/>
              <a:ext cx="914400" cy="9144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2700" dirty="0">
                <a:solidFill>
                  <a:prstClr val="white"/>
                </a:solidFill>
              </a:endParaRPr>
            </a:p>
          </p:txBody>
        </p:sp>
        <p:sp>
          <p:nvSpPr>
            <p:cNvPr id="42" name="Shape 2932">
              <a:extLst>
                <a:ext uri="{FF2B5EF4-FFF2-40B4-BE49-F238E27FC236}">
                  <a16:creationId xmlns:a16="http://schemas.microsoft.com/office/drawing/2014/main" id="{F24913FF-4021-F444-AC80-1D5E7C5340A2}"/>
                </a:ext>
              </a:extLst>
            </p:cNvPr>
            <p:cNvSpPr/>
            <p:nvPr/>
          </p:nvSpPr>
          <p:spPr>
            <a:xfrm>
              <a:off x="7038859" y="4857302"/>
              <a:ext cx="479042" cy="391945"/>
            </a:xfrm>
            <a:custGeom>
              <a:avLst/>
              <a:gdLst/>
              <a:ahLst/>
              <a:cxnLst>
                <a:cxn ang="0">
                  <a:pos x="wd2" y="hd2"/>
                </a:cxn>
                <a:cxn ang="5400000">
                  <a:pos x="wd2" y="hd2"/>
                </a:cxn>
                <a:cxn ang="10800000">
                  <a:pos x="wd2" y="hd2"/>
                </a:cxn>
                <a:cxn ang="16200000">
                  <a:pos x="wd2" y="hd2"/>
                </a:cxn>
              </a:cxnLst>
              <a:rect l="0" t="0" r="r" b="b"/>
              <a:pathLst>
                <a:path w="21600" h="21600" extrusionOk="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solidFill>
              <a:schemeClr val="bg1"/>
            </a:solidFill>
            <a:ln w="12700">
              <a:miter lim="400000"/>
            </a:ln>
          </p:spPr>
          <p:txBody>
            <a:bodyPr lIns="57136" tIns="57136" rIns="57136" bIns="57136" anchor="ctr"/>
            <a:lstStyle/>
            <a:p>
              <a:pPr defTabSz="685594">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498" dirty="0">
                <a:solidFill>
                  <a:srgbClr val="FFFFFF"/>
                </a:solidFill>
                <a:effectLst>
                  <a:outerShdw blurRad="38100" dist="12700" dir="5400000" rotWithShape="0">
                    <a:srgbClr val="000000">
                      <a:alpha val="50000"/>
                    </a:srgbClr>
                  </a:outerShdw>
                </a:effectLst>
                <a:latin typeface="Gill Sans"/>
                <a:ea typeface="Gill Sans"/>
                <a:cs typeface="Gill Sans"/>
                <a:sym typeface="Gill Sans"/>
              </a:endParaRPr>
            </a:p>
          </p:txBody>
        </p:sp>
      </p:grpSp>
      <p:sp>
        <p:nvSpPr>
          <p:cNvPr id="43" name="TextBox 42"/>
          <p:cNvSpPr txBox="1"/>
          <p:nvPr/>
        </p:nvSpPr>
        <p:spPr>
          <a:xfrm>
            <a:off x="67466" y="62230"/>
            <a:ext cx="9198340" cy="923330"/>
          </a:xfrm>
          <a:prstGeom prst="rect">
            <a:avLst/>
          </a:prstGeom>
          <a:noFill/>
        </p:spPr>
        <p:txBody>
          <a:bodyPr wrap="square" rtlCol="0">
            <a:spAutoFit/>
          </a:bodyPr>
          <a:lstStyle/>
          <a:p>
            <a:pPr defTabSz="1371600"/>
            <a:r>
              <a:rPr lang="en-US" sz="5400" b="1" dirty="0"/>
              <a:t>Who we are</a:t>
            </a:r>
            <a:endParaRPr lang="en-US" sz="5400" b="1" dirty="0">
              <a:solidFill>
                <a:prstClr val="black">
                  <a:lumMod val="85000"/>
                  <a:lumOff val="15000"/>
                </a:prstClr>
              </a:solidFill>
              <a:latin typeface="Montserrat"/>
            </a:endParaRPr>
          </a:p>
        </p:txBody>
      </p:sp>
      <p:sp>
        <p:nvSpPr>
          <p:cNvPr id="3" name="Rectangle 2"/>
          <p:cNvSpPr/>
          <p:nvPr/>
        </p:nvSpPr>
        <p:spPr>
          <a:xfrm>
            <a:off x="93386" y="1158819"/>
            <a:ext cx="11717614" cy="461665"/>
          </a:xfrm>
          <a:prstGeom prst="rect">
            <a:avLst/>
          </a:prstGeom>
        </p:spPr>
        <p:txBody>
          <a:bodyPr wrap="square">
            <a:spAutoFit/>
          </a:bodyPr>
          <a:lstStyle/>
          <a:p>
            <a:r>
              <a:rPr lang="en-US" sz="2400" dirty="0">
                <a:solidFill>
                  <a:srgbClr val="000000"/>
                </a:solidFill>
                <a:latin typeface="Avenir"/>
              </a:rPr>
              <a:t>Name of your Venture: </a:t>
            </a:r>
            <a:r>
              <a:rPr lang="en-US" sz="2000" dirty="0">
                <a:solidFill>
                  <a:srgbClr val="000000"/>
                </a:solidFill>
                <a:latin typeface="Cooper Black" panose="0208090404030B020404" pitchFamily="18" charset="0"/>
              </a:rPr>
              <a:t>AUTO FIX AI –REVOLUTIONIZING AUTOMOTIVE REPAIR</a:t>
            </a:r>
            <a:endParaRPr lang="en-US" sz="2400" dirty="0"/>
          </a:p>
        </p:txBody>
      </p:sp>
      <p:sp>
        <p:nvSpPr>
          <p:cNvPr id="44" name="Rectangle 43">
            <a:extLst>
              <a:ext uri="{FF2B5EF4-FFF2-40B4-BE49-F238E27FC236}">
                <a16:creationId xmlns:a16="http://schemas.microsoft.com/office/drawing/2014/main" id="{5DE34494-019C-4AF1-907B-33245967C575}"/>
              </a:ext>
            </a:extLst>
          </p:cNvPr>
          <p:cNvSpPr/>
          <p:nvPr/>
        </p:nvSpPr>
        <p:spPr>
          <a:xfrm>
            <a:off x="16120030" y="81558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45" name="TextBox 44">
            <a:extLst>
              <a:ext uri="{FF2B5EF4-FFF2-40B4-BE49-F238E27FC236}">
                <a16:creationId xmlns:a16="http://schemas.microsoft.com/office/drawing/2014/main" id="{437D10F2-D825-4F14-8721-CF5105D60893}"/>
              </a:ext>
            </a:extLst>
          </p:cNvPr>
          <p:cNvSpPr txBox="1"/>
          <p:nvPr/>
        </p:nvSpPr>
        <p:spPr>
          <a:xfrm>
            <a:off x="16256163" y="1009801"/>
            <a:ext cx="1422954" cy="900246"/>
          </a:xfrm>
          <a:prstGeom prst="rect">
            <a:avLst/>
          </a:prstGeom>
          <a:noFill/>
        </p:spPr>
        <p:txBody>
          <a:bodyPr wrap="square" lIns="68580" tIns="34290" rIns="68580" bIns="34290" rtlCol="0" anchor="t">
            <a:spAutoFit/>
          </a:bodyPr>
          <a:lstStyle/>
          <a:p>
            <a:pPr algn="ctr"/>
            <a:r>
              <a:rPr lang="en-US" b="1" dirty="0"/>
              <a:t>Place your venture logo here</a:t>
            </a:r>
            <a:endParaRPr lang="en-ZA" b="1" dirty="0"/>
          </a:p>
        </p:txBody>
      </p:sp>
      <p:sp>
        <p:nvSpPr>
          <p:cNvPr id="5" name="Rectangle 4"/>
          <p:cNvSpPr/>
          <p:nvPr/>
        </p:nvSpPr>
        <p:spPr>
          <a:xfrm>
            <a:off x="2770112" y="4717502"/>
            <a:ext cx="8050287" cy="369332"/>
          </a:xfrm>
          <a:prstGeom prst="rect">
            <a:avLst/>
          </a:prstGeom>
        </p:spPr>
        <p:txBody>
          <a:bodyPr wrap="square">
            <a:spAutoFit/>
          </a:bodyPr>
          <a:lstStyle/>
          <a:p>
            <a:r>
              <a:rPr lang="en-US" dirty="0">
                <a:solidFill>
                  <a:srgbClr val="000000"/>
                </a:solidFill>
                <a:latin typeface="Avenir"/>
              </a:rPr>
              <a:t>Provide a brief on what does your venture do.</a:t>
            </a:r>
            <a:endParaRPr lang="en-US" dirty="0"/>
          </a:p>
        </p:txBody>
      </p:sp>
      <p:sp>
        <p:nvSpPr>
          <p:cNvPr id="46" name="Rectangle 45"/>
          <p:cNvSpPr/>
          <p:nvPr/>
        </p:nvSpPr>
        <p:spPr>
          <a:xfrm>
            <a:off x="2792811" y="1654984"/>
            <a:ext cx="1527982" cy="584775"/>
          </a:xfrm>
          <a:prstGeom prst="rect">
            <a:avLst/>
          </a:prstGeom>
        </p:spPr>
        <p:txBody>
          <a:bodyPr wrap="none">
            <a:spAutoFit/>
          </a:bodyPr>
          <a:lstStyle/>
          <a:p>
            <a:r>
              <a:rPr lang="en-US" sz="3200" b="1" dirty="0">
                <a:solidFill>
                  <a:srgbClr val="000000"/>
                </a:solidFill>
                <a:latin typeface="Avenir"/>
              </a:rPr>
              <a:t>Why ? </a:t>
            </a:r>
            <a:endParaRPr lang="en-US" sz="3200" b="1" dirty="0"/>
          </a:p>
        </p:txBody>
      </p:sp>
      <p:sp>
        <p:nvSpPr>
          <p:cNvPr id="47" name="Rectangle 46"/>
          <p:cNvSpPr/>
          <p:nvPr/>
        </p:nvSpPr>
        <p:spPr>
          <a:xfrm>
            <a:off x="2792811" y="2196108"/>
            <a:ext cx="8295022" cy="369332"/>
          </a:xfrm>
          <a:prstGeom prst="rect">
            <a:avLst/>
          </a:prstGeom>
        </p:spPr>
        <p:txBody>
          <a:bodyPr wrap="square">
            <a:spAutoFit/>
          </a:bodyPr>
          <a:lstStyle/>
          <a:p>
            <a:r>
              <a:rPr lang="en-US" dirty="0">
                <a:solidFill>
                  <a:srgbClr val="000000"/>
                </a:solidFill>
                <a:latin typeface="Avenir"/>
              </a:rPr>
              <a:t>Explain why do you want to pursue this Business Idea. </a:t>
            </a:r>
            <a:endParaRPr lang="en-US" dirty="0"/>
          </a:p>
        </p:txBody>
      </p:sp>
      <p:sp>
        <p:nvSpPr>
          <p:cNvPr id="48" name="Rectangle 47"/>
          <p:cNvSpPr/>
          <p:nvPr/>
        </p:nvSpPr>
        <p:spPr>
          <a:xfrm>
            <a:off x="2792811" y="4267518"/>
            <a:ext cx="1778051" cy="584775"/>
          </a:xfrm>
          <a:prstGeom prst="rect">
            <a:avLst/>
          </a:prstGeom>
        </p:spPr>
        <p:txBody>
          <a:bodyPr wrap="none">
            <a:spAutoFit/>
          </a:bodyPr>
          <a:lstStyle/>
          <a:p>
            <a:r>
              <a:rPr lang="en-US" sz="3200" b="1" dirty="0">
                <a:solidFill>
                  <a:srgbClr val="000000"/>
                </a:solidFill>
                <a:latin typeface="Avenir"/>
              </a:rPr>
              <a:t>What  ? </a:t>
            </a:r>
            <a:endParaRPr lang="en-US" sz="3200" b="1" dirty="0"/>
          </a:p>
        </p:txBody>
      </p:sp>
      <p:sp>
        <p:nvSpPr>
          <p:cNvPr id="49" name="Rectangle 48"/>
          <p:cNvSpPr/>
          <p:nvPr/>
        </p:nvSpPr>
        <p:spPr>
          <a:xfrm>
            <a:off x="2735904" y="6857703"/>
            <a:ext cx="1641796" cy="584775"/>
          </a:xfrm>
          <a:prstGeom prst="rect">
            <a:avLst/>
          </a:prstGeom>
        </p:spPr>
        <p:txBody>
          <a:bodyPr wrap="none">
            <a:spAutoFit/>
          </a:bodyPr>
          <a:lstStyle/>
          <a:p>
            <a:r>
              <a:rPr lang="en-US" sz="3200" b="1" dirty="0">
                <a:solidFill>
                  <a:srgbClr val="000000"/>
                </a:solidFill>
                <a:latin typeface="Avenir"/>
              </a:rPr>
              <a:t>How  ? </a:t>
            </a:r>
            <a:endParaRPr lang="en-US" sz="3200" b="1" dirty="0"/>
          </a:p>
        </p:txBody>
      </p:sp>
      <p:sp>
        <p:nvSpPr>
          <p:cNvPr id="51" name="Rectangle 50"/>
          <p:cNvSpPr/>
          <p:nvPr/>
        </p:nvSpPr>
        <p:spPr>
          <a:xfrm>
            <a:off x="2852044" y="5148408"/>
            <a:ext cx="12768955" cy="1011752"/>
          </a:xfrm>
          <a:prstGeom prst="rect">
            <a:avLst/>
          </a:prstGeom>
          <a:ln>
            <a:solidFill>
              <a:schemeClr val="tx1"/>
            </a:solidFill>
          </a:ln>
        </p:spPr>
        <p:txBody>
          <a:bodyPr wrap="square">
            <a:spAutoFit/>
          </a:bodyPr>
          <a:lstStyle/>
          <a:p>
            <a:pPr algn="just">
              <a:lnSpc>
                <a:spcPct val="150000"/>
              </a:lnSpc>
            </a:pPr>
            <a:r>
              <a:rPr lang="en-IN" sz="2100" dirty="0"/>
              <a:t>AUTO FIX AI is an intelligent app that helps diagnose vehicle issues instantly. It provides solutions and connects users </a:t>
            </a:r>
          </a:p>
          <a:p>
            <a:pPr algn="just">
              <a:lnSpc>
                <a:spcPct val="150000"/>
              </a:lnSpc>
            </a:pPr>
            <a:r>
              <a:rPr lang="en-IN" sz="2100" dirty="0"/>
              <a:t>With nearby verified  garages. It acts as a digital assistant for car maintenance and repair.</a:t>
            </a:r>
          </a:p>
        </p:txBody>
      </p:sp>
      <p:sp>
        <p:nvSpPr>
          <p:cNvPr id="52" name="Rectangle 51"/>
          <p:cNvSpPr/>
          <p:nvPr/>
        </p:nvSpPr>
        <p:spPr>
          <a:xfrm>
            <a:off x="2852044" y="2591626"/>
            <a:ext cx="12692755" cy="1496500"/>
          </a:xfrm>
          <a:prstGeom prst="rect">
            <a:avLst/>
          </a:prstGeom>
          <a:ln>
            <a:solidFill>
              <a:schemeClr val="tx1"/>
            </a:solidFill>
          </a:ln>
        </p:spPr>
        <p:txBody>
          <a:bodyPr wrap="square">
            <a:spAutoFit/>
          </a:bodyPr>
          <a:lstStyle/>
          <a:p>
            <a:pPr algn="just">
              <a:lnSpc>
                <a:spcPct val="150000"/>
              </a:lnSpc>
            </a:pPr>
            <a:r>
              <a:rPr lang="en-IN" sz="2100" dirty="0"/>
              <a:t>We aim to solve common challenges faced by the vehicle owners such as lack of knowledge ,difficulty in finding reliable mechanics ,unexpected repair costs ,and delay in service .We aim to make car repair simple and  transparent and accessible. Our goal to empower users with smart automotive support.</a:t>
            </a:r>
          </a:p>
        </p:txBody>
      </p:sp>
      <p:sp>
        <p:nvSpPr>
          <p:cNvPr id="53" name="Rectangle 52"/>
          <p:cNvSpPr/>
          <p:nvPr/>
        </p:nvSpPr>
        <p:spPr>
          <a:xfrm>
            <a:off x="2735904" y="7451858"/>
            <a:ext cx="7289175" cy="369332"/>
          </a:xfrm>
          <a:prstGeom prst="rect">
            <a:avLst/>
          </a:prstGeom>
        </p:spPr>
        <p:txBody>
          <a:bodyPr wrap="none">
            <a:spAutoFit/>
          </a:bodyPr>
          <a:lstStyle/>
          <a:p>
            <a:r>
              <a:rPr lang="en-US" dirty="0">
                <a:solidFill>
                  <a:srgbClr val="000000"/>
                </a:solidFill>
                <a:latin typeface="Avenir"/>
              </a:rPr>
              <a:t>Explain how your venture solves the problem and make its revenue. </a:t>
            </a:r>
            <a:endParaRPr lang="en-US" dirty="0"/>
          </a:p>
        </p:txBody>
      </p:sp>
      <p:sp>
        <p:nvSpPr>
          <p:cNvPr id="54" name="Rectangle 53"/>
          <p:cNvSpPr/>
          <p:nvPr/>
        </p:nvSpPr>
        <p:spPr>
          <a:xfrm>
            <a:off x="2852044" y="7851637"/>
            <a:ext cx="12768954" cy="1011752"/>
          </a:xfrm>
          <a:prstGeom prst="rect">
            <a:avLst/>
          </a:prstGeom>
          <a:ln>
            <a:solidFill>
              <a:schemeClr val="tx1"/>
            </a:solidFill>
          </a:ln>
        </p:spPr>
        <p:txBody>
          <a:bodyPr wrap="square">
            <a:spAutoFit/>
          </a:bodyPr>
          <a:lstStyle/>
          <a:p>
            <a:pPr algn="just">
              <a:lnSpc>
                <a:spcPct val="150000"/>
              </a:lnSpc>
            </a:pPr>
            <a:r>
              <a:rPr lang="en-IN" sz="2100" dirty="0"/>
              <a:t>The app use  AI and smart technology to analyse  problems and suggest solutions .It integrates GPS to locate garages and guide users. Revenue comes from commissions ,subscription, and advertisements.</a:t>
            </a:r>
          </a:p>
        </p:txBody>
      </p:sp>
      <p:pic>
        <p:nvPicPr>
          <p:cNvPr id="58" name="Graphic 23" descr="Lightbulb and gear with solid fill">
            <a:extLst>
              <a:ext uri="{FF2B5EF4-FFF2-40B4-BE49-F238E27FC236}">
                <a16:creationId xmlns:a16="http://schemas.microsoft.com/office/drawing/2014/main" id="{70701804-1B30-4A44-B98A-18706EAEAFD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96141" y="5074619"/>
            <a:ext cx="1290307" cy="1414469"/>
          </a:xfrm>
          <a:prstGeom prst="rect">
            <a:avLst/>
          </a:prstGeom>
          <a:solidFill>
            <a:schemeClr val="accent2">
              <a:lumMod val="40000"/>
              <a:lumOff val="60000"/>
            </a:schemeClr>
          </a:solidFill>
        </p:spPr>
      </p:pic>
      <p:pic>
        <p:nvPicPr>
          <p:cNvPr id="59" name="Graphic 19" descr="Dance steps with solid fill">
            <a:extLst>
              <a:ext uri="{FF2B5EF4-FFF2-40B4-BE49-F238E27FC236}">
                <a16:creationId xmlns:a16="http://schemas.microsoft.com/office/drawing/2014/main" id="{ED04F3D0-C2B5-426E-ADEE-F065E40DF45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4920" y="2737856"/>
            <a:ext cx="1251527" cy="1186444"/>
          </a:xfrm>
          <a:prstGeom prst="rect">
            <a:avLst/>
          </a:prstGeom>
          <a:solidFill>
            <a:schemeClr val="accent6">
              <a:lumMod val="60000"/>
              <a:lumOff val="40000"/>
            </a:schemeClr>
          </a:solidFill>
        </p:spPr>
      </p:pic>
      <p:pic>
        <p:nvPicPr>
          <p:cNvPr id="9" name="Picture 8" descr="AUTOFIXAI">
            <a:extLst>
              <a:ext uri="{FF2B5EF4-FFF2-40B4-BE49-F238E27FC236}">
                <a16:creationId xmlns:a16="http://schemas.microsoft.com/office/drawing/2014/main" id="{10852F1E-687F-A277-EF8F-0A6B432756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773399" y="647700"/>
            <a:ext cx="2286001" cy="1828800"/>
          </a:xfrm>
          <a:prstGeom prst="rect">
            <a:avLst/>
          </a:prstGeom>
        </p:spPr>
      </p:pic>
    </p:spTree>
    <p:extLst>
      <p:ext uri="{BB962C8B-B14F-4D97-AF65-F5344CB8AC3E}">
        <p14:creationId xmlns:p14="http://schemas.microsoft.com/office/powerpoint/2010/main" val="4852782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circle(in)">
                                      <p:cBhvr>
                                        <p:cTn id="15" dur="2000"/>
                                        <p:tgtEl>
                                          <p:spTgt spid="52"/>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circle(in)">
                                      <p:cBhvr>
                                        <p:cTn id="20" dur="2000"/>
                                        <p:tgtEl>
                                          <p:spTgt spid="51"/>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circle(in)">
                                      <p:cBhvr>
                                        <p:cTn id="25" dur="2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1" grpId="0" animBg="1"/>
      <p:bldP spid="52" grpId="0" animBg="1"/>
      <p:bldP spid="5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750060580"/>
              </p:ext>
            </p:extLst>
          </p:nvPr>
        </p:nvGraphicFramePr>
        <p:xfrm>
          <a:off x="914400" y="1888147"/>
          <a:ext cx="15697200" cy="7482279"/>
        </p:xfrm>
        <a:graphic>
          <a:graphicData uri="http://schemas.openxmlformats.org/drawingml/2006/table">
            <a:tbl>
              <a:tblPr firstRow="1" bandRow="1">
                <a:tableStyleId>{2D5ABB26-0587-4C30-8999-92F81FD0307C}</a:tableStyleId>
              </a:tblPr>
              <a:tblGrid>
                <a:gridCol w="4572000">
                  <a:extLst>
                    <a:ext uri="{9D8B030D-6E8A-4147-A177-3AD203B41FA5}">
                      <a16:colId xmlns:a16="http://schemas.microsoft.com/office/drawing/2014/main" val="20000"/>
                    </a:ext>
                  </a:extLst>
                </a:gridCol>
                <a:gridCol w="5867402">
                  <a:extLst>
                    <a:ext uri="{9D8B030D-6E8A-4147-A177-3AD203B41FA5}">
                      <a16:colId xmlns:a16="http://schemas.microsoft.com/office/drawing/2014/main" val="20001"/>
                    </a:ext>
                  </a:extLst>
                </a:gridCol>
                <a:gridCol w="5257798">
                  <a:extLst>
                    <a:ext uri="{9D8B030D-6E8A-4147-A177-3AD203B41FA5}">
                      <a16:colId xmlns:a16="http://schemas.microsoft.com/office/drawing/2014/main" val="20002"/>
                    </a:ext>
                  </a:extLst>
                </a:gridCol>
              </a:tblGrid>
              <a:tr h="2849424">
                <a:tc>
                  <a:txBody>
                    <a:bodyPr/>
                    <a:lstStyle/>
                    <a:p>
                      <a:pPr marL="85090">
                        <a:lnSpc>
                          <a:spcPct val="100000"/>
                        </a:lnSpc>
                        <a:spcBef>
                          <a:spcPts val="635"/>
                        </a:spcBef>
                      </a:pPr>
                      <a:r>
                        <a:rPr sz="1400" b="1" spc="-120" dirty="0">
                          <a:latin typeface="Verdana" panose="020B0604030504040204" pitchFamily="34" charset="0"/>
                          <a:ea typeface="Verdana" panose="020B0604030504040204" pitchFamily="34" charset="0"/>
                          <a:cs typeface="Open Sans" panose="020B0606030504020204" pitchFamily="34" charset="0"/>
                        </a:rPr>
                        <a:t>CONTEXT</a:t>
                      </a:r>
                      <a:endParaRPr sz="1400" dirty="0">
                        <a:latin typeface="Verdana" panose="020B0604030504040204" pitchFamily="34" charset="0"/>
                        <a:ea typeface="Verdana" panose="020B0604030504040204" pitchFamily="34" charset="0"/>
                        <a:cs typeface="Open Sans" panose="020B0606030504020204" pitchFamily="34" charset="0"/>
                      </a:endParaRPr>
                    </a:p>
                    <a:p>
                      <a:pPr marL="85090">
                        <a:lnSpc>
                          <a:spcPct val="100000"/>
                        </a:lnSpc>
                      </a:pPr>
                      <a:r>
                        <a:rPr sz="1400" spc="-70" dirty="0">
                          <a:latin typeface="Verdana" panose="020B0604030504040204" pitchFamily="34" charset="0"/>
                          <a:ea typeface="Verdana" panose="020B0604030504040204" pitchFamily="34" charset="0"/>
                          <a:cs typeface="Open Sans" panose="020B0606030504020204" pitchFamily="34" charset="0"/>
                        </a:rPr>
                        <a:t>When</a:t>
                      </a:r>
                      <a:r>
                        <a:rPr sz="1400" spc="-19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does</a:t>
                      </a:r>
                      <a:r>
                        <a:rPr lang="en-IN" sz="1400" spc="-3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the</a:t>
                      </a:r>
                      <a:r>
                        <a:rPr lang="en-IN" sz="1400" spc="-35" dirty="0">
                          <a:latin typeface="Verdana" panose="020B0604030504040204" pitchFamily="34" charset="0"/>
                          <a:ea typeface="Verdana" panose="020B0604030504040204" pitchFamily="34" charset="0"/>
                          <a:cs typeface="Open Sans" panose="020B0606030504020204" pitchFamily="34" charset="0"/>
                        </a:rPr>
                        <a:t> </a:t>
                      </a:r>
                      <a:r>
                        <a:rPr sz="1400" spc="-85" dirty="0">
                          <a:latin typeface="Verdana" panose="020B0604030504040204" pitchFamily="34" charset="0"/>
                          <a:ea typeface="Verdana" panose="020B0604030504040204" pitchFamily="34" charset="0"/>
                          <a:cs typeface="Open Sans" panose="020B0606030504020204" pitchFamily="34" charset="0"/>
                        </a:rPr>
                        <a:t>p</a:t>
                      </a:r>
                      <a:r>
                        <a:rPr sz="1400" spc="-95" dirty="0">
                          <a:latin typeface="Verdana" panose="020B0604030504040204" pitchFamily="34" charset="0"/>
                          <a:ea typeface="Verdana" panose="020B0604030504040204" pitchFamily="34" charset="0"/>
                          <a:cs typeface="Open Sans" panose="020B0606030504020204" pitchFamily="34" charset="0"/>
                        </a:rPr>
                        <a:t>r</a:t>
                      </a:r>
                      <a:r>
                        <a:rPr sz="1400" spc="-90" dirty="0">
                          <a:latin typeface="Verdana" panose="020B0604030504040204" pitchFamily="34" charset="0"/>
                          <a:ea typeface="Verdana" panose="020B0604030504040204" pitchFamily="34" charset="0"/>
                          <a:cs typeface="Open Sans" panose="020B0606030504020204" pitchFamily="34" charset="0"/>
                        </a:rPr>
                        <a:t>o</a:t>
                      </a:r>
                      <a:r>
                        <a:rPr sz="1400" spc="-85" dirty="0">
                          <a:latin typeface="Verdana" panose="020B0604030504040204" pitchFamily="34" charset="0"/>
                          <a:ea typeface="Verdana" panose="020B0604030504040204" pitchFamily="34" charset="0"/>
                          <a:cs typeface="Open Sans" panose="020B0606030504020204" pitchFamily="34" charset="0"/>
                        </a:rPr>
                        <a:t>b</a:t>
                      </a:r>
                      <a:r>
                        <a:rPr sz="1400" spc="-60" dirty="0">
                          <a:latin typeface="Verdana" panose="020B0604030504040204" pitchFamily="34" charset="0"/>
                          <a:ea typeface="Verdana" panose="020B0604030504040204" pitchFamily="34" charset="0"/>
                          <a:cs typeface="Open Sans" panose="020B0606030504020204" pitchFamily="34" charset="0"/>
                        </a:rPr>
                        <a:t>l</a:t>
                      </a:r>
                      <a:r>
                        <a:rPr sz="1400" spc="-95" dirty="0">
                          <a:latin typeface="Verdana" panose="020B0604030504040204" pitchFamily="34" charset="0"/>
                          <a:ea typeface="Verdana" panose="020B0604030504040204" pitchFamily="34" charset="0"/>
                          <a:cs typeface="Open Sans" panose="020B0606030504020204" pitchFamily="34" charset="0"/>
                        </a:rPr>
                        <a:t>e</a:t>
                      </a:r>
                      <a:r>
                        <a:rPr sz="1400" dirty="0">
                          <a:latin typeface="Verdana" panose="020B0604030504040204" pitchFamily="34" charset="0"/>
                          <a:ea typeface="Verdana" panose="020B0604030504040204" pitchFamily="34" charset="0"/>
                          <a:cs typeface="Open Sans" panose="020B0606030504020204" pitchFamily="34" charset="0"/>
                        </a:rPr>
                        <a:t>m</a:t>
                      </a:r>
                      <a:r>
                        <a:rPr sz="1400" spc="-254" dirty="0">
                          <a:latin typeface="Verdana" panose="020B0604030504040204" pitchFamily="34" charset="0"/>
                          <a:ea typeface="Verdana" panose="020B0604030504040204" pitchFamily="34" charset="0"/>
                          <a:cs typeface="Open Sans" panose="020B0606030504020204" pitchFamily="34" charset="0"/>
                        </a:rPr>
                        <a:t> </a:t>
                      </a:r>
                      <a:r>
                        <a:rPr sz="1400" spc="-70" dirty="0">
                          <a:latin typeface="Verdana" panose="020B0604030504040204" pitchFamily="34" charset="0"/>
                          <a:ea typeface="Verdana" panose="020B0604030504040204" pitchFamily="34" charset="0"/>
                          <a:cs typeface="Open Sans" panose="020B0606030504020204" pitchFamily="34" charset="0"/>
                        </a:rPr>
                        <a:t>o</a:t>
                      </a:r>
                      <a:r>
                        <a:rPr sz="1400" spc="-65" dirty="0">
                          <a:latin typeface="Verdana" panose="020B0604030504040204" pitchFamily="34" charset="0"/>
                          <a:ea typeface="Verdana" panose="020B0604030504040204" pitchFamily="34" charset="0"/>
                          <a:cs typeface="Open Sans" panose="020B0606030504020204" pitchFamily="34" charset="0"/>
                        </a:rPr>
                        <a:t>cc</a:t>
                      </a:r>
                      <a:r>
                        <a:rPr sz="1400" spc="-45" dirty="0">
                          <a:latin typeface="Verdana" panose="020B0604030504040204" pitchFamily="34" charset="0"/>
                          <a:ea typeface="Verdana" panose="020B0604030504040204" pitchFamily="34" charset="0"/>
                          <a:cs typeface="Open Sans" panose="020B0606030504020204" pitchFamily="34" charset="0"/>
                        </a:rPr>
                        <a:t>u</a:t>
                      </a:r>
                      <a:r>
                        <a:rPr sz="1400" spc="-55" dirty="0">
                          <a:latin typeface="Verdana" panose="020B0604030504040204" pitchFamily="34" charset="0"/>
                          <a:ea typeface="Verdana" panose="020B0604030504040204" pitchFamily="34" charset="0"/>
                          <a:cs typeface="Open Sans" panose="020B0606030504020204" pitchFamily="34" charset="0"/>
                        </a:rPr>
                        <a:t>r</a:t>
                      </a:r>
                      <a:r>
                        <a:rPr sz="1400" dirty="0">
                          <a:latin typeface="Verdana" panose="020B0604030504040204" pitchFamily="34" charset="0"/>
                          <a:ea typeface="Verdana" panose="020B0604030504040204" pitchFamily="34" charset="0"/>
                          <a:cs typeface="Open Sans" panose="020B0606030504020204" pitchFamily="34" charset="0"/>
                        </a:rPr>
                        <a:t>?</a:t>
                      </a:r>
                      <a:endParaRPr lang="en-IN" sz="1400" dirty="0">
                        <a:latin typeface="Verdana" panose="020B0604030504040204" pitchFamily="34" charset="0"/>
                        <a:ea typeface="Verdana" panose="020B0604030504040204" pitchFamily="34" charset="0"/>
                        <a:cs typeface="Open Sans" panose="020B0606030504020204" pitchFamily="34" charset="0"/>
                      </a:endParaRPr>
                    </a:p>
                    <a:p>
                      <a:pPr marL="8509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Verdana" panose="020B0604030504040204" pitchFamily="34" charset="0"/>
                          <a:ea typeface="Verdana" panose="020B0604030504040204" pitchFamily="34" charset="0"/>
                          <a:cs typeface="Open Sans" panose="020B0606030504020204" pitchFamily="34" charset="0"/>
                        </a:rPr>
                        <a:t>   </a:t>
                      </a:r>
                      <a:r>
                        <a:rPr lang="en-US" sz="1800" dirty="0">
                          <a:latin typeface="Verdana" panose="020B0604030504040204" pitchFamily="34" charset="0"/>
                          <a:ea typeface="Verdana" panose="020B0604030504040204" pitchFamily="34" charset="0"/>
                          <a:cs typeface="Open Sans" panose="020B0606030504020204" pitchFamily="34" charset="0"/>
                        </a:rPr>
                        <a:t> "The problem occurs in three situations — when a warning light appears and the owner doesn't understand it, when the car makes strange sounds or behaves abnormally, and when the car breaks down in an unknown location far from help. In all three cases, the owner feels confused, stressed, and helpless — and that is exactly the gap Auto Fix AI fills."</a:t>
                      </a:r>
                      <a:endParaRPr lang="en-US" sz="1400" dirty="0"/>
                    </a:p>
                    <a:p>
                      <a:pPr marL="85090">
                        <a:lnSpc>
                          <a:spcPct val="100000"/>
                        </a:lnSpc>
                      </a:pP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marL="84455">
                        <a:lnSpc>
                          <a:spcPct val="100000"/>
                        </a:lnSpc>
                        <a:spcBef>
                          <a:spcPts val="635"/>
                        </a:spcBef>
                      </a:pPr>
                      <a:r>
                        <a:rPr sz="1400" b="1" spc="-130" dirty="0">
                          <a:latin typeface="Verdana" panose="020B0604030504040204" pitchFamily="34" charset="0"/>
                          <a:ea typeface="Verdana" panose="020B0604030504040204" pitchFamily="34" charset="0"/>
                          <a:cs typeface="Open Sans" panose="020B0606030504020204" pitchFamily="34" charset="0"/>
                        </a:rPr>
                        <a:t>PROBLEM</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sz="1400" spc="-30" dirty="0">
                          <a:latin typeface="Verdana" panose="020B0604030504040204" pitchFamily="34" charset="0"/>
                          <a:ea typeface="Verdana" panose="020B0604030504040204" pitchFamily="34" charset="0"/>
                          <a:cs typeface="Open Sans" panose="020B0606030504020204" pitchFamily="34" charset="0"/>
                        </a:rPr>
                        <a:t>What</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is</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the</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root </a:t>
                      </a:r>
                      <a:r>
                        <a:rPr sz="1400" spc="-55" dirty="0">
                          <a:latin typeface="Verdana" panose="020B0604030504040204" pitchFamily="34" charset="0"/>
                          <a:ea typeface="Verdana" panose="020B0604030504040204" pitchFamily="34" charset="0"/>
                          <a:cs typeface="Open Sans" panose="020B0606030504020204" pitchFamily="34" charset="0"/>
                        </a:rPr>
                        <a:t>cause</a:t>
                      </a:r>
                      <a:r>
                        <a:rPr sz="1400" spc="4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of</a:t>
                      </a:r>
                      <a:r>
                        <a:rPr lang="en-IN" sz="1400" spc="0" dirty="0">
                          <a:latin typeface="Verdana" panose="020B0604030504040204" pitchFamily="34" charset="0"/>
                          <a:ea typeface="Verdana" panose="020B0604030504040204" pitchFamily="34" charset="0"/>
                          <a:cs typeface="Open Sans" panose="020B0606030504020204" pitchFamily="34" charset="0"/>
                        </a:rPr>
                        <a:t> t</a:t>
                      </a:r>
                      <a:r>
                        <a:rPr sz="1400" spc="-70" dirty="0">
                          <a:latin typeface="Verdana" panose="020B0604030504040204" pitchFamily="34" charset="0"/>
                          <a:ea typeface="Verdana" panose="020B0604030504040204" pitchFamily="34" charset="0"/>
                          <a:cs typeface="Open Sans" panose="020B0606030504020204" pitchFamily="34" charset="0"/>
                        </a:rPr>
                        <a:t>he</a:t>
                      </a:r>
                      <a:r>
                        <a:rPr lang="en-IN" sz="1400" spc="-70" dirty="0">
                          <a:latin typeface="Verdana" panose="020B0604030504040204" pitchFamily="34" charset="0"/>
                          <a:ea typeface="Verdana" panose="020B0604030504040204" pitchFamily="34" charset="0"/>
                          <a:cs typeface="Open Sans" panose="020B0606030504020204" pitchFamily="34" charset="0"/>
                        </a:rPr>
                        <a:t> problem</a:t>
                      </a:r>
                      <a:r>
                        <a:rPr sz="1400" spc="-70" dirty="0">
                          <a:latin typeface="Verdana" panose="020B0604030504040204" pitchFamily="34" charset="0"/>
                          <a:ea typeface="Verdana" panose="020B0604030504040204" pitchFamily="34" charset="0"/>
                          <a:cs typeface="Open Sans" panose="020B0606030504020204" pitchFamily="34" charset="0"/>
                        </a:rPr>
                        <a:t>?</a:t>
                      </a:r>
                      <a:endParaRPr lang="en-US" sz="1400" spc="-70" dirty="0">
                        <a:latin typeface="Verdana" panose="020B0604030504040204" pitchFamily="34" charset="0"/>
                        <a:ea typeface="Verdana" panose="020B0604030504040204" pitchFamily="34" charset="0"/>
                        <a:cs typeface="Open Sans" panose="020B0606030504020204" pitchFamily="34" charset="0"/>
                      </a:endParaRPr>
                    </a:p>
                    <a:p>
                      <a:pPr marL="84455" algn="l">
                        <a:lnSpc>
                          <a:spcPct val="100000"/>
                        </a:lnSpc>
                      </a:pPr>
                      <a:r>
                        <a:rPr lang="en-US" sz="1400" spc="-70" dirty="0">
                          <a:latin typeface="Verdana" panose="020B0604030504040204" pitchFamily="34" charset="0"/>
                          <a:ea typeface="Verdana" panose="020B0604030504040204" pitchFamily="34" charset="0"/>
                          <a:cs typeface="Open Sans" panose="020B0606030504020204" pitchFamily="34" charset="0"/>
                        </a:rPr>
                        <a:t>    </a:t>
                      </a:r>
                      <a:r>
                        <a:rPr lang="en-US" sz="1800" spc="-70" dirty="0">
                          <a:latin typeface="Verdana" panose="020B0604030504040204" pitchFamily="34" charset="0"/>
                          <a:ea typeface="Verdana" panose="020B0604030504040204" pitchFamily="34" charset="0"/>
                          <a:cs typeface="Open Sans" panose="020B0606030504020204" pitchFamily="34" charset="0"/>
                        </a:rPr>
                        <a:t>The root cause of the problem are Lack of car knowledge, No simple diagnostic tool for normal people, No trusted transparent system.</a:t>
                      </a:r>
                      <a:endParaRPr lang="en-IN" sz="1400" spc="-7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12700">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tc>
                  <a:txBody>
                    <a:bodyPr/>
                    <a:lstStyle/>
                    <a:p>
                      <a:pPr marL="85725">
                        <a:lnSpc>
                          <a:spcPct val="100000"/>
                        </a:lnSpc>
                        <a:spcBef>
                          <a:spcPts val="635"/>
                        </a:spcBef>
                      </a:pPr>
                      <a:r>
                        <a:rPr sz="1400" b="1" spc="-135" dirty="0">
                          <a:latin typeface="Verdana" panose="020B0604030504040204" pitchFamily="34" charset="0"/>
                          <a:ea typeface="Verdana" panose="020B0604030504040204" pitchFamily="34" charset="0"/>
                          <a:cs typeface="Open Sans" panose="020B0606030504020204" pitchFamily="34" charset="0"/>
                        </a:rPr>
                        <a:t>ALTERNATIVES</a:t>
                      </a:r>
                      <a:endParaRPr sz="1400" dirty="0">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pPr>
                      <a:r>
                        <a:rPr sz="1400" spc="-45" dirty="0">
                          <a:latin typeface="Verdana" panose="020B0604030504040204" pitchFamily="34" charset="0"/>
                          <a:ea typeface="Verdana" panose="020B0604030504040204" pitchFamily="34" charset="0"/>
                          <a:cs typeface="Open Sans" panose="020B0606030504020204" pitchFamily="34" charset="0"/>
                        </a:rPr>
                        <a:t>What</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do </a:t>
                      </a:r>
                      <a:r>
                        <a:rPr sz="1400" spc="-60" dirty="0">
                          <a:latin typeface="Verdana" panose="020B0604030504040204" pitchFamily="34" charset="0"/>
                          <a:ea typeface="Verdana" panose="020B0604030504040204" pitchFamily="34" charset="0"/>
                          <a:cs typeface="Open Sans" panose="020B0606030504020204" pitchFamily="34" charset="0"/>
                        </a:rPr>
                        <a:t>customers </a:t>
                      </a:r>
                      <a:r>
                        <a:rPr sz="1400" spc="-20" dirty="0">
                          <a:latin typeface="Verdana" panose="020B0604030504040204" pitchFamily="34" charset="0"/>
                          <a:ea typeface="Verdana" panose="020B0604030504040204" pitchFamily="34" charset="0"/>
                          <a:cs typeface="Open Sans" panose="020B0606030504020204" pitchFamily="34" charset="0"/>
                        </a:rPr>
                        <a:t>do</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now</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to</a:t>
                      </a:r>
                      <a:r>
                        <a:rPr sz="1400" spc="-15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ﬁx</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the</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problem?</a:t>
                      </a:r>
                      <a:endParaRPr lang="en-IN" sz="1400" spc="-60" dirty="0">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pPr>
                      <a:r>
                        <a:rPr lang="en-IN" sz="1400" spc="-60" dirty="0">
                          <a:latin typeface="Verdana" panose="020B0604030504040204" pitchFamily="34" charset="0"/>
                          <a:ea typeface="Verdana" panose="020B0604030504040204" pitchFamily="34" charset="0"/>
                          <a:cs typeface="Open Sans" panose="020B0606030504020204" pitchFamily="34" charset="0"/>
                        </a:rPr>
                        <a:t>    </a:t>
                      </a:r>
                      <a:r>
                        <a:rPr lang="en-IN" sz="1800" spc="-60" dirty="0">
                          <a:latin typeface="Verdana" panose="020B0604030504040204" pitchFamily="34" charset="0"/>
                          <a:ea typeface="Verdana" panose="020B0604030504040204" pitchFamily="34" charset="0"/>
                          <a:cs typeface="Open Sans" panose="020B0606030504020204" pitchFamily="34" charset="0"/>
                        </a:rPr>
                        <a:t>Customers now usually visit a mechanic ,call roadside help, or use towing services to fix the problem. Some also search in google, watch on YouTube videos, or ask others for devices.</a:t>
                      </a:r>
                    </a:p>
                  </a:txBody>
                  <a:tcPr marL="0" marR="0" marT="82683"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0"/>
                  </a:ext>
                </a:extLst>
              </a:tr>
              <a:tr h="889931">
                <a:tc rowSpan="2">
                  <a:txBody>
                    <a:bodyPr/>
                    <a:lstStyle/>
                    <a:p>
                      <a:pPr marL="85090">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CUSTOMERS</a:t>
                      </a:r>
                    </a:p>
                    <a:p>
                      <a:pPr marL="85090" marR="702310">
                        <a:lnSpc>
                          <a:spcPct val="100000"/>
                        </a:lnSpc>
                      </a:pPr>
                      <a:r>
                        <a:rPr sz="1400" spc="-40" dirty="0">
                          <a:latin typeface="Verdana" panose="020B0604030504040204" pitchFamily="34" charset="0"/>
                          <a:ea typeface="Verdana" panose="020B0604030504040204" pitchFamily="34" charset="0"/>
                          <a:cs typeface="Open Sans" panose="020B0606030504020204" pitchFamily="34" charset="0"/>
                        </a:rPr>
                        <a:t>Who</a:t>
                      </a:r>
                      <a:r>
                        <a:rPr lang="en-IN" sz="1400" spc="-40" dirty="0">
                          <a:latin typeface="Verdana" panose="020B0604030504040204" pitchFamily="34" charset="0"/>
                          <a:ea typeface="Verdana" panose="020B0604030504040204" pitchFamily="34" charset="0"/>
                          <a:cs typeface="Open Sans" panose="020B0606030504020204" pitchFamily="34" charset="0"/>
                        </a:rPr>
                        <a:t> </a:t>
                      </a:r>
                      <a:r>
                        <a:rPr sz="1400" spc="-40" dirty="0">
                          <a:latin typeface="Verdana" panose="020B0604030504040204" pitchFamily="34" charset="0"/>
                          <a:ea typeface="Verdana" panose="020B0604030504040204" pitchFamily="34" charset="0"/>
                          <a:cs typeface="Open Sans" panose="020B0606030504020204" pitchFamily="34" charset="0"/>
                        </a:rPr>
                        <a:t>has</a:t>
                      </a:r>
                      <a:r>
                        <a:rPr lang="en-IN" sz="1400" spc="-40" dirty="0">
                          <a:latin typeface="Verdana" panose="020B0604030504040204" pitchFamily="34" charset="0"/>
                          <a:ea typeface="Verdana" panose="020B0604030504040204" pitchFamily="34" charset="0"/>
                          <a:cs typeface="Open Sans" panose="020B0606030504020204" pitchFamily="34" charset="0"/>
                        </a:rPr>
                        <a:t> </a:t>
                      </a:r>
                      <a:r>
                        <a:rPr sz="1400" spc="-40" dirty="0">
                          <a:latin typeface="Verdana" panose="020B0604030504040204" pitchFamily="34" charset="0"/>
                          <a:ea typeface="Verdana" panose="020B0604030504040204" pitchFamily="34" charset="0"/>
                          <a:cs typeface="Open Sans" panose="020B0606030504020204" pitchFamily="34" charset="0"/>
                        </a:rPr>
                        <a:t>the</a:t>
                      </a:r>
                      <a:r>
                        <a:rPr sz="1400" spc="-245"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problem</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most </a:t>
                      </a:r>
                      <a:r>
                        <a:rPr sz="1400" spc="-55" dirty="0">
                          <a:latin typeface="Verdana" panose="020B0604030504040204" pitchFamily="34" charset="0"/>
                          <a:ea typeface="Verdana" panose="020B0604030504040204" pitchFamily="34" charset="0"/>
                          <a:cs typeface="Open Sans" panose="020B0606030504020204" pitchFamily="34" charset="0"/>
                        </a:rPr>
                        <a:t>often?</a:t>
                      </a:r>
                      <a:endParaRPr lang="en-IN" sz="1400" spc="-55"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400" dirty="0">
                          <a:latin typeface="Verdana" panose="020B0604030504040204" pitchFamily="34" charset="0"/>
                          <a:ea typeface="Verdana" panose="020B0604030504040204" pitchFamily="34" charset="0"/>
                          <a:cs typeface="Open Sans" panose="020B0606030504020204" pitchFamily="34" charset="0"/>
                        </a:rPr>
                        <a:t>  </a:t>
                      </a:r>
                      <a:r>
                        <a:rPr lang="en-US" sz="1800" dirty="0">
                          <a:latin typeface="Verdana" panose="020B0604030504040204" pitchFamily="34" charset="0"/>
                          <a:ea typeface="Verdana" panose="020B0604030504040204" pitchFamily="34" charset="0"/>
                          <a:cs typeface="Open Sans" panose="020B0606030504020204" pitchFamily="34" charset="0"/>
                        </a:rPr>
                        <a:t>The problem often faced by the</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–Non technical car users </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-People in remote areas and</a:t>
                      </a: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 semi-urban areas</a:t>
                      </a:r>
                    </a:p>
                    <a:p>
                      <a:pPr marL="85090" marR="702310" algn="l">
                        <a:lnSpc>
                          <a:spcPct val="100000"/>
                        </a:lnSpc>
                      </a:pPr>
                      <a:endParaRPr lang="en-US" sz="1800" dirty="0">
                        <a:latin typeface="Verdana" panose="020B0604030504040204" pitchFamily="34" charset="0"/>
                        <a:ea typeface="Verdana" panose="020B0604030504040204" pitchFamily="34" charset="0"/>
                        <a:cs typeface="Open Sans" panose="020B0606030504020204" pitchFamily="34" charset="0"/>
                      </a:endParaRPr>
                    </a:p>
                    <a:p>
                      <a:pPr marL="85090" marR="702310" algn="l">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-Busy working professionals </a:t>
                      </a:r>
                    </a:p>
                  </a:txBody>
                  <a:tcPr marL="0" marR="0" marT="83334" marB="0">
                    <a:lnL w="9525">
                      <a:solidFill>
                        <a:srgbClr val="FBBD00"/>
                      </a:solidFill>
                      <a:prstDash val="solid"/>
                    </a:lnL>
                    <a:lnR w="12700" cap="flat" cmpd="sng" algn="ctr">
                      <a:solidFill>
                        <a:srgbClr val="FBBD00"/>
                      </a:solidFill>
                      <a:prstDash val="solid"/>
                      <a:round/>
                      <a:headEnd type="none" w="med" len="med"/>
                      <a:tailEnd type="none" w="med" len="med"/>
                    </a:lnR>
                    <a:lnT w="9525" cap="flat" cmpd="sng" algn="ctr">
                      <a:solidFill>
                        <a:srgbClr val="FBBD00"/>
                      </a:solidFill>
                      <a:prstDash val="solid"/>
                      <a:round/>
                      <a:headEnd type="none" w="med" len="med"/>
                      <a:tailEnd type="none" w="med" len="med"/>
                    </a:lnT>
                    <a:lnB w="9525">
                      <a:solidFill>
                        <a:srgbClr val="FBBD00"/>
                      </a:solidFill>
                      <a:prstDash val="solid"/>
                    </a:lnB>
                  </a:tcPr>
                </a:tc>
                <a:tc>
                  <a:txBody>
                    <a:bodyPr/>
                    <a:lstStyle/>
                    <a:p>
                      <a:pPr marL="8445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EMOTIONAL</a:t>
                      </a:r>
                      <a:r>
                        <a:rPr lang="en-IN" sz="1400" b="1" spc="-150" dirty="0">
                          <a:latin typeface="Verdana" panose="020B0604030504040204" pitchFamily="34" charset="0"/>
                          <a:ea typeface="Verdana" panose="020B0604030504040204" pitchFamily="34" charset="0"/>
                          <a:cs typeface="Open Sans" panose="020B0606030504020204" pitchFamily="34" charset="0"/>
                        </a:rPr>
                        <a:t> </a:t>
                      </a:r>
                      <a:r>
                        <a:rPr sz="1400" b="1" spc="-150" dirty="0">
                          <a:latin typeface="Verdana" panose="020B0604030504040204" pitchFamily="34" charset="0"/>
                          <a:ea typeface="Verdana" panose="020B0604030504040204" pitchFamily="34" charset="0"/>
                          <a:cs typeface="Open Sans" panose="020B0606030504020204" pitchFamily="34" charset="0"/>
                        </a:rPr>
                        <a:t>IMPACT</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sz="1400" spc="-50" dirty="0">
                          <a:latin typeface="Verdana" panose="020B0604030504040204" pitchFamily="34" charset="0"/>
                          <a:ea typeface="Verdana" panose="020B0604030504040204" pitchFamily="34" charset="0"/>
                          <a:cs typeface="Open Sans" panose="020B0606030504020204" pitchFamily="34" charset="0"/>
                        </a:rPr>
                        <a:t>How</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does</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229"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the</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customer</a:t>
                      </a:r>
                      <a:r>
                        <a:rPr sz="1400" spc="-215" dirty="0">
                          <a:latin typeface="Verdana" panose="020B0604030504040204" pitchFamily="34" charset="0"/>
                          <a:ea typeface="Verdana" panose="020B0604030504040204" pitchFamily="34" charset="0"/>
                          <a:cs typeface="Open Sans" panose="020B0606030504020204" pitchFamily="34" charset="0"/>
                        </a:rPr>
                        <a:t> </a:t>
                      </a:r>
                      <a:r>
                        <a:rPr lang="en-IN" sz="1400" spc="-215" dirty="0">
                          <a:latin typeface="Verdana" panose="020B0604030504040204" pitchFamily="34" charset="0"/>
                          <a:ea typeface="Verdana" panose="020B0604030504040204" pitchFamily="34" charset="0"/>
                          <a:cs typeface="Open Sans" panose="020B0606030504020204" pitchFamily="34" charset="0"/>
                        </a:rPr>
                        <a:t> </a:t>
                      </a:r>
                      <a:r>
                        <a:rPr sz="1400" spc="-55" dirty="0">
                          <a:latin typeface="Verdana" panose="020B0604030504040204" pitchFamily="34" charset="0"/>
                          <a:ea typeface="Verdana" panose="020B0604030504040204" pitchFamily="34" charset="0"/>
                          <a:cs typeface="Open Sans" panose="020B0606030504020204" pitchFamily="34" charset="0"/>
                        </a:rPr>
                        <a:t>feel?</a:t>
                      </a:r>
                      <a:endParaRPr lang="en-IN" sz="1400" spc="-55"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lang="en-IN" sz="1400" spc="-55" dirty="0">
                          <a:latin typeface="Verdana" panose="020B0604030504040204" pitchFamily="34" charset="0"/>
                          <a:ea typeface="Verdana" panose="020B0604030504040204" pitchFamily="34" charset="0"/>
                          <a:cs typeface="Open Sans" panose="020B0606030504020204" pitchFamily="34" charset="0"/>
                        </a:rPr>
                        <a:t>  </a:t>
                      </a:r>
                      <a:r>
                        <a:rPr lang="en-IN" sz="1800" spc="-55" dirty="0">
                          <a:latin typeface="Verdana" panose="020B0604030504040204" pitchFamily="34" charset="0"/>
                          <a:ea typeface="Verdana" panose="020B0604030504040204" pitchFamily="34" charset="0"/>
                          <a:cs typeface="Open Sans" panose="020B0606030504020204" pitchFamily="34" charset="0"/>
                        </a:rPr>
                        <a:t>Customers often feel confused and stressed when </a:t>
                      </a:r>
                    </a:p>
                    <a:p>
                      <a:pPr marL="84455">
                        <a:lnSpc>
                          <a:spcPct val="100000"/>
                        </a:lnSpc>
                      </a:pPr>
                      <a:r>
                        <a:rPr lang="en-IN" sz="1800" spc="-55" dirty="0">
                          <a:latin typeface="Verdana" panose="020B0604030504040204" pitchFamily="34" charset="0"/>
                          <a:ea typeface="Verdana" panose="020B0604030504040204" pitchFamily="34" charset="0"/>
                          <a:cs typeface="Open Sans" panose="020B0606030504020204" pitchFamily="34" charset="0"/>
                        </a:rPr>
                        <a:t>they don’t understand the car problem .They feel frustrated and worried about time loss or being        </a:t>
                      </a:r>
                    </a:p>
                    <a:p>
                      <a:pPr marL="84455">
                        <a:lnSpc>
                          <a:spcPct val="100000"/>
                        </a:lnSpc>
                      </a:pPr>
                      <a:r>
                        <a:rPr lang="en-IN" sz="1800" spc="-55" dirty="0" err="1">
                          <a:latin typeface="Verdana" panose="020B0604030504040204" pitchFamily="34" charset="0"/>
                          <a:ea typeface="Verdana" panose="020B0604030504040204" pitchFamily="34" charset="0"/>
                          <a:cs typeface="Open Sans" panose="020B0606030504020204" pitchFamily="34" charset="0"/>
                        </a:rPr>
                        <a:t>overchanged</a:t>
                      </a:r>
                      <a:r>
                        <a:rPr lang="en-IN" sz="1800" spc="-55" dirty="0">
                          <a:latin typeface="Verdana" panose="020B0604030504040204" pitchFamily="34" charset="0"/>
                          <a:ea typeface="Verdana" panose="020B0604030504040204" pitchFamily="34" charset="0"/>
                          <a:cs typeface="Open Sans" panose="020B0606030504020204" pitchFamily="34" charset="0"/>
                        </a:rPr>
                        <a:t>.</a:t>
                      </a: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12700" cap="flat" cmpd="sng" algn="ctr">
                      <a:solidFill>
                        <a:srgbClr val="FBBD00"/>
                      </a:solidFill>
                      <a:prstDash val="solid"/>
                      <a:round/>
                      <a:headEnd type="none" w="med" len="med"/>
                      <a:tailEnd type="none" w="med" len="med"/>
                    </a:lnL>
                    <a:lnR w="9525" cap="flat" cmpd="sng" algn="ctr">
                      <a:solidFill>
                        <a:srgbClr val="FBBD00"/>
                      </a:solidFill>
                      <a:prstDash val="solid"/>
                      <a:round/>
                      <a:headEnd type="none" w="med" len="med"/>
                      <a:tailEnd type="none" w="med" len="med"/>
                    </a:lnR>
                    <a:lnT w="9525" cap="flat" cmpd="sng" algn="ctr">
                      <a:solidFill>
                        <a:srgbClr val="FBBD00"/>
                      </a:solidFill>
                      <a:prstDash val="solid"/>
                      <a:round/>
                      <a:headEnd type="none" w="med" len="med"/>
                      <a:tailEnd type="none" w="med" len="med"/>
                    </a:lnT>
                  </a:tcPr>
                </a:tc>
                <a:tc rowSpan="2">
                  <a:txBody>
                    <a:bodyPr/>
                    <a:lstStyle/>
                    <a:p>
                      <a:pPr marL="8572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ALTERNATIVE</a:t>
                      </a:r>
                      <a:r>
                        <a:rPr lang="en-IN" sz="1400" b="1" spc="-155" dirty="0">
                          <a:latin typeface="Verdana" panose="020B0604030504040204" pitchFamily="34" charset="0"/>
                          <a:ea typeface="Verdana" panose="020B0604030504040204" pitchFamily="34" charset="0"/>
                          <a:cs typeface="Open Sans" panose="020B0606030504020204" pitchFamily="34" charset="0"/>
                        </a:rPr>
                        <a:t> </a:t>
                      </a: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SHORTCO</a:t>
                      </a:r>
                      <a:r>
                        <a:rPr lang="en-IN"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MINGS</a:t>
                      </a:r>
                    </a:p>
                    <a:p>
                      <a:pPr marL="85725">
                        <a:lnSpc>
                          <a:spcPct val="100000"/>
                        </a:lnSpc>
                        <a:spcBef>
                          <a:spcPts val="640"/>
                        </a:spcBef>
                      </a:pPr>
                      <a:r>
                        <a:rPr lang="en-IN" sz="1400" b="0"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What are disadvantages of alternatives?</a:t>
                      </a:r>
                      <a:endParaRPr lang="en-US" sz="1400" b="0"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endParaRPr>
                    </a:p>
                    <a:p>
                      <a:pPr marL="85725" marR="247015">
                        <a:lnSpc>
                          <a:spcPct val="100000"/>
                        </a:lnSpc>
                      </a:pPr>
                      <a:r>
                        <a:rPr lang="en-US" sz="1800" dirty="0">
                          <a:latin typeface="Verdana" panose="020B0604030504040204" pitchFamily="34" charset="0"/>
                          <a:ea typeface="Verdana" panose="020B0604030504040204" pitchFamily="34" charset="0"/>
                          <a:cs typeface="Open Sans" panose="020B0606030504020204" pitchFamily="34" charset="0"/>
                        </a:rPr>
                        <a:t>  Disadvantages are- Going to mechanic blindly, Searching on google or YouTube, Using OBD devices or asking friends.</a:t>
                      </a:r>
                    </a:p>
                  </a:txBody>
                  <a:tcPr marL="0" marR="0" marT="83334" marB="0">
                    <a:lnL w="9525" cap="flat" cmpd="sng" algn="ctr">
                      <a:solidFill>
                        <a:srgbClr val="FBBD00"/>
                      </a:solidFill>
                      <a:prstDash val="solid"/>
                      <a:round/>
                      <a:headEnd type="none" w="med" len="med"/>
                      <a:tailEnd type="none" w="med" len="med"/>
                    </a:lnL>
                    <a:lnR w="9525">
                      <a:solidFill>
                        <a:srgbClr val="FBBD00"/>
                      </a:solidFill>
                      <a:prstDash val="solid"/>
                    </a:lnR>
                    <a:lnT w="9525" cap="flat" cmpd="sng" algn="ctr">
                      <a:solidFill>
                        <a:srgbClr val="FBBD00"/>
                      </a:solidFill>
                      <a:prstDash val="solid"/>
                      <a:round/>
                      <a:headEnd type="none" w="med" len="med"/>
                      <a:tailEnd type="none" w="med" len="med"/>
                    </a:lnT>
                    <a:lnB w="9525">
                      <a:solidFill>
                        <a:srgbClr val="FBBD00"/>
                      </a:solidFill>
                      <a:prstDash val="solid"/>
                    </a:lnB>
                  </a:tcPr>
                </a:tc>
                <a:extLst>
                  <a:ext uri="{0D108BD9-81ED-4DB2-BD59-A6C34878D82A}">
                    <a16:rowId xmlns:a16="http://schemas.microsoft.com/office/drawing/2014/main" val="10001"/>
                  </a:ext>
                </a:extLst>
              </a:tr>
              <a:tr h="2134662">
                <a:tc vMerge="1">
                  <a:txBody>
                    <a:bodyPr/>
                    <a:lstStyle/>
                    <a:p>
                      <a:endParaRPr/>
                    </a:p>
                  </a:txBody>
                  <a:tcPr marL="0" marR="0" marT="81280"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a:lnSpc>
                          <a:spcPct val="100000"/>
                        </a:lnSpc>
                      </a:pPr>
                      <a:endParaRPr sz="21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spcBef>
                          <a:spcPts val="795"/>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QUANTIFIABLE</a:t>
                      </a:r>
                      <a:r>
                        <a:rPr lang="en-IN" sz="1400" b="1" spc="-145" dirty="0">
                          <a:latin typeface="Verdana" panose="020B0604030504040204" pitchFamily="34" charset="0"/>
                          <a:ea typeface="Verdana" panose="020B0604030504040204" pitchFamily="34" charset="0"/>
                          <a:cs typeface="Open Sans" panose="020B0606030504020204" pitchFamily="34" charset="0"/>
                        </a:rPr>
                        <a:t> </a:t>
                      </a:r>
                      <a:r>
                        <a:rPr sz="1400" b="1" spc="-145" dirty="0">
                          <a:latin typeface="Verdana" panose="020B0604030504040204" pitchFamily="34" charset="0"/>
                          <a:ea typeface="Verdana" panose="020B0604030504040204" pitchFamily="34" charset="0"/>
                          <a:cs typeface="Open Sans" panose="020B0606030504020204" pitchFamily="34" charset="0"/>
                        </a:rPr>
                        <a:t>IMPACT</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marR="474345">
                        <a:lnSpc>
                          <a:spcPct val="100000"/>
                        </a:lnSpc>
                      </a:pPr>
                      <a:r>
                        <a:rPr sz="1400" spc="-45" dirty="0">
                          <a:latin typeface="Verdana" panose="020B0604030504040204" pitchFamily="34" charset="0"/>
                          <a:ea typeface="Verdana" panose="020B0604030504040204" pitchFamily="34" charset="0"/>
                          <a:cs typeface="Open Sans" panose="020B0606030504020204" pitchFamily="34" charset="0"/>
                        </a:rPr>
                        <a:t>What</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is</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the</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measurable</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impact  </a:t>
                      </a:r>
                      <a:r>
                        <a:rPr sz="1400" spc="-60" dirty="0">
                          <a:latin typeface="Verdana" panose="020B0604030504040204" pitchFamily="34" charset="0"/>
                          <a:ea typeface="Verdana" panose="020B0604030504040204" pitchFamily="34" charset="0"/>
                          <a:cs typeface="Open Sans" panose="020B0606030504020204" pitchFamily="34" charset="0"/>
                        </a:rPr>
                        <a:t>(include</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units)?</a:t>
                      </a:r>
                      <a:endParaRPr lang="en-IN" sz="1400" spc="-60" dirty="0">
                        <a:latin typeface="Verdana" panose="020B0604030504040204" pitchFamily="34" charset="0"/>
                        <a:ea typeface="Verdana" panose="020B0604030504040204" pitchFamily="34" charset="0"/>
                        <a:cs typeface="Open Sans" panose="020B0606030504020204" pitchFamily="34" charset="0"/>
                      </a:endParaRPr>
                    </a:p>
                    <a:p>
                      <a:pPr marL="84455" marR="474345">
                        <a:lnSpc>
                          <a:spcPct val="100000"/>
                        </a:lnSpc>
                      </a:pPr>
                      <a:r>
                        <a:rPr lang="en-IN" sz="1400" spc="-60" dirty="0">
                          <a:latin typeface="Verdana" panose="020B0604030504040204" pitchFamily="34" charset="0"/>
                          <a:ea typeface="Verdana" panose="020B0604030504040204" pitchFamily="34" charset="0"/>
                          <a:cs typeface="Open Sans" panose="020B0606030504020204" pitchFamily="34" charset="0"/>
                        </a:rPr>
                        <a:t>    </a:t>
                      </a:r>
                      <a:r>
                        <a:rPr lang="en-IN" sz="1800" spc="-60" dirty="0">
                          <a:latin typeface="Verdana" panose="020B0604030504040204" pitchFamily="34" charset="0"/>
                          <a:ea typeface="Verdana" panose="020B0604030504040204" pitchFamily="34" charset="0"/>
                          <a:cs typeface="Open Sans" panose="020B0606030504020204" pitchFamily="34" charset="0"/>
                        </a:rPr>
                        <a:t>Reduces diagnostic time from hours to minutes. Lowers unnecessary repair costs up to </a:t>
                      </a:r>
                    </a:p>
                    <a:p>
                      <a:pPr marL="84455" marR="474345">
                        <a:lnSpc>
                          <a:spcPct val="100000"/>
                        </a:lnSpc>
                      </a:pPr>
                      <a:r>
                        <a:rPr lang="en-IN" sz="1800" spc="-60" dirty="0">
                          <a:latin typeface="Verdana" panose="020B0604030504040204" pitchFamily="34" charset="0"/>
                          <a:ea typeface="Verdana" panose="020B0604030504040204" pitchFamily="34" charset="0"/>
                          <a:cs typeface="Open Sans" panose="020B0606030504020204" pitchFamily="34" charset="0"/>
                        </a:rPr>
                        <a:t>20% to 40%.</a:t>
                      </a: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0" marB="0">
                    <a:lnL w="12700">
                      <a:solidFill>
                        <a:srgbClr val="FBBD00"/>
                      </a:solidFill>
                      <a:prstDash val="solid"/>
                    </a:lnL>
                    <a:lnR w="9525">
                      <a:solidFill>
                        <a:srgbClr val="FBBD00"/>
                      </a:solidFill>
                      <a:prstDash val="solid"/>
                    </a:lnR>
                    <a:lnB w="9525">
                      <a:solidFill>
                        <a:srgbClr val="FBBD00"/>
                      </a:solidFill>
                      <a:prstDash val="solid"/>
                    </a:lnB>
                  </a:tcPr>
                </a:tc>
                <a:tc vMerge="1">
                  <a:txBody>
                    <a:bodyPr/>
                    <a:lstStyle/>
                    <a:p>
                      <a:endParaRPr/>
                    </a:p>
                  </a:txBody>
                  <a:tcPr marL="0" marR="0" marT="81280"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2"/>
                  </a:ext>
                </a:extLst>
              </a:tr>
            </a:tbl>
          </a:graphicData>
        </a:graphic>
      </p:graphicFrame>
      <p:sp>
        <p:nvSpPr>
          <p:cNvPr id="4" name="object 4"/>
          <p:cNvSpPr txBox="1">
            <a:spLocks noGrp="1"/>
          </p:cNvSpPr>
          <p:nvPr>
            <p:ph type="sldNum" sz="quarter" idx="12"/>
          </p:nvPr>
        </p:nvSpPr>
        <p:spPr>
          <a:xfrm>
            <a:off x="6718838" y="6602494"/>
            <a:ext cx="2187529" cy="203796"/>
          </a:xfrm>
          <a:prstGeom prst="rect">
            <a:avLst/>
          </a:prstGeom>
        </p:spPr>
        <p:txBody>
          <a:bodyPr vert="horz" wrap="square" lIns="0" tIns="14323" rIns="0" bIns="0" rtlCol="0" anchor="ctr">
            <a:spAutoFit/>
          </a:bodyPr>
          <a:lstStyle/>
          <a:p>
            <a:pPr marL="39064">
              <a:spcBef>
                <a:spcPts val="113"/>
              </a:spcBef>
            </a:pPr>
            <a:fld id="{81D60167-4931-47E6-BA6A-407CBD079E47}" type="slidenum">
              <a:rPr dirty="0">
                <a:latin typeface="Verdana" panose="020B0604030504040204" pitchFamily="34" charset="0"/>
                <a:ea typeface="Verdana" panose="020B0604030504040204" pitchFamily="34" charset="0"/>
              </a:rPr>
              <a:pPr marL="39064">
                <a:spcBef>
                  <a:spcPts val="113"/>
                </a:spcBef>
              </a:pPr>
              <a:t>3</a:t>
            </a:fld>
            <a:endParaRPr dirty="0">
              <a:latin typeface="Verdana" panose="020B0604030504040204" pitchFamily="34" charset="0"/>
              <a:ea typeface="Verdana" panose="020B0604030504040204" pitchFamily="34" charset="0"/>
            </a:endParaRPr>
          </a:p>
        </p:txBody>
      </p:sp>
      <p:sp>
        <p:nvSpPr>
          <p:cNvPr id="3" name="object 3"/>
          <p:cNvSpPr txBox="1">
            <a:spLocks noGrp="1"/>
          </p:cNvSpPr>
          <p:nvPr>
            <p:ph type="title"/>
          </p:nvPr>
        </p:nvSpPr>
        <p:spPr>
          <a:xfrm>
            <a:off x="304800" y="256304"/>
            <a:ext cx="15304106" cy="1040529"/>
          </a:xfrm>
          <a:prstGeom prst="rect">
            <a:avLst/>
          </a:prstGeom>
        </p:spPr>
        <p:txBody>
          <a:bodyPr vert="horz" wrap="square" lIns="0" tIns="12370" rIns="0" bIns="0" rtlCol="0" anchor="ctr">
            <a:spAutoFit/>
          </a:bodyPr>
          <a:lstStyle/>
          <a:p>
            <a:pPr>
              <a:lnSpc>
                <a:spcPts val="8747"/>
              </a:lnSpc>
              <a:spcBef>
                <a:spcPts val="97"/>
              </a:spcBef>
            </a:pPr>
            <a:r>
              <a:rPr lang="en-IN" sz="5400" b="1" dirty="0">
                <a:solidFill>
                  <a:schemeClr val="tx1"/>
                </a:solidFill>
                <a:latin typeface="+mn-lt"/>
                <a:ea typeface="+mn-ea"/>
                <a:cs typeface="Times New Roman" panose="02020603050405020304" pitchFamily="18" charset="0"/>
              </a:rPr>
              <a:t>Problem/Opportunity</a:t>
            </a:r>
            <a:endParaRPr sz="5400" b="1" dirty="0">
              <a:solidFill>
                <a:schemeClr val="tx1"/>
              </a:solidFill>
              <a:latin typeface="+mn-lt"/>
              <a:ea typeface="+mn-ea"/>
              <a:cs typeface="Times New Roman" panose="02020603050405020304" pitchFamily="18" charset="0"/>
            </a:endParaRPr>
          </a:p>
        </p:txBody>
      </p:sp>
      <p:sp>
        <p:nvSpPr>
          <p:cNvPr id="14" name="TextBox 13">
            <a:extLst>
              <a:ext uri="{FF2B5EF4-FFF2-40B4-BE49-F238E27FC236}">
                <a16:creationId xmlns:a16="http://schemas.microsoft.com/office/drawing/2014/main" id="{437D10F2-D825-4F14-8721-CF5105D60893}"/>
              </a:ext>
            </a:extLst>
          </p:cNvPr>
          <p:cNvSpPr txBox="1"/>
          <p:nvPr/>
        </p:nvSpPr>
        <p:spPr>
          <a:xfrm>
            <a:off x="16141386" y="593446"/>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5" name="Rectangle 14">
            <a:extLst>
              <a:ext uri="{FF2B5EF4-FFF2-40B4-BE49-F238E27FC236}">
                <a16:creationId xmlns:a16="http://schemas.microsoft.com/office/drawing/2014/main" id="{5DE34494-019C-4AF1-907B-33245967C575}"/>
              </a:ext>
            </a:extLst>
          </p:cNvPr>
          <p:cNvSpPr/>
          <p:nvPr/>
        </p:nvSpPr>
        <p:spPr>
          <a:xfrm>
            <a:off x="15945620" y="192626"/>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 name="Rectangle 4"/>
          <p:cNvSpPr/>
          <p:nvPr/>
        </p:nvSpPr>
        <p:spPr>
          <a:xfrm>
            <a:off x="914400" y="6815207"/>
            <a:ext cx="9144000" cy="1110560"/>
          </a:xfrm>
          <a:prstGeom prst="rect">
            <a:avLst/>
          </a:prstGeom>
        </p:spPr>
        <p:txBody>
          <a:bodyPr>
            <a:spAutoFit/>
          </a:bodyPr>
          <a:lstStyle/>
          <a:p>
            <a:endParaRPr lang="en-US" dirty="0"/>
          </a:p>
          <a:p>
            <a:pPr marL="93102">
              <a:spcBef>
                <a:spcPts val="195"/>
              </a:spcBef>
            </a:pPr>
            <a:endParaRPr lang="en-US" sz="1050" spc="-82" dirty="0">
              <a:latin typeface="Verdana" panose="020B0604030504040204" pitchFamily="34" charset="0"/>
              <a:ea typeface="Verdana" panose="020B0604030504040204" pitchFamily="34" charset="0"/>
              <a:cs typeface="Open Sans" panose="020B0606030504020204" pitchFamily="34" charset="0"/>
            </a:endParaRPr>
          </a:p>
          <a:p>
            <a:endParaRPr lang="en-US" dirty="0"/>
          </a:p>
          <a:p>
            <a:endParaRPr lang="en-IN" dirty="0"/>
          </a:p>
        </p:txBody>
      </p:sp>
      <p:pic>
        <p:nvPicPr>
          <p:cNvPr id="6" name="Picture 5" descr="AUTOFIXAI">
            <a:extLst>
              <a:ext uri="{FF2B5EF4-FFF2-40B4-BE49-F238E27FC236}">
                <a16:creationId xmlns:a16="http://schemas.microsoft.com/office/drawing/2014/main" id="{A616AD86-8DBC-912D-B575-8D6DF6C89D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45619" y="192626"/>
            <a:ext cx="1695221" cy="1288685"/>
          </a:xfrm>
          <a:prstGeom prst="rect">
            <a:avLst/>
          </a:prstGeom>
        </p:spPr>
      </p:pic>
    </p:spTree>
    <p:extLst>
      <p:ext uri="{BB962C8B-B14F-4D97-AF65-F5344CB8AC3E}">
        <p14:creationId xmlns:p14="http://schemas.microsoft.com/office/powerpoint/2010/main" val="28031952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457200" y="217695"/>
            <a:ext cx="12338484" cy="1039900"/>
          </a:xfrm>
          <a:prstGeom prst="rect">
            <a:avLst/>
          </a:prstGeom>
        </p:spPr>
        <p:txBody>
          <a:bodyPr wrap="square" lIns="0" tIns="0" rIns="0" bIns="0" rtlCol="0" anchor="t">
            <a:spAutoFit/>
          </a:bodyPr>
          <a:lstStyle/>
          <a:p>
            <a:pPr>
              <a:lnSpc>
                <a:spcPts val="8747"/>
              </a:lnSpc>
              <a:spcBef>
                <a:spcPts val="97"/>
              </a:spcBef>
            </a:pPr>
            <a:r>
              <a:rPr lang="en-US" sz="5400" b="1" dirty="0"/>
              <a:t>Problem Interviews And Surveys Results  </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070778" y="1079316"/>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5875012" y="678496"/>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17" name="Rectangle 16"/>
          <p:cNvSpPr/>
          <p:nvPr/>
        </p:nvSpPr>
        <p:spPr>
          <a:xfrm>
            <a:off x="838200" y="1967181"/>
            <a:ext cx="11201400" cy="5016758"/>
          </a:xfrm>
          <a:prstGeom prst="rect">
            <a:avLst/>
          </a:prstGeom>
          <a:noFill/>
        </p:spPr>
        <p:txBody>
          <a:bodyPr wrap="square">
            <a:spAutoFit/>
          </a:bodyPr>
          <a:lstStyle/>
          <a:p>
            <a:pPr marL="457200" indent="-457200">
              <a:buFont typeface="Arial" panose="020B0604020202020204" pitchFamily="34" charset="0"/>
              <a:buChar char="•"/>
            </a:pPr>
            <a:r>
              <a:rPr lang="pt-BR" sz="3200" dirty="0"/>
              <a:t>How many customers did you interview? </a:t>
            </a:r>
          </a:p>
          <a:p>
            <a:r>
              <a:rPr lang="pt-BR" sz="3200" dirty="0"/>
              <a:t>     25</a:t>
            </a:r>
          </a:p>
          <a:p>
            <a:pPr marL="457200" indent="-457200">
              <a:buFont typeface="Arial" panose="020B0604020202020204" pitchFamily="34" charset="0"/>
              <a:buChar char="•"/>
            </a:pPr>
            <a:r>
              <a:rPr lang="pt-BR" sz="3200" dirty="0"/>
              <a:t>What was the interview mode?</a:t>
            </a:r>
          </a:p>
          <a:p>
            <a:r>
              <a:rPr lang="pt-BR" sz="3200" i="1" dirty="0"/>
              <a:t>     </a:t>
            </a:r>
            <a:r>
              <a:rPr lang="pt-BR" sz="3200" dirty="0"/>
              <a:t>Offline</a:t>
            </a:r>
            <a:endParaRPr lang="pt-BR" sz="3200" i="1" dirty="0"/>
          </a:p>
          <a:p>
            <a:pPr marL="457200" indent="-457200">
              <a:buFont typeface="Arial" panose="020B0604020202020204" pitchFamily="34" charset="0"/>
              <a:buChar char="•"/>
            </a:pPr>
            <a:r>
              <a:rPr lang="pt-BR" sz="3200" dirty="0"/>
              <a:t>How many of them agree this is a problem and wants a solution?</a:t>
            </a:r>
          </a:p>
          <a:p>
            <a:r>
              <a:rPr lang="pt-BR" sz="3200" dirty="0"/>
              <a:t>      18</a:t>
            </a:r>
          </a:p>
          <a:p>
            <a:pPr marL="457200" indent="-457200">
              <a:buFont typeface="Arial" panose="020B0604020202020204" pitchFamily="34" charset="0"/>
              <a:buChar char="•"/>
            </a:pPr>
            <a:r>
              <a:rPr lang="pt-BR" sz="3200" dirty="0"/>
              <a:t>How many of them said they don't need a new solution?</a:t>
            </a:r>
          </a:p>
          <a:p>
            <a:r>
              <a:rPr lang="pt-BR" sz="3200" i="1" dirty="0"/>
              <a:t>      7</a:t>
            </a:r>
          </a:p>
          <a:p>
            <a:pPr marL="457200" indent="-457200">
              <a:buFont typeface="Arial" panose="020B0604020202020204" pitchFamily="34" charset="0"/>
              <a:buChar char="•"/>
            </a:pPr>
            <a:endParaRPr lang="pt-BR" sz="3200" i="1" dirty="0"/>
          </a:p>
        </p:txBody>
      </p:sp>
      <p:sp>
        <p:nvSpPr>
          <p:cNvPr id="11" name="Rectangle 10"/>
          <p:cNvSpPr/>
          <p:nvPr/>
        </p:nvSpPr>
        <p:spPr>
          <a:xfrm>
            <a:off x="838200" y="3536969"/>
            <a:ext cx="473206" cy="369332"/>
          </a:xfrm>
          <a:prstGeom prst="rect">
            <a:avLst/>
          </a:prstGeom>
        </p:spPr>
        <p:txBody>
          <a:bodyPr wrap="none">
            <a:spAutoFit/>
          </a:bodyPr>
          <a:lstStyle/>
          <a:p>
            <a:pPr marL="285750" indent="-285750">
              <a:buFont typeface="Arial" panose="020B0604020202020204" pitchFamily="34" charset="0"/>
              <a:buChar char="•"/>
            </a:pPr>
            <a:endParaRPr lang="pt-BR" dirty="0"/>
          </a:p>
        </p:txBody>
      </p:sp>
      <p:pic>
        <p:nvPicPr>
          <p:cNvPr id="2" name="Picture 1" descr="AUTOFIXAI">
            <a:extLst>
              <a:ext uri="{FF2B5EF4-FFF2-40B4-BE49-F238E27FC236}">
                <a16:creationId xmlns:a16="http://schemas.microsoft.com/office/drawing/2014/main" id="{108E0F02-7C02-9C26-3D69-63E8C3A9F0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75012" y="678496"/>
            <a:ext cx="1695221" cy="1288685"/>
          </a:xfrm>
          <a:prstGeom prst="rect">
            <a:avLst/>
          </a:prstGeom>
        </p:spPr>
      </p:pic>
    </p:spTree>
    <p:extLst>
      <p:ext uri="{BB962C8B-B14F-4D97-AF65-F5344CB8AC3E}">
        <p14:creationId xmlns:p14="http://schemas.microsoft.com/office/powerpoint/2010/main" val="39922746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437D10F2-D825-4F14-8721-CF5105D60893}"/>
              </a:ext>
            </a:extLst>
          </p:cNvPr>
          <p:cNvSpPr txBox="1"/>
          <p:nvPr/>
        </p:nvSpPr>
        <p:spPr>
          <a:xfrm>
            <a:off x="16118497" y="728885"/>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5" name="Rectangle 14">
            <a:extLst>
              <a:ext uri="{FF2B5EF4-FFF2-40B4-BE49-F238E27FC236}">
                <a16:creationId xmlns:a16="http://schemas.microsoft.com/office/drawing/2014/main" id="{5DE34494-019C-4AF1-907B-33245967C575}"/>
              </a:ext>
            </a:extLst>
          </p:cNvPr>
          <p:cNvSpPr/>
          <p:nvPr/>
        </p:nvSpPr>
        <p:spPr>
          <a:xfrm>
            <a:off x="15922731" y="328065"/>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graphicFrame>
        <p:nvGraphicFramePr>
          <p:cNvPr id="18" name="Diagram 17"/>
          <p:cNvGraphicFramePr/>
          <p:nvPr>
            <p:extLst>
              <p:ext uri="{D42A27DB-BD31-4B8C-83A1-F6EECF244321}">
                <p14:modId xmlns:p14="http://schemas.microsoft.com/office/powerpoint/2010/main" val="1760734205"/>
              </p:ext>
            </p:extLst>
          </p:nvPr>
        </p:nvGraphicFramePr>
        <p:xfrm>
          <a:off x="-732132" y="1893546"/>
          <a:ext cx="7620000" cy="5481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Rounded Rectangle 18"/>
          <p:cNvSpPr/>
          <p:nvPr/>
        </p:nvSpPr>
        <p:spPr>
          <a:xfrm>
            <a:off x="5996456" y="461804"/>
            <a:ext cx="9849774" cy="9106111"/>
          </a:xfrm>
          <a:prstGeom prst="roundRect">
            <a:avLst/>
          </a:prstGeom>
          <a:noFill/>
          <a:ln w="12700" cap="flat" cmpd="sng" algn="ctr">
            <a:solidFill>
              <a:srgbClr val="E7E6E6">
                <a:lumMod val="50000"/>
              </a:srgbClr>
            </a:solidFill>
            <a:prstDash val="solid"/>
            <a:miter lim="800000"/>
          </a:ln>
          <a:effectLst/>
        </p:spPr>
        <p:txBody>
          <a:bodyPr rtlCol="0" anchor="ctr"/>
          <a:lstStyle/>
          <a:p>
            <a:pPr algn="just">
              <a:defRPr/>
            </a:pPr>
            <a:r>
              <a:rPr kumimoji="0" lang="en-IN" sz="2400" b="1" i="0" u="none" strike="noStrike" kern="0" cap="none" spc="0" normalizeH="0" baseline="0" noProof="0" dirty="0">
                <a:ln>
                  <a:noFill/>
                </a:ln>
                <a:effectLst/>
                <a:uLnTx/>
                <a:uFillTx/>
                <a:latin typeface="+mj-lt"/>
              </a:rPr>
              <a:t>How to calculate market size?</a:t>
            </a:r>
          </a:p>
          <a:p>
            <a:pPr algn="just">
              <a:defRPr/>
            </a:pPr>
            <a:endParaRPr kumimoji="0" lang="en-IN" b="0" i="0" u="none" strike="noStrike" kern="0" cap="none" spc="0" normalizeH="0" baseline="0" noProof="0" dirty="0">
              <a:ln>
                <a:noFill/>
              </a:ln>
              <a:effectLst/>
              <a:uLnTx/>
              <a:uFillTx/>
              <a:latin typeface="+mj-lt"/>
            </a:endParaRPr>
          </a:p>
          <a:p>
            <a:pPr marL="342900" indent="-342900" algn="just">
              <a:buAutoNum type="arabicPeriod"/>
              <a:defRPr/>
            </a:pPr>
            <a:r>
              <a:rPr kumimoji="0" lang="en-IN" b="0" i="0" u="none" strike="noStrike" kern="0" cap="none" spc="0" normalizeH="0" baseline="0" noProof="0" dirty="0">
                <a:ln>
                  <a:noFill/>
                </a:ln>
                <a:effectLst/>
                <a:uLnTx/>
                <a:uFillTx/>
                <a:latin typeface="+mj-lt"/>
              </a:rPr>
              <a:t>Start with Total</a:t>
            </a:r>
            <a:r>
              <a:rPr kumimoji="0" lang="en-IN" b="0" i="0" u="none" strike="noStrike" kern="0" cap="none" spc="0" normalizeH="0" noProof="0" dirty="0">
                <a:ln>
                  <a:noFill/>
                </a:ln>
                <a:effectLst/>
                <a:uLnTx/>
                <a:uFillTx/>
                <a:latin typeface="+mj-lt"/>
              </a:rPr>
              <a:t> Addressable market(TAM)- </a:t>
            </a:r>
            <a:r>
              <a:rPr lang="en-US" dirty="0"/>
              <a:t>Global car owners and drivers in India: </a:t>
            </a:r>
            <a:r>
              <a:rPr lang="en-US" b="1" dirty="0"/>
              <a:t>                      approximately 35.4 crore registered vehicles as the conservative official base, and     about 38–40 crore as a current rounded estimate.</a:t>
            </a:r>
          </a:p>
          <a:p>
            <a:pPr algn="just">
              <a:defRPr/>
            </a:pPr>
            <a:endParaRPr kumimoji="0" lang="en-IN" b="0" i="0" u="none" strike="noStrike" kern="0" cap="none" spc="0" normalizeH="0" noProof="0" dirty="0">
              <a:ln>
                <a:noFill/>
              </a:ln>
              <a:effectLst/>
              <a:uLnTx/>
              <a:uFillTx/>
              <a:latin typeface="+mj-lt"/>
            </a:endParaRPr>
          </a:p>
          <a:p>
            <a:pPr algn="just">
              <a:defRPr/>
            </a:pPr>
            <a:endParaRPr lang="en-IN" kern="0" dirty="0">
              <a:latin typeface="+mj-lt"/>
            </a:endParaRPr>
          </a:p>
          <a:p>
            <a:pPr algn="just">
              <a:defRPr/>
            </a:pPr>
            <a:r>
              <a:rPr lang="en-US" dirty="0"/>
              <a:t>TAM refers to the total market demand for a product or service.</a:t>
            </a:r>
          </a:p>
          <a:p>
            <a:pPr algn="just">
              <a:defRPr/>
            </a:pPr>
            <a:r>
              <a:rPr lang="en-IN" kern="0" dirty="0">
                <a:latin typeface="+mj-lt"/>
              </a:rPr>
              <a:t> </a:t>
            </a:r>
            <a:r>
              <a:rPr lang="en-US" dirty="0">
                <a:latin typeface="+mj-lt"/>
              </a:rPr>
              <a:t>If you’re entering a pre-existing space (like small business banking) you can research it and provide credible sources or reference points on how you arrived at the TAM.  If you’re creating a new product or space (like Slack), you can estimate the number of customers that would want your product and approximate how much you could charge them.</a:t>
            </a:r>
          </a:p>
          <a:p>
            <a:pPr algn="just">
              <a:defRPr/>
            </a:pPr>
            <a:endParaRPr lang="en-US" dirty="0">
              <a:latin typeface="+mj-lt"/>
            </a:endParaRPr>
          </a:p>
          <a:p>
            <a:pPr algn="just">
              <a:defRPr/>
            </a:pPr>
            <a:r>
              <a:rPr lang="en-US" dirty="0"/>
              <a:t>2. Take your target market (SAM), within that TAM, which varies depending on geography and other logistical factors. Determine the penetration potential of your target market. This is the portion of the market you can reasonably compete with:</a:t>
            </a:r>
          </a:p>
          <a:p>
            <a:pPr algn="just">
              <a:defRPr/>
            </a:pPr>
            <a:r>
              <a:rPr lang="en-US" dirty="0"/>
              <a:t>*Serviceable Available Market (SAM): Smartphone-using car owners in India, estimated at </a:t>
            </a:r>
            <a:endParaRPr lang="en-US" b="1" dirty="0"/>
          </a:p>
          <a:p>
            <a:pPr algn="just">
              <a:defRPr/>
            </a:pPr>
            <a:r>
              <a:rPr lang="en-US" b="1" dirty="0"/>
              <a:t> - 5 crore users (initially targeting smartphone-using 4-wheeler owners).”</a:t>
            </a:r>
          </a:p>
          <a:p>
            <a:pPr algn="just">
              <a:defRPr/>
            </a:pPr>
            <a:endParaRPr lang="en-US" dirty="0"/>
          </a:p>
          <a:p>
            <a:pPr algn="just">
              <a:defRPr/>
            </a:pPr>
            <a:r>
              <a:rPr lang="en-US" dirty="0"/>
              <a:t>*Penetration Potential: </a:t>
            </a:r>
            <a:r>
              <a:rPr lang="en-US" b="1" dirty="0"/>
              <a:t>1%–3% initially, with scope to grow to 5%–10% over time</a:t>
            </a:r>
            <a:r>
              <a:rPr lang="en-US" dirty="0"/>
              <a:t>.”</a:t>
            </a:r>
          </a:p>
          <a:p>
            <a:pPr algn="just">
              <a:defRPr/>
            </a:pPr>
            <a:endParaRPr lang="en-US" dirty="0">
              <a:latin typeface="+mj-lt"/>
            </a:endParaRPr>
          </a:p>
          <a:p>
            <a:pPr algn="just">
              <a:defRPr/>
            </a:pPr>
            <a:r>
              <a:rPr lang="en-US" dirty="0"/>
              <a:t>3.By conducting research with existing competitors, distributors etc., understand the likely penetration rate:</a:t>
            </a:r>
          </a:p>
          <a:p>
            <a:pPr algn="just">
              <a:defRPr/>
            </a:pPr>
            <a:r>
              <a:rPr lang="en-US" dirty="0"/>
              <a:t>*Based on competitor analysis, the likely penetration rate is around </a:t>
            </a:r>
            <a:r>
              <a:rPr lang="en-US" b="1" dirty="0"/>
              <a:t>1%–3% in the initial stages</a:t>
            </a:r>
            <a:r>
              <a:rPr lang="en-US" dirty="0"/>
              <a:t>.</a:t>
            </a:r>
          </a:p>
          <a:p>
            <a:pPr algn="just">
              <a:defRPr/>
            </a:pPr>
            <a:r>
              <a:rPr lang="en-US" dirty="0"/>
              <a:t>*With strong features and user adoption, it can grow to </a:t>
            </a:r>
            <a:r>
              <a:rPr lang="en-US" b="1" dirty="0"/>
              <a:t>5%–10% over time</a:t>
            </a:r>
            <a:r>
              <a:rPr lang="en-US" dirty="0"/>
              <a:t>.</a:t>
            </a:r>
          </a:p>
          <a:p>
            <a:pPr algn="just">
              <a:defRPr/>
            </a:pPr>
            <a:endParaRPr lang="en-US" dirty="0"/>
          </a:p>
          <a:p>
            <a:pPr algn="just">
              <a:defRPr/>
            </a:pPr>
            <a:r>
              <a:rPr lang="en-US" dirty="0"/>
              <a:t>4. Multiply target market by penetration rate to find your market size:</a:t>
            </a:r>
          </a:p>
          <a:p>
            <a:pPr algn="just">
              <a:defRPr/>
            </a:pPr>
            <a:r>
              <a:rPr lang="en-US" dirty="0">
                <a:latin typeface="+mj-lt"/>
              </a:rPr>
              <a:t>    *</a:t>
            </a:r>
            <a:r>
              <a:rPr lang="en-US" dirty="0"/>
              <a:t>Market Size = SAM × Penetration Rate = </a:t>
            </a:r>
            <a:r>
              <a:rPr lang="en-US" b="1" dirty="0"/>
              <a:t>5 crore × 1%–3% = 5 lakh to 15 lakh users</a:t>
            </a:r>
            <a:endParaRPr lang="en-US" b="1" dirty="0">
              <a:latin typeface="+mj-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700" b="1" i="0" u="none" strike="noStrike" kern="0" cap="none" spc="0" normalizeH="0" noProof="0" dirty="0">
                <a:ln>
                  <a:noFill/>
                </a:ln>
                <a:solidFill>
                  <a:prstClr val="white"/>
                </a:solidFill>
                <a:effectLst/>
                <a:uLnTx/>
                <a:uFillTx/>
                <a:latin typeface="Calibri" panose="020F0502020204030204"/>
                <a:ea typeface="+mn-ea"/>
                <a:cs typeface="+mn-cs"/>
              </a:rPr>
              <a:t> </a:t>
            </a:r>
            <a:endParaRPr kumimoji="0" lang="en-IN" sz="27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p:cNvSpPr txBox="1"/>
          <p:nvPr/>
        </p:nvSpPr>
        <p:spPr>
          <a:xfrm>
            <a:off x="239949" y="328065"/>
            <a:ext cx="5675839" cy="646331"/>
          </a:xfrm>
          <a:prstGeom prst="rect">
            <a:avLst/>
          </a:prstGeom>
          <a:noFill/>
        </p:spPr>
        <p:txBody>
          <a:bodyPr wrap="square" rtlCol="0">
            <a:spAutoFit/>
          </a:bodyPr>
          <a:lstStyle/>
          <a:p>
            <a:pPr defTabSz="685800"/>
            <a:r>
              <a:rPr lang="en-US" sz="3600" b="1" dirty="0">
                <a:solidFill>
                  <a:prstClr val="black">
                    <a:lumMod val="85000"/>
                    <a:lumOff val="15000"/>
                  </a:prstClr>
                </a:solidFill>
                <a:latin typeface="Montserrat"/>
              </a:rPr>
              <a:t>Market Size Estimation </a:t>
            </a:r>
          </a:p>
        </p:txBody>
      </p:sp>
      <p:sp>
        <p:nvSpPr>
          <p:cNvPr id="16" name="Rectangle 15"/>
          <p:cNvSpPr/>
          <p:nvPr/>
        </p:nvSpPr>
        <p:spPr>
          <a:xfrm>
            <a:off x="6140613" y="4958834"/>
            <a:ext cx="248786" cy="369332"/>
          </a:xfrm>
          <a:prstGeom prst="rect">
            <a:avLst/>
          </a:prstGeom>
        </p:spPr>
        <p:txBody>
          <a:bodyPr wrap="none">
            <a:spAutoFit/>
          </a:bodyPr>
          <a:lstStyle/>
          <a:p>
            <a:r>
              <a:rPr lang="en-US" dirty="0">
                <a:solidFill>
                  <a:srgbClr val="2E475D"/>
                </a:solidFill>
                <a:latin typeface="Lexend Deca"/>
              </a:rPr>
              <a:t>.</a:t>
            </a:r>
            <a:endParaRPr lang="en-US" dirty="0"/>
          </a:p>
        </p:txBody>
      </p:sp>
      <p:sp>
        <p:nvSpPr>
          <p:cNvPr id="10" name="TextBox 9"/>
          <p:cNvSpPr txBox="1"/>
          <p:nvPr/>
        </p:nvSpPr>
        <p:spPr>
          <a:xfrm>
            <a:off x="320617" y="9363531"/>
            <a:ext cx="5675839" cy="461665"/>
          </a:xfrm>
          <a:prstGeom prst="rect">
            <a:avLst/>
          </a:prstGeom>
          <a:noFill/>
        </p:spPr>
        <p:txBody>
          <a:bodyPr wrap="square" rtlCol="0">
            <a:spAutoFit/>
          </a:bodyPr>
          <a:lstStyle/>
          <a:p>
            <a:pPr defTabSz="685800"/>
            <a:r>
              <a:rPr lang="en-US" sz="2400" b="1" dirty="0">
                <a:solidFill>
                  <a:prstClr val="black">
                    <a:lumMod val="85000"/>
                    <a:lumOff val="15000"/>
                  </a:prstClr>
                </a:solidFill>
                <a:latin typeface="Montserrat"/>
              </a:rPr>
              <a:t>Sources: ChatGPT and Attest</a:t>
            </a:r>
          </a:p>
        </p:txBody>
      </p:sp>
      <p:pic>
        <p:nvPicPr>
          <p:cNvPr id="3" name="Picture 2" descr="AUTOFIXAI">
            <a:extLst>
              <a:ext uri="{FF2B5EF4-FFF2-40B4-BE49-F238E27FC236}">
                <a16:creationId xmlns:a16="http://schemas.microsoft.com/office/drawing/2014/main" id="{E51F5D5E-9EC6-52F3-4E94-2BCC57072EF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932091" y="282425"/>
            <a:ext cx="1695221" cy="1334326"/>
          </a:xfrm>
          <a:prstGeom prst="rect">
            <a:avLst/>
          </a:prstGeom>
        </p:spPr>
      </p:pic>
    </p:spTree>
    <p:extLst>
      <p:ext uri="{BB962C8B-B14F-4D97-AF65-F5344CB8AC3E}">
        <p14:creationId xmlns:p14="http://schemas.microsoft.com/office/powerpoint/2010/main" val="11896780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ircle(in)">
                                      <p:cBhvr>
                                        <p:cTn id="13" dur="20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P spid="19" grpId="0" animBg="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4769111" y="1955330"/>
            <a:ext cx="9115851" cy="2392963"/>
          </a:xfrm>
          <a:prstGeom prst="rect">
            <a:avLst/>
          </a:prstGeom>
          <a:solidFill>
            <a:srgbClr val="FFC000"/>
          </a:solidFill>
        </p:spPr>
        <p:txBody>
          <a:bodyPr wrap="square">
            <a:spAutoFit/>
          </a:bodyPr>
          <a:lstStyle/>
          <a:p>
            <a:pPr defTabSz="1371579"/>
            <a:r>
              <a:rPr lang="en-US" sz="2700" b="1" dirty="0">
                <a:solidFill>
                  <a:schemeClr val="bg1"/>
                </a:solidFill>
                <a:latin typeface="Calibri" panose="020F0502020204030204"/>
              </a:rPr>
              <a:t>Goals</a:t>
            </a:r>
          </a:p>
          <a:p>
            <a:pPr defTabSz="1371579"/>
            <a:r>
              <a:rPr lang="en-US" sz="2700" b="1" dirty="0">
                <a:solidFill>
                  <a:schemeClr val="bg1"/>
                </a:solidFill>
                <a:latin typeface="Calibri" panose="020F0502020204030204"/>
              </a:rPr>
              <a:t>  </a:t>
            </a:r>
            <a:r>
              <a:rPr lang="en-US" sz="2800" dirty="0"/>
              <a:t>Bharath, a marketing head in Bangalore, tells that one must understand their car problems without wasting time during their busy  schedule. He aims to fix issues efficiently with minimum cost and avoid unnecessary visits to mechanics.</a:t>
            </a:r>
            <a:endParaRPr lang="en-US" sz="1050" b="1" dirty="0">
              <a:solidFill>
                <a:schemeClr val="bg1"/>
              </a:solidFill>
              <a:latin typeface="Calibri" panose="020F0502020204030204"/>
            </a:endParaRPr>
          </a:p>
          <a:p>
            <a:pPr defTabSz="1371579"/>
            <a:endParaRPr lang="en-US" sz="1050" b="1" dirty="0">
              <a:solidFill>
                <a:schemeClr val="bg1"/>
              </a:solidFill>
              <a:latin typeface="Calibri" panose="020F0502020204030204"/>
            </a:endParaRPr>
          </a:p>
        </p:txBody>
      </p:sp>
      <p:sp>
        <p:nvSpPr>
          <p:cNvPr id="27" name="Rectangle 26"/>
          <p:cNvSpPr/>
          <p:nvPr/>
        </p:nvSpPr>
        <p:spPr>
          <a:xfrm>
            <a:off x="4740797" y="4481778"/>
            <a:ext cx="9144165" cy="2231380"/>
          </a:xfrm>
          <a:prstGeom prst="rect">
            <a:avLst/>
          </a:prstGeom>
          <a:solidFill>
            <a:schemeClr val="accent6"/>
          </a:solidFill>
        </p:spPr>
        <p:txBody>
          <a:bodyPr wrap="square">
            <a:spAutoFit/>
          </a:bodyPr>
          <a:lstStyle/>
          <a:p>
            <a:pPr defTabSz="1371579"/>
            <a:r>
              <a:rPr lang="en-US" sz="2700" b="1" dirty="0">
                <a:solidFill>
                  <a:schemeClr val="bg1"/>
                </a:solidFill>
                <a:latin typeface="Calibri" panose="020F0502020204030204"/>
              </a:rPr>
              <a:t>Frustrations</a:t>
            </a:r>
          </a:p>
          <a:p>
            <a:pPr defTabSz="1371579"/>
            <a:r>
              <a:rPr lang="en-US" sz="2700" b="1" dirty="0">
                <a:solidFill>
                  <a:schemeClr val="bg1"/>
                </a:solidFill>
                <a:latin typeface="Calibri" panose="020F0502020204030204"/>
              </a:rPr>
              <a:t> </a:t>
            </a:r>
            <a:r>
              <a:rPr lang="en-IN" sz="2800" dirty="0"/>
              <a:t>Bharath</a:t>
            </a:r>
            <a:r>
              <a:rPr lang="en-US" sz="2700" b="1" dirty="0">
                <a:solidFill>
                  <a:schemeClr val="bg1"/>
                </a:solidFill>
                <a:latin typeface="Calibri" panose="020F0502020204030204"/>
              </a:rPr>
              <a:t> </a:t>
            </a:r>
            <a:r>
              <a:rPr lang="en-US" sz="2800" dirty="0"/>
              <a:t>feel frustrated when he cannot understand what is wrong with his car.  He get irritated due to time loss and unexpected breakdowns. He also have frustration from high repair costs and fear of being overcharged.</a:t>
            </a:r>
          </a:p>
        </p:txBody>
      </p:sp>
      <p:sp>
        <p:nvSpPr>
          <p:cNvPr id="28" name="Rectangle 27"/>
          <p:cNvSpPr/>
          <p:nvPr/>
        </p:nvSpPr>
        <p:spPr>
          <a:xfrm>
            <a:off x="4732598" y="6927472"/>
            <a:ext cx="9188875" cy="309315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defTabSz="1371579"/>
            <a:r>
              <a:rPr lang="en-US" sz="2700" b="1" dirty="0">
                <a:solidFill>
                  <a:srgbClr val="FD9F4D"/>
                </a:solidFill>
                <a:latin typeface="Calibri" panose="020F0502020204030204"/>
              </a:rPr>
              <a:t>Bio</a:t>
            </a:r>
          </a:p>
          <a:p>
            <a:pPr defTabSz="1371579"/>
            <a:r>
              <a:rPr lang="en-US" sz="2700" b="1" dirty="0">
                <a:solidFill>
                  <a:srgbClr val="FD9F4D"/>
                </a:solidFill>
                <a:latin typeface="Calibri" panose="020F0502020204030204"/>
              </a:rPr>
              <a:t>  </a:t>
            </a:r>
            <a:r>
              <a:rPr lang="en-US" sz="2800" dirty="0"/>
              <a:t>Bharath is a working professional based in Bangalore, currently serving as a Marketing Head in IT company. He has a busy lifestyle with tight schedules and frequent travel, which makes time management very important for him. He prefers smart, efficient solutions that save time, reduce stress, and help him make quick and confident decisions in his daily life.</a:t>
            </a:r>
          </a:p>
        </p:txBody>
      </p:sp>
      <p:sp>
        <p:nvSpPr>
          <p:cNvPr id="31" name="Rectangle 30"/>
          <p:cNvSpPr/>
          <p:nvPr/>
        </p:nvSpPr>
        <p:spPr>
          <a:xfrm>
            <a:off x="609487" y="7130568"/>
            <a:ext cx="1918120" cy="520667"/>
          </a:xfrm>
          <a:prstGeom prst="rect">
            <a:avLst/>
          </a:prstGeom>
        </p:spPr>
        <p:txBody>
          <a:bodyPr wrap="none">
            <a:spAutoFit/>
          </a:bodyPr>
          <a:lstStyle/>
          <a:p>
            <a:pPr defTabSz="1371579"/>
            <a:r>
              <a:rPr lang="en-US" sz="2700" b="1" dirty="0">
                <a:solidFill>
                  <a:srgbClr val="FD9F4D"/>
                </a:solidFill>
                <a:latin typeface="Calibri" panose="020F0502020204030204"/>
              </a:rPr>
              <a:t>Personality </a:t>
            </a:r>
          </a:p>
        </p:txBody>
      </p:sp>
      <p:sp>
        <p:nvSpPr>
          <p:cNvPr id="34" name="Rectangle 33"/>
          <p:cNvSpPr/>
          <p:nvPr/>
        </p:nvSpPr>
        <p:spPr>
          <a:xfrm>
            <a:off x="14158195" y="1437388"/>
            <a:ext cx="2049536" cy="520667"/>
          </a:xfrm>
          <a:prstGeom prst="rect">
            <a:avLst/>
          </a:prstGeom>
        </p:spPr>
        <p:txBody>
          <a:bodyPr wrap="none">
            <a:spAutoFit/>
          </a:bodyPr>
          <a:lstStyle/>
          <a:p>
            <a:pPr defTabSz="1371579"/>
            <a:r>
              <a:rPr lang="en-US" sz="2700" b="1" dirty="0">
                <a:solidFill>
                  <a:srgbClr val="FD9F4D"/>
                </a:solidFill>
                <a:latin typeface="Calibri" panose="020F0502020204030204"/>
              </a:rPr>
              <a:t>Motivations </a:t>
            </a:r>
          </a:p>
        </p:txBody>
      </p:sp>
      <p:sp>
        <p:nvSpPr>
          <p:cNvPr id="5" name="TextBox 4"/>
          <p:cNvSpPr txBox="1"/>
          <p:nvPr/>
        </p:nvSpPr>
        <p:spPr>
          <a:xfrm>
            <a:off x="495965" y="5722648"/>
            <a:ext cx="4497266" cy="1088668"/>
          </a:xfrm>
          <a:prstGeom prst="rect">
            <a:avLst/>
          </a:prstGeom>
          <a:noFill/>
        </p:spPr>
        <p:txBody>
          <a:bodyPr wrap="square" rtlCol="0">
            <a:spAutoFit/>
          </a:bodyPr>
          <a:lstStyle/>
          <a:p>
            <a:pPr defTabSz="1371579"/>
            <a:r>
              <a:rPr lang="en-US" sz="2100" dirty="0">
                <a:solidFill>
                  <a:srgbClr val="052B3E"/>
                </a:solidFill>
                <a:latin typeface="Calibri" panose="020F0502020204030204"/>
              </a:rPr>
              <a:t>Age: 30</a:t>
            </a:r>
          </a:p>
          <a:p>
            <a:pPr defTabSz="1371579"/>
            <a:r>
              <a:rPr lang="en-US" sz="2100" dirty="0">
                <a:solidFill>
                  <a:srgbClr val="052B3E"/>
                </a:solidFill>
                <a:latin typeface="Calibri" panose="020F0502020204030204"/>
              </a:rPr>
              <a:t>Occupation: Marketing Head	</a:t>
            </a:r>
          </a:p>
          <a:p>
            <a:pPr defTabSz="1371579"/>
            <a:r>
              <a:rPr lang="en-US" sz="2100" dirty="0">
                <a:solidFill>
                  <a:srgbClr val="052B3E"/>
                </a:solidFill>
                <a:latin typeface="Calibri" panose="020F0502020204030204"/>
              </a:rPr>
              <a:t>Location: Bangalore</a:t>
            </a:r>
          </a:p>
        </p:txBody>
      </p:sp>
      <p:sp>
        <p:nvSpPr>
          <p:cNvPr id="25" name="Rounded Rectangle 24"/>
          <p:cNvSpPr/>
          <p:nvPr/>
        </p:nvSpPr>
        <p:spPr>
          <a:xfrm>
            <a:off x="6270301" y="1285996"/>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a:solidFill>
                  <a:schemeClr val="tx1"/>
                </a:solidFill>
                <a:latin typeface="Calibri" panose="020F0502020204030204"/>
              </a:rPr>
              <a:t>GOOD PERSON</a:t>
            </a:r>
          </a:p>
        </p:txBody>
      </p:sp>
      <p:pic>
        <p:nvPicPr>
          <p:cNvPr id="13" name="Picture 12"/>
          <p:cNvPicPr>
            <a:picLocks noChangeAspect="1"/>
          </p:cNvPicPr>
          <p:nvPr/>
        </p:nvPicPr>
        <p:blipFill>
          <a:blip r:embed="rId3">
            <a:duotone>
              <a:prstClr val="black"/>
              <a:schemeClr val="accent6">
                <a:tint val="45000"/>
                <a:satMod val="400000"/>
              </a:schemeClr>
            </a:duotone>
          </a:blip>
          <a:stretch>
            <a:fillRect/>
          </a:stretch>
        </p:blipFill>
        <p:spPr>
          <a:xfrm>
            <a:off x="609487" y="7527688"/>
            <a:ext cx="3553359" cy="2187914"/>
          </a:xfrm>
          <a:prstGeom prst="rect">
            <a:avLst/>
          </a:prstGeom>
        </p:spPr>
      </p:pic>
      <p:pic>
        <p:nvPicPr>
          <p:cNvPr id="15" name="Picture 14"/>
          <p:cNvPicPr>
            <a:picLocks noChangeAspect="1"/>
          </p:cNvPicPr>
          <p:nvPr/>
        </p:nvPicPr>
        <p:blipFill>
          <a:blip r:embed="rId4">
            <a:duotone>
              <a:prstClr val="black"/>
              <a:schemeClr val="accent3">
                <a:tint val="45000"/>
                <a:satMod val="400000"/>
              </a:schemeClr>
            </a:duotone>
          </a:blip>
          <a:stretch>
            <a:fillRect/>
          </a:stretch>
        </p:blipFill>
        <p:spPr>
          <a:xfrm>
            <a:off x="14310982" y="1853155"/>
            <a:ext cx="3254332" cy="2498557"/>
          </a:xfrm>
          <a:prstGeom prst="rect">
            <a:avLst/>
          </a:prstGeom>
        </p:spPr>
      </p:pic>
      <p:sp>
        <p:nvSpPr>
          <p:cNvPr id="16" name="Rectangle 15"/>
          <p:cNvSpPr/>
          <p:nvPr/>
        </p:nvSpPr>
        <p:spPr>
          <a:xfrm>
            <a:off x="522484" y="4477024"/>
            <a:ext cx="4093839" cy="106242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371579"/>
            <a:r>
              <a:rPr lang="en-US" sz="2100" b="1" dirty="0">
                <a:solidFill>
                  <a:prstClr val="white"/>
                </a:solidFill>
                <a:latin typeface="Calibri" panose="020F0502020204030204"/>
              </a:rPr>
              <a:t>Ethos </a:t>
            </a:r>
          </a:p>
        </p:txBody>
      </p:sp>
      <p:sp>
        <p:nvSpPr>
          <p:cNvPr id="17" name="TextBox 16"/>
          <p:cNvSpPr txBox="1"/>
          <p:nvPr/>
        </p:nvSpPr>
        <p:spPr>
          <a:xfrm>
            <a:off x="486195" y="339098"/>
            <a:ext cx="11351228" cy="840230"/>
          </a:xfrm>
          <a:prstGeom prst="rect">
            <a:avLst/>
          </a:prstGeom>
          <a:noFill/>
        </p:spPr>
        <p:txBody>
          <a:bodyPr wrap="square" rtlCol="0">
            <a:spAutoFit/>
          </a:bodyPr>
          <a:lstStyle/>
          <a:p>
            <a:pPr defTabSz="1371613">
              <a:lnSpc>
                <a:spcPct val="90000"/>
              </a:lnSpc>
              <a:spcBef>
                <a:spcPct val="0"/>
              </a:spcBef>
            </a:pPr>
            <a:r>
              <a:rPr lang="en-US" sz="5400" b="1" dirty="0"/>
              <a:t>Customer Personal</a:t>
            </a:r>
          </a:p>
        </p:txBody>
      </p:sp>
      <p:sp>
        <p:nvSpPr>
          <p:cNvPr id="2" name="Rectangle 1"/>
          <p:cNvSpPr/>
          <p:nvPr/>
        </p:nvSpPr>
        <p:spPr>
          <a:xfrm>
            <a:off x="495965" y="1838287"/>
            <a:ext cx="4120358" cy="2498557"/>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defTabSz="1371613"/>
            <a:r>
              <a:rPr lang="en-US" sz="2400" dirty="0">
                <a:solidFill>
                  <a:prstClr val="black"/>
                </a:solidFill>
                <a:latin typeface="Calibri" panose="020F0502020204030204"/>
              </a:rPr>
              <a:t>Photo </a:t>
            </a:r>
          </a:p>
        </p:txBody>
      </p:sp>
      <p:sp>
        <p:nvSpPr>
          <p:cNvPr id="18" name="Rounded Rectangle 17"/>
          <p:cNvSpPr/>
          <p:nvPr/>
        </p:nvSpPr>
        <p:spPr>
          <a:xfrm>
            <a:off x="8777729" y="1285995"/>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a:solidFill>
                  <a:schemeClr val="tx1"/>
                </a:solidFill>
                <a:latin typeface="Calibri" panose="020F0502020204030204"/>
              </a:rPr>
              <a:t>HELPFUL</a:t>
            </a:r>
          </a:p>
        </p:txBody>
      </p:sp>
      <p:pic>
        <p:nvPicPr>
          <p:cNvPr id="11" name="Picture 10">
            <a:extLst>
              <a:ext uri="{FF2B5EF4-FFF2-40B4-BE49-F238E27FC236}">
                <a16:creationId xmlns:a16="http://schemas.microsoft.com/office/drawing/2014/main" id="{AB30FB5D-F14A-7AC5-BB8B-716F6112C2A5}"/>
              </a:ext>
            </a:extLst>
          </p:cNvPr>
          <p:cNvPicPr>
            <a:picLocks noChangeAspect="1"/>
          </p:cNvPicPr>
          <p:nvPr/>
        </p:nvPicPr>
        <p:blipFill>
          <a:blip r:embed="rId5">
            <a:extLst>
              <a:ext uri="{28A0092B-C50C-407E-A947-70E740481C1C}">
                <a14:useLocalDpi xmlns:a14="http://schemas.microsoft.com/office/drawing/2010/main" val="0"/>
              </a:ext>
            </a:extLst>
          </a:blip>
          <a:srcRect l="-147" t="-313" r="147" b="50313"/>
          <a:stretch>
            <a:fillRect/>
          </a:stretch>
        </p:blipFill>
        <p:spPr>
          <a:xfrm>
            <a:off x="486195" y="1702875"/>
            <a:ext cx="4130128" cy="2657993"/>
          </a:xfrm>
          <a:prstGeom prst="rect">
            <a:avLst/>
          </a:prstGeom>
        </p:spPr>
      </p:pic>
    </p:spTree>
    <p:extLst>
      <p:ext uri="{BB962C8B-B14F-4D97-AF65-F5344CB8AC3E}">
        <p14:creationId xmlns:p14="http://schemas.microsoft.com/office/powerpoint/2010/main" val="36050666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1000"/>
                                        <p:tgtEl>
                                          <p:spTgt spid="25"/>
                                        </p:tgtEl>
                                      </p:cBhvr>
                                    </p:animEffect>
                                    <p:anim calcmode="lin" valueType="num">
                                      <p:cBhvr>
                                        <p:cTn id="35" dur="1000" fill="hold"/>
                                        <p:tgtEl>
                                          <p:spTgt spid="25"/>
                                        </p:tgtEl>
                                        <p:attrNameLst>
                                          <p:attrName>ppt_x</p:attrName>
                                        </p:attrNameLst>
                                      </p:cBhvr>
                                      <p:tavLst>
                                        <p:tav tm="0">
                                          <p:val>
                                            <p:strVal val="#ppt_x"/>
                                          </p:val>
                                        </p:tav>
                                        <p:tav tm="100000">
                                          <p:val>
                                            <p:strVal val="#ppt_x"/>
                                          </p:val>
                                        </p:tav>
                                      </p:tavLst>
                                    </p:anim>
                                    <p:anim calcmode="lin" valueType="num">
                                      <p:cBhvr>
                                        <p:cTn id="3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additive="base">
                                        <p:cTn id="48" dur="500" fill="hold"/>
                                        <p:tgtEl>
                                          <p:spTgt spid="26"/>
                                        </p:tgtEl>
                                        <p:attrNameLst>
                                          <p:attrName>ppt_x</p:attrName>
                                        </p:attrNameLst>
                                      </p:cBhvr>
                                      <p:tavLst>
                                        <p:tav tm="0">
                                          <p:val>
                                            <p:strVal val="#ppt_x"/>
                                          </p:val>
                                        </p:tav>
                                        <p:tav tm="100000">
                                          <p:val>
                                            <p:strVal val="#ppt_x"/>
                                          </p:val>
                                        </p:tav>
                                      </p:tavLst>
                                    </p:anim>
                                    <p:anim calcmode="lin" valueType="num">
                                      <p:cBhvr additive="base">
                                        <p:cTn id="4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additive="base">
                                        <p:cTn id="54" dur="500" fill="hold"/>
                                        <p:tgtEl>
                                          <p:spTgt spid="27"/>
                                        </p:tgtEl>
                                        <p:attrNameLst>
                                          <p:attrName>ppt_x</p:attrName>
                                        </p:attrNameLst>
                                      </p:cBhvr>
                                      <p:tavLst>
                                        <p:tav tm="0">
                                          <p:val>
                                            <p:strVal val="#ppt_x"/>
                                          </p:val>
                                        </p:tav>
                                        <p:tav tm="100000">
                                          <p:val>
                                            <p:strVal val="#ppt_x"/>
                                          </p:val>
                                        </p:tav>
                                      </p:tavLst>
                                    </p:anim>
                                    <p:anim calcmode="lin" valueType="num">
                                      <p:cBhvr additive="base">
                                        <p:cTn id="5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 calcmode="lin" valueType="num">
                                      <p:cBhvr additive="base">
                                        <p:cTn id="60" dur="500" fill="hold"/>
                                        <p:tgtEl>
                                          <p:spTgt spid="28"/>
                                        </p:tgtEl>
                                        <p:attrNameLst>
                                          <p:attrName>ppt_x</p:attrName>
                                        </p:attrNameLst>
                                      </p:cBhvr>
                                      <p:tavLst>
                                        <p:tav tm="0">
                                          <p:val>
                                            <p:strVal val="#ppt_x"/>
                                          </p:val>
                                        </p:tav>
                                        <p:tav tm="100000">
                                          <p:val>
                                            <p:strVal val="#ppt_x"/>
                                          </p:val>
                                        </p:tav>
                                      </p:tavLst>
                                    </p:anim>
                                    <p:anim calcmode="lin" valueType="num">
                                      <p:cBhvr additive="base">
                                        <p:cTn id="6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5" grpId="0"/>
      <p:bldP spid="25" grpId="0" animBg="1"/>
      <p:bldP spid="16"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738845" y="546240"/>
            <a:ext cx="12338484" cy="1019574"/>
          </a:xfrm>
          <a:prstGeom prst="rect">
            <a:avLst/>
          </a:prstGeom>
        </p:spPr>
        <p:txBody>
          <a:bodyPr wrap="square" lIns="0" tIns="0" rIns="0" bIns="0" rtlCol="0" anchor="t">
            <a:spAutoFit/>
          </a:bodyPr>
          <a:lstStyle/>
          <a:p>
            <a:pPr>
              <a:lnSpc>
                <a:spcPts val="8747"/>
              </a:lnSpc>
            </a:pPr>
            <a:r>
              <a:rPr lang="en-US" sz="5400" b="1" dirty="0"/>
              <a:t>Value Proposition Canvas </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315796" y="68576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6120030" y="28494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dirty="0"/>
          </a:p>
        </p:txBody>
      </p:sp>
      <p:grpSp>
        <p:nvGrpSpPr>
          <p:cNvPr id="7" name="Group 6"/>
          <p:cNvGrpSpPr/>
          <p:nvPr/>
        </p:nvGrpSpPr>
        <p:grpSpPr>
          <a:xfrm>
            <a:off x="1295400" y="1824733"/>
            <a:ext cx="15161847" cy="7135723"/>
            <a:chOff x="898803" y="997866"/>
            <a:chExt cx="6995173" cy="4155811"/>
          </a:xfrm>
        </p:grpSpPr>
        <p:grpSp>
          <p:nvGrpSpPr>
            <p:cNvPr id="14" name="Group 13"/>
            <p:cNvGrpSpPr/>
            <p:nvPr/>
          </p:nvGrpSpPr>
          <p:grpSpPr>
            <a:xfrm>
              <a:off x="2991814" y="2419869"/>
              <a:ext cx="2911566" cy="1229114"/>
              <a:chOff x="587719" y="1125830"/>
              <a:chExt cx="4350054" cy="1835386"/>
            </a:xfrm>
          </p:grpSpPr>
          <p:grpSp>
            <p:nvGrpSpPr>
              <p:cNvPr id="15" name="Group 14"/>
              <p:cNvGrpSpPr/>
              <p:nvPr/>
            </p:nvGrpSpPr>
            <p:grpSpPr>
              <a:xfrm>
                <a:off x="2884450" y="1125830"/>
                <a:ext cx="2053323" cy="1828800"/>
                <a:chOff x="2884450" y="1125830"/>
                <a:chExt cx="2053323" cy="1828800"/>
              </a:xfrm>
            </p:grpSpPr>
            <p:sp>
              <p:nvSpPr>
                <p:cNvPr id="25" name="Flowchart: Connector 24"/>
                <p:cNvSpPr/>
                <p:nvPr/>
              </p:nvSpPr>
              <p:spPr>
                <a:xfrm>
                  <a:off x="2884450" y="1125830"/>
                  <a:ext cx="1828800" cy="1828800"/>
                </a:xfrm>
                <a:prstGeom prst="flowChartConnector">
                  <a:avLst/>
                </a:prstGeom>
                <a:solidFill>
                  <a:srgbClr val="FFC000">
                    <a:lumMod val="60000"/>
                    <a:lumOff val="40000"/>
                  </a:srgbClr>
                </a:solidFill>
                <a:ln w="635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black"/>
                    </a:solidFill>
                    <a:effectLst/>
                    <a:uLnTx/>
                    <a:uFillTx/>
                    <a:latin typeface="Calibri" panose="020F0502020204030204"/>
                    <a:ea typeface="+mn-ea"/>
                    <a:cs typeface="+mn-cs"/>
                    <a:sym typeface="Arial"/>
                  </a:endParaRPr>
                </a:p>
              </p:txBody>
            </p:sp>
            <p:sp>
              <p:nvSpPr>
                <p:cNvPr id="26" name="Flowchart: Connector 25"/>
                <p:cNvSpPr/>
                <p:nvPr/>
              </p:nvSpPr>
              <p:spPr>
                <a:xfrm>
                  <a:off x="3646450" y="1887830"/>
                  <a:ext cx="304800" cy="304800"/>
                </a:xfrm>
                <a:prstGeom prst="flowChartConnector">
                  <a:avLst/>
                </a:prstGeom>
                <a:solidFill>
                  <a:srgbClr val="FFC000"/>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cxnSp>
              <p:nvCxnSpPr>
                <p:cNvPr id="27" name="Straight Arrow Connector 26"/>
                <p:cNvCxnSpPr>
                  <a:endCxn id="25" idx="2"/>
                </p:cNvCxnSpPr>
                <p:nvPr/>
              </p:nvCxnSpPr>
              <p:spPr>
                <a:xfrm flipH="1">
                  <a:off x="2884450" y="2040230"/>
                  <a:ext cx="762000" cy="0"/>
                </a:xfrm>
                <a:prstGeom prst="straightConnector1">
                  <a:avLst/>
                </a:prstGeom>
                <a:noFill/>
                <a:ln w="38100" cap="flat" cmpd="sng" algn="ctr">
                  <a:solidFill>
                    <a:srgbClr val="A5A5A5"/>
                  </a:solidFill>
                  <a:prstDash val="solid"/>
                  <a:miter lim="800000"/>
                  <a:tailEnd type="triangle"/>
                </a:ln>
                <a:effectLst/>
              </p:spPr>
            </p:cxnSp>
            <p:cxnSp>
              <p:nvCxnSpPr>
                <p:cNvPr id="28" name="Straight Connector 27"/>
                <p:cNvCxnSpPr>
                  <a:stCxn id="25" idx="7"/>
                  <a:endCxn id="26" idx="0"/>
                </p:cNvCxnSpPr>
                <p:nvPr/>
              </p:nvCxnSpPr>
              <p:spPr>
                <a:xfrm flipH="1">
                  <a:off x="3798850" y="1393652"/>
                  <a:ext cx="646578" cy="494178"/>
                </a:xfrm>
                <a:prstGeom prst="line">
                  <a:avLst/>
                </a:prstGeom>
                <a:noFill/>
                <a:ln w="28575" cap="flat" cmpd="sng" algn="ctr">
                  <a:solidFill>
                    <a:srgbClr val="A5A5A5"/>
                  </a:solidFill>
                  <a:prstDash val="solid"/>
                  <a:miter lim="800000"/>
                </a:ln>
                <a:effectLst/>
              </p:spPr>
            </p:cxnSp>
            <p:cxnSp>
              <p:nvCxnSpPr>
                <p:cNvPr id="29" name="Straight Connector 28"/>
                <p:cNvCxnSpPr>
                  <a:stCxn id="25" idx="5"/>
                  <a:endCxn id="26" idx="4"/>
                </p:cNvCxnSpPr>
                <p:nvPr/>
              </p:nvCxnSpPr>
              <p:spPr>
                <a:xfrm flipH="1" flipV="1">
                  <a:off x="3798850" y="2192630"/>
                  <a:ext cx="646578" cy="494178"/>
                </a:xfrm>
                <a:prstGeom prst="line">
                  <a:avLst/>
                </a:prstGeom>
                <a:noFill/>
                <a:ln w="28575" cap="flat" cmpd="sng" algn="ctr">
                  <a:solidFill>
                    <a:srgbClr val="A5A5A5"/>
                  </a:solidFill>
                  <a:prstDash val="solid"/>
                  <a:miter lim="800000"/>
                </a:ln>
                <a:effectLst/>
              </p:spPr>
            </p:cxnSp>
            <p:sp>
              <p:nvSpPr>
                <p:cNvPr id="30" name="TextBox 29"/>
                <p:cNvSpPr txBox="1"/>
                <p:nvPr/>
              </p:nvSpPr>
              <p:spPr>
                <a:xfrm>
                  <a:off x="4063533" y="1920026"/>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JOBS</a:t>
                  </a:r>
                </a:p>
              </p:txBody>
            </p:sp>
            <p:sp>
              <p:nvSpPr>
                <p:cNvPr id="31" name="TextBox 30"/>
                <p:cNvSpPr txBox="1"/>
                <p:nvPr/>
              </p:nvSpPr>
              <p:spPr>
                <a:xfrm>
                  <a:off x="3355370" y="2351186"/>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PAINS</a:t>
                  </a:r>
                </a:p>
              </p:txBody>
            </p:sp>
            <p:sp>
              <p:nvSpPr>
                <p:cNvPr id="32" name="TextBox 31"/>
                <p:cNvSpPr txBox="1"/>
                <p:nvPr/>
              </p:nvSpPr>
              <p:spPr>
                <a:xfrm>
                  <a:off x="3315382" y="1377593"/>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ED7D31">
                          <a:lumMod val="50000"/>
                        </a:srgbClr>
                      </a:solidFill>
                      <a:effectLst/>
                      <a:uLnTx/>
                      <a:uFillTx/>
                      <a:cs typeface="Arial"/>
                      <a:sym typeface="Arial"/>
                    </a:rPr>
                    <a:t>GAINS</a:t>
                  </a:r>
                </a:p>
              </p:txBody>
            </p:sp>
          </p:grpSp>
          <p:grpSp>
            <p:nvGrpSpPr>
              <p:cNvPr id="16" name="Group 15"/>
              <p:cNvGrpSpPr/>
              <p:nvPr/>
            </p:nvGrpSpPr>
            <p:grpSpPr>
              <a:xfrm>
                <a:off x="587719" y="1125830"/>
                <a:ext cx="2080915" cy="1835386"/>
                <a:chOff x="587719" y="1125830"/>
                <a:chExt cx="2080915" cy="1835386"/>
              </a:xfrm>
            </p:grpSpPr>
            <p:sp>
              <p:nvSpPr>
                <p:cNvPr id="17" name="Rectangle 16"/>
                <p:cNvSpPr/>
                <p:nvPr/>
              </p:nvSpPr>
              <p:spPr>
                <a:xfrm>
                  <a:off x="653143" y="1125830"/>
                  <a:ext cx="1828800" cy="1828800"/>
                </a:xfrm>
                <a:prstGeom prst="rect">
                  <a:avLst/>
                </a:prstGeom>
                <a:solidFill>
                  <a:srgbClr val="70AD47">
                    <a:lumMod val="60000"/>
                    <a:lumOff val="40000"/>
                  </a:srgbClr>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sp>
              <p:nvSpPr>
                <p:cNvPr id="18" name="Flowchart: Connector 17"/>
                <p:cNvSpPr/>
                <p:nvPr/>
              </p:nvSpPr>
              <p:spPr>
                <a:xfrm>
                  <a:off x="1415143" y="1891123"/>
                  <a:ext cx="304800" cy="304800"/>
                </a:xfrm>
                <a:prstGeom prst="flowChartConnector">
                  <a:avLst/>
                </a:prstGeom>
                <a:solidFill>
                  <a:srgbClr val="70AD47">
                    <a:lumMod val="75000"/>
                  </a:srgbClr>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dirty="0">
                    <a:ln>
                      <a:noFill/>
                    </a:ln>
                    <a:solidFill>
                      <a:prstClr val="white"/>
                    </a:solidFill>
                    <a:effectLst/>
                    <a:uLnTx/>
                    <a:uFillTx/>
                    <a:latin typeface="Calibri" panose="020F0502020204030204"/>
                    <a:ea typeface="+mn-ea"/>
                    <a:cs typeface="+mn-cs"/>
                    <a:sym typeface="Arial"/>
                  </a:endParaRPr>
                </a:p>
              </p:txBody>
            </p:sp>
            <p:cxnSp>
              <p:nvCxnSpPr>
                <p:cNvPr id="19" name="Straight Arrow Connector 18"/>
                <p:cNvCxnSpPr>
                  <a:endCxn id="17" idx="3"/>
                </p:cNvCxnSpPr>
                <p:nvPr/>
              </p:nvCxnSpPr>
              <p:spPr>
                <a:xfrm>
                  <a:off x="1738265" y="2040230"/>
                  <a:ext cx="743678" cy="0"/>
                </a:xfrm>
                <a:prstGeom prst="straightConnector1">
                  <a:avLst/>
                </a:prstGeom>
                <a:noFill/>
                <a:ln w="38100" cap="flat" cmpd="sng" algn="ctr">
                  <a:solidFill>
                    <a:srgbClr val="A5A5A5"/>
                  </a:solidFill>
                  <a:prstDash val="solid"/>
                  <a:miter lim="800000"/>
                  <a:tailEnd type="triangle"/>
                </a:ln>
                <a:effectLst/>
              </p:spPr>
            </p:cxnSp>
            <p:cxnSp>
              <p:nvCxnSpPr>
                <p:cNvPr id="20" name="Straight Connector 19"/>
                <p:cNvCxnSpPr>
                  <a:stCxn id="18" idx="0"/>
                </p:cNvCxnSpPr>
                <p:nvPr/>
              </p:nvCxnSpPr>
              <p:spPr>
                <a:xfrm flipH="1" flipV="1">
                  <a:off x="653143" y="1125830"/>
                  <a:ext cx="914400" cy="765293"/>
                </a:xfrm>
                <a:prstGeom prst="line">
                  <a:avLst/>
                </a:prstGeom>
                <a:noFill/>
                <a:ln w="38100" cap="flat" cmpd="sng" algn="ctr">
                  <a:solidFill>
                    <a:srgbClr val="A5A5A5"/>
                  </a:solidFill>
                  <a:prstDash val="solid"/>
                  <a:miter lim="800000"/>
                </a:ln>
                <a:effectLst/>
              </p:spPr>
            </p:cxnSp>
            <p:cxnSp>
              <p:nvCxnSpPr>
                <p:cNvPr id="21" name="Straight Connector 20"/>
                <p:cNvCxnSpPr/>
                <p:nvPr/>
              </p:nvCxnSpPr>
              <p:spPr>
                <a:xfrm flipH="1">
                  <a:off x="653143" y="2202509"/>
                  <a:ext cx="925766" cy="758707"/>
                </a:xfrm>
                <a:prstGeom prst="line">
                  <a:avLst/>
                </a:prstGeom>
                <a:noFill/>
                <a:ln w="38100" cap="flat" cmpd="sng" algn="ctr">
                  <a:solidFill>
                    <a:srgbClr val="A5A5A5"/>
                  </a:solidFill>
                  <a:prstDash val="solid"/>
                  <a:miter lim="800000"/>
                </a:ln>
                <a:effectLst/>
              </p:spPr>
            </p:cxnSp>
            <p:sp>
              <p:nvSpPr>
                <p:cNvPr id="22" name="TextBox 21"/>
                <p:cNvSpPr txBox="1"/>
                <p:nvPr/>
              </p:nvSpPr>
              <p:spPr>
                <a:xfrm>
                  <a:off x="1298136" y="1377594"/>
                  <a:ext cx="1277154"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GAIN CREATORS </a:t>
                  </a:r>
                </a:p>
              </p:txBody>
            </p:sp>
            <p:sp>
              <p:nvSpPr>
                <p:cNvPr id="23" name="TextBox 22"/>
                <p:cNvSpPr txBox="1"/>
                <p:nvPr/>
              </p:nvSpPr>
              <p:spPr>
                <a:xfrm>
                  <a:off x="1391480" y="2351187"/>
                  <a:ext cx="1277154"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PAIN KILLERS</a:t>
                  </a:r>
                </a:p>
              </p:txBody>
            </p:sp>
            <p:sp>
              <p:nvSpPr>
                <p:cNvPr id="24" name="TextBox 23"/>
                <p:cNvSpPr txBox="1"/>
                <p:nvPr/>
              </p:nvSpPr>
              <p:spPr>
                <a:xfrm>
                  <a:off x="587719" y="1764605"/>
                  <a:ext cx="1277154" cy="562093"/>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PRODUCT/ </a:t>
                  </a:r>
                </a:p>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dirty="0">
                      <a:ln>
                        <a:noFill/>
                      </a:ln>
                      <a:solidFill>
                        <a:srgbClr val="70AD47">
                          <a:lumMod val="50000"/>
                        </a:srgbClr>
                      </a:solidFill>
                      <a:effectLst/>
                      <a:uLnTx/>
                      <a:uFillTx/>
                      <a:cs typeface="Arial"/>
                      <a:sym typeface="Arial"/>
                    </a:rPr>
                    <a:t>SERVICE</a:t>
                  </a:r>
                </a:p>
              </p:txBody>
            </p:sp>
          </p:grpSp>
        </p:grpSp>
        <p:cxnSp>
          <p:nvCxnSpPr>
            <p:cNvPr id="33" name="Straight Connector 32"/>
            <p:cNvCxnSpPr/>
            <p:nvPr/>
          </p:nvCxnSpPr>
          <p:spPr>
            <a:xfrm flipV="1">
              <a:off x="3639097" y="1771429"/>
              <a:ext cx="7608" cy="648440"/>
            </a:xfrm>
            <a:prstGeom prst="line">
              <a:avLst/>
            </a:prstGeom>
            <a:noFill/>
            <a:ln w="19050" cap="flat" cmpd="sng" algn="ctr">
              <a:solidFill>
                <a:srgbClr val="70AD47"/>
              </a:solidFill>
              <a:prstDash val="solid"/>
              <a:miter lim="800000"/>
            </a:ln>
            <a:effectLst/>
          </p:spPr>
        </p:cxnSp>
        <p:cxnSp>
          <p:nvCxnSpPr>
            <p:cNvPr id="34" name="Straight Connector 33"/>
            <p:cNvCxnSpPr>
              <a:cxnSpLocks/>
            </p:cNvCxnSpPr>
            <p:nvPr/>
          </p:nvCxnSpPr>
          <p:spPr>
            <a:xfrm flipH="1">
              <a:off x="2728366" y="1781992"/>
              <a:ext cx="926869" cy="0"/>
            </a:xfrm>
            <a:prstGeom prst="line">
              <a:avLst/>
            </a:prstGeom>
            <a:noFill/>
            <a:ln w="19050" cap="flat" cmpd="sng" algn="ctr">
              <a:solidFill>
                <a:srgbClr val="70AD47"/>
              </a:solidFill>
              <a:prstDash val="solid"/>
              <a:miter lim="800000"/>
            </a:ln>
            <a:effectLst/>
          </p:spPr>
        </p:cxnSp>
        <p:sp>
          <p:nvSpPr>
            <p:cNvPr id="35" name="TextBox 34"/>
            <p:cNvSpPr txBox="1"/>
            <p:nvPr/>
          </p:nvSpPr>
          <p:spPr>
            <a:xfrm>
              <a:off x="905041" y="1260249"/>
              <a:ext cx="1819069" cy="1308508"/>
            </a:xfrm>
            <a:prstGeom prst="rect">
              <a:avLst/>
            </a:prstGeom>
            <a:noFill/>
            <a:ln>
              <a:solidFill>
                <a:srgbClr val="E7E6E6">
                  <a:lumMod val="50000"/>
                </a:srgbClr>
              </a:solidFill>
            </a:ln>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 </a:t>
              </a:r>
            </a:p>
            <a:p>
              <a:pPr marL="128585" marR="0" lvl="0" indent="-128585"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do you offer that makes the customers happy?</a:t>
              </a:r>
            </a:p>
            <a:p>
              <a:pPr marL="128585" lvl="0" indent="-128585" defTabSz="685783">
                <a:buFont typeface="Wingdings" panose="05000000000000000000" pitchFamily="2" charset="2"/>
                <a:buChar char="à"/>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     </a:t>
              </a:r>
              <a:r>
                <a:rPr lang="en-US" sz="1400" dirty="0"/>
                <a:t>Our solution provides quick and accurate diagnosis of car problems with simple and easy-to-understand guidance for users. It helps save time and reduce unnecessary repair costs by offering smart suggestions and solutions. The app is designed to be user-friendly, making it accessible even for beginners</a:t>
              </a:r>
              <a:r>
                <a:rPr lang="en-US" sz="1400" kern="0" dirty="0">
                  <a:solidFill>
                    <a:prstClr val="white">
                      <a:lumMod val="50000"/>
                    </a:prstClr>
                  </a:solidFill>
                  <a:cs typeface="Arial"/>
                  <a:sym typeface="Wingdings" panose="05000000000000000000" pitchFamily="2" charset="2"/>
                </a:rPr>
                <a:t>.</a:t>
              </a:r>
              <a:endPar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endParaRPr>
            </a:p>
          </p:txBody>
        </p:sp>
        <p:cxnSp>
          <p:nvCxnSpPr>
            <p:cNvPr id="38" name="Straight Connector 37"/>
            <p:cNvCxnSpPr>
              <a:cxnSpLocks/>
            </p:cNvCxnSpPr>
            <p:nvPr/>
          </p:nvCxnSpPr>
          <p:spPr>
            <a:xfrm flipV="1">
              <a:off x="3639097" y="3644573"/>
              <a:ext cx="0" cy="1023864"/>
            </a:xfrm>
            <a:prstGeom prst="line">
              <a:avLst/>
            </a:prstGeom>
            <a:noFill/>
            <a:ln w="19050" cap="flat" cmpd="sng" algn="ctr">
              <a:solidFill>
                <a:srgbClr val="70AD47"/>
              </a:solidFill>
              <a:prstDash val="solid"/>
              <a:miter lim="800000"/>
            </a:ln>
            <a:effectLst/>
          </p:spPr>
        </p:cxnSp>
        <p:cxnSp>
          <p:nvCxnSpPr>
            <p:cNvPr id="39" name="Straight Connector 38"/>
            <p:cNvCxnSpPr>
              <a:cxnSpLocks/>
            </p:cNvCxnSpPr>
            <p:nvPr/>
          </p:nvCxnSpPr>
          <p:spPr>
            <a:xfrm flipH="1">
              <a:off x="2728366" y="4670276"/>
              <a:ext cx="914535" cy="0"/>
            </a:xfrm>
            <a:prstGeom prst="line">
              <a:avLst/>
            </a:prstGeom>
            <a:noFill/>
            <a:ln w="19050" cap="flat" cmpd="sng" algn="ctr">
              <a:solidFill>
                <a:srgbClr val="70AD47"/>
              </a:solidFill>
              <a:prstDash val="solid"/>
              <a:miter lim="800000"/>
            </a:ln>
            <a:effectLst/>
          </p:spPr>
        </p:cxnSp>
        <p:sp>
          <p:nvSpPr>
            <p:cNvPr id="40" name="TextBox 39"/>
            <p:cNvSpPr txBox="1"/>
            <p:nvPr/>
          </p:nvSpPr>
          <p:spPr>
            <a:xfrm>
              <a:off x="905041" y="3845169"/>
              <a:ext cx="1804149" cy="1308508"/>
            </a:xfrm>
            <a:prstGeom prst="rect">
              <a:avLst/>
            </a:prstGeom>
            <a:noFill/>
            <a:ln>
              <a:solidFill>
                <a:srgbClr val="E7E6E6">
                  <a:lumMod val="50000"/>
                </a:srgbClr>
              </a:solidFill>
            </a:ln>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endParaRPr>
            </a:p>
            <a:p>
              <a:pPr marL="128585" marR="0" lvl="0" indent="-128585"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Which features of your offering relieve the customer's pains?</a:t>
              </a:r>
            </a:p>
            <a:p>
              <a:pPr marL="128585" indent="-128585"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AI-based quick problem diagnosis reduces confusion and saves time. Simple step-by-step guidance removes dependency on mechanics for small issues. Camera and audio analysis help identify problems easily. Garage locator and cost suggestions reduce stress and unnecessary expenses.</a:t>
              </a:r>
            </a:p>
          </p:txBody>
        </p:sp>
        <p:cxnSp>
          <p:nvCxnSpPr>
            <p:cNvPr id="41" name="Straight Connector 40"/>
            <p:cNvCxnSpPr/>
            <p:nvPr/>
          </p:nvCxnSpPr>
          <p:spPr>
            <a:xfrm flipH="1">
              <a:off x="3515381" y="2838188"/>
              <a:ext cx="36888" cy="0"/>
            </a:xfrm>
            <a:prstGeom prst="line">
              <a:avLst/>
            </a:prstGeom>
            <a:noFill/>
            <a:ln w="19050" cap="flat" cmpd="sng" algn="ctr">
              <a:solidFill>
                <a:srgbClr val="70AD47"/>
              </a:solidFill>
              <a:prstDash val="solid"/>
              <a:miter lim="800000"/>
            </a:ln>
            <a:effectLst/>
          </p:spPr>
        </p:cxnSp>
        <p:cxnSp>
          <p:nvCxnSpPr>
            <p:cNvPr id="42" name="Straight Connector 41"/>
            <p:cNvCxnSpPr/>
            <p:nvPr/>
          </p:nvCxnSpPr>
          <p:spPr>
            <a:xfrm flipV="1">
              <a:off x="2899064" y="2419868"/>
              <a:ext cx="0" cy="1182920"/>
            </a:xfrm>
            <a:prstGeom prst="line">
              <a:avLst/>
            </a:prstGeom>
            <a:noFill/>
            <a:ln w="19050" cap="flat" cmpd="sng" algn="ctr">
              <a:solidFill>
                <a:srgbClr val="70AD47"/>
              </a:solidFill>
              <a:prstDash val="solid"/>
              <a:miter lim="800000"/>
            </a:ln>
            <a:effectLst/>
          </p:spPr>
        </p:cxnSp>
        <p:cxnSp>
          <p:nvCxnSpPr>
            <p:cNvPr id="43" name="Straight Connector 42"/>
            <p:cNvCxnSpPr/>
            <p:nvPr/>
          </p:nvCxnSpPr>
          <p:spPr>
            <a:xfrm flipV="1">
              <a:off x="5141079" y="1771429"/>
              <a:ext cx="0" cy="648440"/>
            </a:xfrm>
            <a:prstGeom prst="line">
              <a:avLst/>
            </a:prstGeom>
            <a:noFill/>
            <a:ln w="19050" cap="flat" cmpd="sng" algn="ctr">
              <a:solidFill>
                <a:srgbClr val="FFC000"/>
              </a:solidFill>
              <a:prstDash val="solid"/>
              <a:miter lim="800000"/>
            </a:ln>
            <a:effectLst/>
          </p:spPr>
        </p:cxnSp>
        <p:cxnSp>
          <p:nvCxnSpPr>
            <p:cNvPr id="44" name="Straight Connector 43"/>
            <p:cNvCxnSpPr>
              <a:cxnSpLocks/>
            </p:cNvCxnSpPr>
            <p:nvPr/>
          </p:nvCxnSpPr>
          <p:spPr>
            <a:xfrm flipH="1">
              <a:off x="5136823" y="1783160"/>
              <a:ext cx="821126" cy="0"/>
            </a:xfrm>
            <a:prstGeom prst="line">
              <a:avLst/>
            </a:prstGeom>
            <a:noFill/>
            <a:ln w="19050" cap="flat" cmpd="sng" algn="ctr">
              <a:solidFill>
                <a:srgbClr val="FFC000"/>
              </a:solidFill>
              <a:prstDash val="solid"/>
              <a:miter lim="800000"/>
            </a:ln>
            <a:effectLst/>
          </p:spPr>
        </p:cxnSp>
        <p:sp>
          <p:nvSpPr>
            <p:cNvPr id="45" name="TextBox 44"/>
            <p:cNvSpPr txBox="1"/>
            <p:nvPr/>
          </p:nvSpPr>
          <p:spPr>
            <a:xfrm>
              <a:off x="5957949" y="997866"/>
              <a:ext cx="1936027" cy="1169591"/>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LOVE</a:t>
              </a:r>
              <a:r>
                <a:rPr kumimoji="0" lang="en-US" sz="1400" b="0" i="0" u="none" strike="noStrike" kern="0" cap="none" spc="0" normalizeH="0" baseline="0" noProof="0" dirty="0">
                  <a:ln>
                    <a:noFill/>
                  </a:ln>
                  <a:solidFill>
                    <a:prstClr val="white">
                      <a:lumMod val="50000"/>
                    </a:prstClr>
                  </a:solidFill>
                  <a:effectLst/>
                  <a:uLnTx/>
                  <a:uFillTx/>
                  <a:cs typeface="Arial"/>
                  <a:sym typeface="Arial"/>
                </a:rPr>
                <a:t> it if: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a:t>
              </a:r>
              <a:r>
                <a:rPr kumimoji="0" lang="pt-BR" sz="1400" b="0" i="1" u="none" strike="noStrike" kern="0" cap="none" spc="0" normalizeH="0" baseline="0" noProof="0" dirty="0">
                  <a:ln>
                    <a:noFill/>
                  </a:ln>
                  <a:solidFill>
                    <a:prstClr val="black"/>
                  </a:solidFill>
                  <a:effectLst/>
                  <a:uLnTx/>
                  <a:uFillTx/>
                  <a:cs typeface="Arial"/>
                  <a:sym typeface="Arial"/>
                </a:rPr>
                <a:t> What would make the customer happy? </a:t>
              </a:r>
            </a:p>
            <a:p>
              <a:pPr marL="128111"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They expect simple solutions, low cost, and easy access to nearby help when needed.</a:t>
              </a: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endParaRPr kumimoji="0" lang="pt-BR" sz="1400" b="0" i="1" u="none" strike="noStrike" kern="0" cap="none" spc="0" normalizeH="0" baseline="0" noProof="0" dirty="0">
                <a:ln>
                  <a:noFill/>
                </a:ln>
                <a:solidFill>
                  <a:prstClr val="black"/>
                </a:solidFill>
                <a:effectLst/>
                <a:uLnTx/>
                <a:uFillTx/>
                <a:cs typeface="Calibri" panose="020F0502020204030204"/>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 What do the clients want when facing the problem?</a:t>
              </a:r>
            </a:p>
            <a:p>
              <a:pPr marL="128111" lvl="0"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Customers want a quick and accurate understanding of their car problem without confusion.</a:t>
              </a:r>
              <a:endParaRPr kumimoji="0" lang="pt-BR" sz="1400" b="0" i="1" u="none" strike="noStrike" kern="0" cap="none" spc="0" normalizeH="0" baseline="0" noProof="0" dirty="0">
                <a:ln>
                  <a:noFill/>
                </a:ln>
                <a:solidFill>
                  <a:prstClr val="white">
                    <a:lumMod val="50000"/>
                  </a:prstClr>
                </a:solidFill>
                <a:effectLst/>
                <a:uLnTx/>
                <a:uFillTx/>
                <a:cs typeface="Calibri" panose="020F0502020204030204"/>
                <a:sym typeface="Arial"/>
              </a:endParaRPr>
            </a:p>
          </p:txBody>
        </p:sp>
        <p:cxnSp>
          <p:nvCxnSpPr>
            <p:cNvPr id="46" name="Straight Connector 45"/>
            <p:cNvCxnSpPr/>
            <p:nvPr/>
          </p:nvCxnSpPr>
          <p:spPr>
            <a:xfrm>
              <a:off x="5824125" y="2947312"/>
              <a:ext cx="151861" cy="2850"/>
            </a:xfrm>
            <a:prstGeom prst="line">
              <a:avLst/>
            </a:prstGeom>
            <a:noFill/>
            <a:ln w="6350" cap="flat" cmpd="sng" algn="ctr">
              <a:solidFill>
                <a:srgbClr val="ED7D31"/>
              </a:solidFill>
              <a:prstDash val="solid"/>
              <a:miter lim="800000"/>
            </a:ln>
            <a:effectLst/>
          </p:spPr>
        </p:cxnSp>
        <p:cxnSp>
          <p:nvCxnSpPr>
            <p:cNvPr id="47" name="Straight Connector 46"/>
            <p:cNvCxnSpPr/>
            <p:nvPr/>
          </p:nvCxnSpPr>
          <p:spPr>
            <a:xfrm flipH="1" flipV="1">
              <a:off x="5963697" y="2419869"/>
              <a:ext cx="8108" cy="1082870"/>
            </a:xfrm>
            <a:prstGeom prst="line">
              <a:avLst/>
            </a:prstGeom>
            <a:noFill/>
            <a:ln w="6350" cap="flat" cmpd="sng" algn="ctr">
              <a:solidFill>
                <a:srgbClr val="ED7D31"/>
              </a:solidFill>
              <a:prstDash val="solid"/>
              <a:miter lim="800000"/>
            </a:ln>
            <a:effectLst/>
          </p:spPr>
        </p:cxnSp>
        <p:cxnSp>
          <p:nvCxnSpPr>
            <p:cNvPr id="48" name="Straight Connector 47"/>
            <p:cNvCxnSpPr>
              <a:cxnSpLocks/>
            </p:cNvCxnSpPr>
            <p:nvPr/>
          </p:nvCxnSpPr>
          <p:spPr>
            <a:xfrm flipH="1" flipV="1">
              <a:off x="5136823" y="3644573"/>
              <a:ext cx="4256" cy="725592"/>
            </a:xfrm>
            <a:prstGeom prst="line">
              <a:avLst/>
            </a:prstGeom>
            <a:noFill/>
            <a:ln w="19050" cap="flat" cmpd="sng" algn="ctr">
              <a:solidFill>
                <a:srgbClr val="FFC000"/>
              </a:solidFill>
              <a:prstDash val="solid"/>
              <a:miter lim="800000"/>
            </a:ln>
            <a:effectLst/>
          </p:spPr>
        </p:cxnSp>
        <p:cxnSp>
          <p:nvCxnSpPr>
            <p:cNvPr id="49" name="Straight Connector 48"/>
            <p:cNvCxnSpPr>
              <a:cxnSpLocks/>
            </p:cNvCxnSpPr>
            <p:nvPr/>
          </p:nvCxnSpPr>
          <p:spPr>
            <a:xfrm flipH="1">
              <a:off x="5141079" y="4370165"/>
              <a:ext cx="822618" cy="0"/>
            </a:xfrm>
            <a:prstGeom prst="line">
              <a:avLst/>
            </a:prstGeom>
            <a:noFill/>
            <a:ln w="19050" cap="flat" cmpd="sng" algn="ctr">
              <a:solidFill>
                <a:srgbClr val="FFC000"/>
              </a:solidFill>
              <a:prstDash val="solid"/>
              <a:miter lim="800000"/>
            </a:ln>
            <a:effectLst/>
          </p:spPr>
        </p:cxnSp>
        <p:sp>
          <p:nvSpPr>
            <p:cNvPr id="50" name="TextBox 49"/>
            <p:cNvSpPr txBox="1"/>
            <p:nvPr/>
          </p:nvSpPr>
          <p:spPr>
            <a:xfrm>
              <a:off x="5954876" y="3823271"/>
              <a:ext cx="1939100" cy="918644"/>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HATE</a:t>
              </a:r>
              <a:r>
                <a:rPr kumimoji="0" lang="en-US" sz="1400" b="0" i="0" u="none" strike="noStrike" kern="0" cap="none" spc="0" normalizeH="0" baseline="0" noProof="0" dirty="0">
                  <a:ln>
                    <a:noFill/>
                  </a:ln>
                  <a:solidFill>
                    <a:prstClr val="white">
                      <a:lumMod val="50000"/>
                    </a:prstClr>
                  </a:solidFill>
                  <a:effectLst/>
                  <a:uLnTx/>
                  <a:uFillTx/>
                  <a:cs typeface="Arial"/>
                  <a:sym typeface="Arial"/>
                </a:rPr>
                <a:t> it if: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are the pains of the clients when facing the problem?</a:t>
              </a:r>
            </a:p>
            <a:p>
              <a:pPr marL="128111" indent="-128111" defTabSz="685783">
                <a:buFont typeface="Wingdings" panose="05000000000000000000" pitchFamily="2" charset="2"/>
                <a:buChar char="à"/>
                <a:defRPr/>
              </a:pPr>
              <a:r>
                <a:rPr lang="en-US" sz="1400" dirty="0"/>
                <a:t>Clients feel confused and stressed because they don’t understand the car problem. They face time loss, high repair cost.</a:t>
              </a:r>
            </a:p>
          </p:txBody>
        </p:sp>
        <p:sp>
          <p:nvSpPr>
            <p:cNvPr id="51" name="TextBox 50"/>
            <p:cNvSpPr txBox="1"/>
            <p:nvPr/>
          </p:nvSpPr>
          <p:spPr>
            <a:xfrm>
              <a:off x="6082880" y="2458622"/>
              <a:ext cx="1719300" cy="1044117"/>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WANT</a:t>
              </a:r>
              <a:r>
                <a:rPr kumimoji="0" lang="en-US" sz="1400" b="0" i="0" u="none" strike="noStrike" kern="0" cap="none" spc="0" normalizeH="0" baseline="0" noProof="0" dirty="0">
                  <a:ln>
                    <a:noFill/>
                  </a:ln>
                  <a:solidFill>
                    <a:prstClr val="white">
                      <a:lumMod val="50000"/>
                    </a:prstClr>
                  </a:solidFill>
                  <a:effectLst/>
                  <a:uLnTx/>
                  <a:uFillTx/>
                  <a:cs typeface="Arial"/>
                  <a:sym typeface="Arial"/>
                </a:rPr>
                <a:t>: </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a:p>
              <a:pPr marL="128111" marR="0" lvl="0" indent="-128111"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do the clients do (actions) when facing the problem?</a:t>
              </a:r>
            </a:p>
            <a:p>
              <a:pPr marL="128111" indent="-128111" defTabSz="685783">
                <a:buFont typeface="Wingdings" panose="05000000000000000000" pitchFamily="2" charset="2"/>
                <a:buChar char="à"/>
                <a:defRPr/>
              </a:pPr>
              <a:r>
                <a:rPr lang="pt-BR" sz="1400" i="1" kern="0" dirty="0">
                  <a:solidFill>
                    <a:prstClr val="black"/>
                  </a:solidFill>
                  <a:cs typeface="Arial"/>
                  <a:sym typeface="Arial"/>
                </a:rPr>
                <a:t>  </a:t>
              </a:r>
              <a:r>
                <a:rPr lang="en-US" sz="1400" dirty="0"/>
                <a:t>Clients usually visit a mechanic or seek help from experienced people to identify the issue.</a:t>
              </a:r>
              <a:br>
                <a:rPr lang="en-US" sz="1400" dirty="0"/>
              </a:br>
              <a:r>
                <a:rPr lang="en-US" sz="1400" dirty="0"/>
                <a:t>They also search online or use basic apps and tools to find possible solutions.</a:t>
              </a:r>
            </a:p>
          </p:txBody>
        </p:sp>
        <p:sp>
          <p:nvSpPr>
            <p:cNvPr id="52" name="TextBox 51"/>
            <p:cNvSpPr txBox="1"/>
            <p:nvPr/>
          </p:nvSpPr>
          <p:spPr>
            <a:xfrm>
              <a:off x="898803" y="2717473"/>
              <a:ext cx="1819070" cy="932087"/>
            </a:xfrm>
            <a:prstGeom prst="rect">
              <a:avLst/>
            </a:prstGeom>
            <a:noFill/>
            <a:ln>
              <a:solidFill>
                <a:srgbClr val="E7E6E6">
                  <a:lumMod val="50000"/>
                </a:srgbClr>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400" b="1" i="1" u="none" strike="noStrike" kern="0" cap="none" spc="0" normalizeH="0" baseline="0" noProof="0" dirty="0">
                  <a:ln>
                    <a:noFill/>
                  </a:ln>
                  <a:solidFill>
                    <a:srgbClr val="FF0000"/>
                  </a:solidFill>
                  <a:effectLst/>
                  <a:uLnTx/>
                  <a:uFillTx/>
                  <a:cs typeface="Arial"/>
                  <a:sym typeface="Arial"/>
                </a:rPr>
                <a:t>What is the product or service that you are offering?</a:t>
              </a:r>
            </a:p>
            <a:p>
              <a:pPr>
                <a:defRPr/>
              </a:pPr>
              <a:r>
                <a:rPr lang="pt-BR" sz="1400" b="1" i="1" kern="0" dirty="0">
                  <a:solidFill>
                    <a:srgbClr val="FF0000"/>
                  </a:solidFill>
                  <a:cs typeface="Arial"/>
                  <a:sym typeface="Arial"/>
                </a:rPr>
                <a:t>       </a:t>
              </a:r>
              <a:r>
                <a:rPr lang="en-US" sz="1400" dirty="0"/>
                <a:t>We are offering an AI-powered mobile application that helps users diagnose and understand car problems easily. It allows users to input symptoms through text, images, or audio and provides accurate</a:t>
              </a:r>
              <a:r>
                <a:rPr lang="en-IN" sz="1400" kern="0" dirty="0">
                  <a:solidFill>
                    <a:prstClr val="white">
                      <a:lumMod val="50000"/>
                    </a:prstClr>
                  </a:solidFill>
                  <a:cs typeface="Arial"/>
                  <a:sym typeface="Arial"/>
                </a:rPr>
                <a:t> </a:t>
              </a:r>
              <a:r>
                <a:rPr lang="en-IN" sz="1400" dirty="0"/>
                <a:t>answer</a:t>
              </a:r>
            </a:p>
          </p:txBody>
        </p:sp>
        <p:cxnSp>
          <p:nvCxnSpPr>
            <p:cNvPr id="53" name="Straight Connector 52"/>
            <p:cNvCxnSpPr>
              <a:cxnSpLocks/>
            </p:cNvCxnSpPr>
            <p:nvPr/>
          </p:nvCxnSpPr>
          <p:spPr>
            <a:xfrm flipH="1">
              <a:off x="2899064" y="3002224"/>
              <a:ext cx="92750" cy="0"/>
            </a:xfrm>
            <a:prstGeom prst="line">
              <a:avLst/>
            </a:prstGeom>
            <a:noFill/>
            <a:ln w="19050" cap="flat" cmpd="sng" algn="ctr">
              <a:solidFill>
                <a:srgbClr val="70AD47"/>
              </a:solidFill>
              <a:prstDash val="solid"/>
              <a:miter lim="800000"/>
            </a:ln>
            <a:effectLst/>
          </p:spPr>
        </p:cxnSp>
      </p:grpSp>
      <p:sp>
        <p:nvSpPr>
          <p:cNvPr id="8" name="Rectangle 7"/>
          <p:cNvSpPr/>
          <p:nvPr/>
        </p:nvSpPr>
        <p:spPr>
          <a:xfrm>
            <a:off x="8016362" y="4626289"/>
            <a:ext cx="1714342" cy="369332"/>
          </a:xfrm>
          <a:prstGeom prst="rect">
            <a:avLst/>
          </a:prstGeom>
        </p:spPr>
        <p:txBody>
          <a:bodyPr wrap="square">
            <a:spAutoFit/>
          </a:bodyPr>
          <a:lstStyle/>
          <a:p>
            <a:pPr algn="ctr"/>
            <a:r>
              <a:rPr lang="en-US" dirty="0"/>
              <a:t>FIT</a:t>
            </a:r>
          </a:p>
        </p:txBody>
      </p:sp>
      <p:sp>
        <p:nvSpPr>
          <p:cNvPr id="2" name="Rectangle 1"/>
          <p:cNvSpPr/>
          <p:nvPr/>
        </p:nvSpPr>
        <p:spPr>
          <a:xfrm>
            <a:off x="6286487" y="1477264"/>
            <a:ext cx="248786" cy="369332"/>
          </a:xfrm>
          <a:prstGeom prst="rect">
            <a:avLst/>
          </a:prstGeom>
        </p:spPr>
        <p:txBody>
          <a:bodyPr wrap="none">
            <a:spAutoFit/>
          </a:bodyPr>
          <a:lstStyle/>
          <a:p>
            <a:r>
              <a:rPr lang="en-US" dirty="0">
                <a:solidFill>
                  <a:srgbClr val="292929"/>
                </a:solidFill>
                <a:latin typeface="charter"/>
              </a:rPr>
              <a:t>.</a:t>
            </a:r>
            <a:endParaRPr lang="en-US" dirty="0"/>
          </a:p>
        </p:txBody>
      </p:sp>
      <p:pic>
        <p:nvPicPr>
          <p:cNvPr id="3" name="Picture 2" descr="AUTOFIXAI">
            <a:extLst>
              <a:ext uri="{FF2B5EF4-FFF2-40B4-BE49-F238E27FC236}">
                <a16:creationId xmlns:a16="http://schemas.microsoft.com/office/drawing/2014/main" id="{14D53127-C3D4-F47E-5F55-365D47BF31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04541" y="267098"/>
            <a:ext cx="1750370" cy="1371202"/>
          </a:xfrm>
          <a:prstGeom prst="rect">
            <a:avLst/>
          </a:prstGeom>
        </p:spPr>
      </p:pic>
    </p:spTree>
    <p:extLst>
      <p:ext uri="{BB962C8B-B14F-4D97-AF65-F5344CB8AC3E}">
        <p14:creationId xmlns:p14="http://schemas.microsoft.com/office/powerpoint/2010/main" val="36402150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58"/>
          <p:cNvSpPr txBox="1"/>
          <p:nvPr/>
        </p:nvSpPr>
        <p:spPr>
          <a:xfrm>
            <a:off x="405009" y="28190"/>
            <a:ext cx="11351678" cy="1178400"/>
          </a:xfrm>
          <a:prstGeom prst="rect">
            <a:avLst/>
          </a:prstGeom>
          <a:noFill/>
        </p:spPr>
        <p:txBody>
          <a:bodyPr wrap="square" lIns="137160" tIns="68580" rIns="137160" bIns="68580" rtlCol="0" anchor="t">
            <a:spAutoFit/>
          </a:bodyPr>
          <a:lstStyle/>
          <a:p>
            <a:pPr>
              <a:lnSpc>
                <a:spcPts val="8747"/>
              </a:lnSpc>
              <a:spcBef>
                <a:spcPct val="0"/>
              </a:spcBef>
            </a:pPr>
            <a:r>
              <a:rPr lang="en-US" sz="5400" b="1" dirty="0"/>
              <a:t>Solution</a:t>
            </a:r>
          </a:p>
        </p:txBody>
      </p:sp>
      <p:sp>
        <p:nvSpPr>
          <p:cNvPr id="110" name="Content Placeholder 2"/>
          <p:cNvSpPr txBox="1">
            <a:spLocks/>
          </p:cNvSpPr>
          <p:nvPr/>
        </p:nvSpPr>
        <p:spPr>
          <a:xfrm>
            <a:off x="1371600" y="2043904"/>
            <a:ext cx="6629400" cy="6186308"/>
          </a:xfrm>
          <a:prstGeom prst="rect">
            <a:avLst/>
          </a:prstGeom>
          <a:ln>
            <a:solidFill>
              <a:schemeClr val="tx1"/>
            </a:solidFill>
          </a:ln>
        </p:spPr>
        <p:txBody>
          <a:bodyPr vert="horz" lIns="137160" tIns="68580" rIns="137160" bIns="6858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dirty="0"/>
              <a:t>Describe your Solution:</a:t>
            </a:r>
          </a:p>
          <a:p>
            <a:pPr marL="0" indent="0" algn="just">
              <a:buNone/>
            </a:pPr>
            <a:r>
              <a:rPr lang="en-GB" sz="2400" dirty="0"/>
              <a:t>We offer </a:t>
            </a:r>
            <a:r>
              <a:rPr lang="en-US" sz="2400" dirty="0"/>
              <a:t>An AI-powered mobile app that helps users quickly identify and understand car problems.</a:t>
            </a:r>
            <a:br>
              <a:rPr lang="en-US" sz="2400" dirty="0"/>
            </a:br>
            <a:r>
              <a:rPr lang="en-US" sz="2400" dirty="0"/>
              <a:t>It uses text, images, and audio to analyze issues and give simple solutions. The app guides users step-by-step and suggests nearby garages if needed.</a:t>
            </a:r>
            <a:br>
              <a:rPr lang="en-US" sz="2400" dirty="0"/>
            </a:br>
            <a:r>
              <a:rPr lang="en-US" sz="2400" dirty="0"/>
              <a:t>It is designed to be easy, fast, and helpful for everyone.</a:t>
            </a:r>
          </a:p>
          <a:p>
            <a:pPr marL="0" indent="0">
              <a:buNone/>
            </a:pPr>
            <a:r>
              <a:rPr lang="en-GB" sz="2400" dirty="0"/>
              <a:t> The details of our offering consist of:</a:t>
            </a:r>
            <a:endParaRPr lang="en-GB" sz="2400" dirty="0">
              <a:cs typeface="Calibri"/>
            </a:endParaRPr>
          </a:p>
          <a:p>
            <a:pPr marL="0" indent="0">
              <a:buNone/>
            </a:pPr>
            <a:r>
              <a:rPr lang="en-GB" sz="2400" dirty="0"/>
              <a:t>1.Selection of  vehicle company , name ,model and  variant.     </a:t>
            </a:r>
          </a:p>
          <a:p>
            <a:pPr marL="0" indent="0">
              <a:buNone/>
            </a:pPr>
            <a:r>
              <a:rPr lang="en-GB" sz="2400" dirty="0">
                <a:cs typeface="Calibri"/>
              </a:rPr>
              <a:t>2. Virtual Mechanic Assistant with AI (search bar)</a:t>
            </a:r>
          </a:p>
          <a:p>
            <a:pPr marL="0" indent="0">
              <a:buNone/>
            </a:pPr>
            <a:r>
              <a:rPr lang="en-GB" sz="2400" dirty="0">
                <a:cs typeface="Calibri"/>
              </a:rPr>
              <a:t>3. Image and Video based Diagnosis</a:t>
            </a:r>
          </a:p>
          <a:p>
            <a:pPr marL="0" indent="0">
              <a:buNone/>
            </a:pPr>
            <a:r>
              <a:rPr lang="en-GB" sz="2400" dirty="0">
                <a:cs typeface="Calibri"/>
              </a:rPr>
              <a:t>4. AI sound analysis</a:t>
            </a:r>
          </a:p>
          <a:p>
            <a:pPr marL="0" indent="0">
              <a:buNone/>
            </a:pPr>
            <a:r>
              <a:rPr lang="en-GB" sz="2400" dirty="0">
                <a:cs typeface="Calibri"/>
              </a:rPr>
              <a:t>4. Garage finder near the location.</a:t>
            </a:r>
          </a:p>
          <a:p>
            <a:pPr marL="0" indent="0">
              <a:buNone/>
            </a:pPr>
            <a:r>
              <a:rPr lang="en-GB" sz="2400" dirty="0">
                <a:cs typeface="Calibri"/>
              </a:rPr>
              <a:t>5. Media access </a:t>
            </a:r>
          </a:p>
          <a:p>
            <a:pPr marL="0" indent="0">
              <a:buNone/>
            </a:pPr>
            <a:r>
              <a:rPr lang="en-GB" sz="2400" dirty="0">
                <a:cs typeface="Calibri"/>
              </a:rPr>
              <a:t>6. Spare parts information and price checking</a:t>
            </a:r>
          </a:p>
          <a:p>
            <a:pPr marL="0" indent="0">
              <a:buNone/>
            </a:pPr>
            <a:endParaRPr lang="en-GB" sz="2700" dirty="0">
              <a:cs typeface="Calibri"/>
            </a:endParaRPr>
          </a:p>
          <a:p>
            <a:pPr marL="0" indent="0">
              <a:buNone/>
            </a:pPr>
            <a:endParaRPr lang="en-GB" sz="2100" dirty="0">
              <a:cs typeface="Calibri"/>
            </a:endParaRPr>
          </a:p>
        </p:txBody>
      </p:sp>
      <p:sp>
        <p:nvSpPr>
          <p:cNvPr id="13" name="TextBox 12">
            <a:extLst>
              <a:ext uri="{FF2B5EF4-FFF2-40B4-BE49-F238E27FC236}">
                <a16:creationId xmlns:a16="http://schemas.microsoft.com/office/drawing/2014/main" id="{437D10F2-D825-4F14-8721-CF5105D60893}"/>
              </a:ext>
            </a:extLst>
          </p:cNvPr>
          <p:cNvSpPr txBox="1"/>
          <p:nvPr/>
        </p:nvSpPr>
        <p:spPr>
          <a:xfrm>
            <a:off x="16121867" y="90567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14" name="Rectangle 13">
            <a:extLst>
              <a:ext uri="{FF2B5EF4-FFF2-40B4-BE49-F238E27FC236}">
                <a16:creationId xmlns:a16="http://schemas.microsoft.com/office/drawing/2014/main" id="{5DE34494-019C-4AF1-907B-33245967C575}"/>
              </a:ext>
            </a:extLst>
          </p:cNvPr>
          <p:cNvSpPr/>
          <p:nvPr/>
        </p:nvSpPr>
        <p:spPr>
          <a:xfrm>
            <a:off x="15849600" y="572954"/>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 name="Rectangle 1"/>
          <p:cNvSpPr/>
          <p:nvPr/>
        </p:nvSpPr>
        <p:spPr>
          <a:xfrm>
            <a:off x="8839200" y="2043904"/>
            <a:ext cx="5867400" cy="6186309"/>
          </a:xfrm>
          <a:prstGeom prst="rect">
            <a:avLst/>
          </a:prstGeom>
          <a:ln>
            <a:solidFill>
              <a:schemeClr val="tx1"/>
            </a:solidFill>
          </a:ln>
        </p:spPr>
        <p:txBody>
          <a:bodyPr wrap="square">
            <a:spAutoFit/>
          </a:bodyPr>
          <a:lstStyle/>
          <a:p>
            <a:r>
              <a:rPr lang="en-GB" sz="2800" b="1" dirty="0"/>
              <a:t>List the Benefits of Your solutions</a:t>
            </a:r>
          </a:p>
          <a:p>
            <a:endParaRPr lang="en-GB" sz="2800" b="1" dirty="0"/>
          </a:p>
          <a:p>
            <a:r>
              <a:rPr lang="en-GB" sz="2800" b="1" dirty="0"/>
              <a:t>1. Easy to use for everyone with AI        </a:t>
            </a:r>
          </a:p>
          <a:p>
            <a:r>
              <a:rPr lang="en-GB" sz="2800" b="1" dirty="0"/>
              <a:t>    guidance</a:t>
            </a:r>
          </a:p>
          <a:p>
            <a:endParaRPr lang="en-GB" sz="2800" b="1" dirty="0"/>
          </a:p>
          <a:p>
            <a:r>
              <a:rPr lang="en-GB" sz="2800" b="1" dirty="0"/>
              <a:t>2. Saves money and time.</a:t>
            </a:r>
          </a:p>
          <a:p>
            <a:endParaRPr lang="en-GB" sz="2800" b="1" dirty="0"/>
          </a:p>
          <a:p>
            <a:r>
              <a:rPr lang="en-GB" sz="2800" b="1" dirty="0"/>
              <a:t>3. Quick help anytime.</a:t>
            </a:r>
          </a:p>
          <a:p>
            <a:endParaRPr lang="en-GB" sz="2800" b="1" dirty="0"/>
          </a:p>
          <a:p>
            <a:r>
              <a:rPr lang="en-GB" sz="2800" b="1" dirty="0"/>
              <a:t>4. Reduces stress and confusion.</a:t>
            </a:r>
          </a:p>
          <a:p>
            <a:endParaRPr lang="en-GB" sz="2800" b="1" dirty="0"/>
          </a:p>
          <a:p>
            <a:endParaRPr lang="en-GB" sz="2800" b="1" dirty="0"/>
          </a:p>
          <a:p>
            <a:endParaRPr lang="en-GB" sz="2000" b="1" dirty="0">
              <a:cs typeface="Calibri"/>
            </a:endParaRPr>
          </a:p>
          <a:p>
            <a:endParaRPr lang="en-GB" sz="2000" b="1" dirty="0">
              <a:cs typeface="Calibri"/>
            </a:endParaRPr>
          </a:p>
          <a:p>
            <a:endParaRPr lang="en-GB" sz="2000" b="1" dirty="0">
              <a:cs typeface="Calibri"/>
            </a:endParaRPr>
          </a:p>
        </p:txBody>
      </p:sp>
      <p:pic>
        <p:nvPicPr>
          <p:cNvPr id="3" name="Picture 2" descr="AUTOFIXAI">
            <a:extLst>
              <a:ext uri="{FF2B5EF4-FFF2-40B4-BE49-F238E27FC236}">
                <a16:creationId xmlns:a16="http://schemas.microsoft.com/office/drawing/2014/main" id="{A1CAAD10-D3FD-AED5-47FE-33F6D71205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16805" y="556074"/>
            <a:ext cx="1924291" cy="1386112"/>
          </a:xfrm>
          <a:prstGeom prst="rect">
            <a:avLst/>
          </a:prstGeom>
        </p:spPr>
      </p:pic>
    </p:spTree>
    <p:extLst>
      <p:ext uri="{BB962C8B-B14F-4D97-AF65-F5344CB8AC3E}">
        <p14:creationId xmlns:p14="http://schemas.microsoft.com/office/powerpoint/2010/main" val="26449443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barn(inVertical)">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381000" y="0"/>
            <a:ext cx="12338484" cy="1019574"/>
          </a:xfrm>
          <a:prstGeom prst="rect">
            <a:avLst/>
          </a:prstGeom>
        </p:spPr>
        <p:txBody>
          <a:bodyPr wrap="square" lIns="0" tIns="0" rIns="0" bIns="0" rtlCol="0" anchor="t">
            <a:spAutoFit/>
          </a:bodyPr>
          <a:lstStyle/>
          <a:p>
            <a:pPr>
              <a:lnSpc>
                <a:spcPts val="8747"/>
              </a:lnSpc>
            </a:pPr>
            <a:r>
              <a:rPr lang="en-US" sz="5400" b="1" dirty="0"/>
              <a:t>Competition Analysis</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121566" y="794080"/>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5925800" y="315439"/>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graphicFrame>
        <p:nvGraphicFramePr>
          <p:cNvPr id="7" name="Table 6"/>
          <p:cNvGraphicFramePr>
            <a:graphicFrameLocks noGrp="1"/>
          </p:cNvGraphicFramePr>
          <p:nvPr/>
        </p:nvGraphicFramePr>
        <p:xfrm>
          <a:off x="990600" y="1105704"/>
          <a:ext cx="14630400" cy="8869680"/>
        </p:xfrm>
        <a:graphic>
          <a:graphicData uri="http://schemas.openxmlformats.org/drawingml/2006/table">
            <a:tbl>
              <a:tblPr firstRow="1" bandRow="1">
                <a:tableStyleId>{93296810-A885-4BE3-A3E7-6D5BEEA58F35}</a:tableStyleId>
              </a:tblPr>
              <a:tblGrid>
                <a:gridCol w="2733390">
                  <a:extLst>
                    <a:ext uri="{9D8B030D-6E8A-4147-A177-3AD203B41FA5}">
                      <a16:colId xmlns:a16="http://schemas.microsoft.com/office/drawing/2014/main" val="666748423"/>
                    </a:ext>
                  </a:extLst>
                </a:gridCol>
                <a:gridCol w="2733390">
                  <a:extLst>
                    <a:ext uri="{9D8B030D-6E8A-4147-A177-3AD203B41FA5}">
                      <a16:colId xmlns:a16="http://schemas.microsoft.com/office/drawing/2014/main" val="837611741"/>
                    </a:ext>
                  </a:extLst>
                </a:gridCol>
                <a:gridCol w="2733390">
                  <a:extLst>
                    <a:ext uri="{9D8B030D-6E8A-4147-A177-3AD203B41FA5}">
                      <a16:colId xmlns:a16="http://schemas.microsoft.com/office/drawing/2014/main" val="2522811997"/>
                    </a:ext>
                  </a:extLst>
                </a:gridCol>
                <a:gridCol w="2869739">
                  <a:extLst>
                    <a:ext uri="{9D8B030D-6E8A-4147-A177-3AD203B41FA5}">
                      <a16:colId xmlns:a16="http://schemas.microsoft.com/office/drawing/2014/main" val="842314674"/>
                    </a:ext>
                  </a:extLst>
                </a:gridCol>
                <a:gridCol w="3560491">
                  <a:extLst>
                    <a:ext uri="{9D8B030D-6E8A-4147-A177-3AD203B41FA5}">
                      <a16:colId xmlns:a16="http://schemas.microsoft.com/office/drawing/2014/main" val="3630476225"/>
                    </a:ext>
                  </a:extLst>
                </a:gridCol>
              </a:tblGrid>
              <a:tr h="609600">
                <a:tc>
                  <a:txBody>
                    <a:bodyPr/>
                    <a:lstStyle/>
                    <a:p>
                      <a:pPr algn="ctr"/>
                      <a:r>
                        <a:rPr lang="en-US" sz="2400" b="1" dirty="0">
                          <a:solidFill>
                            <a:schemeClr val="tx1"/>
                          </a:solidFill>
                        </a:rPr>
                        <a:t>Benefits </a:t>
                      </a:r>
                    </a:p>
                  </a:txBody>
                  <a:tcPr/>
                </a:tc>
                <a:tc>
                  <a:txBody>
                    <a:bodyPr/>
                    <a:lstStyle/>
                    <a:p>
                      <a:pPr algn="ctr"/>
                      <a:r>
                        <a:rPr lang="en-US" sz="2400" b="1" dirty="0">
                          <a:solidFill>
                            <a:schemeClr val="tx1"/>
                          </a:solidFill>
                        </a:rPr>
                        <a:t>Competitor 1</a:t>
                      </a:r>
                    </a:p>
                    <a:p>
                      <a:pPr algn="ctr"/>
                      <a:r>
                        <a:rPr lang="en-US" sz="2400" b="1" dirty="0">
                          <a:solidFill>
                            <a:schemeClr val="tx1"/>
                          </a:solidFill>
                        </a:rPr>
                        <a:t>OBD Apps</a:t>
                      </a:r>
                    </a:p>
                  </a:txBody>
                  <a:tcPr/>
                </a:tc>
                <a:tc>
                  <a:txBody>
                    <a:bodyPr/>
                    <a:lstStyle/>
                    <a:p>
                      <a:pPr algn="ctr"/>
                      <a:r>
                        <a:rPr lang="en-US" sz="2400" b="1" dirty="0">
                          <a:solidFill>
                            <a:schemeClr val="tx1"/>
                          </a:solidFill>
                        </a:rPr>
                        <a:t>Competitor 2</a:t>
                      </a:r>
                    </a:p>
                    <a:p>
                      <a:pPr algn="ctr"/>
                      <a:r>
                        <a:rPr lang="en-US" sz="2400" b="1" dirty="0" err="1">
                          <a:solidFill>
                            <a:schemeClr val="tx1"/>
                          </a:solidFill>
                        </a:rPr>
                        <a:t>CarDekho</a:t>
                      </a:r>
                      <a:endParaRPr lang="en-US" sz="2400" b="1" dirty="0">
                        <a:solidFill>
                          <a:schemeClr val="tx1"/>
                        </a:solidFill>
                      </a:endParaRPr>
                    </a:p>
                  </a:txBody>
                  <a:tcPr/>
                </a:tc>
                <a:tc>
                  <a:txBody>
                    <a:bodyPr/>
                    <a:lstStyle/>
                    <a:p>
                      <a:pPr algn="ctr"/>
                      <a:r>
                        <a:rPr lang="en-US" sz="2400" b="1" dirty="0">
                          <a:solidFill>
                            <a:schemeClr val="tx1"/>
                          </a:solidFill>
                        </a:rPr>
                        <a:t>Competitor 3</a:t>
                      </a:r>
                    </a:p>
                    <a:p>
                      <a:pPr algn="ctr"/>
                      <a:r>
                        <a:rPr lang="en-US" sz="2400" b="1" dirty="0">
                          <a:solidFill>
                            <a:schemeClr val="tx1"/>
                          </a:solidFill>
                        </a:rPr>
                        <a:t>ChatGPT\Google</a:t>
                      </a:r>
                    </a:p>
                  </a:txBody>
                  <a:tcPr/>
                </a:tc>
                <a:tc>
                  <a:txBody>
                    <a:bodyPr/>
                    <a:lstStyle/>
                    <a:p>
                      <a:pPr algn="ctr"/>
                      <a:r>
                        <a:rPr lang="en-US" sz="2400" b="1" dirty="0">
                          <a:solidFill>
                            <a:schemeClr val="tx1"/>
                          </a:solidFill>
                        </a:rPr>
                        <a:t>Your Venture </a:t>
                      </a:r>
                    </a:p>
                    <a:p>
                      <a:pPr algn="ctr"/>
                      <a:r>
                        <a:rPr lang="en-US" sz="2400" b="1" dirty="0">
                          <a:solidFill>
                            <a:schemeClr val="tx1"/>
                          </a:solidFill>
                        </a:rPr>
                        <a:t>AUTO FIX AI</a:t>
                      </a:r>
                    </a:p>
                  </a:txBody>
                  <a:tcPr/>
                </a:tc>
                <a:extLst>
                  <a:ext uri="{0D108BD9-81ED-4DB2-BD59-A6C34878D82A}">
                    <a16:rowId xmlns:a16="http://schemas.microsoft.com/office/drawing/2014/main" val="1806830575"/>
                  </a:ext>
                </a:extLst>
              </a:tr>
              <a:tr h="609600">
                <a:tc>
                  <a:txBody>
                    <a:bodyPr/>
                    <a:lstStyle/>
                    <a:p>
                      <a:r>
                        <a:rPr lang="en-US" dirty="0"/>
                        <a:t>Product</a:t>
                      </a:r>
                    </a:p>
                  </a:txBody>
                  <a:tcPr/>
                </a:tc>
                <a:tc>
                  <a:txBody>
                    <a:bodyPr/>
                    <a:lstStyle/>
                    <a:p>
                      <a:r>
                        <a:rPr lang="en-IN" sz="1800" b="0" i="0" kern="1200" dirty="0">
                          <a:solidFill>
                            <a:schemeClr val="dk1"/>
                          </a:solidFill>
                          <a:effectLst/>
                          <a:latin typeface="+mn-lt"/>
                          <a:ea typeface="+mn-ea"/>
                          <a:cs typeface="+mn-cs"/>
                        </a:rPr>
                        <a:t>Hardware scanner device + basic app. Reads error codes only.</a:t>
                      </a:r>
                      <a:endParaRPr lang="en-US" dirty="0"/>
                    </a:p>
                  </a:txBody>
                  <a:tcPr/>
                </a:tc>
                <a:tc>
                  <a:txBody>
                    <a:bodyPr/>
                    <a:lstStyle/>
                    <a:p>
                      <a:r>
                        <a:rPr lang="en-IN" sz="1800" b="0" i="0" kern="1200" dirty="0">
                          <a:solidFill>
                            <a:schemeClr val="dk1"/>
                          </a:solidFill>
                          <a:effectLst/>
                          <a:latin typeface="+mn-lt"/>
                          <a:ea typeface="+mn-ea"/>
                          <a:cs typeface="+mn-cs"/>
                        </a:rPr>
                        <a:t>Car buying &amp; selling platform. Reviews new and used cars. No repair help.</a:t>
                      </a:r>
                      <a:endParaRPr lang="en-US" dirty="0"/>
                    </a:p>
                  </a:txBody>
                  <a:tcPr/>
                </a:tc>
                <a:tc>
                  <a:txBody>
                    <a:bodyPr/>
                    <a:lstStyle/>
                    <a:p>
                      <a:r>
                        <a:rPr lang="en-IN" b="0" i="0" dirty="0">
                          <a:solidFill>
                            <a:srgbClr val="1A1A1A"/>
                          </a:solidFill>
                          <a:effectLst/>
                          <a:latin typeface="Anthropic Sans"/>
                        </a:rPr>
                        <a:t>General AI chatbot and search engine. Answers any topic.</a:t>
                      </a:r>
                      <a:endParaRPr lang="en-US" dirty="0"/>
                    </a:p>
                  </a:txBody>
                  <a:tcPr/>
                </a:tc>
                <a:tc>
                  <a:txBody>
                    <a:bodyPr/>
                    <a:lstStyle/>
                    <a:p>
                      <a:r>
                        <a:rPr lang="en-IN" b="0" i="0" dirty="0">
                          <a:solidFill>
                            <a:srgbClr val="1A1A1A"/>
                          </a:solidFill>
                          <a:effectLst/>
                          <a:latin typeface="Anthropic Sans"/>
                        </a:rPr>
                        <a:t>All-in-one AI car troubleshoot app. Diagnose, find garage, check parts — in one place.</a:t>
                      </a:r>
                      <a:endParaRPr lang="en-US" dirty="0"/>
                    </a:p>
                  </a:txBody>
                  <a:tcPr/>
                </a:tc>
                <a:extLst>
                  <a:ext uri="{0D108BD9-81ED-4DB2-BD59-A6C34878D82A}">
                    <a16:rowId xmlns:a16="http://schemas.microsoft.com/office/drawing/2014/main" val="584068931"/>
                  </a:ext>
                </a:extLst>
              </a:tr>
              <a:tr h="609600">
                <a:tc>
                  <a:txBody>
                    <a:bodyPr/>
                    <a:lstStyle/>
                    <a:p>
                      <a:r>
                        <a:rPr lang="en-US" dirty="0"/>
                        <a:t>Price </a:t>
                      </a:r>
                    </a:p>
                  </a:txBody>
                  <a:tcPr/>
                </a:tc>
                <a:tc>
                  <a:txBody>
                    <a:bodyPr/>
                    <a:lstStyle/>
                    <a:p>
                      <a:r>
                        <a:rPr lang="en-IN" sz="1800" b="0" i="0" kern="1200" dirty="0">
                          <a:solidFill>
                            <a:schemeClr val="dk1"/>
                          </a:solidFill>
                          <a:effectLst/>
                          <a:latin typeface="+mn-lt"/>
                          <a:ea typeface="+mn-ea"/>
                          <a:cs typeface="+mn-cs"/>
                        </a:rPr>
                        <a:t>₹800–₹2,000 for OBD device + app subscription charges.</a:t>
                      </a:r>
                      <a:br>
                        <a:rPr lang="en-IN" dirty="0"/>
                      </a:br>
                      <a:r>
                        <a:rPr lang="en-IN" sz="1800" b="1" i="0" kern="1200" dirty="0">
                          <a:solidFill>
                            <a:schemeClr val="dk1"/>
                          </a:solidFill>
                          <a:effectLst/>
                          <a:latin typeface="+mn-lt"/>
                          <a:ea typeface="+mn-ea"/>
                          <a:cs typeface="+mn-cs"/>
                        </a:rPr>
                        <a:t>Hardware cost extra</a:t>
                      </a:r>
                      <a:endParaRPr lang="en-US" dirty="0"/>
                    </a:p>
                  </a:txBody>
                  <a:tcPr/>
                </a:tc>
                <a:tc>
                  <a:txBody>
                    <a:bodyPr/>
                    <a:lstStyle/>
                    <a:p>
                      <a:r>
                        <a:rPr lang="en-IN" sz="1800" b="0" i="0" kern="1200" dirty="0">
                          <a:solidFill>
                            <a:schemeClr val="dk1"/>
                          </a:solidFill>
                          <a:effectLst/>
                          <a:latin typeface="+mn-lt"/>
                          <a:ea typeface="+mn-ea"/>
                          <a:cs typeface="+mn-cs"/>
                        </a:rPr>
                        <a:t>Free to browse. Revenue from ads &amp; dealers.</a:t>
                      </a:r>
                      <a:endParaRPr lang="en-US" dirty="0"/>
                    </a:p>
                  </a:txBody>
                  <a:tcPr/>
                </a:tc>
                <a:tc>
                  <a:txBody>
                    <a:bodyPr/>
                    <a:lstStyle/>
                    <a:p>
                      <a:r>
                        <a:rPr lang="en-IN" sz="1800" b="0" i="0" kern="1200" dirty="0">
                          <a:solidFill>
                            <a:schemeClr val="dk1"/>
                          </a:solidFill>
                          <a:effectLst/>
                          <a:latin typeface="+mn-lt"/>
                          <a:ea typeface="+mn-ea"/>
                          <a:cs typeface="+mn-cs"/>
                        </a:rPr>
                        <a:t>Free for basic. ChatGPT Plus costs₹1,700/month for advanced.</a:t>
                      </a:r>
                      <a:endParaRPr lang="en-US" dirty="0"/>
                    </a:p>
                  </a:txBody>
                  <a:tcPr/>
                </a:tc>
                <a:tc>
                  <a:txBody>
                    <a:bodyPr/>
                    <a:lstStyle/>
                    <a:p>
                      <a:r>
                        <a:rPr lang="en-IN" b="0" i="0" dirty="0">
                          <a:solidFill>
                            <a:srgbClr val="1A1A1A"/>
                          </a:solidFill>
                          <a:effectLst/>
                          <a:latin typeface="Anthropic Sans"/>
                        </a:rPr>
                        <a:t>Basic features FREE. Premium plan ₹99/month only.</a:t>
                      </a:r>
                      <a:endParaRPr lang="en-US" dirty="0"/>
                    </a:p>
                  </a:txBody>
                  <a:tcPr/>
                </a:tc>
                <a:extLst>
                  <a:ext uri="{0D108BD9-81ED-4DB2-BD59-A6C34878D82A}">
                    <a16:rowId xmlns:a16="http://schemas.microsoft.com/office/drawing/2014/main" val="3832088801"/>
                  </a:ext>
                </a:extLst>
              </a:tr>
              <a:tr h="632099">
                <a:tc>
                  <a:txBody>
                    <a:bodyPr/>
                    <a:lstStyle/>
                    <a:p>
                      <a:r>
                        <a:rPr lang="en-US" dirty="0"/>
                        <a:t>Branding channels </a:t>
                      </a:r>
                    </a:p>
                  </a:txBody>
                  <a:tcPr/>
                </a:tc>
                <a:tc>
                  <a:txBody>
                    <a:bodyPr/>
                    <a:lstStyle/>
                    <a:p>
                      <a:r>
                        <a:rPr lang="en-IN" b="0" i="0" dirty="0">
                          <a:solidFill>
                            <a:srgbClr val="1A1A1A"/>
                          </a:solidFill>
                          <a:effectLst/>
                          <a:latin typeface="Anthropic Sans"/>
                        </a:rPr>
                        <a:t>Amazon, Flipkart product listings. Auto accessory stores.</a:t>
                      </a:r>
                      <a:endParaRPr lang="en-US" dirty="0"/>
                    </a:p>
                  </a:txBody>
                  <a:tcPr/>
                </a:tc>
                <a:tc>
                  <a:txBody>
                    <a:bodyPr/>
                    <a:lstStyle/>
                    <a:p>
                      <a:r>
                        <a:rPr lang="en-IN" sz="1800" b="0" i="0" kern="1200" dirty="0">
                          <a:solidFill>
                            <a:schemeClr val="dk1"/>
                          </a:solidFill>
                          <a:effectLst/>
                          <a:latin typeface="+mn-lt"/>
                          <a:ea typeface="+mn-ea"/>
                          <a:cs typeface="+mn-cs"/>
                        </a:rPr>
                        <a:t>TV ads, YouTube, Google ads, dealership tie-ups. Very large budget.</a:t>
                      </a:r>
                      <a:endParaRPr lang="en-US" dirty="0"/>
                    </a:p>
                  </a:txBody>
                  <a:tcPr/>
                </a:tc>
                <a:tc>
                  <a:txBody>
                    <a:bodyPr/>
                    <a:lstStyle/>
                    <a:p>
                      <a:r>
                        <a:rPr lang="en-IN" sz="1800" b="0" i="0" kern="1200" dirty="0">
                          <a:solidFill>
                            <a:schemeClr val="dk1"/>
                          </a:solidFill>
                          <a:effectLst/>
                          <a:latin typeface="+mn-lt"/>
                          <a:ea typeface="+mn-ea"/>
                          <a:cs typeface="+mn-cs"/>
                        </a:rPr>
                        <a:t>World's most known brands. Zero marketing needed.</a:t>
                      </a:r>
                      <a:endParaRPr lang="en-US" dirty="0"/>
                    </a:p>
                  </a:txBody>
                  <a:tcPr/>
                </a:tc>
                <a:tc>
                  <a:txBody>
                    <a:bodyPr/>
                    <a:lstStyle/>
                    <a:p>
                      <a:r>
                        <a:rPr lang="en-IN" sz="1800" b="0" i="0" kern="1200" dirty="0">
                          <a:solidFill>
                            <a:schemeClr val="dk1"/>
                          </a:solidFill>
                          <a:effectLst/>
                          <a:latin typeface="+mn-lt"/>
                          <a:ea typeface="+mn-ea"/>
                          <a:cs typeface="+mn-cs"/>
                        </a:rPr>
                        <a:t>Social media (Instagram, YouTube), WhatsApp, college campaigns, word of mouth, garage partnerships.</a:t>
                      </a:r>
                      <a:endParaRPr lang="en-US" dirty="0"/>
                    </a:p>
                  </a:txBody>
                  <a:tcPr/>
                </a:tc>
                <a:extLst>
                  <a:ext uri="{0D108BD9-81ED-4DB2-BD59-A6C34878D82A}">
                    <a16:rowId xmlns:a16="http://schemas.microsoft.com/office/drawing/2014/main" val="457005780"/>
                  </a:ext>
                </a:extLst>
              </a:tr>
              <a:tr h="609600">
                <a:tc>
                  <a:txBody>
                    <a:bodyPr/>
                    <a:lstStyle/>
                    <a:p>
                      <a:r>
                        <a:rPr lang="en-US" dirty="0"/>
                        <a:t>Packaging</a:t>
                      </a:r>
                    </a:p>
                  </a:txBody>
                  <a:tcPr/>
                </a:tc>
                <a:tc>
                  <a:txBody>
                    <a:bodyPr/>
                    <a:lstStyle/>
                    <a:p>
                      <a:r>
                        <a:rPr lang="en-IN" sz="1800" b="0" i="0" kern="1200" dirty="0">
                          <a:solidFill>
                            <a:schemeClr val="dk1"/>
                          </a:solidFill>
                          <a:effectLst/>
                          <a:latin typeface="+mn-lt"/>
                          <a:ea typeface="+mn-ea"/>
                          <a:cs typeface="+mn-cs"/>
                        </a:rPr>
                        <a:t>Physical OBD device (plug-in hardware) + companion app. Needs setup.</a:t>
                      </a:r>
                      <a:endParaRPr lang="en-US" dirty="0"/>
                    </a:p>
                  </a:txBody>
                  <a:tcPr/>
                </a:tc>
                <a:tc>
                  <a:txBody>
                    <a:bodyPr/>
                    <a:lstStyle/>
                    <a:p>
                      <a:r>
                        <a:rPr lang="en-IN" sz="1800" b="0" i="0" kern="1200" dirty="0">
                          <a:solidFill>
                            <a:schemeClr val="dk1"/>
                          </a:solidFill>
                          <a:effectLst/>
                          <a:latin typeface="+mn-lt"/>
                          <a:ea typeface="+mn-ea"/>
                          <a:cs typeface="+mn-cs"/>
                        </a:rPr>
                        <a:t>Website + Mobile App. Clean UI but focused on car sales only.</a:t>
                      </a:r>
                      <a:endParaRPr lang="en-US" dirty="0"/>
                    </a:p>
                  </a:txBody>
                  <a:tcPr/>
                </a:tc>
                <a:tc>
                  <a:txBody>
                    <a:bodyPr/>
                    <a:lstStyle/>
                    <a:p>
                      <a:r>
                        <a:rPr lang="en-IN" sz="1800" b="0" i="0" kern="1200" dirty="0">
                          <a:solidFill>
                            <a:schemeClr val="dk1"/>
                          </a:solidFill>
                          <a:effectLst/>
                          <a:latin typeface="+mn-lt"/>
                          <a:ea typeface="+mn-ea"/>
                          <a:cs typeface="+mn-cs"/>
                        </a:rPr>
                        <a:t>Web + mobile app. Very general interface not made for cars</a:t>
                      </a:r>
                      <a:endParaRPr lang="en-US" dirty="0"/>
                    </a:p>
                  </a:txBody>
                  <a:tcPr/>
                </a:tc>
                <a:tc>
                  <a:txBody>
                    <a:bodyPr/>
                    <a:lstStyle/>
                    <a:p>
                      <a:r>
                        <a:rPr lang="en-IN" sz="1800" b="0" i="0" kern="1200" dirty="0">
                          <a:solidFill>
                            <a:schemeClr val="dk1"/>
                          </a:solidFill>
                          <a:effectLst/>
                          <a:latin typeface="+mn-lt"/>
                          <a:ea typeface="+mn-ea"/>
                          <a:cs typeface="+mn-cs"/>
                        </a:rPr>
                        <a:t>Mobile app only (Android + iOS). Dark orange theme. Voice + camera + chat. Simple 3-button interface for all users.</a:t>
                      </a:r>
                      <a:endParaRPr lang="en-US" dirty="0"/>
                    </a:p>
                  </a:txBody>
                  <a:tcPr/>
                </a:tc>
                <a:extLst>
                  <a:ext uri="{0D108BD9-81ED-4DB2-BD59-A6C34878D82A}">
                    <a16:rowId xmlns:a16="http://schemas.microsoft.com/office/drawing/2014/main" val="3498795634"/>
                  </a:ext>
                </a:extLst>
              </a:tr>
              <a:tr h="609600">
                <a:tc>
                  <a:txBody>
                    <a:bodyPr/>
                    <a:lstStyle/>
                    <a:p>
                      <a:r>
                        <a:rPr lang="en-US" dirty="0"/>
                        <a:t>Market reviews </a:t>
                      </a:r>
                    </a:p>
                  </a:txBody>
                  <a:tcPr/>
                </a:tc>
                <a:tc>
                  <a:txBody>
                    <a:bodyPr/>
                    <a:lstStyle/>
                    <a:p>
                      <a:r>
                        <a:rPr lang="en-IN" sz="1800" b="0" i="0" kern="1200" dirty="0">
                          <a:solidFill>
                            <a:schemeClr val="dk1"/>
                          </a:solidFill>
                          <a:effectLst/>
                          <a:latin typeface="+mn-lt"/>
                          <a:ea typeface="+mn-ea"/>
                          <a:cs typeface="+mn-cs"/>
                        </a:rPr>
                        <a:t>3.5★ average. Users say setup is confusing and codes are not understandable.</a:t>
                      </a:r>
                      <a:endParaRPr lang="en-US" dirty="0"/>
                    </a:p>
                  </a:txBody>
                  <a:tcPr/>
                </a:tc>
                <a:tc>
                  <a:txBody>
                    <a:bodyPr/>
                    <a:lstStyle/>
                    <a:p>
                      <a:r>
                        <a:rPr lang="en-IN" sz="1800" b="0" i="0" kern="1200" dirty="0">
                          <a:solidFill>
                            <a:schemeClr val="dk1"/>
                          </a:solidFill>
                          <a:effectLst/>
                          <a:latin typeface="+mn-lt"/>
                          <a:ea typeface="+mn-ea"/>
                          <a:cs typeface="+mn-cs"/>
                        </a:rPr>
                        <a:t>4.2★ on Play Store. Popular for buying cars. Users complain it doesn't help with repairs.</a:t>
                      </a:r>
                      <a:endParaRPr lang="en-US" dirty="0"/>
                    </a:p>
                  </a:txBody>
                  <a:tcPr/>
                </a:tc>
                <a:tc>
                  <a:txBody>
                    <a:bodyPr/>
                    <a:lstStyle/>
                    <a:p>
                      <a:r>
                        <a:rPr lang="en-IN" sz="1800" b="0" i="0" kern="1200" dirty="0">
                          <a:solidFill>
                            <a:schemeClr val="dk1"/>
                          </a:solidFill>
                          <a:effectLst/>
                          <a:latin typeface="+mn-lt"/>
                          <a:ea typeface="+mn-ea"/>
                          <a:cs typeface="+mn-cs"/>
                        </a:rPr>
                        <a:t>4.5★ but users say answers are too general and not car-specific for India.</a:t>
                      </a:r>
                      <a:endParaRPr lang="en-US" dirty="0"/>
                    </a:p>
                  </a:txBody>
                  <a:tcPr/>
                </a:tc>
                <a:tc>
                  <a:txBody>
                    <a:bodyPr/>
                    <a:lstStyle/>
                    <a:p>
                      <a:r>
                        <a:rPr lang="en-IN" sz="1800" b="0" i="0" kern="1200" dirty="0" err="1">
                          <a:solidFill>
                            <a:schemeClr val="dk1"/>
                          </a:solidFill>
                          <a:effectLst/>
                          <a:latin typeface="+mn-lt"/>
                          <a:ea typeface="+mn-ea"/>
                          <a:cs typeface="+mn-cs"/>
                        </a:rPr>
                        <a:t>arget</a:t>
                      </a:r>
                      <a:r>
                        <a:rPr lang="en-IN" sz="1800" b="0" i="0" kern="1200" dirty="0">
                          <a:solidFill>
                            <a:schemeClr val="dk1"/>
                          </a:solidFill>
                          <a:effectLst/>
                          <a:latin typeface="+mn-lt"/>
                          <a:ea typeface="+mn-ea"/>
                          <a:cs typeface="+mn-cs"/>
                        </a:rPr>
                        <a:t>: 4.5★+. Focused on simplicity, Indian languages, and instant helpful answers.</a:t>
                      </a:r>
                      <a:endParaRPr lang="en-US" dirty="0"/>
                    </a:p>
                  </a:txBody>
                  <a:tcPr/>
                </a:tc>
                <a:extLst>
                  <a:ext uri="{0D108BD9-81ED-4DB2-BD59-A6C34878D82A}">
                    <a16:rowId xmlns:a16="http://schemas.microsoft.com/office/drawing/2014/main" val="1009763486"/>
                  </a:ext>
                </a:extLst>
              </a:tr>
              <a:tr h="0">
                <a:tc>
                  <a:txBody>
                    <a:bodyPr/>
                    <a:lstStyle/>
                    <a:p>
                      <a:r>
                        <a:rPr lang="en-US" dirty="0"/>
                        <a:t>UVP</a:t>
                      </a:r>
                    </a:p>
                  </a:txBody>
                  <a:tcPr/>
                </a:tc>
                <a:tc>
                  <a:txBody>
                    <a:bodyPr/>
                    <a:lstStyle/>
                    <a:p>
                      <a:r>
                        <a:rPr lang="en-IN" sz="1800" b="0" i="0" kern="1200" dirty="0">
                          <a:solidFill>
                            <a:schemeClr val="dk1"/>
                          </a:solidFill>
                          <a:effectLst/>
                          <a:latin typeface="+mn-lt"/>
                          <a:ea typeface="+mn-ea"/>
                          <a:cs typeface="+mn-cs"/>
                        </a:rPr>
                        <a:t>Accurate OBD error code reading directly from car's computer.</a:t>
                      </a:r>
                      <a:endParaRPr lang="en-US" dirty="0"/>
                    </a:p>
                  </a:txBody>
                  <a:tcPr/>
                </a:tc>
                <a:tc>
                  <a:txBody>
                    <a:bodyPr/>
                    <a:lstStyle/>
                    <a:p>
                      <a:r>
                        <a:rPr lang="en-IN" sz="1800" b="0" i="0" kern="1200" dirty="0">
                          <a:solidFill>
                            <a:schemeClr val="dk1"/>
                          </a:solidFill>
                          <a:effectLst/>
                          <a:latin typeface="+mn-lt"/>
                          <a:ea typeface="+mn-ea"/>
                          <a:cs typeface="+mn-cs"/>
                        </a:rPr>
                        <a:t>India's largest car buying platform. Best for new and used car discovery.</a:t>
                      </a:r>
                      <a:endParaRPr lang="en-US" dirty="0"/>
                    </a:p>
                  </a:txBody>
                  <a:tcPr/>
                </a:tc>
                <a:tc>
                  <a:txBody>
                    <a:bodyPr/>
                    <a:lstStyle/>
                    <a:p>
                      <a:r>
                        <a:rPr lang="en-IN" sz="1800" b="0" i="0" kern="1200" dirty="0">
                          <a:solidFill>
                            <a:schemeClr val="dk1"/>
                          </a:solidFill>
                          <a:effectLst/>
                          <a:latin typeface="+mn-lt"/>
                          <a:ea typeface="+mn-ea"/>
                          <a:cs typeface="+mn-cs"/>
                        </a:rPr>
                        <a:t>World's most powerful AI. Answers any question instantly.</a:t>
                      </a:r>
                      <a:endParaRPr lang="en-US" dirty="0"/>
                    </a:p>
                  </a:txBody>
                  <a:tcPr/>
                </a:tc>
                <a:tc>
                  <a:txBody>
                    <a:bodyPr/>
                    <a:lstStyle/>
                    <a:p>
                      <a:r>
                        <a:rPr lang="en-IN" sz="1800" b="0" i="0" kern="1200" dirty="0">
                          <a:solidFill>
                            <a:schemeClr val="dk1"/>
                          </a:solidFill>
                          <a:effectLst/>
                          <a:latin typeface="+mn-lt"/>
                          <a:ea typeface="+mn-ea"/>
                          <a:cs typeface="+mn-cs"/>
                        </a:rPr>
                        <a:t>✔ AI diagnosis by text, voice &amp; photo,✔ GPS garage finder,✔ Spare parts price checker,✔ Works in Indian languages,✔ Works offline,✔ Built for India 🇮🇳</a:t>
                      </a:r>
                      <a:endParaRPr lang="en-US" dirty="0"/>
                    </a:p>
                  </a:txBody>
                  <a:tcPr/>
                </a:tc>
                <a:extLst>
                  <a:ext uri="{0D108BD9-81ED-4DB2-BD59-A6C34878D82A}">
                    <a16:rowId xmlns:a16="http://schemas.microsoft.com/office/drawing/2014/main" val="1794513914"/>
                  </a:ext>
                </a:extLst>
              </a:tr>
              <a:tr h="609600">
                <a:tc>
                  <a:txBody>
                    <a:bodyPr/>
                    <a:lstStyle/>
                    <a:p>
                      <a:r>
                        <a:rPr lang="en-US" dirty="0"/>
                        <a:t>Target Users  </a:t>
                      </a:r>
                    </a:p>
                  </a:txBody>
                  <a:tcPr/>
                </a:tc>
                <a:tc>
                  <a:txBody>
                    <a:bodyPr/>
                    <a:lstStyle/>
                    <a:p>
                      <a:r>
                        <a:rPr lang="en-IN" sz="1800" b="0" i="0" kern="1200" dirty="0">
                          <a:solidFill>
                            <a:schemeClr val="dk1"/>
                          </a:solidFill>
                          <a:effectLst/>
                          <a:latin typeface="+mn-lt"/>
                          <a:ea typeface="+mn-ea"/>
                          <a:cs typeface="+mn-cs"/>
                        </a:rPr>
                        <a:t>Car enthusiasts &amp; mechanics who understand error codes.</a:t>
                      </a:r>
                      <a:endParaRPr lang="en-US" dirty="0"/>
                    </a:p>
                  </a:txBody>
                  <a:tcPr/>
                </a:tc>
                <a:tc>
                  <a:txBody>
                    <a:bodyPr/>
                    <a:lstStyle/>
                    <a:p>
                      <a:r>
                        <a:rPr lang="en-IN" sz="1800" b="0" i="0" kern="1200" dirty="0">
                          <a:solidFill>
                            <a:schemeClr val="dk1"/>
                          </a:solidFill>
                          <a:effectLst/>
                          <a:latin typeface="+mn-lt"/>
                          <a:ea typeface="+mn-ea"/>
                          <a:cs typeface="+mn-cs"/>
                        </a:rPr>
                        <a:t>People buying or selling a car. Car enthusiasts.</a:t>
                      </a:r>
                      <a:endParaRPr lang="en-US" dirty="0"/>
                    </a:p>
                  </a:txBody>
                  <a:tcPr/>
                </a:tc>
                <a:tc>
                  <a:txBody>
                    <a:bodyPr/>
                    <a:lstStyle/>
                    <a:p>
                      <a:r>
                        <a:rPr lang="en-IN" sz="1800" b="0" i="0" kern="1200" dirty="0">
                          <a:solidFill>
                            <a:schemeClr val="dk1"/>
                          </a:solidFill>
                          <a:effectLst/>
                          <a:latin typeface="+mn-lt"/>
                          <a:ea typeface="+mn-ea"/>
                          <a:cs typeface="+mn-cs"/>
                        </a:rPr>
                        <a:t>Everyone — but no specific focus on car owners.</a:t>
                      </a:r>
                      <a:endParaRPr lang="en-US" dirty="0"/>
                    </a:p>
                  </a:txBody>
                  <a:tcPr/>
                </a:tc>
                <a:tc>
                  <a:txBody>
                    <a:bodyPr/>
                    <a:lstStyle/>
                    <a:p>
                      <a:r>
                        <a:rPr lang="en-IN" sz="1800" b="0" i="0" kern="1200" dirty="0">
                          <a:solidFill>
                            <a:schemeClr val="dk1"/>
                          </a:solidFill>
                          <a:effectLst/>
                          <a:latin typeface="+mn-lt"/>
                          <a:ea typeface="+mn-ea"/>
                          <a:cs typeface="+mn-cs"/>
                        </a:rPr>
                        <a:t>Every Indian car owner — especially non-technical, rural, busy professionals who need simple instant help.</a:t>
                      </a:r>
                      <a:endParaRPr lang="en-US" dirty="0"/>
                    </a:p>
                  </a:txBody>
                  <a:tcPr/>
                </a:tc>
                <a:extLst>
                  <a:ext uri="{0D108BD9-81ED-4DB2-BD59-A6C34878D82A}">
                    <a16:rowId xmlns:a16="http://schemas.microsoft.com/office/drawing/2014/main" val="3836816247"/>
                  </a:ext>
                </a:extLst>
              </a:tr>
            </a:tbl>
          </a:graphicData>
        </a:graphic>
      </p:graphicFrame>
      <p:pic>
        <p:nvPicPr>
          <p:cNvPr id="2" name="Picture 1" descr="AUTOFIXAI">
            <a:extLst>
              <a:ext uri="{FF2B5EF4-FFF2-40B4-BE49-F238E27FC236}">
                <a16:creationId xmlns:a16="http://schemas.microsoft.com/office/drawing/2014/main" id="{0756E78D-24AE-20CC-1381-ADDA1CDA37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70897" y="266725"/>
            <a:ext cx="1924291" cy="1386112"/>
          </a:xfrm>
          <a:prstGeom prst="rect">
            <a:avLst/>
          </a:prstGeom>
        </p:spPr>
      </p:pic>
    </p:spTree>
    <p:extLst>
      <p:ext uri="{BB962C8B-B14F-4D97-AF65-F5344CB8AC3E}">
        <p14:creationId xmlns:p14="http://schemas.microsoft.com/office/powerpoint/2010/main" val="294694622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txBox="1"/>
          <p:nvPr/>
        </p:nvSpPr>
        <p:spPr>
          <a:xfrm>
            <a:off x="738845" y="546240"/>
            <a:ext cx="12338484" cy="1115690"/>
          </a:xfrm>
          <a:prstGeom prst="rect">
            <a:avLst/>
          </a:prstGeom>
        </p:spPr>
        <p:txBody>
          <a:bodyPr wrap="square" lIns="0" tIns="0" rIns="0" bIns="0" rtlCol="0" anchor="t">
            <a:spAutoFit/>
          </a:bodyPr>
          <a:lstStyle/>
          <a:p>
            <a:pPr>
              <a:lnSpc>
                <a:spcPts val="8747"/>
              </a:lnSpc>
            </a:pPr>
            <a:r>
              <a:rPr lang="en-US" sz="6000" b="1" dirty="0"/>
              <a:t>Lean Canvas</a:t>
            </a:r>
          </a:p>
        </p:txBody>
      </p:sp>
      <p:sp>
        <p:nvSpPr>
          <p:cNvPr id="14" name="TextBox 13"/>
          <p:cNvSpPr txBox="1"/>
          <p:nvPr/>
        </p:nvSpPr>
        <p:spPr>
          <a:xfrm>
            <a:off x="14752474" y="1748104"/>
            <a:ext cx="3323451" cy="4801314"/>
          </a:xfrm>
          <a:prstGeom prst="rect">
            <a:avLst/>
          </a:prstGeom>
          <a:noFill/>
          <a:ln>
            <a:solidFill>
              <a:schemeClr val="bg2">
                <a:lumMod val="50000"/>
              </a:schemeClr>
            </a:solidFill>
          </a:ln>
        </p:spPr>
        <p:txBody>
          <a:bodyPr wrap="square" rtlCol="0">
            <a:spAutoFit/>
          </a:bodyPr>
          <a:lstStyle/>
          <a:p>
            <a:r>
              <a:rPr lang="en-IN" b="1" dirty="0"/>
              <a:t>Business Model </a:t>
            </a:r>
            <a:r>
              <a:rPr lang="en-IN" sz="1200" dirty="0"/>
              <a:t>(Explain with a process diagram)</a:t>
            </a:r>
          </a:p>
          <a:p>
            <a:endParaRPr lang="en-IN" sz="120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Select car model and year  </a:t>
            </a:r>
          </a:p>
          <a:p>
            <a:endParaRPr lang="en-IN" sz="1200" dirty="0">
              <a:latin typeface="Arial" panose="020B0604020202020204" pitchFamily="34" charset="0"/>
              <a:cs typeface="Arial" panose="020B0604020202020204" pitchFamily="34" charset="0"/>
            </a:endParaRPr>
          </a:p>
          <a:p>
            <a:r>
              <a:rPr lang="en-IN" dirty="0">
                <a:solidFill>
                  <a:srgbClr val="002060"/>
                </a:solidFill>
                <a:latin typeface="Arial" panose="020B0604020202020204" pitchFamily="34" charset="0"/>
                <a:cs typeface="Arial" panose="020B0604020202020204" pitchFamily="34" charset="0"/>
              </a:rPr>
              <a:t>   Describe the car Problem</a:t>
            </a:r>
          </a:p>
          <a:p>
            <a:r>
              <a:rPr lang="en-IN" dirty="0">
                <a:solidFill>
                  <a:srgbClr val="002060"/>
                </a:solidFill>
                <a:latin typeface="Arial" panose="020B0604020202020204" pitchFamily="34" charset="0"/>
                <a:cs typeface="Arial" panose="020B0604020202020204" pitchFamily="34" charset="0"/>
              </a:rPr>
              <a:t>                      </a:t>
            </a:r>
          </a:p>
          <a:p>
            <a:r>
              <a:rPr lang="en-IN" dirty="0">
                <a:solidFill>
                  <a:srgbClr val="002060"/>
                </a:solidFill>
                <a:latin typeface="Arial" panose="020B0604020202020204" pitchFamily="34" charset="0"/>
                <a:cs typeface="Arial" panose="020B0604020202020204" pitchFamily="34" charset="0"/>
              </a:rPr>
              <a:t>   Sent to AI processing Engine </a:t>
            </a:r>
          </a:p>
          <a:p>
            <a:r>
              <a:rPr lang="en-IN" dirty="0">
                <a:solidFill>
                  <a:srgbClr val="002060"/>
                </a:solidFill>
                <a:latin typeface="Arial" panose="020B0604020202020204" pitchFamily="34" charset="0"/>
                <a:cs typeface="Arial" panose="020B0604020202020204" pitchFamily="34" charset="0"/>
              </a:rPr>
              <a:t>                    </a:t>
            </a:r>
          </a:p>
          <a:p>
            <a:r>
              <a:rPr lang="en-IN" dirty="0">
                <a:solidFill>
                  <a:srgbClr val="002060"/>
                </a:solidFill>
                <a:latin typeface="Arial" panose="020B0604020202020204" pitchFamily="34" charset="0"/>
                <a:cs typeface="Arial" panose="020B0604020202020204" pitchFamily="34" charset="0"/>
              </a:rPr>
              <a:t>   Problem identified for exact</a:t>
            </a:r>
          </a:p>
          <a:p>
            <a:r>
              <a:rPr lang="en-IN" dirty="0">
                <a:solidFill>
                  <a:srgbClr val="002060"/>
                </a:solidFill>
                <a:latin typeface="Arial" panose="020B0604020202020204" pitchFamily="34" charset="0"/>
                <a:cs typeface="Arial" panose="020B0604020202020204" pitchFamily="34" charset="0"/>
              </a:rPr>
              <a:t>   car               </a:t>
            </a:r>
          </a:p>
          <a:p>
            <a:r>
              <a:rPr lang="en-IN" dirty="0">
                <a:solidFill>
                  <a:srgbClr val="002060"/>
                </a:solidFill>
                <a:latin typeface="Arial" panose="020B0604020202020204" pitchFamily="34" charset="0"/>
                <a:cs typeface="Arial" panose="020B0604020202020204" pitchFamily="34" charset="0"/>
              </a:rPr>
              <a:t>   Repair cost estimated in ₹</a:t>
            </a:r>
          </a:p>
          <a:p>
            <a:endParaRPr lang="en-IN" dirty="0">
              <a:solidFill>
                <a:srgbClr val="002060"/>
              </a:solidFill>
              <a:latin typeface="Arial" panose="020B0604020202020204" pitchFamily="34" charset="0"/>
              <a:cs typeface="Arial" panose="020B0604020202020204" pitchFamily="34" charset="0"/>
            </a:endParaRPr>
          </a:p>
          <a:p>
            <a:r>
              <a:rPr lang="en-IN" dirty="0">
                <a:solidFill>
                  <a:srgbClr val="002060"/>
                </a:solidFill>
                <a:latin typeface="Arial" panose="020B0604020202020204" pitchFamily="34" charset="0"/>
                <a:cs typeface="Arial" panose="020B0604020202020204" pitchFamily="34" charset="0"/>
              </a:rPr>
              <a:t>   Directions + call in one tap</a:t>
            </a:r>
          </a:p>
          <a:p>
            <a:endParaRPr lang="en-IN" dirty="0">
              <a:solidFill>
                <a:srgbClr val="002060"/>
              </a:solidFill>
              <a:latin typeface="Arial" panose="020B0604020202020204" pitchFamily="34" charset="0"/>
              <a:cs typeface="Arial" panose="020B0604020202020204" pitchFamily="34" charset="0"/>
            </a:endParaRPr>
          </a:p>
          <a:p>
            <a:r>
              <a:rPr lang="en-IN" dirty="0">
                <a:solidFill>
                  <a:srgbClr val="002060"/>
                </a:solidFill>
                <a:latin typeface="Arial" panose="020B0604020202020204" pitchFamily="34" charset="0"/>
                <a:cs typeface="Arial" panose="020B0604020202020204" pitchFamily="34" charset="0"/>
              </a:rPr>
              <a:t>   User never get </a:t>
            </a:r>
            <a:r>
              <a:rPr lang="en-IN" dirty="0" err="1">
                <a:solidFill>
                  <a:srgbClr val="002060"/>
                </a:solidFill>
                <a:latin typeface="Arial" panose="020B0604020202020204" pitchFamily="34" charset="0"/>
                <a:cs typeface="Arial" panose="020B0604020202020204" pitchFamily="34" charset="0"/>
              </a:rPr>
              <a:t>overchanged</a:t>
            </a:r>
            <a:r>
              <a:rPr lang="en-IN" dirty="0">
                <a:solidFill>
                  <a:srgbClr val="002060"/>
                </a:solidFill>
                <a:latin typeface="Arial" panose="020B0604020202020204" pitchFamily="34" charset="0"/>
                <a:cs typeface="Arial" panose="020B0604020202020204" pitchFamily="34" charset="0"/>
              </a:rPr>
              <a:t> </a:t>
            </a:r>
          </a:p>
          <a:p>
            <a:endParaRPr lang="en-IN" dirty="0">
              <a:solidFill>
                <a:srgbClr val="002060"/>
              </a:solidFill>
              <a:latin typeface="Arial" panose="020B0604020202020204" pitchFamily="34" charset="0"/>
              <a:cs typeface="Arial" panose="020B0604020202020204" pitchFamily="34" charset="0"/>
            </a:endParaRPr>
          </a:p>
          <a:p>
            <a:r>
              <a:rPr lang="en-IN" dirty="0">
                <a:solidFill>
                  <a:srgbClr val="002060"/>
                </a:solidFill>
                <a:latin typeface="Arial" panose="020B0604020202020204" pitchFamily="34" charset="0"/>
                <a:cs typeface="Arial" panose="020B0604020202020204" pitchFamily="34" charset="0"/>
              </a:rPr>
              <a:t>   Problem fully solved for user</a:t>
            </a:r>
          </a:p>
        </p:txBody>
      </p:sp>
      <p:sp>
        <p:nvSpPr>
          <p:cNvPr id="22" name="TextBox 21">
            <a:extLst>
              <a:ext uri="{FF2B5EF4-FFF2-40B4-BE49-F238E27FC236}">
                <a16:creationId xmlns:a16="http://schemas.microsoft.com/office/drawing/2014/main" id="{437D10F2-D825-4F14-8721-CF5105D60893}"/>
              </a:ext>
            </a:extLst>
          </p:cNvPr>
          <p:cNvSpPr txBox="1"/>
          <p:nvPr/>
        </p:nvSpPr>
        <p:spPr>
          <a:xfrm>
            <a:off x="16426366" y="799815"/>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23" name="Rectangle 22">
            <a:extLst>
              <a:ext uri="{FF2B5EF4-FFF2-40B4-BE49-F238E27FC236}">
                <a16:creationId xmlns:a16="http://schemas.microsoft.com/office/drawing/2014/main" id="{5DE34494-019C-4AF1-907B-33245967C575}"/>
              </a:ext>
            </a:extLst>
          </p:cNvPr>
          <p:cNvSpPr/>
          <p:nvPr/>
        </p:nvSpPr>
        <p:spPr>
          <a:xfrm>
            <a:off x="16230600" y="398995"/>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grpSp>
        <p:nvGrpSpPr>
          <p:cNvPr id="24" name="Group 23">
            <a:extLst>
              <a:ext uri="{FF2B5EF4-FFF2-40B4-BE49-F238E27FC236}">
                <a16:creationId xmlns:a16="http://schemas.microsoft.com/office/drawing/2014/main" id="{2871DA2D-B3CE-4F68-958C-EFD80A045093}"/>
              </a:ext>
            </a:extLst>
          </p:cNvPr>
          <p:cNvGrpSpPr/>
          <p:nvPr/>
        </p:nvGrpSpPr>
        <p:grpSpPr>
          <a:xfrm>
            <a:off x="738845" y="1646989"/>
            <a:ext cx="13931506" cy="8182928"/>
            <a:chOff x="1057033" y="956344"/>
            <a:chExt cx="9301525" cy="5455285"/>
          </a:xfrm>
          <a:noFill/>
        </p:grpSpPr>
        <p:sp>
          <p:nvSpPr>
            <p:cNvPr id="25" name="Rectangle 24">
              <a:extLst>
                <a:ext uri="{FF2B5EF4-FFF2-40B4-BE49-F238E27FC236}">
                  <a16:creationId xmlns:a16="http://schemas.microsoft.com/office/drawing/2014/main" id="{142DE8B1-BA37-482F-A9F6-BEF943895596}"/>
                </a:ext>
              </a:extLst>
            </p:cNvPr>
            <p:cNvSpPr/>
            <p:nvPr/>
          </p:nvSpPr>
          <p:spPr>
            <a:xfrm>
              <a:off x="1057033" y="956344"/>
              <a:ext cx="1870333" cy="406161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spcBef>
                  <a:spcPts val="300"/>
                </a:spcBef>
                <a:spcAft>
                  <a:spcPts val="300"/>
                </a:spcAft>
                <a:buNone/>
              </a:pPr>
              <a:r>
                <a:rPr lang="en-IN" sz="2000" b="1" dirty="0">
                  <a:solidFill>
                    <a:srgbClr val="C05000"/>
                  </a:solidFill>
                  <a:effectLst/>
                  <a:latin typeface="Arial" panose="020B0604020202020204" pitchFamily="34" charset="0"/>
                  <a:ea typeface="Arial" panose="020B0604020202020204" pitchFamily="34" charset="0"/>
                </a:rPr>
                <a:t>Problem</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Car owners don't understand warning lights or sounds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Hard to find reliable, trusted mechanics nearby</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Fear of being overcharged</a:t>
              </a:r>
              <a:endParaRPr lang="en-IN" sz="2000" dirty="0">
                <a:effectLst/>
                <a:latin typeface="Arial" panose="020B0604020202020204" pitchFamily="34" charset="0"/>
                <a:ea typeface="Arial" panose="020B0604020202020204" pitchFamily="34" charset="0"/>
              </a:endParaRPr>
            </a:p>
            <a:p>
              <a:pPr>
                <a:buNone/>
              </a:pPr>
              <a:r>
                <a:rPr lang="en-IN" sz="1800" dirty="0">
                  <a:solidFill>
                    <a:srgbClr val="1A1A1A"/>
                  </a:solidFill>
                  <a:effectLst/>
                  <a:latin typeface="Arial" panose="020B0604020202020204" pitchFamily="34" charset="0"/>
                  <a:ea typeface="Arial" panose="020B0604020202020204" pitchFamily="34" charset="0"/>
                </a:rPr>
                <a:t>• No simple all-in-one     tool for Indian car owners</a:t>
              </a:r>
              <a:endParaRPr lang="en-GB" dirty="0">
                <a:solidFill>
                  <a:schemeClr val="tx1"/>
                </a:solidFill>
              </a:endParaRPr>
            </a:p>
            <a:p>
              <a:r>
                <a:rPr lang="en-GB" b="1" dirty="0">
                  <a:solidFill>
                    <a:schemeClr val="tx1"/>
                  </a:solidFill>
                </a:rPr>
                <a:t>EXISTING ALTERNATIVES</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Google Search — generic, not car-specific</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kumimoji="0" lang="en-IN" sz="1800" b="0" i="0" u="none" strike="noStrike" kern="1200" cap="none" spc="0" normalizeH="0" baseline="0" noProof="0" dirty="0">
                  <a:ln>
                    <a:noFill/>
                  </a:ln>
                  <a:solidFill>
                    <a:srgbClr val="1A1A1A"/>
                  </a:solidFill>
                  <a:effectLst/>
                  <a:uLnTx/>
                  <a:uFillTx/>
                  <a:latin typeface="Arial" panose="020B0604020202020204" pitchFamily="34" charset="0"/>
                  <a:ea typeface="Arial" panose="020B0604020202020204" pitchFamily="34" charset="0"/>
                  <a:cs typeface="+mn-cs"/>
                </a:rPr>
                <a:t>•</a:t>
              </a:r>
              <a:r>
                <a:rPr lang="en-IN" sz="1800" dirty="0">
                  <a:solidFill>
                    <a:srgbClr val="1A1A1A"/>
                  </a:solidFill>
                  <a:effectLst/>
                  <a:latin typeface="Arial" panose="020B0604020202020204" pitchFamily="34" charset="0"/>
                  <a:ea typeface="Arial" panose="020B0604020202020204" pitchFamily="34" charset="0"/>
                </a:rPr>
                <a:t>  </a:t>
              </a:r>
              <a:r>
                <a:rPr lang="en-IN" sz="1800" dirty="0" err="1">
                  <a:solidFill>
                    <a:srgbClr val="1A1A1A"/>
                  </a:solidFill>
                  <a:effectLst/>
                  <a:latin typeface="Arial" panose="020B0604020202020204" pitchFamily="34" charset="0"/>
                  <a:ea typeface="Arial" panose="020B0604020202020204" pitchFamily="34" charset="0"/>
                </a:rPr>
                <a:t>CarDekho</a:t>
              </a:r>
              <a:r>
                <a:rPr lang="en-IN" sz="1800" dirty="0">
                  <a:solidFill>
                    <a:srgbClr val="1A1A1A"/>
                  </a:solidFill>
                  <a:effectLst/>
                  <a:latin typeface="Arial" panose="020B0604020202020204" pitchFamily="34" charset="0"/>
                  <a:ea typeface="Arial" panose="020B0604020202020204" pitchFamily="34" charset="0"/>
                </a:rPr>
                <a:t> — for buying cars not fixing</a:t>
              </a:r>
              <a:endParaRPr lang="en-IN" sz="2000" dirty="0">
                <a:effectLst/>
                <a:latin typeface="Arial" panose="020B0604020202020204" pitchFamily="34" charset="0"/>
                <a:ea typeface="Arial" panose="020B0604020202020204" pitchFamily="34" charset="0"/>
              </a:endParaRPr>
            </a:p>
            <a:p>
              <a:r>
                <a:rPr lang="en-IN" sz="1800" dirty="0">
                  <a:solidFill>
                    <a:srgbClr val="1A1A1A"/>
                  </a:solidFill>
                  <a:effectLst/>
                  <a:latin typeface="Arial" panose="020B0604020202020204" pitchFamily="34" charset="0"/>
                  <a:ea typeface="Arial" panose="020B0604020202020204" pitchFamily="34" charset="0"/>
                </a:rPr>
                <a:t>• OBD devices — costly   hardware, confusing</a:t>
              </a:r>
            </a:p>
            <a:p>
              <a:r>
                <a:rPr lang="en-IN" sz="1800" dirty="0">
                  <a:solidFill>
                    <a:srgbClr val="1A1A1A"/>
                  </a:solidFill>
                  <a:effectLst/>
                  <a:latin typeface="Arial" panose="020B0604020202020204" pitchFamily="34" charset="0"/>
                  <a:ea typeface="Arial" panose="020B0604020202020204" pitchFamily="34" charset="0"/>
                </a:rPr>
                <a:t>codes</a:t>
              </a:r>
              <a:endParaRPr lang="en-GB" dirty="0">
                <a:solidFill>
                  <a:schemeClr val="tx1"/>
                </a:solidFill>
              </a:endParaRPr>
            </a:p>
          </p:txBody>
        </p:sp>
        <p:sp>
          <p:nvSpPr>
            <p:cNvPr id="26" name="Rectangle 25">
              <a:extLst>
                <a:ext uri="{FF2B5EF4-FFF2-40B4-BE49-F238E27FC236}">
                  <a16:creationId xmlns:a16="http://schemas.microsoft.com/office/drawing/2014/main" id="{DA61AF53-C124-49C7-9FFB-00E90C7BD86C}"/>
                </a:ext>
              </a:extLst>
            </p:cNvPr>
            <p:cNvSpPr/>
            <p:nvPr/>
          </p:nvSpPr>
          <p:spPr>
            <a:xfrm>
              <a:off x="3032477" y="2637347"/>
              <a:ext cx="1608198" cy="236883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KEY METRICS</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App downloads per month</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Daily active users (DAU)</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Garage bookings per month</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AI chat questions answered</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Premium subscriber count</a:t>
              </a:r>
              <a:endParaRPr lang="en-US" dirty="0">
                <a:solidFill>
                  <a:schemeClr val="tx1"/>
                </a:solidFill>
              </a:endParaRPr>
            </a:p>
            <a:p>
              <a:endParaRPr lang="en-ZA" b="1" dirty="0">
                <a:solidFill>
                  <a:schemeClr val="tx1"/>
                </a:solidFill>
              </a:endParaRPr>
            </a:p>
          </p:txBody>
        </p:sp>
        <p:sp>
          <p:nvSpPr>
            <p:cNvPr id="27" name="Rectangle 26">
              <a:extLst>
                <a:ext uri="{FF2B5EF4-FFF2-40B4-BE49-F238E27FC236}">
                  <a16:creationId xmlns:a16="http://schemas.microsoft.com/office/drawing/2014/main" id="{8C3C327D-2A6A-43E6-8F62-9A1FFF479CDC}"/>
                </a:ext>
              </a:extLst>
            </p:cNvPr>
            <p:cNvSpPr/>
            <p:nvPr/>
          </p:nvSpPr>
          <p:spPr>
            <a:xfrm>
              <a:off x="3036352" y="956345"/>
              <a:ext cx="1608198" cy="161068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SOLUTION</a:t>
              </a:r>
            </a:p>
            <a:p>
              <a:r>
                <a:rPr lang="en-US" dirty="0">
                  <a:solidFill>
                    <a:schemeClr val="tx1"/>
                  </a:solidFill>
                  <a:latin typeface="Arial" panose="020B0604020202020204" pitchFamily="34" charset="0"/>
                  <a:cs typeface="Arial" panose="020B0604020202020204" pitchFamily="34" charset="0"/>
                </a:rPr>
                <a:t>Auto Fix AI provides AI-powered vehicle diagnosis through text, voice, and photo analysis, helping users quickly identify car problems</a:t>
              </a:r>
            </a:p>
          </p:txBody>
        </p:sp>
        <p:sp>
          <p:nvSpPr>
            <p:cNvPr id="28" name="Rectangle 27">
              <a:extLst>
                <a:ext uri="{FF2B5EF4-FFF2-40B4-BE49-F238E27FC236}">
                  <a16:creationId xmlns:a16="http://schemas.microsoft.com/office/drawing/2014/main" id="{EB374BDD-612A-4745-8EB3-8C7D069E8146}"/>
                </a:ext>
              </a:extLst>
            </p:cNvPr>
            <p:cNvSpPr/>
            <p:nvPr/>
          </p:nvSpPr>
          <p:spPr>
            <a:xfrm>
              <a:off x="4752681" y="956344"/>
              <a:ext cx="1835913" cy="406161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UNIQUE VALUE PROPOSITION</a:t>
              </a:r>
            </a:p>
            <a:p>
              <a:r>
                <a:rPr lang="en-IN" sz="1800" dirty="0">
                  <a:solidFill>
                    <a:srgbClr val="1A1A1A"/>
                  </a:solidFill>
                  <a:effectLst/>
                  <a:latin typeface="Arial" panose="020B0604020202020204" pitchFamily="34" charset="0"/>
                  <a:ea typeface="Arial" panose="020B0604020202020204" pitchFamily="34" charset="0"/>
                </a:rPr>
                <a:t>Auto Fix AI is the ONLY app that diagnoses your car by sound, photo or voice — connects you to a verified garage nearby with spare part prices — built for India.</a:t>
              </a:r>
            </a:p>
            <a:p>
              <a:endParaRPr lang="en-US" dirty="0">
                <a:solidFill>
                  <a:schemeClr val="tx1"/>
                </a:solidFill>
              </a:endParaRPr>
            </a:p>
            <a:p>
              <a:r>
                <a:rPr lang="en-US" b="1" dirty="0">
                  <a:solidFill>
                    <a:schemeClr val="tx1"/>
                  </a:solidFill>
                </a:rPr>
                <a:t>HIGH-LEVEL CONCEPT</a:t>
              </a:r>
              <a:endParaRPr lang="en-IN" sz="2000" dirty="0">
                <a:effectLst/>
                <a:latin typeface="Arial" panose="020B0604020202020204" pitchFamily="34" charset="0"/>
                <a:ea typeface="Arial" panose="020B0604020202020204" pitchFamily="34" charset="0"/>
              </a:endParaRPr>
            </a:p>
            <a:p>
              <a:pPr>
                <a:buNone/>
              </a:pPr>
              <a:r>
                <a:rPr lang="en-IN" sz="1800" dirty="0">
                  <a:solidFill>
                    <a:srgbClr val="1A1A1A"/>
                  </a:solidFill>
                  <a:effectLst/>
                  <a:latin typeface="Arial" panose="020B0604020202020204" pitchFamily="34" charset="0"/>
                  <a:ea typeface="Arial" panose="020B0604020202020204" pitchFamily="34" charset="0"/>
                </a:rPr>
                <a:t>Just like Zomato finds restaurants and lets you order — Auto Fix AI diagnoses your car, finds garages nearby and shows spare part prices. All in one tap.</a:t>
              </a:r>
              <a:endParaRPr lang="en-US" b="1" dirty="0">
                <a:solidFill>
                  <a:schemeClr val="tx1"/>
                </a:solidFill>
              </a:endParaRPr>
            </a:p>
            <a:p>
              <a:endParaRPr lang="en-US" b="1" dirty="0">
                <a:solidFill>
                  <a:schemeClr val="tx1"/>
                </a:solidFill>
              </a:endParaRPr>
            </a:p>
          </p:txBody>
        </p:sp>
        <p:sp>
          <p:nvSpPr>
            <p:cNvPr id="29" name="Rectangle 28">
              <a:extLst>
                <a:ext uri="{FF2B5EF4-FFF2-40B4-BE49-F238E27FC236}">
                  <a16:creationId xmlns:a16="http://schemas.microsoft.com/office/drawing/2014/main" id="{2BA62365-66A4-404F-8375-01904FBE1169}"/>
                </a:ext>
              </a:extLst>
            </p:cNvPr>
            <p:cNvSpPr/>
            <p:nvPr/>
          </p:nvSpPr>
          <p:spPr>
            <a:xfrm>
              <a:off x="6689796" y="956344"/>
              <a:ext cx="1657072" cy="161068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UNFAIR ADVANTAGE</a:t>
              </a:r>
            </a:p>
            <a:p>
              <a:pPr marL="257176" indent="-257176">
                <a:buFont typeface="Arial" panose="020B0604020202020204" pitchFamily="34" charset="0"/>
                <a:buChar char="•"/>
              </a:pPr>
              <a:r>
                <a:rPr lang="en-ZA" dirty="0">
                  <a:solidFill>
                    <a:schemeClr val="tx1"/>
                  </a:solidFill>
                  <a:latin typeface="Arial" panose="020B0604020202020204" pitchFamily="34" charset="0"/>
                  <a:cs typeface="Arial" panose="020B0604020202020204" pitchFamily="34" charset="0"/>
                </a:rPr>
                <a:t>Audio + Image + Text Diagnosis</a:t>
              </a:r>
            </a:p>
            <a:p>
              <a:pPr marL="257176" indent="-257176">
                <a:buFont typeface="Arial" panose="020B0604020202020204" pitchFamily="34" charset="0"/>
                <a:buChar char="•"/>
              </a:pPr>
              <a:r>
                <a:rPr lang="en-ZA" dirty="0">
                  <a:solidFill>
                    <a:schemeClr val="tx1"/>
                  </a:solidFill>
                  <a:latin typeface="Arial" panose="020B0604020202020204" pitchFamily="34" charset="0"/>
                  <a:cs typeface="Arial" panose="020B0604020202020204" pitchFamily="34" charset="0"/>
                </a:rPr>
                <a:t>Offline Mode</a:t>
              </a:r>
            </a:p>
            <a:p>
              <a:pPr marL="257176" indent="-257176">
                <a:buFont typeface="Arial" panose="020B0604020202020204" pitchFamily="34" charset="0"/>
                <a:buChar char="•"/>
              </a:pPr>
              <a:r>
                <a:rPr lang="en-ZA" dirty="0">
                  <a:solidFill>
                    <a:schemeClr val="tx1"/>
                  </a:solidFill>
                  <a:latin typeface="Arial" panose="020B0604020202020204" pitchFamily="34" charset="0"/>
                  <a:cs typeface="Arial" panose="020B0604020202020204" pitchFamily="34" charset="0"/>
                </a:rPr>
                <a:t>Data Moat</a:t>
              </a:r>
            </a:p>
            <a:p>
              <a:pPr marL="257176" indent="-257176">
                <a:buFont typeface="Arial" panose="020B0604020202020204" pitchFamily="34" charset="0"/>
                <a:buChar char="•"/>
              </a:pPr>
              <a:r>
                <a:rPr lang="en-ZA" dirty="0">
                  <a:solidFill>
                    <a:schemeClr val="tx1"/>
                  </a:solidFill>
                  <a:latin typeface="Arial" panose="020B0604020202020204" pitchFamily="34" charset="0"/>
                  <a:cs typeface="Arial" panose="020B0604020202020204" pitchFamily="34" charset="0"/>
                </a:rPr>
                <a:t>Verified Garage Network</a:t>
              </a:r>
            </a:p>
            <a:p>
              <a:endParaRPr lang="en-ZA" dirty="0">
                <a:solidFill>
                  <a:schemeClr val="tx1"/>
                </a:solidFill>
              </a:endParaRPr>
            </a:p>
          </p:txBody>
        </p:sp>
        <p:sp>
          <p:nvSpPr>
            <p:cNvPr id="30" name="Rectangle 29">
              <a:extLst>
                <a:ext uri="{FF2B5EF4-FFF2-40B4-BE49-F238E27FC236}">
                  <a16:creationId xmlns:a16="http://schemas.microsoft.com/office/drawing/2014/main" id="{F7BC84B1-956D-42A5-8672-FCFD7B07D99A}"/>
                </a:ext>
              </a:extLst>
            </p:cNvPr>
            <p:cNvSpPr/>
            <p:nvPr/>
          </p:nvSpPr>
          <p:spPr>
            <a:xfrm>
              <a:off x="6686843" y="2644352"/>
              <a:ext cx="1657072" cy="237360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CHANNELS</a:t>
              </a:r>
            </a:p>
            <a:p>
              <a:r>
                <a:rPr lang="en-IN" dirty="0">
                  <a:solidFill>
                    <a:srgbClr val="1A1A1A"/>
                  </a:solidFill>
                  <a:latin typeface="Arial" panose="020B0604020202020204" pitchFamily="34" charset="0"/>
                  <a:ea typeface="Arial" panose="020B0604020202020204" pitchFamily="34" charset="0"/>
                </a:rPr>
                <a:t>• </a:t>
              </a:r>
              <a:r>
                <a:rPr lang="en-IN" sz="1800" dirty="0">
                  <a:solidFill>
                    <a:srgbClr val="1A1A1A"/>
                  </a:solidFill>
                  <a:effectLst/>
                  <a:latin typeface="Arial" panose="020B0604020202020204" pitchFamily="34" charset="0"/>
                  <a:ea typeface="Arial" panose="020B0604020202020204" pitchFamily="34" charset="0"/>
                </a:rPr>
                <a:t>Google Play Store</a:t>
              </a:r>
              <a:endParaRPr lang="en-US" dirty="0">
                <a:solidFill>
                  <a:schemeClr val="tx1"/>
                </a:solidFill>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Instagram &amp; YouTube reels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WhatsApp community sharing</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College campus campaigns</a:t>
              </a:r>
              <a:endParaRPr lang="en-US" dirty="0">
                <a:solidFill>
                  <a:schemeClr val="tx1"/>
                </a:solidFill>
              </a:endParaRPr>
            </a:p>
            <a:p>
              <a:r>
                <a:rPr lang="en-IN" dirty="0">
                  <a:solidFill>
                    <a:srgbClr val="1A1A1A"/>
                  </a:solidFill>
                  <a:latin typeface="Arial" panose="020B0604020202020204" pitchFamily="34" charset="0"/>
                  <a:ea typeface="Arial" panose="020B0604020202020204" pitchFamily="34" charset="0"/>
                </a:rPr>
                <a:t> • Word </a:t>
              </a:r>
              <a:r>
                <a:rPr lang="en-IN" sz="1800" dirty="0">
                  <a:solidFill>
                    <a:srgbClr val="1A1A1A"/>
                  </a:solidFill>
                  <a:effectLst/>
                  <a:latin typeface="Arial" panose="020B0604020202020204" pitchFamily="34" charset="0"/>
                  <a:ea typeface="Arial" panose="020B0604020202020204" pitchFamily="34" charset="0"/>
                </a:rPr>
                <a:t>of mouth</a:t>
              </a:r>
            </a:p>
            <a:p>
              <a:r>
                <a:rPr lang="en-IN" dirty="0">
                  <a:solidFill>
                    <a:srgbClr val="1A1A1A"/>
                  </a:solidFill>
                  <a:latin typeface="Arial" panose="020B0604020202020204" pitchFamily="34" charset="0"/>
                  <a:ea typeface="Arial" panose="020B0604020202020204" pitchFamily="34" charset="0"/>
                </a:rPr>
                <a:t>   </a:t>
              </a:r>
              <a:r>
                <a:rPr lang="en-IN" sz="1800" dirty="0">
                  <a:solidFill>
                    <a:srgbClr val="1A1A1A"/>
                  </a:solidFill>
                  <a:effectLst/>
                  <a:latin typeface="Arial" panose="020B0604020202020204" pitchFamily="34" charset="0"/>
                  <a:ea typeface="Arial" panose="020B0604020202020204" pitchFamily="34" charset="0"/>
                </a:rPr>
                <a:t>referral program</a:t>
              </a:r>
              <a:endParaRPr lang="en-US" sz="1800" dirty="0">
                <a:solidFill>
                  <a:schemeClr val="tx1"/>
                </a:solidFill>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Petrol station &amp; garage partnerships</a:t>
              </a:r>
              <a:endParaRPr lang="en-US" dirty="0">
                <a:solidFill>
                  <a:schemeClr val="tx1"/>
                </a:solidFill>
              </a:endParaRPr>
            </a:p>
          </p:txBody>
        </p:sp>
        <p:sp>
          <p:nvSpPr>
            <p:cNvPr id="31" name="Rectangle 30">
              <a:extLst>
                <a:ext uri="{FF2B5EF4-FFF2-40B4-BE49-F238E27FC236}">
                  <a16:creationId xmlns:a16="http://schemas.microsoft.com/office/drawing/2014/main" id="{FAC9E9F4-9BD4-4F01-9A69-4B416DF6CD3A}"/>
                </a:ext>
              </a:extLst>
            </p:cNvPr>
            <p:cNvSpPr/>
            <p:nvPr/>
          </p:nvSpPr>
          <p:spPr>
            <a:xfrm>
              <a:off x="5781668" y="5124246"/>
              <a:ext cx="4576890" cy="128738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REVENUE STREAMS</a:t>
              </a:r>
            </a:p>
            <a:p>
              <a:r>
                <a:rPr lang="en-US" dirty="0">
                  <a:solidFill>
                    <a:schemeClr val="tx1"/>
                  </a:solidFill>
                  <a:latin typeface="Arial" panose="020B0604020202020204" pitchFamily="34" charset="0"/>
                  <a:cs typeface="Arial" panose="020B0604020202020204" pitchFamily="34" charset="0"/>
                </a:rPr>
                <a:t>Subscription (₹99/month)</a:t>
              </a:r>
            </a:p>
            <a:p>
              <a:r>
                <a:rPr lang="en-US" dirty="0">
                  <a:solidFill>
                    <a:schemeClr val="tx1"/>
                  </a:solidFill>
                  <a:latin typeface="Arial" panose="020B0604020202020204" pitchFamily="34" charset="0"/>
                  <a:cs typeface="Arial" panose="020B0604020202020204" pitchFamily="34" charset="0"/>
                </a:rPr>
                <a:t>Garage Commission (10–15%)</a:t>
              </a:r>
            </a:p>
            <a:p>
              <a:r>
                <a:rPr lang="en-US" dirty="0">
                  <a:solidFill>
                    <a:schemeClr val="tx1"/>
                  </a:solidFill>
                  <a:latin typeface="Arial" panose="020B0604020202020204" pitchFamily="34" charset="0"/>
                  <a:cs typeface="Arial" panose="020B0604020202020204" pitchFamily="34" charset="0"/>
                </a:rPr>
                <a:t>Spare Parts Affiliate Commission</a:t>
              </a:r>
            </a:p>
            <a:p>
              <a:r>
                <a:rPr lang="en-US" dirty="0">
                  <a:solidFill>
                    <a:schemeClr val="tx1"/>
                  </a:solidFill>
                  <a:latin typeface="Arial" panose="020B0604020202020204" pitchFamily="34" charset="0"/>
                  <a:cs typeface="Arial" panose="020B0604020202020204" pitchFamily="34" charset="0"/>
                </a:rPr>
                <a:t>Google AdMob Advertisements</a:t>
              </a:r>
            </a:p>
            <a:p>
              <a:r>
                <a:rPr lang="en-US" dirty="0">
                  <a:solidFill>
                    <a:schemeClr val="tx1"/>
                  </a:solidFill>
                  <a:latin typeface="Arial" panose="020B0604020202020204" pitchFamily="34" charset="0"/>
                  <a:cs typeface="Arial" panose="020B0604020202020204" pitchFamily="34" charset="0"/>
                </a:rPr>
                <a:t>Premium Garage Listings (₹499–999/month)</a:t>
              </a:r>
            </a:p>
            <a:p>
              <a:endParaRPr lang="en-US" dirty="0">
                <a:solidFill>
                  <a:schemeClr val="tx1"/>
                </a:solidFill>
              </a:endParaRPr>
            </a:p>
          </p:txBody>
        </p:sp>
        <p:sp>
          <p:nvSpPr>
            <p:cNvPr id="32" name="Rectangle 31">
              <a:extLst>
                <a:ext uri="{FF2B5EF4-FFF2-40B4-BE49-F238E27FC236}">
                  <a16:creationId xmlns:a16="http://schemas.microsoft.com/office/drawing/2014/main" id="{009C3843-A5E1-4267-892B-5C21CFF1D0BF}"/>
                </a:ext>
              </a:extLst>
            </p:cNvPr>
            <p:cNvSpPr/>
            <p:nvPr/>
          </p:nvSpPr>
          <p:spPr>
            <a:xfrm>
              <a:off x="8464027" y="956344"/>
              <a:ext cx="1848269" cy="404983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CUSTOMER SEGMENTS</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Non-technical car owners (primary)</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Busy working professionals in cities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People in semi-urban and rural areas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First-time car buyers</a:t>
              </a:r>
              <a:endParaRPr lang="en-IN" sz="2000" dirty="0">
                <a:effectLst/>
                <a:latin typeface="Arial" panose="020B0604020202020204" pitchFamily="34" charset="0"/>
                <a:ea typeface="Arial" panose="020B0604020202020204" pitchFamily="34" charset="0"/>
              </a:endParaRPr>
            </a:p>
            <a:p>
              <a:pPr>
                <a:buNone/>
              </a:pPr>
              <a:r>
                <a:rPr lang="en-IN" sz="1800" dirty="0">
                  <a:solidFill>
                    <a:srgbClr val="1A1A1A"/>
                  </a:solidFill>
                  <a:effectLst/>
                  <a:latin typeface="Arial" panose="020B0604020202020204" pitchFamily="34" charset="0"/>
                  <a:ea typeface="Arial" panose="020B0604020202020204" pitchFamily="34" charset="0"/>
                </a:rPr>
                <a:t>• Women and elderly car</a:t>
              </a:r>
            </a:p>
            <a:p>
              <a:pPr>
                <a:buNone/>
              </a:pPr>
              <a:r>
                <a:rPr lang="en-IN" dirty="0">
                  <a:solidFill>
                    <a:srgbClr val="1A1A1A"/>
                  </a:solidFill>
                  <a:latin typeface="Arial" panose="020B0604020202020204" pitchFamily="34" charset="0"/>
                  <a:ea typeface="Arial" panose="020B0604020202020204" pitchFamily="34" charset="0"/>
                </a:rPr>
                <a:t> </a:t>
              </a:r>
              <a:r>
                <a:rPr lang="en-IN" sz="1800" dirty="0">
                  <a:solidFill>
                    <a:srgbClr val="1A1A1A"/>
                  </a:solidFill>
                  <a:effectLst/>
                  <a:latin typeface="Arial" panose="020B0604020202020204" pitchFamily="34" charset="0"/>
                  <a:ea typeface="Arial" panose="020B0604020202020204" pitchFamily="34" charset="0"/>
                </a:rPr>
                <a:t> owners</a:t>
              </a:r>
              <a:endParaRPr lang="en-US" dirty="0">
                <a:solidFill>
                  <a:schemeClr val="tx1"/>
                </a:solidFill>
              </a:endParaRPr>
            </a:p>
            <a:p>
              <a:r>
                <a:rPr lang="en-US" b="1" dirty="0">
                  <a:solidFill>
                    <a:schemeClr val="tx1"/>
                  </a:solidFill>
                </a:rPr>
                <a:t>EARLY ADOPTERS </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Urban professionals aged 25-40</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College students who own cars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People who recently bought first car</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Car owners who were overcharged before</a:t>
              </a:r>
              <a:endParaRPr lang="en-IN" sz="2000" dirty="0">
                <a:effectLst/>
                <a:latin typeface="Arial" panose="020B0604020202020204" pitchFamily="34" charset="0"/>
                <a:ea typeface="Arial" panose="020B0604020202020204" pitchFamily="34" charset="0"/>
              </a:endParaRPr>
            </a:p>
            <a:p>
              <a:pPr>
                <a:buNone/>
              </a:pPr>
              <a:r>
                <a:rPr lang="en-IN" sz="1800" dirty="0">
                  <a:solidFill>
                    <a:srgbClr val="1A1A1A"/>
                  </a:solidFill>
                  <a:effectLst/>
                  <a:latin typeface="Arial" panose="020B0604020202020204" pitchFamily="34" charset="0"/>
                  <a:ea typeface="Arial" panose="020B0604020202020204" pitchFamily="34" charset="0"/>
                </a:rPr>
                <a:t>• Tech-savvy users in Bangalore, Hyderabad. </a:t>
              </a:r>
              <a:endParaRPr lang="en-US" b="1" dirty="0">
                <a:solidFill>
                  <a:schemeClr val="tx1"/>
                </a:solidFill>
              </a:endParaRPr>
            </a:p>
          </p:txBody>
        </p:sp>
        <p:sp>
          <p:nvSpPr>
            <p:cNvPr id="33" name="Rectangle 32">
              <a:extLst>
                <a:ext uri="{FF2B5EF4-FFF2-40B4-BE49-F238E27FC236}">
                  <a16:creationId xmlns:a16="http://schemas.microsoft.com/office/drawing/2014/main" id="{B433AFEF-AAB0-4118-9790-7694BAC47BCE}"/>
                </a:ext>
              </a:extLst>
            </p:cNvPr>
            <p:cNvSpPr/>
            <p:nvPr/>
          </p:nvSpPr>
          <p:spPr>
            <a:xfrm>
              <a:off x="1057033" y="5132637"/>
              <a:ext cx="4599726" cy="1278992"/>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COST STRUCTURE</a:t>
              </a: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App development — </a:t>
              </a:r>
              <a:r>
                <a:rPr lang="en-IN" sz="1800" dirty="0" err="1">
                  <a:solidFill>
                    <a:srgbClr val="1A1A1A"/>
                  </a:solidFill>
                  <a:effectLst/>
                  <a:latin typeface="Arial" panose="020B0604020202020204" pitchFamily="34" charset="0"/>
                  <a:ea typeface="Arial" panose="020B0604020202020204" pitchFamily="34" charset="0"/>
                </a:rPr>
                <a:t>FlutterFlow</a:t>
              </a:r>
              <a:r>
                <a:rPr lang="en-IN" sz="1800" dirty="0">
                  <a:solidFill>
                    <a:srgbClr val="1A1A1A"/>
                  </a:solidFill>
                  <a:effectLst/>
                  <a:latin typeface="Arial" panose="020B0604020202020204" pitchFamily="34" charset="0"/>
                  <a:ea typeface="Arial" panose="020B0604020202020204" pitchFamily="34" charset="0"/>
                </a:rPr>
                <a:t> Rs.1,600/</a:t>
              </a:r>
              <a:r>
                <a:rPr lang="en-IN" sz="1800" dirty="0" err="1">
                  <a:solidFill>
                    <a:srgbClr val="1A1A1A"/>
                  </a:solidFill>
                  <a:effectLst/>
                  <a:latin typeface="Arial" panose="020B0604020202020204" pitchFamily="34" charset="0"/>
                  <a:ea typeface="Arial" panose="020B0604020202020204" pitchFamily="34" charset="0"/>
                </a:rPr>
                <a:t>mo</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Google Play Console — Rs.1,750 one-time</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Claude AI API — Rs.500-2,000/month</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Firebase database — Free up to 1,000 users</a:t>
              </a:r>
              <a:endParaRPr lang="en-IN" sz="20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1800" dirty="0">
                  <a:solidFill>
                    <a:srgbClr val="1A1A1A"/>
                  </a:solidFill>
                  <a:effectLst/>
                  <a:latin typeface="Arial" panose="020B0604020202020204" pitchFamily="34" charset="0"/>
                  <a:ea typeface="Arial" panose="020B0604020202020204" pitchFamily="34" charset="0"/>
                </a:rPr>
                <a:t>• Google Maps API — Free $200 credit/</a:t>
              </a:r>
              <a:r>
                <a:rPr lang="en-IN" sz="1800" dirty="0" err="1">
                  <a:solidFill>
                    <a:srgbClr val="1A1A1A"/>
                  </a:solidFill>
                  <a:effectLst/>
                  <a:latin typeface="Arial" panose="020B0604020202020204" pitchFamily="34" charset="0"/>
                  <a:ea typeface="Arial" panose="020B0604020202020204" pitchFamily="34" charset="0"/>
                </a:rPr>
                <a:t>mo</a:t>
              </a:r>
              <a:r>
                <a:rPr lang="en-ZA" sz="1800" dirty="0">
                  <a:solidFill>
                    <a:schemeClr val="tx1"/>
                  </a:solidFill>
                  <a:effectLst/>
                  <a:latin typeface="Arial" panose="020B0604020202020204" pitchFamily="34" charset="0"/>
                  <a:ea typeface="Arial" panose="020B0604020202020204" pitchFamily="34" charset="0"/>
                </a:rPr>
                <a:t>nth</a:t>
              </a:r>
              <a:endParaRPr lang="en-ZA" dirty="0">
                <a:solidFill>
                  <a:schemeClr val="tx1"/>
                </a:solidFill>
              </a:endParaRPr>
            </a:p>
          </p:txBody>
        </p:sp>
      </p:grpSp>
      <p:pic>
        <p:nvPicPr>
          <p:cNvPr id="7" name="Picture 6" descr="AUTOFIXAI">
            <a:extLst>
              <a:ext uri="{FF2B5EF4-FFF2-40B4-BE49-F238E27FC236}">
                <a16:creationId xmlns:a16="http://schemas.microsoft.com/office/drawing/2014/main" id="{8766D1DF-7D6D-0832-B819-88391B5DFE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75697" y="326221"/>
            <a:ext cx="1924291" cy="1361459"/>
          </a:xfrm>
          <a:prstGeom prst="rect">
            <a:avLst/>
          </a:prstGeom>
        </p:spPr>
      </p:pic>
      <p:sp>
        <p:nvSpPr>
          <p:cNvPr id="4" name="Arrow: Down 3">
            <a:extLst>
              <a:ext uri="{FF2B5EF4-FFF2-40B4-BE49-F238E27FC236}">
                <a16:creationId xmlns:a16="http://schemas.microsoft.com/office/drawing/2014/main" id="{A4A1D7AB-87B2-341E-3CA7-87ED350F2760}"/>
              </a:ext>
            </a:extLst>
          </p:cNvPr>
          <p:cNvSpPr/>
          <p:nvPr/>
        </p:nvSpPr>
        <p:spPr>
          <a:xfrm>
            <a:off x="16155999" y="2697575"/>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Down 8">
            <a:extLst>
              <a:ext uri="{FF2B5EF4-FFF2-40B4-BE49-F238E27FC236}">
                <a16:creationId xmlns:a16="http://schemas.microsoft.com/office/drawing/2014/main" id="{05C8268D-0265-89F4-B7AE-8F6C2F4B6F18}"/>
              </a:ext>
            </a:extLst>
          </p:cNvPr>
          <p:cNvSpPr/>
          <p:nvPr/>
        </p:nvSpPr>
        <p:spPr>
          <a:xfrm>
            <a:off x="16152837" y="3171396"/>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a:extLst>
              <a:ext uri="{FF2B5EF4-FFF2-40B4-BE49-F238E27FC236}">
                <a16:creationId xmlns:a16="http://schemas.microsoft.com/office/drawing/2014/main" id="{3D3627F5-8BD8-03E1-39A8-450B760CF509}"/>
              </a:ext>
            </a:extLst>
          </p:cNvPr>
          <p:cNvSpPr/>
          <p:nvPr/>
        </p:nvSpPr>
        <p:spPr>
          <a:xfrm flipH="1">
            <a:off x="16152834" y="3732901"/>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a:extLst>
              <a:ext uri="{FF2B5EF4-FFF2-40B4-BE49-F238E27FC236}">
                <a16:creationId xmlns:a16="http://schemas.microsoft.com/office/drawing/2014/main" id="{BEDC738C-B3EC-027B-9096-1E9D8D161AC7}"/>
              </a:ext>
            </a:extLst>
          </p:cNvPr>
          <p:cNvSpPr/>
          <p:nvPr/>
        </p:nvSpPr>
        <p:spPr>
          <a:xfrm>
            <a:off x="16170440" y="4330953"/>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a:extLst>
              <a:ext uri="{FF2B5EF4-FFF2-40B4-BE49-F238E27FC236}">
                <a16:creationId xmlns:a16="http://schemas.microsoft.com/office/drawing/2014/main" id="{38947F4C-4C79-558F-FC5E-65E41D7FA7D1}"/>
              </a:ext>
            </a:extLst>
          </p:cNvPr>
          <p:cNvSpPr/>
          <p:nvPr/>
        </p:nvSpPr>
        <p:spPr>
          <a:xfrm>
            <a:off x="16163219" y="4864804"/>
            <a:ext cx="6015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Down 12">
            <a:extLst>
              <a:ext uri="{FF2B5EF4-FFF2-40B4-BE49-F238E27FC236}">
                <a16:creationId xmlns:a16="http://schemas.microsoft.com/office/drawing/2014/main" id="{DF6C94F3-4159-6682-2E4D-1D4FE0F79221}"/>
              </a:ext>
            </a:extLst>
          </p:cNvPr>
          <p:cNvSpPr/>
          <p:nvPr/>
        </p:nvSpPr>
        <p:spPr>
          <a:xfrm>
            <a:off x="16170438" y="5379724"/>
            <a:ext cx="45719" cy="25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1F304B08-D4E4-8358-CAFF-C5F358BD31FA}"/>
              </a:ext>
            </a:extLst>
          </p:cNvPr>
          <p:cNvSpPr/>
          <p:nvPr/>
        </p:nvSpPr>
        <p:spPr>
          <a:xfrm flipH="1">
            <a:off x="16170437" y="5948459"/>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139092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95300"/>
            <a:ext cx="4191000" cy="652462"/>
          </a:xfrm>
        </p:spPr>
        <p:txBody>
          <a:bodyPr>
            <a:normAutofit fontScale="90000"/>
          </a:bodyPr>
          <a:lstStyle/>
          <a:p>
            <a:pPr algn="l"/>
            <a:r>
              <a:rPr lang="en-US" sz="4400" dirty="0">
                <a:solidFill>
                  <a:schemeClr val="tx1"/>
                </a:solidFill>
              </a:rPr>
              <a:t>MVP</a:t>
            </a:r>
            <a:endParaRPr lang="en-US" dirty="0">
              <a:solidFill>
                <a:schemeClr val="tx1"/>
              </a:solidFill>
            </a:endParaRPr>
          </a:p>
        </p:txBody>
      </p:sp>
      <p:sp>
        <p:nvSpPr>
          <p:cNvPr id="3" name="TextBox 2"/>
          <p:cNvSpPr txBox="1"/>
          <p:nvPr/>
        </p:nvSpPr>
        <p:spPr>
          <a:xfrm>
            <a:off x="533400" y="1604124"/>
            <a:ext cx="15230901" cy="7591822"/>
          </a:xfrm>
          <a:prstGeom prst="rect">
            <a:avLst/>
          </a:prstGeom>
          <a:noFill/>
        </p:spPr>
        <p:txBody>
          <a:bodyPr wrap="square" rtlCol="0">
            <a:spAutoFit/>
          </a:bodyPr>
          <a:lstStyle/>
          <a:p>
            <a:pPr>
              <a:buClrTx/>
            </a:pPr>
            <a:r>
              <a:rPr lang="en-US" sz="2700" b="1" dirty="0"/>
              <a:t>Provide Full product/service description:</a:t>
            </a:r>
            <a:r>
              <a:rPr lang="en-IN" dirty="0"/>
              <a:t> </a:t>
            </a:r>
            <a:r>
              <a:rPr lang="en-IN" dirty="0">
                <a:latin typeface="Berlin Sans FB" panose="020E0602020502020306" pitchFamily="34" charset="0"/>
              </a:rPr>
              <a:t>Auto Fix AI is an AI-powered mobile app that helps Indian car owners instantly diagnose vehicle problems, find nearby verified garages, and check spare part prices — all in one free app. The user selects their car brand, model, year and variant. They can type, speak, or take a photo to describe their problem. The AI gives a simple personalised answer in their language with step-by-step guidance. If the problem needs a mechanic, the app shows nearby verified garages on a map with directions, ratings and phone numbers. The spare parts section shows prices of 100+ common parts at local shops. Works offline and supports 12 Indian languages including Hindi, Kannada and Tamil.</a:t>
            </a:r>
          </a:p>
          <a:p>
            <a:pPr>
              <a:buClrTx/>
            </a:pPr>
            <a:endParaRPr lang="en-IN" sz="2700" b="1" dirty="0">
              <a:solidFill>
                <a:prstClr val="black"/>
              </a:solidFill>
              <a:latin typeface="Berlin Sans FB" panose="020E0602020502020306" pitchFamily="34" charset="0"/>
            </a:endParaRPr>
          </a:p>
          <a:p>
            <a:r>
              <a:rPr lang="en-US" sz="2800" b="1" dirty="0"/>
              <a:t>Description of how the product will work and steps the customer will follow:</a:t>
            </a:r>
            <a:endParaRPr lang="en-IN" sz="3200" dirty="0">
              <a:effectLst/>
              <a:latin typeface="Arial" panose="020B0604020202020204" pitchFamily="34" charset="0"/>
              <a:ea typeface="Arial" panose="020B0604020202020204" pitchFamily="34" charset="0"/>
            </a:endParaRPr>
          </a:p>
          <a:p>
            <a:pPr marL="114300" indent="-114300">
              <a:spcBef>
                <a:spcPts val="200"/>
              </a:spcBef>
              <a:spcAft>
                <a:spcPts val="200"/>
              </a:spcAft>
              <a:buNone/>
            </a:pPr>
            <a:r>
              <a:rPr lang="en-IN" sz="2800" dirty="0">
                <a:solidFill>
                  <a:srgbClr val="1A1A1A"/>
                </a:solidFill>
                <a:effectLst/>
                <a:latin typeface="Berlin Sans FB" panose="020E0602020502020306" pitchFamily="34" charset="0"/>
                <a:ea typeface="Arial" panose="020B0604020202020204" pitchFamily="34" charset="0"/>
              </a:rPr>
              <a:t>• </a:t>
            </a:r>
            <a:r>
              <a:rPr lang="en-IN" dirty="0">
                <a:solidFill>
                  <a:srgbClr val="1A1A1A"/>
                </a:solidFill>
                <a:effectLst/>
                <a:latin typeface="Berlin Sans FB" panose="020E0602020502020306" pitchFamily="34" charset="0"/>
                <a:ea typeface="Arial" panose="020B0604020202020204" pitchFamily="34" charset="0"/>
              </a:rPr>
              <a:t>Step 1 — Download Auto Fix AI from Google Play Store for free</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2 — Sign in with Google account (one tap)</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3 — Select your car: brand (Maruti / Hyundai / Tata etc.) then model, year and variant</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4 — Describe the problem: type it, speak in your language, take a photo of dashboard, or record engine sound</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5 — AI gives personalised diagnosis in simple language with cost estimate in Rupees</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6 — If mechanic needed: tap Garage Finder — GPS shows nearest verified garages on map</a:t>
            </a:r>
            <a:endParaRPr lang="en-IN" dirty="0">
              <a:effectLst/>
              <a:latin typeface="Berlin Sans FB" panose="020E0602020502020306" pitchFamily="34" charset="0"/>
              <a:ea typeface="Arial" panose="020B0604020202020204" pitchFamily="34" charset="0"/>
            </a:endParaRPr>
          </a:p>
          <a:p>
            <a:pPr marL="114300" indent="-114300">
              <a:spcBef>
                <a:spcPts val="200"/>
              </a:spcBef>
              <a:spcAft>
                <a:spcPts val="200"/>
              </a:spcAft>
              <a:buNone/>
            </a:pPr>
            <a:r>
              <a:rPr lang="en-IN" dirty="0">
                <a:solidFill>
                  <a:srgbClr val="1A1A1A"/>
                </a:solidFill>
                <a:effectLst/>
                <a:latin typeface="Berlin Sans FB" panose="020E0602020502020306" pitchFamily="34" charset="0"/>
                <a:ea typeface="Arial" panose="020B0604020202020204" pitchFamily="34" charset="0"/>
              </a:rPr>
              <a:t>• Step 7 — Call garage directly from app or get directions with one tap</a:t>
            </a:r>
            <a:endParaRPr lang="en-IN" dirty="0">
              <a:effectLst/>
              <a:latin typeface="Berlin Sans FB" panose="020E0602020502020306" pitchFamily="34" charset="0"/>
              <a:ea typeface="Arial" panose="020B0604020202020204" pitchFamily="34" charset="0"/>
            </a:endParaRPr>
          </a:p>
          <a:p>
            <a:pPr>
              <a:buNone/>
            </a:pPr>
            <a:r>
              <a:rPr lang="en-IN" dirty="0">
                <a:solidFill>
                  <a:srgbClr val="1A1A1A"/>
                </a:solidFill>
                <a:effectLst/>
                <a:latin typeface="Berlin Sans FB" panose="020E0602020502020306" pitchFamily="34" charset="0"/>
                <a:ea typeface="Arial" panose="020B0604020202020204" pitchFamily="34" charset="0"/>
              </a:rPr>
              <a:t>• Step 8 — Check spare part prices in Parts section to know fair market rate before visiting mechanic</a:t>
            </a:r>
            <a:r>
              <a:rPr lang="en-US" b="1" dirty="0">
                <a:solidFill>
                  <a:srgbClr val="1A1A1A"/>
                </a:solidFill>
                <a:effectLst/>
                <a:latin typeface="Berlin Sans FB" panose="020E0602020502020306" pitchFamily="34" charset="0"/>
                <a:ea typeface="Arial" panose="020B0604020202020204" pitchFamily="34" charset="0"/>
              </a:rPr>
              <a:t>.</a:t>
            </a:r>
          </a:p>
          <a:p>
            <a:pPr>
              <a:buNone/>
            </a:pPr>
            <a:endParaRPr lang="en-US" b="1" dirty="0">
              <a:solidFill>
                <a:srgbClr val="1A1A1A"/>
              </a:solidFill>
              <a:effectLst/>
              <a:latin typeface="Berlin Sans FB" panose="020E0602020502020306" pitchFamily="34" charset="0"/>
              <a:ea typeface="Arial" panose="020B0604020202020204" pitchFamily="34" charset="0"/>
            </a:endParaRPr>
          </a:p>
          <a:p>
            <a:pPr>
              <a:buNone/>
            </a:pPr>
            <a:r>
              <a:rPr lang="en-US" sz="2800" b="1" dirty="0"/>
              <a:t>App Link, Prototype &amp;Screenshots:</a:t>
            </a:r>
          </a:p>
          <a:p>
            <a:pPr>
              <a:spcBef>
                <a:spcPts val="250"/>
              </a:spcBef>
              <a:spcAft>
                <a:spcPts val="250"/>
              </a:spcAft>
              <a:buNone/>
            </a:pPr>
            <a:r>
              <a:rPr lang="en-IN" dirty="0">
                <a:solidFill>
                  <a:srgbClr val="1A1A1A"/>
                </a:solidFill>
                <a:effectLst/>
                <a:latin typeface="Berlin Sans FB" panose="020E0602020502020306" pitchFamily="34" charset="0"/>
                <a:ea typeface="Arial" panose="020B0604020202020204" pitchFamily="34" charset="0"/>
              </a:rPr>
              <a:t>Platform: Android app (Google Play Store) — iOS version planned for Phase 2</a:t>
            </a:r>
            <a:endParaRPr lang="en-IN" dirty="0">
              <a:effectLst/>
              <a:latin typeface="Berlin Sans FB" panose="020E0602020502020306" pitchFamily="34" charset="0"/>
              <a:ea typeface="Arial" panose="020B0604020202020204" pitchFamily="34" charset="0"/>
            </a:endParaRPr>
          </a:p>
          <a:p>
            <a:pPr>
              <a:spcBef>
                <a:spcPts val="250"/>
              </a:spcBef>
              <a:spcAft>
                <a:spcPts val="250"/>
              </a:spcAft>
              <a:buNone/>
            </a:pPr>
            <a:r>
              <a:rPr lang="en-IN" dirty="0">
                <a:solidFill>
                  <a:srgbClr val="1A1A1A"/>
                </a:solidFill>
                <a:effectLst/>
                <a:latin typeface="Berlin Sans FB" panose="020E0602020502020306" pitchFamily="34" charset="0"/>
                <a:ea typeface="Arial" panose="020B0604020202020204" pitchFamily="34" charset="0"/>
              </a:rPr>
              <a:t>Current Stage: Interactive demo prototype built and tested. Full MVP development in progress using </a:t>
            </a:r>
            <a:r>
              <a:rPr lang="en-IN" dirty="0" err="1">
                <a:solidFill>
                  <a:srgbClr val="1A1A1A"/>
                </a:solidFill>
                <a:effectLst/>
                <a:latin typeface="Berlin Sans FB" panose="020E0602020502020306" pitchFamily="34" charset="0"/>
                <a:ea typeface="Arial" panose="020B0604020202020204" pitchFamily="34" charset="0"/>
              </a:rPr>
              <a:t>FlutterFlow</a:t>
            </a:r>
            <a:r>
              <a:rPr lang="en-IN" dirty="0">
                <a:solidFill>
                  <a:srgbClr val="1A1A1A"/>
                </a:solidFill>
                <a:effectLst/>
                <a:latin typeface="Berlin Sans FB" panose="020E0602020502020306" pitchFamily="34" charset="0"/>
                <a:ea typeface="Arial" panose="020B0604020202020204" pitchFamily="34" charset="0"/>
              </a:rPr>
              <a:t> + Firebase + Claude AI API.</a:t>
            </a:r>
            <a:endParaRPr lang="en-IN" dirty="0">
              <a:effectLst/>
              <a:latin typeface="Berlin Sans FB" panose="020E0602020502020306" pitchFamily="34" charset="0"/>
              <a:ea typeface="Arial" panose="020B0604020202020204" pitchFamily="34" charset="0"/>
            </a:endParaRPr>
          </a:p>
          <a:p>
            <a:pPr>
              <a:spcBef>
                <a:spcPts val="250"/>
              </a:spcBef>
              <a:spcAft>
                <a:spcPts val="250"/>
              </a:spcAft>
              <a:buNone/>
            </a:pPr>
            <a:r>
              <a:rPr lang="en-IN" dirty="0">
                <a:solidFill>
                  <a:srgbClr val="1A1A1A"/>
                </a:solidFill>
                <a:effectLst/>
                <a:latin typeface="Berlin Sans FB" panose="020E0602020502020306" pitchFamily="34" charset="0"/>
                <a:ea typeface="Arial" panose="020B0604020202020204" pitchFamily="34" charset="0"/>
              </a:rPr>
              <a:t>Play Store Link: [To be published — play.google.com/store/apps/</a:t>
            </a:r>
            <a:r>
              <a:rPr lang="en-IN" dirty="0" err="1">
                <a:solidFill>
                  <a:srgbClr val="1A1A1A"/>
                </a:solidFill>
                <a:effectLst/>
                <a:latin typeface="Berlin Sans FB" panose="020E0602020502020306" pitchFamily="34" charset="0"/>
                <a:ea typeface="Arial" panose="020B0604020202020204" pitchFamily="34" charset="0"/>
              </a:rPr>
              <a:t>details?id</a:t>
            </a:r>
            <a:r>
              <a:rPr lang="en-IN" dirty="0">
                <a:solidFill>
                  <a:srgbClr val="1A1A1A"/>
                </a:solidFill>
                <a:effectLst/>
                <a:latin typeface="Berlin Sans FB" panose="020E0602020502020306" pitchFamily="34" charset="0"/>
                <a:ea typeface="Arial" panose="020B0604020202020204" pitchFamily="34" charset="0"/>
              </a:rPr>
              <a:t>=</a:t>
            </a:r>
            <a:r>
              <a:rPr lang="en-IN" dirty="0" err="1">
                <a:solidFill>
                  <a:srgbClr val="1A1A1A"/>
                </a:solidFill>
                <a:effectLst/>
                <a:latin typeface="Berlin Sans FB" panose="020E0602020502020306" pitchFamily="34" charset="0"/>
                <a:ea typeface="Arial" panose="020B0604020202020204" pitchFamily="34" charset="0"/>
              </a:rPr>
              <a:t>com.autofixai.app</a:t>
            </a:r>
            <a:r>
              <a:rPr lang="en-IN" dirty="0">
                <a:solidFill>
                  <a:srgbClr val="1A1A1A"/>
                </a:solidFill>
                <a:effectLst/>
                <a:latin typeface="Berlin Sans FB" panose="020E0602020502020306" pitchFamily="34" charset="0"/>
                <a:ea typeface="Arial" panose="020B0604020202020204" pitchFamily="34" charset="0"/>
              </a:rPr>
              <a:t>]</a:t>
            </a:r>
            <a:endParaRPr lang="en-IN" dirty="0">
              <a:effectLst/>
              <a:latin typeface="Berlin Sans FB" panose="020E0602020502020306" pitchFamily="34" charset="0"/>
              <a:ea typeface="Arial" panose="020B0604020202020204" pitchFamily="34" charset="0"/>
            </a:endParaRPr>
          </a:p>
          <a:p>
            <a:pPr>
              <a:spcBef>
                <a:spcPts val="250"/>
              </a:spcBef>
              <a:spcAft>
                <a:spcPts val="250"/>
              </a:spcAft>
              <a:buNone/>
            </a:pPr>
            <a:r>
              <a:rPr lang="en-IN" dirty="0">
                <a:solidFill>
                  <a:srgbClr val="1A1A1A"/>
                </a:solidFill>
                <a:effectLst/>
                <a:latin typeface="Berlin Sans FB" panose="020E0602020502020306" pitchFamily="34" charset="0"/>
                <a:ea typeface="Arial" panose="020B0604020202020204" pitchFamily="34" charset="0"/>
              </a:rPr>
              <a:t>Demo Video Link: [To be recorded — showing full user journey from login to diagnosis to garage finder]</a:t>
            </a:r>
            <a:endParaRPr lang="en-IN" dirty="0">
              <a:effectLst/>
              <a:latin typeface="Berlin Sans FB" panose="020E0602020502020306" pitchFamily="34" charset="0"/>
              <a:ea typeface="Arial" panose="020B0604020202020204" pitchFamily="34" charset="0"/>
            </a:endParaRPr>
          </a:p>
          <a:p>
            <a:pPr>
              <a:buNone/>
            </a:pPr>
            <a:r>
              <a:rPr lang="en-IN" dirty="0">
                <a:solidFill>
                  <a:srgbClr val="1A1A1A"/>
                </a:solidFill>
                <a:effectLst/>
                <a:latin typeface="Berlin Sans FB" panose="020E0602020502020306" pitchFamily="34" charset="0"/>
                <a:ea typeface="Arial" panose="020B0604020202020204" pitchFamily="34" charset="0"/>
              </a:rPr>
              <a:t>Website / Landing Page: [autofixai.in — showcasing features, screenshots and Play Store download link]</a:t>
            </a:r>
            <a:endParaRPr lang="en-US" b="1" dirty="0">
              <a:latin typeface="Berlin Sans FB" panose="020E0602020502020306" pitchFamily="34" charset="0"/>
            </a:endParaRPr>
          </a:p>
        </p:txBody>
      </p:sp>
      <p:sp>
        <p:nvSpPr>
          <p:cNvPr id="4" name="Rectangle 3">
            <a:extLst>
              <a:ext uri="{FF2B5EF4-FFF2-40B4-BE49-F238E27FC236}">
                <a16:creationId xmlns:a16="http://schemas.microsoft.com/office/drawing/2014/main" id="{5DE34494-019C-4AF1-907B-33245967C575}"/>
              </a:ext>
            </a:extLst>
          </p:cNvPr>
          <p:cNvSpPr/>
          <p:nvPr/>
        </p:nvSpPr>
        <p:spPr>
          <a:xfrm>
            <a:off x="15925800" y="315439"/>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 name="TextBox 4">
            <a:extLst>
              <a:ext uri="{FF2B5EF4-FFF2-40B4-BE49-F238E27FC236}">
                <a16:creationId xmlns:a16="http://schemas.microsoft.com/office/drawing/2014/main" id="{437D10F2-D825-4F14-8721-CF5105D60893}"/>
              </a:ext>
            </a:extLst>
          </p:cNvPr>
          <p:cNvSpPr txBox="1"/>
          <p:nvPr/>
        </p:nvSpPr>
        <p:spPr>
          <a:xfrm>
            <a:off x="16173748" y="648157"/>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pic>
        <p:nvPicPr>
          <p:cNvPr id="8" name="Picture 7" descr="AUTOFIXAI">
            <a:extLst>
              <a:ext uri="{FF2B5EF4-FFF2-40B4-BE49-F238E27FC236}">
                <a16:creationId xmlns:a16="http://schemas.microsoft.com/office/drawing/2014/main" id="{7E49B498-4F34-22FA-A362-FF56D99524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38330" y="266725"/>
            <a:ext cx="1924291" cy="1386112"/>
          </a:xfrm>
          <a:prstGeom prst="rect">
            <a:avLst/>
          </a:prstGeom>
        </p:spPr>
      </p:pic>
    </p:spTree>
    <p:extLst>
      <p:ext uri="{BB962C8B-B14F-4D97-AF65-F5344CB8AC3E}">
        <p14:creationId xmlns:p14="http://schemas.microsoft.com/office/powerpoint/2010/main" val="323203161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3">
            <a:extLst>
              <a:ext uri="{FF2B5EF4-FFF2-40B4-BE49-F238E27FC236}">
                <a16:creationId xmlns:a16="http://schemas.microsoft.com/office/drawing/2014/main" id="{3CAEC04B-1429-4612-89DB-5CA4F4B031FD}"/>
              </a:ext>
            </a:extLst>
          </p:cNvPr>
          <p:cNvSpPr txBox="1">
            <a:spLocks/>
          </p:cNvSpPr>
          <p:nvPr/>
        </p:nvSpPr>
        <p:spPr>
          <a:xfrm>
            <a:off x="376232" y="-143427"/>
            <a:ext cx="15087600" cy="1377159"/>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8747"/>
              </a:lnSpc>
              <a:buClrTx/>
              <a:buFontTx/>
              <a:buNone/>
            </a:pPr>
            <a:r>
              <a:rPr lang="en-GB" sz="3000" b="1" dirty="0">
                <a:solidFill>
                  <a:prstClr val="black"/>
                </a:solidFill>
                <a:latin typeface="Raleway"/>
              </a:rPr>
              <a:t>  </a:t>
            </a:r>
            <a:r>
              <a:rPr lang="en-GB" sz="6000" dirty="0">
                <a:solidFill>
                  <a:schemeClr val="accent2"/>
                </a:solidFill>
                <a:latin typeface="Antonio Bold"/>
                <a:ea typeface="+mn-ea"/>
                <a:cs typeface="+mn-cs"/>
              </a:rPr>
              <a:t>MVP Validation</a:t>
            </a:r>
            <a:endParaRPr lang="en-US" sz="6000" dirty="0">
              <a:solidFill>
                <a:schemeClr val="accent2"/>
              </a:solidFill>
              <a:latin typeface="Antonio Bold"/>
              <a:ea typeface="+mn-ea"/>
              <a:cs typeface="+mn-cs"/>
            </a:endParaRPr>
          </a:p>
        </p:txBody>
      </p:sp>
      <p:sp>
        <p:nvSpPr>
          <p:cNvPr id="110" name="Rectangle 109">
            <a:extLst>
              <a:ext uri="{FF2B5EF4-FFF2-40B4-BE49-F238E27FC236}">
                <a16:creationId xmlns:a16="http://schemas.microsoft.com/office/drawing/2014/main" id="{51D08DA0-06DC-8B4E-BD66-A9F65085D413}"/>
              </a:ext>
            </a:extLst>
          </p:cNvPr>
          <p:cNvSpPr/>
          <p:nvPr/>
        </p:nvSpPr>
        <p:spPr>
          <a:xfrm>
            <a:off x="581131" y="1235019"/>
            <a:ext cx="16709136" cy="8606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highlight>
                <a:srgbClr val="00FF00"/>
              </a:highlight>
              <a:latin typeface="Barlow" panose="00000800000000000000" pitchFamily="2" charset="0"/>
            </a:endParaRPr>
          </a:p>
        </p:txBody>
      </p:sp>
      <p:cxnSp>
        <p:nvCxnSpPr>
          <p:cNvPr id="133" name="Straight Connector 132">
            <a:extLst>
              <a:ext uri="{FF2B5EF4-FFF2-40B4-BE49-F238E27FC236}">
                <a16:creationId xmlns:a16="http://schemas.microsoft.com/office/drawing/2014/main" id="{97A66D7F-E190-4448-B607-C21D56C9EC0E}"/>
              </a:ext>
            </a:extLst>
          </p:cNvPr>
          <p:cNvCxnSpPr>
            <a:cxnSpLocks/>
          </p:cNvCxnSpPr>
          <p:nvPr/>
        </p:nvCxnSpPr>
        <p:spPr>
          <a:xfrm flipV="1">
            <a:off x="9144000" y="1112117"/>
            <a:ext cx="0" cy="8606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1671FBED-F807-C244-997A-A62DD004EDFB}"/>
              </a:ext>
            </a:extLst>
          </p:cNvPr>
          <p:cNvSpPr txBox="1"/>
          <p:nvPr/>
        </p:nvSpPr>
        <p:spPr>
          <a:xfrm>
            <a:off x="694741" y="2323825"/>
            <a:ext cx="8178877" cy="584775"/>
          </a:xfrm>
          <a:prstGeom prst="rect">
            <a:avLst/>
          </a:prstGeom>
          <a:noFill/>
        </p:spPr>
        <p:txBody>
          <a:bodyPr wrap="square" rtlCol="0">
            <a:spAutoFit/>
          </a:bodyPr>
          <a:lstStyle/>
          <a:p>
            <a:r>
              <a:rPr lang="en-GB" sz="1600" b="1" dirty="0">
                <a:latin typeface="Barlow" panose="00000800000000000000" pitchFamily="2" charset="0"/>
              </a:rPr>
              <a:t>Test Details:</a:t>
            </a:r>
            <a:r>
              <a:rPr lang="en-IN" sz="1600" dirty="0"/>
              <a:t> The test will run for three weeks in Bengaluru and nearby areas, targeting 40 car owners and drivers through a demo prototype, surveys, and customer interviews.</a:t>
            </a:r>
            <a:endParaRPr lang="en-GB" sz="1600" b="1" dirty="0">
              <a:latin typeface="Barlow" panose="00000800000000000000" pitchFamily="2" charset="0"/>
            </a:endParaRPr>
          </a:p>
        </p:txBody>
      </p:sp>
      <p:sp>
        <p:nvSpPr>
          <p:cNvPr id="135" name="TextBox 134">
            <a:extLst>
              <a:ext uri="{FF2B5EF4-FFF2-40B4-BE49-F238E27FC236}">
                <a16:creationId xmlns:a16="http://schemas.microsoft.com/office/drawing/2014/main" id="{FEA05CF0-7156-F54C-B0C2-FBC0374002EC}"/>
              </a:ext>
            </a:extLst>
          </p:cNvPr>
          <p:cNvSpPr txBox="1"/>
          <p:nvPr/>
        </p:nvSpPr>
        <p:spPr>
          <a:xfrm>
            <a:off x="730785" y="4945627"/>
            <a:ext cx="3299254" cy="338554"/>
          </a:xfrm>
          <a:prstGeom prst="rect">
            <a:avLst/>
          </a:prstGeom>
          <a:noFill/>
        </p:spPr>
        <p:txBody>
          <a:bodyPr wrap="square" rtlCol="0">
            <a:spAutoFit/>
          </a:bodyPr>
          <a:lstStyle/>
          <a:p>
            <a:r>
              <a:rPr lang="en-GB" sz="1600" b="1" dirty="0">
                <a:latin typeface="Barlow" panose="00000800000000000000" pitchFamily="2" charset="0"/>
              </a:rPr>
              <a:t>Results of Test:</a:t>
            </a:r>
          </a:p>
        </p:txBody>
      </p:sp>
      <p:sp>
        <p:nvSpPr>
          <p:cNvPr id="136" name="TextBox 135">
            <a:extLst>
              <a:ext uri="{FF2B5EF4-FFF2-40B4-BE49-F238E27FC236}">
                <a16:creationId xmlns:a16="http://schemas.microsoft.com/office/drawing/2014/main" id="{28E58E65-6693-2848-B580-E0CC47E8C136}"/>
              </a:ext>
            </a:extLst>
          </p:cNvPr>
          <p:cNvSpPr txBox="1"/>
          <p:nvPr/>
        </p:nvSpPr>
        <p:spPr>
          <a:xfrm>
            <a:off x="9559213" y="1857075"/>
            <a:ext cx="6225796" cy="584775"/>
          </a:xfrm>
          <a:prstGeom prst="rect">
            <a:avLst/>
          </a:prstGeom>
          <a:noFill/>
        </p:spPr>
        <p:txBody>
          <a:bodyPr wrap="square" rtlCol="0">
            <a:spAutoFit/>
          </a:bodyPr>
          <a:lstStyle/>
          <a:p>
            <a:r>
              <a:rPr lang="en-GB" sz="1600" b="1" dirty="0">
                <a:latin typeface="Barlow" panose="00000800000000000000" pitchFamily="2" charset="0"/>
              </a:rPr>
              <a:t>Conclusion:</a:t>
            </a:r>
            <a:r>
              <a:rPr lang="en-IN" sz="1600" dirty="0"/>
              <a:t> Users showed positive interest and validated the problem-solution fit.</a:t>
            </a:r>
            <a:endParaRPr lang="en-GB" sz="1600" b="1" dirty="0">
              <a:latin typeface="Barlow" panose="00000800000000000000" pitchFamily="2" charset="0"/>
            </a:endParaRPr>
          </a:p>
        </p:txBody>
      </p:sp>
      <p:sp>
        <p:nvSpPr>
          <p:cNvPr id="137" name="TextBox 136">
            <a:extLst>
              <a:ext uri="{FF2B5EF4-FFF2-40B4-BE49-F238E27FC236}">
                <a16:creationId xmlns:a16="http://schemas.microsoft.com/office/drawing/2014/main" id="{7430E071-9B96-1446-8F6F-64CD7A481BC2}"/>
              </a:ext>
            </a:extLst>
          </p:cNvPr>
          <p:cNvSpPr txBox="1"/>
          <p:nvPr/>
        </p:nvSpPr>
        <p:spPr>
          <a:xfrm>
            <a:off x="9858262" y="5076840"/>
            <a:ext cx="7134335" cy="584775"/>
          </a:xfrm>
          <a:prstGeom prst="rect">
            <a:avLst/>
          </a:prstGeom>
          <a:noFill/>
        </p:spPr>
        <p:txBody>
          <a:bodyPr wrap="square" rtlCol="0">
            <a:spAutoFit/>
          </a:bodyPr>
          <a:lstStyle/>
          <a:p>
            <a:r>
              <a:rPr lang="en-GB" sz="1600" b="1" dirty="0">
                <a:latin typeface="Barlow" panose="00000800000000000000" pitchFamily="2" charset="0"/>
              </a:rPr>
              <a:t>Realizations / Insights:</a:t>
            </a:r>
            <a:r>
              <a:rPr lang="en-IN" sz="1600" dirty="0"/>
              <a:t> Users want simple solutions and trusted garage recommendations. They also prefer support in local languages.</a:t>
            </a:r>
            <a:endParaRPr lang="en-GB" sz="1600" b="1" dirty="0">
              <a:latin typeface="Barlow" panose="00000800000000000000" pitchFamily="2" charset="0"/>
            </a:endParaRPr>
          </a:p>
        </p:txBody>
      </p:sp>
      <p:sp>
        <p:nvSpPr>
          <p:cNvPr id="138" name="TextBox 137">
            <a:extLst>
              <a:ext uri="{FF2B5EF4-FFF2-40B4-BE49-F238E27FC236}">
                <a16:creationId xmlns:a16="http://schemas.microsoft.com/office/drawing/2014/main" id="{2C2B3B00-73BC-054E-9F8B-8D188EEB2FB0}"/>
              </a:ext>
            </a:extLst>
          </p:cNvPr>
          <p:cNvSpPr txBox="1"/>
          <p:nvPr/>
        </p:nvSpPr>
        <p:spPr>
          <a:xfrm>
            <a:off x="9827372" y="7220234"/>
            <a:ext cx="6327026" cy="584775"/>
          </a:xfrm>
          <a:prstGeom prst="rect">
            <a:avLst/>
          </a:prstGeom>
          <a:noFill/>
        </p:spPr>
        <p:txBody>
          <a:bodyPr wrap="square" rtlCol="0">
            <a:spAutoFit/>
          </a:bodyPr>
          <a:lstStyle/>
          <a:p>
            <a:r>
              <a:rPr lang="en-GB" sz="1600" b="1" dirty="0">
                <a:latin typeface="Barlow" panose="00000800000000000000" pitchFamily="2" charset="0"/>
              </a:rPr>
              <a:t>Next Steps:</a:t>
            </a:r>
            <a:r>
              <a:rPr lang="en-IN" sz="1600" dirty="0"/>
              <a:t> Add voice and image diagnosis features. Expand the garage network and improve AI accuracy.</a:t>
            </a:r>
            <a:endParaRPr lang="en-GB" sz="1600" b="1" dirty="0">
              <a:latin typeface="Barlow" panose="00000800000000000000" pitchFamily="2" charset="0"/>
            </a:endParaRPr>
          </a:p>
        </p:txBody>
      </p:sp>
      <p:sp>
        <p:nvSpPr>
          <p:cNvPr id="139" name="TextBox 138">
            <a:extLst>
              <a:ext uri="{FF2B5EF4-FFF2-40B4-BE49-F238E27FC236}">
                <a16:creationId xmlns:a16="http://schemas.microsoft.com/office/drawing/2014/main" id="{85F8CBB3-C33D-0B4D-8BEA-8C46D5F70F1E}"/>
              </a:ext>
            </a:extLst>
          </p:cNvPr>
          <p:cNvSpPr txBox="1"/>
          <p:nvPr/>
        </p:nvSpPr>
        <p:spPr>
          <a:xfrm>
            <a:off x="759530" y="2978279"/>
            <a:ext cx="8041997" cy="584775"/>
          </a:xfrm>
          <a:prstGeom prst="rect">
            <a:avLst/>
          </a:prstGeom>
          <a:noFill/>
        </p:spPr>
        <p:txBody>
          <a:bodyPr wrap="square" rtlCol="0">
            <a:spAutoFit/>
          </a:bodyPr>
          <a:lstStyle/>
          <a:p>
            <a:r>
              <a:rPr lang="en-GB" sz="1600" b="1" dirty="0">
                <a:latin typeface="Barlow" panose="00000800000000000000" pitchFamily="2" charset="0"/>
              </a:rPr>
              <a:t>How long will we test this MVP?</a:t>
            </a:r>
          </a:p>
          <a:p>
            <a:r>
              <a:rPr lang="en-IN" sz="1600" dirty="0"/>
              <a:t>We will test the MVP for </a:t>
            </a:r>
            <a:r>
              <a:rPr lang="en-IN" sz="1600" b="1" dirty="0"/>
              <a:t>2–4 weeks</a:t>
            </a:r>
            <a:r>
              <a:rPr lang="en-IN" sz="1600" dirty="0"/>
              <a:t>. This helps us collect user feedback and improve the app.</a:t>
            </a:r>
            <a:endParaRPr lang="en-GB" sz="1600" b="1" dirty="0">
              <a:latin typeface="Barlow" panose="00000800000000000000" pitchFamily="2" charset="0"/>
            </a:endParaRPr>
          </a:p>
        </p:txBody>
      </p:sp>
      <p:sp>
        <p:nvSpPr>
          <p:cNvPr id="140" name="TextBox 139">
            <a:extLst>
              <a:ext uri="{FF2B5EF4-FFF2-40B4-BE49-F238E27FC236}">
                <a16:creationId xmlns:a16="http://schemas.microsoft.com/office/drawing/2014/main" id="{F64229BF-1A85-6D45-B2B7-855A518F1B89}"/>
              </a:ext>
            </a:extLst>
          </p:cNvPr>
          <p:cNvSpPr txBox="1"/>
          <p:nvPr/>
        </p:nvSpPr>
        <p:spPr>
          <a:xfrm>
            <a:off x="771562" y="4075742"/>
            <a:ext cx="8524838" cy="830997"/>
          </a:xfrm>
          <a:prstGeom prst="rect">
            <a:avLst/>
          </a:prstGeom>
          <a:noFill/>
        </p:spPr>
        <p:txBody>
          <a:bodyPr wrap="square" rtlCol="0">
            <a:spAutoFit/>
          </a:bodyPr>
          <a:lstStyle/>
          <a:p>
            <a:r>
              <a:rPr lang="en-GB" sz="1600" b="1" dirty="0">
                <a:latin typeface="Barlow" panose="00000800000000000000" pitchFamily="2" charset="0"/>
              </a:rPr>
              <a:t>How will we get to that audience?</a:t>
            </a:r>
          </a:p>
          <a:p>
            <a:r>
              <a:rPr lang="en-IN" sz="1600" dirty="0"/>
              <a:t>We will reach users through </a:t>
            </a:r>
            <a:r>
              <a:rPr lang="en-IN" sz="1600" b="1" dirty="0"/>
              <a:t>social media, friends, family, and local car communities</a:t>
            </a:r>
            <a:r>
              <a:rPr lang="en-IN" sz="1600" dirty="0"/>
              <a:t>. We will also contact nearby vehicle owners directly.</a:t>
            </a:r>
            <a:endParaRPr lang="en-GB" sz="1600" b="1" dirty="0">
              <a:latin typeface="Barlow" panose="00000800000000000000" pitchFamily="2" charset="0"/>
            </a:endParaRPr>
          </a:p>
        </p:txBody>
      </p:sp>
      <p:sp>
        <p:nvSpPr>
          <p:cNvPr id="141" name="TextBox 140">
            <a:extLst>
              <a:ext uri="{FF2B5EF4-FFF2-40B4-BE49-F238E27FC236}">
                <a16:creationId xmlns:a16="http://schemas.microsoft.com/office/drawing/2014/main" id="{18EC7D1D-EFBB-2E4F-9EFB-AB531420D6FC}"/>
              </a:ext>
            </a:extLst>
          </p:cNvPr>
          <p:cNvSpPr txBox="1"/>
          <p:nvPr/>
        </p:nvSpPr>
        <p:spPr>
          <a:xfrm>
            <a:off x="750950" y="3550095"/>
            <a:ext cx="6839245" cy="584775"/>
          </a:xfrm>
          <a:prstGeom prst="rect">
            <a:avLst/>
          </a:prstGeom>
          <a:noFill/>
        </p:spPr>
        <p:txBody>
          <a:bodyPr wrap="none" rtlCol="0">
            <a:spAutoFit/>
          </a:bodyPr>
          <a:lstStyle/>
          <a:p>
            <a:r>
              <a:rPr lang="en-GB" sz="1600" b="1" dirty="0">
                <a:latin typeface="Barlow" panose="00000800000000000000" pitchFamily="2" charset="0"/>
              </a:rPr>
              <a:t>Who is our target audience for the test? How many of them?</a:t>
            </a:r>
          </a:p>
          <a:p>
            <a:r>
              <a:rPr lang="en-IN" sz="1600" dirty="0"/>
              <a:t>Our target audience is </a:t>
            </a:r>
            <a:r>
              <a:rPr lang="en-IN" sz="1600" b="1" dirty="0"/>
              <a:t>car owners and drivers</a:t>
            </a:r>
            <a:r>
              <a:rPr lang="en-IN" sz="1600" dirty="0"/>
              <a:t>. We plan to test with </a:t>
            </a:r>
            <a:r>
              <a:rPr lang="en-IN" sz="1600" b="1" dirty="0"/>
              <a:t>30–50 users</a:t>
            </a:r>
            <a:r>
              <a:rPr lang="en-IN" sz="1600" dirty="0"/>
              <a:t>.</a:t>
            </a:r>
            <a:endParaRPr lang="en-GB" sz="1600" b="1" dirty="0">
              <a:latin typeface="Barlow" panose="00000800000000000000" pitchFamily="2" charset="0"/>
            </a:endParaRPr>
          </a:p>
        </p:txBody>
      </p:sp>
      <p:sp>
        <p:nvSpPr>
          <p:cNvPr id="142" name="Rectangle 141">
            <a:extLst>
              <a:ext uri="{FF2B5EF4-FFF2-40B4-BE49-F238E27FC236}">
                <a16:creationId xmlns:a16="http://schemas.microsoft.com/office/drawing/2014/main" id="{DCB024B3-A3D8-5942-AD22-2BBF7AC46378}"/>
              </a:ext>
            </a:extLst>
          </p:cNvPr>
          <p:cNvSpPr/>
          <p:nvPr/>
        </p:nvSpPr>
        <p:spPr>
          <a:xfrm>
            <a:off x="10165494" y="3077597"/>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3" name="TextBox 142">
            <a:extLst>
              <a:ext uri="{FF2B5EF4-FFF2-40B4-BE49-F238E27FC236}">
                <a16:creationId xmlns:a16="http://schemas.microsoft.com/office/drawing/2014/main" id="{B01EE1C5-A970-0647-A387-B5E639C06D66}"/>
              </a:ext>
            </a:extLst>
          </p:cNvPr>
          <p:cNvSpPr txBox="1"/>
          <p:nvPr/>
        </p:nvSpPr>
        <p:spPr>
          <a:xfrm>
            <a:off x="10412440" y="2673706"/>
            <a:ext cx="1295547" cy="338554"/>
          </a:xfrm>
          <a:prstGeom prst="rect">
            <a:avLst/>
          </a:prstGeom>
          <a:noFill/>
        </p:spPr>
        <p:txBody>
          <a:bodyPr wrap="none" rtlCol="0">
            <a:spAutoFit/>
          </a:bodyPr>
          <a:lstStyle/>
          <a:p>
            <a:r>
              <a:rPr lang="en-GB" sz="1600" dirty="0">
                <a:latin typeface="Barlow" panose="00000800000000000000" pitchFamily="2" charset="0"/>
              </a:rPr>
              <a:t>Persevere</a:t>
            </a:r>
          </a:p>
        </p:txBody>
      </p:sp>
      <p:sp>
        <p:nvSpPr>
          <p:cNvPr id="144" name="TextBox 143">
            <a:extLst>
              <a:ext uri="{FF2B5EF4-FFF2-40B4-BE49-F238E27FC236}">
                <a16:creationId xmlns:a16="http://schemas.microsoft.com/office/drawing/2014/main" id="{2E6F00F6-742E-C24C-92EB-6D9513CB41D0}"/>
              </a:ext>
            </a:extLst>
          </p:cNvPr>
          <p:cNvSpPr txBox="1"/>
          <p:nvPr/>
        </p:nvSpPr>
        <p:spPr>
          <a:xfrm>
            <a:off x="10412440" y="3030521"/>
            <a:ext cx="801823" cy="338554"/>
          </a:xfrm>
          <a:prstGeom prst="rect">
            <a:avLst/>
          </a:prstGeom>
          <a:noFill/>
        </p:spPr>
        <p:txBody>
          <a:bodyPr wrap="none" rtlCol="0">
            <a:spAutoFit/>
          </a:bodyPr>
          <a:lstStyle/>
          <a:p>
            <a:r>
              <a:rPr lang="en-GB" sz="1600" dirty="0">
                <a:latin typeface="Barlow" panose="00000800000000000000" pitchFamily="2" charset="0"/>
              </a:rPr>
              <a:t>Pivot</a:t>
            </a:r>
          </a:p>
        </p:txBody>
      </p:sp>
      <p:sp>
        <p:nvSpPr>
          <p:cNvPr id="145" name="TextBox 144">
            <a:extLst>
              <a:ext uri="{FF2B5EF4-FFF2-40B4-BE49-F238E27FC236}">
                <a16:creationId xmlns:a16="http://schemas.microsoft.com/office/drawing/2014/main" id="{60063187-BB1B-A444-B619-E14E03BA62DF}"/>
              </a:ext>
            </a:extLst>
          </p:cNvPr>
          <p:cNvSpPr txBox="1"/>
          <p:nvPr/>
        </p:nvSpPr>
        <p:spPr>
          <a:xfrm>
            <a:off x="10388995" y="3390844"/>
            <a:ext cx="1912703" cy="338554"/>
          </a:xfrm>
          <a:prstGeom prst="rect">
            <a:avLst/>
          </a:prstGeom>
          <a:noFill/>
        </p:spPr>
        <p:txBody>
          <a:bodyPr wrap="none" rtlCol="0">
            <a:spAutoFit/>
          </a:bodyPr>
          <a:lstStyle/>
          <a:p>
            <a:r>
              <a:rPr lang="en-GB" sz="1600" dirty="0">
                <a:latin typeface="Barlow" panose="00000800000000000000" pitchFamily="2" charset="0"/>
              </a:rPr>
              <a:t>Not conclusive</a:t>
            </a:r>
          </a:p>
        </p:txBody>
      </p:sp>
      <p:sp>
        <p:nvSpPr>
          <p:cNvPr id="146" name="Rectangle 145">
            <a:extLst>
              <a:ext uri="{FF2B5EF4-FFF2-40B4-BE49-F238E27FC236}">
                <a16:creationId xmlns:a16="http://schemas.microsoft.com/office/drawing/2014/main" id="{B6E6BF1D-5E5B-5243-AA5E-F55C0BC6CB58}"/>
              </a:ext>
            </a:extLst>
          </p:cNvPr>
          <p:cNvSpPr/>
          <p:nvPr/>
        </p:nvSpPr>
        <p:spPr>
          <a:xfrm>
            <a:off x="10170879" y="3439245"/>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7" name="Rectangle 146">
            <a:extLst>
              <a:ext uri="{FF2B5EF4-FFF2-40B4-BE49-F238E27FC236}">
                <a16:creationId xmlns:a16="http://schemas.microsoft.com/office/drawing/2014/main" id="{AAE7E61C-15D7-594A-94D7-75068E7F9D29}"/>
              </a:ext>
            </a:extLst>
          </p:cNvPr>
          <p:cNvSpPr/>
          <p:nvPr/>
        </p:nvSpPr>
        <p:spPr>
          <a:xfrm>
            <a:off x="10169611" y="2711009"/>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8" name="TextBox 147">
            <a:extLst>
              <a:ext uri="{FF2B5EF4-FFF2-40B4-BE49-F238E27FC236}">
                <a16:creationId xmlns:a16="http://schemas.microsoft.com/office/drawing/2014/main" id="{9118EE0E-947B-0F47-A725-AA544F75E946}"/>
              </a:ext>
            </a:extLst>
          </p:cNvPr>
          <p:cNvSpPr txBox="1"/>
          <p:nvPr/>
        </p:nvSpPr>
        <p:spPr>
          <a:xfrm>
            <a:off x="739477" y="1535477"/>
            <a:ext cx="7875543" cy="830997"/>
          </a:xfrm>
          <a:prstGeom prst="rect">
            <a:avLst/>
          </a:prstGeom>
          <a:noFill/>
        </p:spPr>
        <p:txBody>
          <a:bodyPr wrap="square" rtlCol="0">
            <a:spAutoFit/>
          </a:bodyPr>
          <a:lstStyle/>
          <a:p>
            <a:r>
              <a:rPr lang="en-GB" sz="1600" b="1" dirty="0">
                <a:latin typeface="Barlow" panose="00000800000000000000" pitchFamily="2" charset="0"/>
              </a:rPr>
              <a:t>What is your MVP:</a:t>
            </a:r>
            <a:r>
              <a:rPr lang="en-IN" sz="1600" dirty="0"/>
              <a:t> “The MVP of Auto Fix AI consists of user login, vehicle selection, AI-based problem diagnosis through text, and a nearby garage finder. These core features validate the need for an intelligent vehicle troubleshooting assistant.”</a:t>
            </a:r>
            <a:endParaRPr lang="en-GB" sz="1600" b="1" dirty="0">
              <a:latin typeface="Barlow" panose="00000800000000000000" pitchFamily="2" charset="0"/>
            </a:endParaRPr>
          </a:p>
        </p:txBody>
      </p:sp>
      <p:sp>
        <p:nvSpPr>
          <p:cNvPr id="149" name="TextBox 148">
            <a:extLst>
              <a:ext uri="{FF2B5EF4-FFF2-40B4-BE49-F238E27FC236}">
                <a16:creationId xmlns:a16="http://schemas.microsoft.com/office/drawing/2014/main" id="{65F1A852-0296-784A-8B55-666EC2213AD5}"/>
              </a:ext>
            </a:extLst>
          </p:cNvPr>
          <p:cNvSpPr txBox="1"/>
          <p:nvPr/>
        </p:nvSpPr>
        <p:spPr>
          <a:xfrm>
            <a:off x="708403" y="5423538"/>
            <a:ext cx="5748497" cy="830997"/>
          </a:xfrm>
          <a:prstGeom prst="rect">
            <a:avLst/>
          </a:prstGeom>
          <a:noFill/>
        </p:spPr>
        <p:txBody>
          <a:bodyPr wrap="none" rtlCol="0">
            <a:spAutoFit/>
          </a:bodyPr>
          <a:lstStyle/>
          <a:p>
            <a:r>
              <a:rPr lang="en-GB" sz="1600" b="1" dirty="0">
                <a:latin typeface="Barlow" panose="00000800000000000000" pitchFamily="2" charset="0"/>
              </a:rPr>
              <a:t>Did enough customers buy? Why or why not?</a:t>
            </a:r>
          </a:p>
          <a:p>
            <a:r>
              <a:rPr lang="en-IN" sz="1600" dirty="0"/>
              <a:t>Most users showed interest in the app. </a:t>
            </a:r>
          </a:p>
          <a:p>
            <a:r>
              <a:rPr lang="en-IN" sz="1600" dirty="0"/>
              <a:t>Since it is an MVP, feedback was collected before focusing on sales.</a:t>
            </a:r>
            <a:endParaRPr lang="en-GB" sz="1600" b="1" dirty="0">
              <a:latin typeface="Barlow" panose="00000800000000000000" pitchFamily="2" charset="0"/>
            </a:endParaRPr>
          </a:p>
        </p:txBody>
      </p:sp>
      <p:sp>
        <p:nvSpPr>
          <p:cNvPr id="150" name="TextBox 149">
            <a:extLst>
              <a:ext uri="{FF2B5EF4-FFF2-40B4-BE49-F238E27FC236}">
                <a16:creationId xmlns:a16="http://schemas.microsoft.com/office/drawing/2014/main" id="{E19D8FFA-C619-0B4F-92CF-D27367E4FAE7}"/>
              </a:ext>
            </a:extLst>
          </p:cNvPr>
          <p:cNvSpPr txBox="1"/>
          <p:nvPr/>
        </p:nvSpPr>
        <p:spPr>
          <a:xfrm>
            <a:off x="763522" y="6355786"/>
            <a:ext cx="5609228" cy="830997"/>
          </a:xfrm>
          <a:prstGeom prst="rect">
            <a:avLst/>
          </a:prstGeom>
          <a:noFill/>
        </p:spPr>
        <p:txBody>
          <a:bodyPr wrap="none" rtlCol="0">
            <a:spAutoFit/>
          </a:bodyPr>
          <a:lstStyle/>
          <a:p>
            <a:r>
              <a:rPr lang="en-GB" sz="1600" b="1" dirty="0">
                <a:latin typeface="Barlow" panose="00000800000000000000" pitchFamily="2" charset="0"/>
              </a:rPr>
              <a:t>Did customers pay the price we expected? Why or why not?</a:t>
            </a:r>
          </a:p>
          <a:p>
            <a:r>
              <a:rPr lang="en-IN" sz="1600" dirty="0"/>
              <a:t>Users were willing to try the free version first. </a:t>
            </a:r>
          </a:p>
          <a:p>
            <a:r>
              <a:rPr lang="en-IN" sz="1600" dirty="0"/>
              <a:t>Many said they would pay for useful premium features later.</a:t>
            </a:r>
            <a:endParaRPr lang="en-GB" sz="1600" b="1" dirty="0">
              <a:latin typeface="Barlow" panose="00000800000000000000" pitchFamily="2" charset="0"/>
            </a:endParaRPr>
          </a:p>
        </p:txBody>
      </p:sp>
      <p:sp>
        <p:nvSpPr>
          <p:cNvPr id="151" name="TextBox 150">
            <a:extLst>
              <a:ext uri="{FF2B5EF4-FFF2-40B4-BE49-F238E27FC236}">
                <a16:creationId xmlns:a16="http://schemas.microsoft.com/office/drawing/2014/main" id="{57EDA9B1-7A7D-DC46-85AD-020525D3F1D1}"/>
              </a:ext>
            </a:extLst>
          </p:cNvPr>
          <p:cNvSpPr txBox="1"/>
          <p:nvPr/>
        </p:nvSpPr>
        <p:spPr>
          <a:xfrm>
            <a:off x="708403" y="7294893"/>
            <a:ext cx="7222042" cy="1077218"/>
          </a:xfrm>
          <a:prstGeom prst="rect">
            <a:avLst/>
          </a:prstGeom>
          <a:noFill/>
        </p:spPr>
        <p:txBody>
          <a:bodyPr wrap="square" rtlCol="0">
            <a:spAutoFit/>
          </a:bodyPr>
          <a:lstStyle/>
          <a:p>
            <a:r>
              <a:rPr lang="en-GB" sz="1600" b="1" dirty="0">
                <a:latin typeface="Barlow" panose="00000800000000000000" pitchFamily="2" charset="0"/>
              </a:rPr>
              <a:t>Did customers come back to our product or show interest in doing so? Why or why not?</a:t>
            </a:r>
          </a:p>
          <a:p>
            <a:r>
              <a:rPr lang="en-IN" sz="1600" dirty="0"/>
              <a:t>Many users wanted to use the app again for future vehicle issues.</a:t>
            </a:r>
            <a:br>
              <a:rPr lang="en-IN" sz="1600" dirty="0"/>
            </a:br>
            <a:r>
              <a:rPr lang="en-IN" sz="1600" dirty="0"/>
              <a:t>They found it easy and helpful.</a:t>
            </a:r>
            <a:endParaRPr lang="en-GB" sz="1600" b="1" dirty="0">
              <a:latin typeface="Barlow" panose="00000800000000000000" pitchFamily="2" charset="0"/>
            </a:endParaRPr>
          </a:p>
        </p:txBody>
      </p:sp>
      <p:sp>
        <p:nvSpPr>
          <p:cNvPr id="152" name="TextBox 151">
            <a:extLst>
              <a:ext uri="{FF2B5EF4-FFF2-40B4-BE49-F238E27FC236}">
                <a16:creationId xmlns:a16="http://schemas.microsoft.com/office/drawing/2014/main" id="{CB6141DC-819C-2A45-B9F6-A119949D60F3}"/>
              </a:ext>
            </a:extLst>
          </p:cNvPr>
          <p:cNvSpPr txBox="1"/>
          <p:nvPr/>
        </p:nvSpPr>
        <p:spPr>
          <a:xfrm>
            <a:off x="706722" y="8372111"/>
            <a:ext cx="6321323" cy="1077218"/>
          </a:xfrm>
          <a:prstGeom prst="rect">
            <a:avLst/>
          </a:prstGeom>
          <a:noFill/>
        </p:spPr>
        <p:txBody>
          <a:bodyPr wrap="square" rtlCol="0">
            <a:spAutoFit/>
          </a:bodyPr>
          <a:lstStyle/>
          <a:p>
            <a:r>
              <a:rPr lang="en-GB" sz="1600" b="1" dirty="0">
                <a:latin typeface="Barlow" panose="00000800000000000000" pitchFamily="2" charset="0"/>
              </a:rPr>
              <a:t>Did customers recommend our product to others or evangelize about it? Why or why not? </a:t>
            </a:r>
          </a:p>
          <a:p>
            <a:r>
              <a:rPr lang="en-IN" sz="1600" dirty="0"/>
              <a:t>Yes, several users said they would recommend it. They liked the quick diagnosis and garage-finding features.</a:t>
            </a:r>
            <a:endParaRPr lang="en-GB" sz="1600" b="1" dirty="0">
              <a:latin typeface="Barlow" panose="00000800000000000000" pitchFamily="2" charset="0"/>
            </a:endParaRPr>
          </a:p>
        </p:txBody>
      </p:sp>
      <p:cxnSp>
        <p:nvCxnSpPr>
          <p:cNvPr id="153" name="Straight Connector 152"/>
          <p:cNvCxnSpPr/>
          <p:nvPr/>
        </p:nvCxnSpPr>
        <p:spPr>
          <a:xfrm flipV="1">
            <a:off x="708403" y="4906739"/>
            <a:ext cx="164341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FBE3173F-8A23-0DE3-848A-7207E2430F9F}"/>
                  </a:ext>
                </a:extLst>
              </p14:cNvPr>
              <p14:cNvContentPartPr/>
              <p14:nvPr/>
            </p14:nvContentPartPr>
            <p14:xfrm>
              <a:off x="10257726" y="2791288"/>
              <a:ext cx="89640" cy="29880"/>
            </p14:xfrm>
          </p:contentPart>
        </mc:Choice>
        <mc:Fallback xmlns="">
          <p:pic>
            <p:nvPicPr>
              <p:cNvPr id="8" name="Ink 7">
                <a:extLst>
                  <a:ext uri="{FF2B5EF4-FFF2-40B4-BE49-F238E27FC236}">
                    <a16:creationId xmlns:a16="http://schemas.microsoft.com/office/drawing/2014/main" id="{FBE3173F-8A23-0DE3-848A-7207E2430F9F}"/>
                  </a:ext>
                </a:extLst>
              </p:cNvPr>
              <p:cNvPicPr/>
              <p:nvPr/>
            </p:nvPicPr>
            <p:blipFill>
              <a:blip r:embed="rId4"/>
              <a:stretch>
                <a:fillRect/>
              </a:stretch>
            </p:blipFill>
            <p:spPr>
              <a:xfrm>
                <a:off x="10204086" y="2683288"/>
                <a:ext cx="1972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0C046232-B371-1597-C007-1197142EB2DE}"/>
                  </a:ext>
                </a:extLst>
              </p14:cNvPr>
              <p14:cNvContentPartPr/>
              <p14:nvPr/>
            </p14:nvContentPartPr>
            <p14:xfrm>
              <a:off x="10252326" y="3176128"/>
              <a:ext cx="106920" cy="25920"/>
            </p14:xfrm>
          </p:contentPart>
        </mc:Choice>
        <mc:Fallback xmlns="">
          <p:pic>
            <p:nvPicPr>
              <p:cNvPr id="13" name="Ink 12">
                <a:extLst>
                  <a:ext uri="{FF2B5EF4-FFF2-40B4-BE49-F238E27FC236}">
                    <a16:creationId xmlns:a16="http://schemas.microsoft.com/office/drawing/2014/main" id="{0C046232-B371-1597-C007-1197142EB2DE}"/>
                  </a:ext>
                </a:extLst>
              </p:cNvPr>
              <p:cNvPicPr/>
              <p:nvPr/>
            </p:nvPicPr>
            <p:blipFill>
              <a:blip r:embed="rId6"/>
              <a:stretch>
                <a:fillRect/>
              </a:stretch>
            </p:blipFill>
            <p:spPr>
              <a:xfrm>
                <a:off x="10198686" y="3068128"/>
                <a:ext cx="2145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6FC6FD45-6F49-766C-8894-8EA51BEE8690}"/>
                  </a:ext>
                </a:extLst>
              </p14:cNvPr>
              <p14:cNvContentPartPr/>
              <p14:nvPr/>
            </p14:nvContentPartPr>
            <p14:xfrm>
              <a:off x="10232166" y="3561328"/>
              <a:ext cx="115200" cy="12960"/>
            </p14:xfrm>
          </p:contentPart>
        </mc:Choice>
        <mc:Fallback xmlns="">
          <p:pic>
            <p:nvPicPr>
              <p:cNvPr id="14" name="Ink 13">
                <a:extLst>
                  <a:ext uri="{FF2B5EF4-FFF2-40B4-BE49-F238E27FC236}">
                    <a16:creationId xmlns:a16="http://schemas.microsoft.com/office/drawing/2014/main" id="{6FC6FD45-6F49-766C-8894-8EA51BEE8690}"/>
                  </a:ext>
                </a:extLst>
              </p:cNvPr>
              <p:cNvPicPr/>
              <p:nvPr/>
            </p:nvPicPr>
            <p:blipFill>
              <a:blip r:embed="rId8"/>
              <a:stretch>
                <a:fillRect/>
              </a:stretch>
            </p:blipFill>
            <p:spPr>
              <a:xfrm>
                <a:off x="10178526" y="3453688"/>
                <a:ext cx="222840" cy="228600"/>
              </a:xfrm>
              <a:prstGeom prst="rect">
                <a:avLst/>
              </a:prstGeom>
            </p:spPr>
          </p:pic>
        </mc:Fallback>
      </mc:AlternateContent>
    </p:spTree>
    <p:extLst>
      <p:ext uri="{BB962C8B-B14F-4D97-AF65-F5344CB8AC3E}">
        <p14:creationId xmlns:p14="http://schemas.microsoft.com/office/powerpoint/2010/main" val="161246119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204200" y="-13647"/>
            <a:ext cx="12338484" cy="1019574"/>
          </a:xfrm>
          <a:prstGeom prst="rect">
            <a:avLst/>
          </a:prstGeom>
        </p:spPr>
        <p:txBody>
          <a:bodyPr wrap="square" lIns="0" tIns="0" rIns="0" bIns="0" rtlCol="0" anchor="t">
            <a:spAutoFit/>
          </a:bodyPr>
          <a:lstStyle/>
          <a:p>
            <a:pPr>
              <a:lnSpc>
                <a:spcPts val="8747"/>
              </a:lnSpc>
            </a:pPr>
            <a:r>
              <a:rPr lang="en-US" sz="5400" b="1" dirty="0">
                <a:cs typeface="Times New Roman" panose="02020603050405020304" pitchFamily="18" charset="0"/>
              </a:rPr>
              <a:t>Team Composition</a:t>
            </a:r>
          </a:p>
        </p:txBody>
      </p:sp>
      <p:sp>
        <p:nvSpPr>
          <p:cNvPr id="36" name="TextBox 35">
            <a:extLst>
              <a:ext uri="{FF2B5EF4-FFF2-40B4-BE49-F238E27FC236}">
                <a16:creationId xmlns:a16="http://schemas.microsoft.com/office/drawing/2014/main" id="{437D10F2-D825-4F14-8721-CF5105D60893}"/>
              </a:ext>
            </a:extLst>
          </p:cNvPr>
          <p:cNvSpPr txBox="1"/>
          <p:nvPr/>
        </p:nvSpPr>
        <p:spPr>
          <a:xfrm>
            <a:off x="16315796" y="1216402"/>
            <a:ext cx="1422954" cy="623248"/>
          </a:xfrm>
          <a:prstGeom prst="rect">
            <a:avLst/>
          </a:prstGeom>
          <a:noFill/>
        </p:spPr>
        <p:txBody>
          <a:bodyPr wrap="square" lIns="68580" tIns="34290" rIns="68580" bIns="34290" rtlCol="0" anchor="t">
            <a:spAutoFit/>
          </a:bodyPr>
          <a:lstStyle/>
          <a:p>
            <a:pPr algn="ctr"/>
            <a:r>
              <a:rPr lang="en-US" b="1" dirty="0"/>
              <a:t>Place your logo here</a:t>
            </a:r>
            <a:endParaRPr lang="en-ZA" b="1" dirty="0"/>
          </a:p>
        </p:txBody>
      </p:sp>
      <p:sp>
        <p:nvSpPr>
          <p:cNvPr id="37" name="Rectangle 36">
            <a:extLst>
              <a:ext uri="{FF2B5EF4-FFF2-40B4-BE49-F238E27FC236}">
                <a16:creationId xmlns:a16="http://schemas.microsoft.com/office/drawing/2014/main" id="{5DE34494-019C-4AF1-907B-33245967C575}"/>
              </a:ext>
            </a:extLst>
          </p:cNvPr>
          <p:cNvSpPr/>
          <p:nvPr/>
        </p:nvSpPr>
        <p:spPr>
          <a:xfrm>
            <a:off x="16120030" y="815582"/>
            <a:ext cx="1695221" cy="1288685"/>
          </a:xfrm>
          <a:prstGeom prst="rect">
            <a:avLst/>
          </a:prstGeom>
          <a:no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45" name="Rectangle 44">
            <a:extLst>
              <a:ext uri="{FF2B5EF4-FFF2-40B4-BE49-F238E27FC236}">
                <a16:creationId xmlns:a16="http://schemas.microsoft.com/office/drawing/2014/main" id="{FE41B64D-B44D-44C6-BDBC-3EBF35934BD5}"/>
              </a:ext>
            </a:extLst>
          </p:cNvPr>
          <p:cNvSpPr/>
          <p:nvPr/>
        </p:nvSpPr>
        <p:spPr>
          <a:xfrm>
            <a:off x="925593" y="2993494"/>
            <a:ext cx="1581539" cy="147700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6" name="Rectangle 45">
            <a:extLst>
              <a:ext uri="{FF2B5EF4-FFF2-40B4-BE49-F238E27FC236}">
                <a16:creationId xmlns:a16="http://schemas.microsoft.com/office/drawing/2014/main" id="{56942A5F-346B-4A9B-8B0F-4CA8E26F5936}"/>
              </a:ext>
            </a:extLst>
          </p:cNvPr>
          <p:cNvSpPr/>
          <p:nvPr/>
        </p:nvSpPr>
        <p:spPr>
          <a:xfrm>
            <a:off x="4469322" y="2977960"/>
            <a:ext cx="1475128" cy="147758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7" name="TextBox 46">
            <a:extLst>
              <a:ext uri="{FF2B5EF4-FFF2-40B4-BE49-F238E27FC236}">
                <a16:creationId xmlns:a16="http://schemas.microsoft.com/office/drawing/2014/main" id="{F961E885-688B-47C4-BE5D-90587DA49207}"/>
              </a:ext>
            </a:extLst>
          </p:cNvPr>
          <p:cNvSpPr txBox="1"/>
          <p:nvPr/>
        </p:nvSpPr>
        <p:spPr>
          <a:xfrm>
            <a:off x="4603488" y="3240807"/>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48" name="Rectangle 47">
            <a:extLst>
              <a:ext uri="{FF2B5EF4-FFF2-40B4-BE49-F238E27FC236}">
                <a16:creationId xmlns:a16="http://schemas.microsoft.com/office/drawing/2014/main" id="{0EA7884A-0608-4E8F-AEEB-438C18DE1534}"/>
              </a:ext>
            </a:extLst>
          </p:cNvPr>
          <p:cNvSpPr/>
          <p:nvPr/>
        </p:nvSpPr>
        <p:spPr>
          <a:xfrm>
            <a:off x="7467069" y="2901151"/>
            <a:ext cx="1581539" cy="1477000"/>
          </a:xfrm>
          <a:prstGeom prst="rect">
            <a:avLst/>
          </a:prstGeom>
          <a:no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9" name="TextBox 48">
            <a:extLst>
              <a:ext uri="{FF2B5EF4-FFF2-40B4-BE49-F238E27FC236}">
                <a16:creationId xmlns:a16="http://schemas.microsoft.com/office/drawing/2014/main" id="{A874D554-969C-4697-B06E-D7709DC86278}"/>
              </a:ext>
            </a:extLst>
          </p:cNvPr>
          <p:cNvSpPr txBox="1"/>
          <p:nvPr/>
        </p:nvSpPr>
        <p:spPr>
          <a:xfrm>
            <a:off x="7630905" y="3245343"/>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50" name="TextBox 49">
            <a:extLst>
              <a:ext uri="{FF2B5EF4-FFF2-40B4-BE49-F238E27FC236}">
                <a16:creationId xmlns:a16="http://schemas.microsoft.com/office/drawing/2014/main" id="{2A0B3626-D74C-4000-9FF5-75B635C12759}"/>
              </a:ext>
            </a:extLst>
          </p:cNvPr>
          <p:cNvSpPr txBox="1"/>
          <p:nvPr/>
        </p:nvSpPr>
        <p:spPr>
          <a:xfrm>
            <a:off x="970345" y="3126173"/>
            <a:ext cx="1340111" cy="461665"/>
          </a:xfrm>
          <a:prstGeom prst="rect">
            <a:avLst/>
          </a:prstGeom>
          <a:noFill/>
        </p:spPr>
        <p:txBody>
          <a:bodyPr wrap="square" rtlCol="0">
            <a:spAutoFit/>
          </a:bodyPr>
          <a:lstStyle/>
          <a:p>
            <a:pPr algn="ctr">
              <a:buClr>
                <a:srgbClr val="000000"/>
              </a:buClr>
              <a:buFont typeface="Arial"/>
              <a:buNone/>
            </a:pPr>
            <a:r>
              <a:rPr lang="en-US" sz="2400" kern="0" dirty="0">
                <a:solidFill>
                  <a:schemeClr val="accent2"/>
                </a:solidFill>
                <a:latin typeface="Arial"/>
                <a:cs typeface="Arial"/>
                <a:sym typeface="Arial"/>
              </a:rPr>
              <a:t>Picture</a:t>
            </a:r>
            <a:endParaRPr lang="en-ZA" sz="2400" kern="0" dirty="0">
              <a:solidFill>
                <a:schemeClr val="accent2"/>
              </a:solidFill>
              <a:latin typeface="Arial"/>
              <a:cs typeface="Arial"/>
              <a:sym typeface="Arial"/>
            </a:endParaRPr>
          </a:p>
        </p:txBody>
      </p:sp>
      <p:sp>
        <p:nvSpPr>
          <p:cNvPr id="7" name="Rectangle 6"/>
          <p:cNvSpPr/>
          <p:nvPr/>
        </p:nvSpPr>
        <p:spPr>
          <a:xfrm>
            <a:off x="758428" y="2098215"/>
            <a:ext cx="1763944" cy="369332"/>
          </a:xfrm>
          <a:prstGeom prst="rect">
            <a:avLst/>
          </a:prstGeom>
        </p:spPr>
        <p:txBody>
          <a:bodyPr wrap="none">
            <a:spAutoFit/>
          </a:bodyPr>
          <a:lstStyle/>
          <a:p>
            <a:r>
              <a:rPr lang="en-US" dirty="0"/>
              <a:t>Team member 1 </a:t>
            </a:r>
          </a:p>
        </p:txBody>
      </p:sp>
      <p:sp>
        <p:nvSpPr>
          <p:cNvPr id="24" name="Rectangle 23"/>
          <p:cNvSpPr/>
          <p:nvPr/>
        </p:nvSpPr>
        <p:spPr>
          <a:xfrm>
            <a:off x="4422856" y="2098215"/>
            <a:ext cx="2052535" cy="369332"/>
          </a:xfrm>
          <a:prstGeom prst="rect">
            <a:avLst/>
          </a:prstGeom>
        </p:spPr>
        <p:txBody>
          <a:bodyPr wrap="square">
            <a:spAutoFit/>
          </a:bodyPr>
          <a:lstStyle/>
          <a:p>
            <a:r>
              <a:rPr lang="en-US" dirty="0"/>
              <a:t>Team  member 2 </a:t>
            </a:r>
          </a:p>
        </p:txBody>
      </p:sp>
      <p:sp>
        <p:nvSpPr>
          <p:cNvPr id="25" name="Rectangle 24"/>
          <p:cNvSpPr/>
          <p:nvPr/>
        </p:nvSpPr>
        <p:spPr>
          <a:xfrm>
            <a:off x="7059549" y="2058047"/>
            <a:ext cx="2389251" cy="369332"/>
          </a:xfrm>
          <a:prstGeom prst="rect">
            <a:avLst/>
          </a:prstGeom>
        </p:spPr>
        <p:txBody>
          <a:bodyPr wrap="square">
            <a:spAutoFit/>
          </a:bodyPr>
          <a:lstStyle/>
          <a:p>
            <a:pPr algn="ctr"/>
            <a:r>
              <a:rPr lang="en-US" dirty="0"/>
              <a:t>Team member 3 </a:t>
            </a:r>
          </a:p>
        </p:txBody>
      </p:sp>
      <p:sp>
        <p:nvSpPr>
          <p:cNvPr id="8" name="Rectangle 7"/>
          <p:cNvSpPr/>
          <p:nvPr/>
        </p:nvSpPr>
        <p:spPr>
          <a:xfrm>
            <a:off x="811195" y="5121768"/>
            <a:ext cx="1552284" cy="646331"/>
          </a:xfrm>
          <a:prstGeom prst="rect">
            <a:avLst/>
          </a:prstGeom>
          <a:ln>
            <a:solidFill>
              <a:schemeClr val="tx1"/>
            </a:solidFill>
          </a:ln>
        </p:spPr>
        <p:txBody>
          <a:bodyPr wrap="none">
            <a:spAutoFit/>
          </a:bodyPr>
          <a:lstStyle/>
          <a:p>
            <a:pPr algn="ctr"/>
            <a:r>
              <a:rPr lang="en-US" dirty="0"/>
              <a:t>Role/Position: </a:t>
            </a:r>
          </a:p>
          <a:p>
            <a:pPr algn="ctr"/>
            <a:r>
              <a:rPr lang="en-US" dirty="0"/>
              <a:t>CEO</a:t>
            </a:r>
          </a:p>
        </p:txBody>
      </p:sp>
      <p:sp>
        <p:nvSpPr>
          <p:cNvPr id="29" name="Rectangle 28"/>
          <p:cNvSpPr/>
          <p:nvPr/>
        </p:nvSpPr>
        <p:spPr>
          <a:xfrm>
            <a:off x="4469189" y="5160608"/>
            <a:ext cx="1552284" cy="646331"/>
          </a:xfrm>
          <a:prstGeom prst="rect">
            <a:avLst/>
          </a:prstGeom>
          <a:ln>
            <a:solidFill>
              <a:schemeClr val="tx1"/>
            </a:solidFill>
          </a:ln>
        </p:spPr>
        <p:txBody>
          <a:bodyPr wrap="none">
            <a:spAutoFit/>
          </a:bodyPr>
          <a:lstStyle/>
          <a:p>
            <a:r>
              <a:rPr lang="en-US" dirty="0"/>
              <a:t>Role/Position: </a:t>
            </a:r>
          </a:p>
          <a:p>
            <a:r>
              <a:rPr lang="en-US" dirty="0"/>
              <a:t>MARKET HEAD</a:t>
            </a:r>
          </a:p>
        </p:txBody>
      </p:sp>
      <p:sp>
        <p:nvSpPr>
          <p:cNvPr id="30" name="Rectangle 29"/>
          <p:cNvSpPr/>
          <p:nvPr/>
        </p:nvSpPr>
        <p:spPr>
          <a:xfrm>
            <a:off x="7672547" y="5149464"/>
            <a:ext cx="1552284" cy="646331"/>
          </a:xfrm>
          <a:prstGeom prst="rect">
            <a:avLst/>
          </a:prstGeom>
          <a:ln>
            <a:solidFill>
              <a:schemeClr val="tx1"/>
            </a:solidFill>
          </a:ln>
        </p:spPr>
        <p:txBody>
          <a:bodyPr wrap="none">
            <a:spAutoFit/>
          </a:bodyPr>
          <a:lstStyle/>
          <a:p>
            <a:pPr algn="ctr"/>
            <a:r>
              <a:rPr lang="en-US" dirty="0"/>
              <a:t>Role/Position: </a:t>
            </a:r>
          </a:p>
          <a:p>
            <a:pPr algn="ctr"/>
            <a:r>
              <a:rPr lang="en-US" dirty="0"/>
              <a:t>CFO/CMO</a:t>
            </a:r>
          </a:p>
        </p:txBody>
      </p:sp>
      <p:sp>
        <p:nvSpPr>
          <p:cNvPr id="31" name="Rectangle 30"/>
          <p:cNvSpPr/>
          <p:nvPr/>
        </p:nvSpPr>
        <p:spPr>
          <a:xfrm>
            <a:off x="570642" y="6464545"/>
            <a:ext cx="2884997"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Logical thinking skills</a:t>
            </a:r>
          </a:p>
          <a:p>
            <a:endParaRPr lang="en-US" dirty="0"/>
          </a:p>
          <a:p>
            <a:r>
              <a:rPr lang="en-US" dirty="0"/>
              <a:t>Interest in AI and innovation</a:t>
            </a:r>
          </a:p>
          <a:p>
            <a:endParaRPr lang="en-US" dirty="0"/>
          </a:p>
          <a:p>
            <a:r>
              <a:rPr lang="en-US" dirty="0"/>
              <a:t>Willingness to learn</a:t>
            </a:r>
          </a:p>
          <a:p>
            <a:endParaRPr lang="en-US" dirty="0"/>
          </a:p>
          <a:p>
            <a:r>
              <a:rPr lang="en-US" dirty="0"/>
              <a:t>Presentation skills</a:t>
            </a:r>
          </a:p>
          <a:p>
            <a:endParaRPr lang="en-US" dirty="0"/>
          </a:p>
          <a:p>
            <a:endParaRPr lang="en-US" dirty="0"/>
          </a:p>
        </p:txBody>
      </p:sp>
      <p:sp>
        <p:nvSpPr>
          <p:cNvPr id="32" name="Rectangle 31"/>
          <p:cNvSpPr/>
          <p:nvPr/>
        </p:nvSpPr>
        <p:spPr>
          <a:xfrm>
            <a:off x="3784372" y="6515100"/>
            <a:ext cx="2845028"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Strong problem solving </a:t>
            </a:r>
          </a:p>
          <a:p>
            <a:endParaRPr lang="en-US" dirty="0"/>
          </a:p>
          <a:p>
            <a:r>
              <a:rPr lang="en-US" dirty="0"/>
              <a:t>Technical knowledge with AI  </a:t>
            </a:r>
          </a:p>
          <a:p>
            <a:r>
              <a:rPr lang="en-US" dirty="0"/>
              <a:t>and innovation</a:t>
            </a:r>
          </a:p>
          <a:p>
            <a:endParaRPr lang="en-US" dirty="0"/>
          </a:p>
          <a:p>
            <a:r>
              <a:rPr lang="en-US" dirty="0"/>
              <a:t>Good communication skills</a:t>
            </a:r>
          </a:p>
          <a:p>
            <a:endParaRPr lang="en-US" dirty="0"/>
          </a:p>
          <a:p>
            <a:r>
              <a:rPr lang="en-US" dirty="0"/>
              <a:t>Creative thinking</a:t>
            </a:r>
          </a:p>
          <a:p>
            <a:endParaRPr lang="en-US" dirty="0"/>
          </a:p>
        </p:txBody>
      </p:sp>
      <p:sp>
        <p:nvSpPr>
          <p:cNvPr id="33" name="Rectangle 32"/>
          <p:cNvSpPr/>
          <p:nvPr/>
        </p:nvSpPr>
        <p:spPr>
          <a:xfrm>
            <a:off x="7286865" y="6535299"/>
            <a:ext cx="2628546" cy="3139321"/>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Technical knowledge</a:t>
            </a:r>
          </a:p>
          <a:p>
            <a:endParaRPr lang="en-US" dirty="0"/>
          </a:p>
          <a:p>
            <a:r>
              <a:rPr lang="en-US" dirty="0"/>
              <a:t>Communication skills</a:t>
            </a:r>
          </a:p>
          <a:p>
            <a:endParaRPr lang="en-US" dirty="0"/>
          </a:p>
          <a:p>
            <a:r>
              <a:rPr lang="en-US" dirty="0"/>
              <a:t>Confidence</a:t>
            </a:r>
          </a:p>
          <a:p>
            <a:endParaRPr lang="en-US" dirty="0"/>
          </a:p>
          <a:p>
            <a:endParaRPr lang="en-US" dirty="0"/>
          </a:p>
          <a:p>
            <a:endParaRPr lang="en-US" dirty="0"/>
          </a:p>
          <a:p>
            <a:endParaRPr lang="en-US" dirty="0"/>
          </a:p>
        </p:txBody>
      </p:sp>
      <p:sp>
        <p:nvSpPr>
          <p:cNvPr id="15" name="Rectangle 14"/>
          <p:cNvSpPr/>
          <p:nvPr/>
        </p:nvSpPr>
        <p:spPr>
          <a:xfrm>
            <a:off x="10340544" y="2505087"/>
            <a:ext cx="7879080" cy="3860544"/>
          </a:xfrm>
          <a:prstGeom prst="rect">
            <a:avLst/>
          </a:prstGeom>
          <a:ln>
            <a:solidFill>
              <a:schemeClr val="tx1"/>
            </a:solidFill>
          </a:ln>
        </p:spPr>
        <p:txBody>
          <a:bodyPr wrap="none">
            <a:spAutoFit/>
          </a:bodyPr>
          <a:lstStyle/>
          <a:p>
            <a:pPr>
              <a:lnSpc>
                <a:spcPct val="90000"/>
              </a:lnSpc>
              <a:spcBef>
                <a:spcPts val="750"/>
              </a:spcBef>
              <a:buClr>
                <a:srgbClr val="000000"/>
              </a:buClr>
              <a:buFont typeface="Arial"/>
              <a:buNone/>
            </a:pPr>
            <a:r>
              <a:rPr lang="en-GB" b="1" kern="0" dirty="0">
                <a:solidFill>
                  <a:srgbClr val="000000"/>
                </a:solidFill>
                <a:latin typeface="Arial"/>
                <a:ea typeface="+mn-lt"/>
                <a:cs typeface="Arial"/>
                <a:sym typeface="Arial"/>
              </a:rPr>
              <a:t>What makes us a good team to solve the problem we chose?</a:t>
            </a:r>
          </a:p>
          <a:p>
            <a:pPr>
              <a:lnSpc>
                <a:spcPct val="90000"/>
              </a:lnSpc>
              <a:spcBef>
                <a:spcPts val="750"/>
              </a:spcBef>
              <a:buClr>
                <a:srgbClr val="000000"/>
              </a:buClr>
              <a:buFont typeface="Arial"/>
              <a:buNone/>
            </a:pPr>
            <a:endParaRPr lang="en-GB" b="1" kern="0" dirty="0">
              <a:solidFill>
                <a:srgbClr val="000000"/>
              </a:solidFill>
              <a:latin typeface="Arial"/>
              <a:ea typeface="+mn-lt"/>
              <a:cs typeface="Arial"/>
              <a:sym typeface="Arial"/>
            </a:endParaRPr>
          </a:p>
          <a:p>
            <a:pPr>
              <a:lnSpc>
                <a:spcPct val="90000"/>
              </a:lnSpc>
              <a:spcBef>
                <a:spcPts val="750"/>
              </a:spcBef>
              <a:buClr>
                <a:srgbClr val="000000"/>
              </a:buClr>
              <a:buFont typeface="Arial"/>
              <a:buNone/>
            </a:pPr>
            <a:r>
              <a:rPr lang="en-GB" b="1" kern="0" dirty="0">
                <a:solidFill>
                  <a:srgbClr val="000000"/>
                </a:solidFill>
                <a:latin typeface="Arial"/>
                <a:ea typeface="+mn-lt"/>
                <a:cs typeface="Arial"/>
                <a:sym typeface="Arial"/>
              </a:rPr>
              <a:t>  </a:t>
            </a:r>
            <a:r>
              <a:rPr lang="en-US" b="1" kern="0" dirty="0">
                <a:solidFill>
                  <a:srgbClr val="000000"/>
                </a:solidFill>
                <a:latin typeface="Arial"/>
                <a:ea typeface="+mn-lt"/>
                <a:cs typeface="Arial"/>
                <a:sym typeface="Arial"/>
              </a:rPr>
              <a:t>Our team is strong because we combine technical knowledge,</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creative thinking, and problem-solving skills to approach the</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problem from multiple angles. With clearly defined roles like CEO,</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Marketing Head, and CFO/CMO, we ensure efficient decision-making</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and execution. We share a strong interest in Al and innovation, which</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helps us build practical and modern solutions. Our communication, </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collaboration, and willingness to learn make us adaptable and</a:t>
            </a:r>
          </a:p>
          <a:p>
            <a:pPr>
              <a:lnSpc>
                <a:spcPct val="90000"/>
              </a:lnSpc>
              <a:spcBef>
                <a:spcPts val="750"/>
              </a:spcBef>
              <a:buClr>
                <a:srgbClr val="000000"/>
              </a:buClr>
              <a:buFont typeface="Arial"/>
              <a:buNone/>
            </a:pPr>
            <a:r>
              <a:rPr lang="en-US" b="1" kern="0" dirty="0">
                <a:solidFill>
                  <a:srgbClr val="000000"/>
                </a:solidFill>
                <a:latin typeface="Arial"/>
                <a:ea typeface="+mn-lt"/>
                <a:cs typeface="Arial"/>
                <a:sym typeface="Arial"/>
              </a:rPr>
              <a:t> focused on achieving results.</a:t>
            </a:r>
            <a:endParaRPr lang="en-GB" b="1" kern="0" dirty="0">
              <a:solidFill>
                <a:srgbClr val="000000"/>
              </a:solidFill>
              <a:latin typeface="Arial"/>
              <a:ea typeface="+mn-lt"/>
              <a:cs typeface="Arial"/>
              <a:sym typeface="Arial"/>
            </a:endParaRPr>
          </a:p>
          <a:p>
            <a:pPr>
              <a:lnSpc>
                <a:spcPct val="90000"/>
              </a:lnSpc>
              <a:spcBef>
                <a:spcPts val="750"/>
              </a:spcBef>
              <a:buClr>
                <a:srgbClr val="000000"/>
              </a:buClr>
              <a:buFont typeface="Arial"/>
              <a:buNone/>
            </a:pPr>
            <a:endParaRPr lang="en-GB" b="1" kern="0" dirty="0">
              <a:solidFill>
                <a:srgbClr val="000000"/>
              </a:solidFill>
              <a:latin typeface="Arial"/>
              <a:ea typeface="+mn-lt"/>
              <a:cs typeface="Arial"/>
              <a:sym typeface="Arial"/>
            </a:endParaRPr>
          </a:p>
        </p:txBody>
      </p:sp>
      <p:pic>
        <p:nvPicPr>
          <p:cNvPr id="2" name="Picture 1" descr="AUTOFIXAI">
            <a:extLst>
              <a:ext uri="{FF2B5EF4-FFF2-40B4-BE49-F238E27FC236}">
                <a16:creationId xmlns:a16="http://schemas.microsoft.com/office/drawing/2014/main" id="{4D504B86-D5DC-8FD0-2349-0692FA09C0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0" y="642513"/>
            <a:ext cx="1881974" cy="1600200"/>
          </a:xfrm>
          <a:prstGeom prst="rect">
            <a:avLst/>
          </a:prstGeom>
        </p:spPr>
      </p:pic>
      <p:pic>
        <p:nvPicPr>
          <p:cNvPr id="6" name="Picture 5" descr="The image shows a person with a black shirt and a black patterned jacket, wearing a black hat.&#10;&#10;AI-generated content may be incorrect.">
            <a:extLst>
              <a:ext uri="{FF2B5EF4-FFF2-40B4-BE49-F238E27FC236}">
                <a16:creationId xmlns:a16="http://schemas.microsoft.com/office/drawing/2014/main" id="{75DBC897-862B-969D-1F53-2912F1459C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767" y="2948293"/>
            <a:ext cx="1711177" cy="1563860"/>
          </a:xfrm>
          <a:prstGeom prst="rect">
            <a:avLst/>
          </a:prstGeom>
        </p:spPr>
      </p:pic>
      <p:pic>
        <p:nvPicPr>
          <p:cNvPr id="4" name="Picture 3" descr="The image shows a person wearing a shirt and a tie.&#10;&#10;AI-generated content may be incorrect.">
            <a:extLst>
              <a:ext uri="{FF2B5EF4-FFF2-40B4-BE49-F238E27FC236}">
                <a16:creationId xmlns:a16="http://schemas.microsoft.com/office/drawing/2014/main" id="{02FF3A4E-09C4-CCBE-92FB-5DC96F53A082}"/>
              </a:ext>
            </a:extLst>
          </p:cNvPr>
          <p:cNvPicPr>
            <a:picLocks noChangeAspect="1"/>
          </p:cNvPicPr>
          <p:nvPr/>
        </p:nvPicPr>
        <p:blipFill>
          <a:blip r:embed="rId4"/>
          <a:stretch>
            <a:fillRect/>
          </a:stretch>
        </p:blipFill>
        <p:spPr>
          <a:xfrm>
            <a:off x="4439933" y="2948293"/>
            <a:ext cx="1581540" cy="1522201"/>
          </a:xfrm>
          <a:prstGeom prst="rect">
            <a:avLst/>
          </a:prstGeom>
        </p:spPr>
      </p:pic>
    </p:spTree>
    <p:extLst>
      <p:ext uri="{BB962C8B-B14F-4D97-AF65-F5344CB8AC3E}">
        <p14:creationId xmlns:p14="http://schemas.microsoft.com/office/powerpoint/2010/main" val="30578898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1000"/>
                                        <p:tgtEl>
                                          <p:spTgt spid="31"/>
                                        </p:tgtEl>
                                      </p:cBhvr>
                                    </p:animEffect>
                                    <p:anim calcmode="lin" valueType="num">
                                      <p:cBhvr>
                                        <p:cTn id="32" dur="1000" fill="hold"/>
                                        <p:tgtEl>
                                          <p:spTgt spid="31"/>
                                        </p:tgtEl>
                                        <p:attrNameLst>
                                          <p:attrName>ppt_x</p:attrName>
                                        </p:attrNameLst>
                                      </p:cBhvr>
                                      <p:tavLst>
                                        <p:tav tm="0">
                                          <p:val>
                                            <p:strVal val="#ppt_x"/>
                                          </p:val>
                                        </p:tav>
                                        <p:tav tm="100000">
                                          <p:val>
                                            <p:strVal val="#ppt_x"/>
                                          </p:val>
                                        </p:tav>
                                      </p:tavLst>
                                    </p:anim>
                                    <p:anim calcmode="lin" valueType="num">
                                      <p:cBhvr>
                                        <p:cTn id="3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6"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80">
                                          <p:stCondLst>
                                            <p:cond delay="0"/>
                                          </p:stCondLst>
                                        </p:cTn>
                                        <p:tgtEl>
                                          <p:spTgt spid="4"/>
                                        </p:tgtEl>
                                      </p:cBhvr>
                                    </p:animEffect>
                                    <p:anim calcmode="lin" valueType="num">
                                      <p:cBhvr>
                                        <p:cTn id="39"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4" dur="26">
                                          <p:stCondLst>
                                            <p:cond delay="650"/>
                                          </p:stCondLst>
                                        </p:cTn>
                                        <p:tgtEl>
                                          <p:spTgt spid="4"/>
                                        </p:tgtEl>
                                      </p:cBhvr>
                                      <p:to x="100000" y="60000"/>
                                    </p:animScale>
                                    <p:animScale>
                                      <p:cBhvr>
                                        <p:cTn id="45" dur="166" decel="50000">
                                          <p:stCondLst>
                                            <p:cond delay="676"/>
                                          </p:stCondLst>
                                        </p:cTn>
                                        <p:tgtEl>
                                          <p:spTgt spid="4"/>
                                        </p:tgtEl>
                                      </p:cBhvr>
                                      <p:to x="100000" y="100000"/>
                                    </p:animScale>
                                    <p:animScale>
                                      <p:cBhvr>
                                        <p:cTn id="46" dur="26">
                                          <p:stCondLst>
                                            <p:cond delay="1312"/>
                                          </p:stCondLst>
                                        </p:cTn>
                                        <p:tgtEl>
                                          <p:spTgt spid="4"/>
                                        </p:tgtEl>
                                      </p:cBhvr>
                                      <p:to x="100000" y="80000"/>
                                    </p:animScale>
                                    <p:animScale>
                                      <p:cBhvr>
                                        <p:cTn id="47" dur="166" decel="50000">
                                          <p:stCondLst>
                                            <p:cond delay="1338"/>
                                          </p:stCondLst>
                                        </p:cTn>
                                        <p:tgtEl>
                                          <p:spTgt spid="4"/>
                                        </p:tgtEl>
                                      </p:cBhvr>
                                      <p:to x="100000" y="100000"/>
                                    </p:animScale>
                                    <p:animScale>
                                      <p:cBhvr>
                                        <p:cTn id="48" dur="26">
                                          <p:stCondLst>
                                            <p:cond delay="1642"/>
                                          </p:stCondLst>
                                        </p:cTn>
                                        <p:tgtEl>
                                          <p:spTgt spid="4"/>
                                        </p:tgtEl>
                                      </p:cBhvr>
                                      <p:to x="100000" y="90000"/>
                                    </p:animScale>
                                    <p:animScale>
                                      <p:cBhvr>
                                        <p:cTn id="49" dur="166" decel="50000">
                                          <p:stCondLst>
                                            <p:cond delay="1668"/>
                                          </p:stCondLst>
                                        </p:cTn>
                                        <p:tgtEl>
                                          <p:spTgt spid="4"/>
                                        </p:tgtEl>
                                      </p:cBhvr>
                                      <p:to x="100000" y="100000"/>
                                    </p:animScale>
                                    <p:animScale>
                                      <p:cBhvr>
                                        <p:cTn id="50" dur="26">
                                          <p:stCondLst>
                                            <p:cond delay="1808"/>
                                          </p:stCondLst>
                                        </p:cTn>
                                        <p:tgtEl>
                                          <p:spTgt spid="4"/>
                                        </p:tgtEl>
                                      </p:cBhvr>
                                      <p:to x="100000" y="95000"/>
                                    </p:animScale>
                                    <p:animScale>
                                      <p:cBhvr>
                                        <p:cTn id="51" dur="166" decel="50000">
                                          <p:stCondLst>
                                            <p:cond delay="1834"/>
                                          </p:stCondLst>
                                        </p:cTn>
                                        <p:tgtEl>
                                          <p:spTgt spid="4"/>
                                        </p:tgtEl>
                                      </p:cBhvr>
                                      <p:to x="100000" y="100000"/>
                                    </p:animScale>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fill="hold"/>
                                        <p:tgtEl>
                                          <p:spTgt spid="29"/>
                                        </p:tgtEl>
                                        <p:attrNameLst>
                                          <p:attrName>ppt_x</p:attrName>
                                        </p:attrNameLst>
                                      </p:cBhvr>
                                      <p:tavLst>
                                        <p:tav tm="0">
                                          <p:val>
                                            <p:strVal val="#ppt_x"/>
                                          </p:val>
                                        </p:tav>
                                        <p:tav tm="100000">
                                          <p:val>
                                            <p:strVal val="#ppt_x"/>
                                          </p:val>
                                        </p:tav>
                                      </p:tavLst>
                                    </p:anim>
                                    <p:anim calcmode="lin" valueType="num">
                                      <p:cBhvr additive="base">
                                        <p:cTn id="57"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1000"/>
                                        <p:tgtEl>
                                          <p:spTgt spid="32"/>
                                        </p:tgtEl>
                                      </p:cBhvr>
                                    </p:animEffect>
                                    <p:anim calcmode="lin" valueType="num">
                                      <p:cBhvr>
                                        <p:cTn id="63" dur="1000" fill="hold"/>
                                        <p:tgtEl>
                                          <p:spTgt spid="32"/>
                                        </p:tgtEl>
                                        <p:attrNameLst>
                                          <p:attrName>ppt_x</p:attrName>
                                        </p:attrNameLst>
                                      </p:cBhvr>
                                      <p:tavLst>
                                        <p:tav tm="0">
                                          <p:val>
                                            <p:strVal val="#ppt_x"/>
                                          </p:val>
                                        </p:tav>
                                        <p:tav tm="100000">
                                          <p:val>
                                            <p:strVal val="#ppt_x"/>
                                          </p:val>
                                        </p:tav>
                                      </p:tavLst>
                                    </p:anim>
                                    <p:anim calcmode="lin" valueType="num">
                                      <p:cBhvr>
                                        <p:cTn id="6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1000"/>
                                        <p:tgtEl>
                                          <p:spTgt spid="30"/>
                                        </p:tgtEl>
                                      </p:cBhvr>
                                    </p:animEffect>
                                    <p:anim calcmode="lin" valueType="num">
                                      <p:cBhvr>
                                        <p:cTn id="70" dur="1000" fill="hold"/>
                                        <p:tgtEl>
                                          <p:spTgt spid="30"/>
                                        </p:tgtEl>
                                        <p:attrNameLst>
                                          <p:attrName>ppt_x</p:attrName>
                                        </p:attrNameLst>
                                      </p:cBhvr>
                                      <p:tavLst>
                                        <p:tav tm="0">
                                          <p:val>
                                            <p:strVal val="#ppt_x"/>
                                          </p:val>
                                        </p:tav>
                                        <p:tav tm="100000">
                                          <p:val>
                                            <p:strVal val="#ppt_x"/>
                                          </p:val>
                                        </p:tav>
                                      </p:tavLst>
                                    </p:anim>
                                    <p:anim calcmode="lin" valueType="num">
                                      <p:cBhvr>
                                        <p:cTn id="7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1000"/>
                                        <p:tgtEl>
                                          <p:spTgt spid="33"/>
                                        </p:tgtEl>
                                      </p:cBhvr>
                                    </p:animEffect>
                                    <p:anim calcmode="lin" valueType="num">
                                      <p:cBhvr>
                                        <p:cTn id="77" dur="1000" fill="hold"/>
                                        <p:tgtEl>
                                          <p:spTgt spid="33"/>
                                        </p:tgtEl>
                                        <p:attrNameLst>
                                          <p:attrName>ppt_x</p:attrName>
                                        </p:attrNameLst>
                                      </p:cBhvr>
                                      <p:tavLst>
                                        <p:tav tm="0">
                                          <p:val>
                                            <p:strVal val="#ppt_x"/>
                                          </p:val>
                                        </p:tav>
                                        <p:tav tm="100000">
                                          <p:val>
                                            <p:strVal val="#ppt_x"/>
                                          </p:val>
                                        </p:tav>
                                      </p:tavLst>
                                    </p:anim>
                                    <p:anim calcmode="lin" valueType="num">
                                      <p:cBhvr>
                                        <p:cTn id="78"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wipe(down)">
                                      <p:cBhvr>
                                        <p:cTn id="8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9" grpId="0" animBg="1"/>
      <p:bldP spid="30" grpId="0" animBg="1"/>
      <p:bldP spid="31" grpId="0" animBg="1"/>
      <p:bldP spid="32" grpId="0" animBg="1"/>
      <p:bldP spid="33"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0" y="19380"/>
            <a:ext cx="18310194" cy="10287000"/>
          </a:xfrm>
          <a:prstGeom prst="rect">
            <a:avLst/>
          </a:prstGeom>
        </p:spPr>
      </p:pic>
      <p:pic>
        <p:nvPicPr>
          <p:cNvPr id="4" name="Picture 4"/>
          <p:cNvPicPr>
            <a:picLocks noChangeAspect="1"/>
          </p:cNvPicPr>
          <p:nvPr/>
        </p:nvPicPr>
        <p:blipFill>
          <a:blip r:embed="rId3"/>
          <a:srcRect/>
          <a:stretch>
            <a:fillRect/>
          </a:stretch>
        </p:blipFill>
        <p:spPr>
          <a:xfrm>
            <a:off x="15544800" y="419100"/>
            <a:ext cx="2278599" cy="1131276"/>
          </a:xfrm>
          <a:prstGeom prst="rect">
            <a:avLst/>
          </a:prstGeom>
        </p:spPr>
      </p:pic>
      <p:sp>
        <p:nvSpPr>
          <p:cNvPr id="6" name="TextBox 6"/>
          <p:cNvSpPr txBox="1"/>
          <p:nvPr/>
        </p:nvSpPr>
        <p:spPr>
          <a:xfrm>
            <a:off x="3581400" y="3898619"/>
            <a:ext cx="9147307" cy="3847207"/>
          </a:xfrm>
          <a:prstGeom prst="rect">
            <a:avLst/>
          </a:prstGeom>
        </p:spPr>
        <p:txBody>
          <a:bodyPr lIns="0" tIns="0" rIns="0" bIns="0" rtlCol="0" anchor="t">
            <a:spAutoFit/>
          </a:bodyPr>
          <a:lstStyle/>
          <a:p>
            <a:pPr algn="ctr">
              <a:lnSpc>
                <a:spcPts val="15000"/>
              </a:lnSpc>
            </a:pPr>
            <a:r>
              <a:rPr lang="en-US" sz="15000" dirty="0">
                <a:solidFill>
                  <a:srgbClr val="FFFFFF"/>
                </a:solidFill>
                <a:latin typeface="Agrandir Wide Black Bold"/>
              </a:rPr>
              <a:t>Thank You!</a:t>
            </a: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9653</TotalTime>
  <Words>3597</Words>
  <Application>Microsoft Office PowerPoint</Application>
  <PresentationFormat>Custom</PresentationFormat>
  <Paragraphs>403</Paragraphs>
  <Slides>14</Slides>
  <Notes>3</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14</vt:i4>
      </vt:variant>
    </vt:vector>
  </HeadingPairs>
  <TitlesOfParts>
    <vt:vector size="32" baseType="lpstr">
      <vt:lpstr>Calibri</vt:lpstr>
      <vt:lpstr>Wingdings</vt:lpstr>
      <vt:lpstr>Lexend Deca</vt:lpstr>
      <vt:lpstr>Cooper Black</vt:lpstr>
      <vt:lpstr>Raleway</vt:lpstr>
      <vt:lpstr>Times New Roman</vt:lpstr>
      <vt:lpstr>Avenir</vt:lpstr>
      <vt:lpstr>Verdana</vt:lpstr>
      <vt:lpstr>Montserrat</vt:lpstr>
      <vt:lpstr>Barlow</vt:lpstr>
      <vt:lpstr>Berlin Sans FB</vt:lpstr>
      <vt:lpstr>Gill Sans</vt:lpstr>
      <vt:lpstr>Anthropic Sans</vt:lpstr>
      <vt:lpstr>Antonio Bold</vt:lpstr>
      <vt:lpstr>Arial</vt:lpstr>
      <vt:lpstr>charter</vt:lpstr>
      <vt:lpstr>Agrandir Wide Black Bold</vt:lpstr>
      <vt:lpstr>Office Theme</vt:lpstr>
      <vt:lpstr>PowerPoint Presentation</vt:lpstr>
      <vt:lpstr>PowerPoint Presentation</vt:lpstr>
      <vt:lpstr>Problem/Opportunity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MVP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Next-Gen 2021: Global Program Overview Editable Deck</dc:title>
  <dc:creator>R.Sujatha</dc:creator>
  <cp:lastModifiedBy>SUSHANTH GS</cp:lastModifiedBy>
  <cp:revision>217</cp:revision>
  <dcterms:created xsi:type="dcterms:W3CDTF">2006-08-16T00:00:00Z</dcterms:created>
  <dcterms:modified xsi:type="dcterms:W3CDTF">2026-06-13T16:40:09Z</dcterms:modified>
  <dc:identifier>DAEgz1I4riU</dc:identifier>
</cp:coreProperties>
</file>